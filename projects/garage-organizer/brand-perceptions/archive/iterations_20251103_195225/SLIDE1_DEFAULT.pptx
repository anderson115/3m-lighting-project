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8952" y="758952"/>
            <a:ext cx="13112496" cy="914400"/>
          </a:xfrm>
          <a:prstGeom prst="rect">
            <a:avLst/>
          </a:prstGeom>
          <a:noFill/>
        </p:spPr>
        <p:txBody>
          <a:bodyPr wrap="square">
            <a:spAutoFit/>
          </a:bodyPr>
          <a:lstStyle/>
          <a:p>
            <a:pPr>
              <a:defRPr sz="3300" b="1">
                <a:solidFill>
                  <a:srgbClr val="1A202C"/>
                </a:solidFill>
                <a:latin typeface="Inter"/>
              </a:defRPr>
            </a:pPr>
            <a:r>
              <a:t>Command's Market Presence is Strong, But Creator Discussions Reveal a Tension</a:t>
            </a:r>
          </a:p>
        </p:txBody>
      </p:sp>
      <p:sp>
        <p:nvSpPr>
          <p:cNvPr id="3" name="Rounded Rectangle 2"/>
          <p:cNvSpPr/>
          <p:nvPr/>
        </p:nvSpPr>
        <p:spPr>
          <a:xfrm>
            <a:off x="758952" y="1856232"/>
            <a:ext cx="7616952" cy="1371600"/>
          </a:xfrm>
          <a:prstGeom prst="roundRect">
            <a:avLst/>
          </a:prstGeom>
          <a:solidFill>
            <a:srgbClr val="F8F9FA"/>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tIns="203200" lIns="254000" rIns="254000"/>
          <a:lstStyle/>
          <a:p>
            <a:pPr algn="ctr">
              <a:defRPr sz="1100" b="1">
                <a:solidFill>
                  <a:srgbClr val="2D3748"/>
                </a:solidFill>
                <a:latin typeface="Inter"/>
              </a:defRPr>
            </a:pPr>
            <a:r>
              <a:t>THE PATTERN</a:t>
            </a:r>
          </a:p>
          <a:p>
            <a:pPr>
              <a:lnSpc>
                <a:spcPts val="1900"/>
              </a:lnSpc>
              <a:defRPr sz="1200">
                <a:solidFill>
                  <a:srgbClr val="1A202C"/>
                </a:solidFill>
                <a:latin typeface="Inter"/>
              </a:defRPr>
            </a:pPr>
            <a:r>
              <a:t>Video creators frequently highlight Command's surface damage prevention (24 mentions), positioning it as ideal for rental properties and temporary installations. However, surface damage complaints (24 severity) equally appear across content, creating cognitive dissonance between marketing promise and user experience.</a:t>
            </a:r>
          </a:p>
        </p:txBody>
      </p:sp>
      <p:sp>
        <p:nvSpPr>
          <p:cNvPr id="4" name="Rounded Rectangle 3"/>
          <p:cNvSpPr/>
          <p:nvPr/>
        </p:nvSpPr>
        <p:spPr>
          <a:xfrm>
            <a:off x="758952" y="3410712"/>
            <a:ext cx="7616952" cy="1371600"/>
          </a:xfrm>
          <a:prstGeom prst="roundRect">
            <a:avLst/>
          </a:prstGeom>
          <a:solidFill>
            <a:srgbClr val="F8F9FA"/>
          </a:solidFill>
          <a:ln w="254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wrap="square" tIns="203200" lIns="254000" rIns="254000"/>
          <a:lstStyle/>
          <a:p>
            <a:pPr algn="ctr">
              <a:defRPr sz="1100" b="1">
                <a:solidFill>
                  <a:srgbClr val="2D3748"/>
                </a:solidFill>
                <a:latin typeface="Inter"/>
              </a:defRPr>
            </a:pPr>
            <a:r>
              <a:t>INSIGHT</a:t>
            </a:r>
          </a:p>
          <a:p>
            <a:pPr>
              <a:lnSpc>
                <a:spcPts val="1900"/>
              </a:lnSpc>
              <a:defRPr sz="1200">
                <a:solidFill>
                  <a:srgbClr val="1A202C"/>
                </a:solidFill>
                <a:latin typeface="Inter"/>
              </a:defRPr>
            </a:pPr>
            <a:r>
              <a:t>The tension isn't about product failure—it's about expectation management. Command's 'damage-free' positioning sets absolute expectations, so any surface damage feels like brand promise betrayal rather than acceptable risk.</a:t>
            </a:r>
          </a:p>
        </p:txBody>
      </p:sp>
      <p:sp>
        <p:nvSpPr>
          <p:cNvPr id="5" name="Rounded Rectangle 4"/>
          <p:cNvSpPr/>
          <p:nvPr/>
        </p:nvSpPr>
        <p:spPr>
          <a:xfrm>
            <a:off x="758952" y="4965192"/>
            <a:ext cx="7616952" cy="1645920"/>
          </a:xfrm>
          <a:prstGeom prst="roundRect">
            <a:avLst/>
          </a:prstGeom>
          <a:solidFill>
            <a:srgbClr val="2D3748"/>
          </a:solidFill>
          <a:ln w="762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tIns="228600" lIns="279400" rIns="279400"/>
          <a:lstStyle/>
          <a:p>
            <a:pPr algn="ctr">
              <a:defRPr sz="1100" b="1">
                <a:solidFill>
                  <a:srgbClr val="14B8A6"/>
                </a:solidFill>
                <a:latin typeface="Inter"/>
              </a:defRPr>
            </a:pPr>
            <a:r>
              <a:t>HARD TRUTH</a:t>
            </a:r>
          </a:p>
          <a:p>
            <a:pPr>
              <a:lnSpc>
                <a:spcPts val="2100"/>
              </a:lnSpc>
              <a:defRPr sz="1400" b="1">
                <a:solidFill>
                  <a:srgbClr val="FFFFFF"/>
                </a:solidFill>
                <a:latin typeface="Inter"/>
              </a:defRPr>
            </a:pPr>
            <a:r>
              <a:t>Equal mention of 'surface damage' and 'damage-free' creates brand credibility crisis.</a:t>
            </a:r>
          </a:p>
          <a:p>
            <a:pPr>
              <a:lnSpc>
                <a:spcPts val="1800"/>
              </a:lnSpc>
              <a:defRPr sz="1100">
                <a:solidFill>
                  <a:srgbClr val="FFFFFF"/>
                </a:solidFill>
                <a:latin typeface="Inter"/>
              </a:defRPr>
            </a:pPr>
            <a:r>
              <a:t>Strategic choice: Either fix product formulation (costly, R&amp;D-intensive) or transparently communicate surface limitations on packaging (honesty over false promise). Current positioning gap drives users to traditional nails/screws where damage is expected and controlled.</a:t>
            </a:r>
          </a:p>
        </p:txBody>
      </p:sp>
      <p:sp>
        <p:nvSpPr>
          <p:cNvPr id="6" name="TextBox 5"/>
          <p:cNvSpPr txBox="1"/>
          <p:nvPr/>
        </p:nvSpPr>
        <p:spPr>
          <a:xfrm>
            <a:off x="758952" y="7013448"/>
            <a:ext cx="13112496" cy="365760"/>
          </a:xfrm>
          <a:prstGeom prst="rect">
            <a:avLst/>
          </a:prstGeom>
          <a:noFill/>
          <a:ln w="25400">
            <a:solidFill>
              <a:srgbClr val="14B8A6"/>
            </a:solidFill>
          </a:ln>
        </p:spPr>
        <p:txBody>
          <a:bodyPr wrap="none">
            <a:spAutoFit/>
          </a:bodyPr>
          <a:lstStyle/>
          <a:p>
            <a:pPr>
              <a:defRPr sz="1000">
                <a:solidFill>
                  <a:srgbClr val="4A5568"/>
                </a:solidFill>
                <a:latin typeface="Inter"/>
              </a:defRPr>
            </a:pPr>
            <a:r>
              <a:t>Source: Phase 2 Analysis, Command brand perception across 62 creator videos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