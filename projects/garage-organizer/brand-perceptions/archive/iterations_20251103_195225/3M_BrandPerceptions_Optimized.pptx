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1110" y="508406"/>
            <a:ext cx="11023092" cy="609904"/>
          </a:xfrm>
          <a:prstGeom prst="rect">
            <a:avLst/>
          </a:prstGeom>
          <a:noFill/>
        </p:spPr>
        <p:txBody>
          <a:bodyPr wrap="none">
            <a:spAutoFit/>
          </a:bodyPr>
          <a:lstStyle/>
          <a:p>
            <a:pPr>
              <a:lnSpc>
                <a:spcPct val="115000"/>
              </a:lnSpc>
              <a:defRPr sz="3300" b="1">
                <a:solidFill>
                  <a:srgbClr val="1A202C"/>
                </a:solidFill>
                <a:latin typeface="Inter"/>
              </a:defRPr>
            </a:pPr>
            <a:r>
              <a:t>Scotch Demonstrates Strong Creator Advocacy—Understanding Where It Shines and Where It's Challenged</a:t>
            </a:r>
          </a:p>
        </p:txBody>
      </p:sp>
      <p:sp>
        <p:nvSpPr>
          <p:cNvPr id="3" name="Rectangle 2"/>
          <p:cNvSpPr/>
          <p:nvPr/>
        </p:nvSpPr>
        <p:spPr>
          <a:xfrm>
            <a:off x="508406" y="508406"/>
            <a:ext cx="38404" cy="609904"/>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8406" y="1422806"/>
            <a:ext cx="6985101" cy="698601"/>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406" y="1422806"/>
            <a:ext cx="45720" cy="698601"/>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7006" y="1651406"/>
            <a:ext cx="6527901" cy="274320"/>
          </a:xfrm>
          <a:prstGeom prst="rect">
            <a:avLst/>
          </a:prstGeom>
          <a:noFill/>
        </p:spPr>
        <p:txBody>
          <a:bodyPr wrap="none">
            <a:spAutoFit/>
          </a:bodyPr>
          <a:lstStyle/>
          <a:p>
            <a:pPr>
              <a:defRPr sz="1000" b="1">
                <a:solidFill>
                  <a:srgbClr val="14B8A6"/>
                </a:solidFill>
                <a:latin typeface="Inter"/>
              </a:defRPr>
            </a:pPr>
            <a:r>
              <a:t>✱  THE PATTERN</a:t>
            </a:r>
          </a:p>
        </p:txBody>
      </p:sp>
      <p:sp>
        <p:nvSpPr>
          <p:cNvPr id="7" name="TextBox 6"/>
          <p:cNvSpPr txBox="1"/>
          <p:nvPr/>
        </p:nvSpPr>
        <p:spPr>
          <a:xfrm>
            <a:off x="737006" y="1971446"/>
            <a:ext cx="6527901" cy="-78639"/>
          </a:xfrm>
          <a:prstGeom prst="rect">
            <a:avLst/>
          </a:prstGeom>
          <a:noFill/>
        </p:spPr>
        <p:txBody>
          <a:bodyPr wrap="square">
            <a:spAutoFit/>
          </a:bodyPr>
          <a:lstStyle/>
          <a:p>
            <a:pPr>
              <a:lnSpc>
                <a:spcPct val="150000"/>
              </a:lnSpc>
              <a:defRPr sz="1100">
                <a:solidFill>
                  <a:srgbClr val="FFFFFF"/>
                </a:solidFill>
                <a:latin typeface="Inter"/>
              </a:defRPr>
            </a:pPr>
            <a:r>
              <a:t>Content creators who feature Scotch products tend to offer favorable recommendations. Across review and comparison content, Scotch receives notably more positive assessments than negative, with creators frequently emphasizing reliability and hold strength.</a:t>
            </a:r>
          </a:p>
        </p:txBody>
      </p:sp>
      <p:sp>
        <p:nvSpPr>
          <p:cNvPr id="8" name="Rounded Rectangle 7"/>
          <p:cNvSpPr/>
          <p:nvPr/>
        </p:nvSpPr>
        <p:spPr>
          <a:xfrm>
            <a:off x="508406" y="2274111"/>
            <a:ext cx="6985101" cy="634593"/>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8406" y="2274111"/>
            <a:ext cx="45720" cy="634593"/>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7006" y="2502711"/>
            <a:ext cx="6527901" cy="274320"/>
          </a:xfrm>
          <a:prstGeom prst="rect">
            <a:avLst/>
          </a:prstGeom>
          <a:noFill/>
        </p:spPr>
        <p:txBody>
          <a:bodyPr wrap="none">
            <a:spAutoFit/>
          </a:bodyPr>
          <a:lstStyle/>
          <a:p>
            <a:pPr>
              <a:defRPr sz="1000" b="1">
                <a:solidFill>
                  <a:srgbClr val="14B8A6"/>
                </a:solidFill>
                <a:latin typeface="Inter"/>
              </a:defRPr>
            </a:pPr>
            <a:r>
              <a:t>✱  INSIGHT</a:t>
            </a:r>
          </a:p>
        </p:txBody>
      </p:sp>
      <p:sp>
        <p:nvSpPr>
          <p:cNvPr id="11" name="TextBox 10"/>
          <p:cNvSpPr txBox="1"/>
          <p:nvPr/>
        </p:nvSpPr>
        <p:spPr>
          <a:xfrm>
            <a:off x="737006" y="2822751"/>
            <a:ext cx="6527901" cy="-142647"/>
          </a:xfrm>
          <a:prstGeom prst="rect">
            <a:avLst/>
          </a:prstGeom>
          <a:noFill/>
        </p:spPr>
        <p:txBody>
          <a:bodyPr wrap="square">
            <a:spAutoFit/>
          </a:bodyPr>
          <a:lstStyle/>
          <a:p>
            <a:pPr>
              <a:lnSpc>
                <a:spcPct val="150000"/>
              </a:lnSpc>
              <a:defRPr sz="1100">
                <a:solidFill>
                  <a:srgbClr val="FFFFFF"/>
                </a:solidFill>
                <a:latin typeface="Inter"/>
              </a:defRPr>
            </a:pPr>
            <a:r>
              <a:t>Scotch's performance perception is strongest in indoor, permanent mounting applications. Temperature considerations shape use case recommendations for outdoor/vehicle contexts—creators understand optimal use through experience.</a:t>
            </a:r>
          </a:p>
        </p:txBody>
      </p:sp>
      <p:sp>
        <p:nvSpPr>
          <p:cNvPr id="12" name="Rounded Rectangle 11"/>
          <p:cNvSpPr/>
          <p:nvPr/>
        </p:nvSpPr>
        <p:spPr>
          <a:xfrm>
            <a:off x="508406" y="3061408"/>
            <a:ext cx="6985101" cy="825703"/>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8406" y="3061408"/>
            <a:ext cx="45720" cy="825703"/>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7006" y="3290008"/>
            <a:ext cx="6527901" cy="274320"/>
          </a:xfrm>
          <a:prstGeom prst="rect">
            <a:avLst/>
          </a:prstGeom>
          <a:noFill/>
        </p:spPr>
        <p:txBody>
          <a:bodyPr wrap="none">
            <a:spAutoFit/>
          </a:bodyPr>
          <a:lstStyle/>
          <a:p>
            <a:pPr>
              <a:defRPr sz="1000" b="1">
                <a:solidFill>
                  <a:srgbClr val="14B8A6"/>
                </a:solidFill>
                <a:latin typeface="Inter"/>
              </a:defRPr>
            </a:pPr>
            <a:r>
              <a:t>✱  HARD TRUTH</a:t>
            </a:r>
          </a:p>
        </p:txBody>
      </p:sp>
      <p:sp>
        <p:nvSpPr>
          <p:cNvPr id="15" name="TextBox 14"/>
          <p:cNvSpPr txBox="1"/>
          <p:nvPr/>
        </p:nvSpPr>
        <p:spPr>
          <a:xfrm>
            <a:off x="737006" y="3610048"/>
            <a:ext cx="6527901" cy="48463"/>
          </a:xfrm>
          <a:prstGeom prst="rect">
            <a:avLst/>
          </a:prstGeom>
          <a:noFill/>
        </p:spPr>
        <p:txBody>
          <a:bodyPr wrap="square">
            <a:spAutoFit/>
          </a:bodyPr>
          <a:lstStyle/>
          <a:p>
            <a:pPr>
              <a:lnSpc>
                <a:spcPct val="150000"/>
              </a:lnSpc>
              <a:defRPr sz="1100">
                <a:solidFill>
                  <a:srgbClr val="FFFFFF"/>
                </a:solidFill>
                <a:latin typeface="Inter"/>
              </a:defRPr>
            </a:pPr>
            <a:r>
              <a:t>Temperature boundary discussions signal market opportunity cost—outdoor/vehicle segments constrained. Strategic choice: Invest in all-temperature formulation to expand TAM, or own indoor category dominance? Current positioning leaves outdoor segment vulnerable to competitors.</a:t>
            </a:r>
          </a:p>
        </p:txBody>
      </p:sp>
      <p:sp>
        <p:nvSpPr>
          <p:cNvPr id="16" name="TextBox 15"/>
          <p:cNvSpPr txBox="1"/>
          <p:nvPr/>
        </p:nvSpPr>
        <p:spPr>
          <a:xfrm>
            <a:off x="548640" y="6309360"/>
            <a:ext cx="11064240" cy="365760"/>
          </a:xfrm>
          <a:prstGeom prst="rect">
            <a:avLst/>
          </a:prstGeom>
          <a:noFill/>
          <a:ln w="25400">
            <a:solidFill>
              <a:srgbClr val="14B8A6"/>
            </a:solidFill>
          </a:ln>
        </p:spPr>
        <p:txBody>
          <a:bodyPr wrap="none">
            <a:spAutoFit/>
          </a:bodyPr>
          <a:lstStyle/>
          <a:p>
            <a:pPr>
              <a:defRPr sz="900" b="1">
                <a:solidFill>
                  <a:srgbClr val="6B7280"/>
                </a:solidFill>
                <a:latin typeface="Inter"/>
              </a:defRPr>
            </a:pPr>
            <a:r>
              <a:t>Source: Phase 2 Analysis, Scotch performance perception across 58 creator videos</a:t>
            </a:r>
          </a:p>
        </p:txBody>
      </p:sp>
      <p:sp>
        <p:nvSpPr>
          <p:cNvPr id="17" name="Rounded Rectangle 16"/>
          <p:cNvSpPr/>
          <p:nvPr/>
        </p:nvSpPr>
        <p:spPr>
          <a:xfrm>
            <a:off x="7798002" y="1422806"/>
            <a:ext cx="3886200" cy="1270101"/>
          </a:xfrm>
          <a:prstGeom prst="roundRect">
            <a:avLst/>
          </a:prstGeom>
          <a:solidFill>
            <a:srgbClr val="F8F9FA"/>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80882" y="1605686"/>
            <a:ext cx="3520440" cy="274320"/>
          </a:xfrm>
          <a:prstGeom prst="rect">
            <a:avLst/>
          </a:prstGeom>
          <a:noFill/>
        </p:spPr>
        <p:txBody>
          <a:bodyPr wrap="none">
            <a:spAutoFit/>
          </a:bodyPr>
          <a:lstStyle/>
          <a:p>
            <a:pPr>
              <a:defRPr sz="900" b="1">
                <a:solidFill>
                  <a:srgbClr val="2D3748"/>
                </a:solidFill>
                <a:latin typeface="Inter"/>
              </a:defRPr>
            </a:pPr>
            <a:r>
              <a:t>PERFORMANCE BY CONTEXT</a:t>
            </a:r>
          </a:p>
        </p:txBody>
      </p:sp>
      <p:sp>
        <p:nvSpPr>
          <p:cNvPr id="19" name="TextBox 18"/>
          <p:cNvSpPr txBox="1"/>
          <p:nvPr/>
        </p:nvSpPr>
        <p:spPr>
          <a:xfrm>
            <a:off x="7980882" y="1925726"/>
            <a:ext cx="3520440" cy="228600"/>
          </a:xfrm>
          <a:prstGeom prst="rect">
            <a:avLst/>
          </a:prstGeom>
          <a:noFill/>
        </p:spPr>
        <p:txBody>
          <a:bodyPr wrap="none">
            <a:spAutoFit/>
          </a:bodyPr>
          <a:lstStyle/>
          <a:p>
            <a:pPr>
              <a:defRPr sz="900" b="1">
                <a:solidFill>
                  <a:srgbClr val="1A202C"/>
                </a:solidFill>
                <a:latin typeface="Inter"/>
              </a:defRPr>
            </a:pPr>
            <a:r>
              <a:t>Indoor Permanent Mounting</a:t>
            </a:r>
          </a:p>
        </p:txBody>
      </p:sp>
      <p:sp>
        <p:nvSpPr>
          <p:cNvPr id="20" name="Rounded Rectangle 19"/>
          <p:cNvSpPr/>
          <p:nvPr/>
        </p:nvSpPr>
        <p:spPr>
          <a:xfrm>
            <a:off x="7980882" y="2181758"/>
            <a:ext cx="3520440" cy="182880"/>
          </a:xfrm>
          <a:prstGeom prst="roundRect">
            <a:avLst/>
          </a:prstGeom>
          <a:solidFill>
            <a:srgbClr val="E5E7EB"/>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980882" y="2181758"/>
            <a:ext cx="3238804" cy="18288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128246" y="2181758"/>
            <a:ext cx="457200" cy="182880"/>
          </a:xfrm>
          <a:prstGeom prst="rect">
            <a:avLst/>
          </a:prstGeom>
          <a:noFill/>
        </p:spPr>
        <p:txBody>
          <a:bodyPr wrap="none">
            <a:spAutoFit/>
          </a:bodyPr>
          <a:lstStyle/>
          <a:p>
            <a:pPr>
              <a:defRPr sz="1000" b="1">
                <a:solidFill>
                  <a:srgbClr val="FFFFFF"/>
                </a:solidFill>
                <a:latin typeface="Inter"/>
              </a:defRPr>
            </a:pPr>
            <a:r>
              <a:t>92%</a:t>
            </a:r>
          </a:p>
        </p:txBody>
      </p:sp>
      <p:sp>
        <p:nvSpPr>
          <p:cNvPr id="23" name="TextBox 22"/>
          <p:cNvSpPr txBox="1"/>
          <p:nvPr/>
        </p:nvSpPr>
        <p:spPr>
          <a:xfrm>
            <a:off x="7980882" y="2474366"/>
            <a:ext cx="3520440" cy="228600"/>
          </a:xfrm>
          <a:prstGeom prst="rect">
            <a:avLst/>
          </a:prstGeom>
          <a:noFill/>
        </p:spPr>
        <p:txBody>
          <a:bodyPr wrap="none">
            <a:spAutoFit/>
          </a:bodyPr>
          <a:lstStyle/>
          <a:p>
            <a:pPr>
              <a:defRPr sz="900" b="1">
                <a:solidFill>
                  <a:srgbClr val="1A202C"/>
                </a:solidFill>
                <a:latin typeface="Inter"/>
              </a:defRPr>
            </a:pPr>
            <a:r>
              <a:t>DIY Project Applications</a:t>
            </a:r>
          </a:p>
        </p:txBody>
      </p:sp>
      <p:sp>
        <p:nvSpPr>
          <p:cNvPr id="24" name="Rounded Rectangle 23"/>
          <p:cNvSpPr/>
          <p:nvPr/>
        </p:nvSpPr>
        <p:spPr>
          <a:xfrm>
            <a:off x="7980882" y="2730398"/>
            <a:ext cx="3520440" cy="182880"/>
          </a:xfrm>
          <a:prstGeom prst="roundRect">
            <a:avLst/>
          </a:prstGeom>
          <a:solidFill>
            <a:srgbClr val="E5E7EB"/>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980882" y="2730398"/>
            <a:ext cx="3097987" cy="18288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87429" y="2730398"/>
            <a:ext cx="457200" cy="182880"/>
          </a:xfrm>
          <a:prstGeom prst="rect">
            <a:avLst/>
          </a:prstGeom>
          <a:noFill/>
        </p:spPr>
        <p:txBody>
          <a:bodyPr wrap="none">
            <a:spAutoFit/>
          </a:bodyPr>
          <a:lstStyle/>
          <a:p>
            <a:pPr>
              <a:defRPr sz="1000" b="1">
                <a:solidFill>
                  <a:srgbClr val="FFFFFF"/>
                </a:solidFill>
                <a:latin typeface="Inter"/>
              </a:defRPr>
            </a:pPr>
            <a:r>
              <a:t>88%</a:t>
            </a:r>
          </a:p>
        </p:txBody>
      </p:sp>
      <p:sp>
        <p:nvSpPr>
          <p:cNvPr id="27" name="TextBox 26"/>
          <p:cNvSpPr txBox="1"/>
          <p:nvPr/>
        </p:nvSpPr>
        <p:spPr>
          <a:xfrm>
            <a:off x="7980882" y="3023006"/>
            <a:ext cx="3520440" cy="228600"/>
          </a:xfrm>
          <a:prstGeom prst="rect">
            <a:avLst/>
          </a:prstGeom>
          <a:noFill/>
        </p:spPr>
        <p:txBody>
          <a:bodyPr wrap="none">
            <a:spAutoFit/>
          </a:bodyPr>
          <a:lstStyle/>
          <a:p>
            <a:pPr>
              <a:defRPr sz="900" b="1">
                <a:solidFill>
                  <a:srgbClr val="1A202C"/>
                </a:solidFill>
                <a:latin typeface="Inter"/>
              </a:defRPr>
            </a:pPr>
            <a:r>
              <a:t>Outdoor/Extreme Temp</a:t>
            </a:r>
          </a:p>
        </p:txBody>
      </p:sp>
      <p:sp>
        <p:nvSpPr>
          <p:cNvPr id="28" name="Rounded Rectangle 27"/>
          <p:cNvSpPr/>
          <p:nvPr/>
        </p:nvSpPr>
        <p:spPr>
          <a:xfrm>
            <a:off x="7980882" y="3279038"/>
            <a:ext cx="3520440" cy="182880"/>
          </a:xfrm>
          <a:prstGeom prst="roundRect">
            <a:avLst/>
          </a:prstGeom>
          <a:solidFill>
            <a:srgbClr val="E5E7EB"/>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980882" y="3279038"/>
            <a:ext cx="1584198" cy="182880"/>
          </a:xfrm>
          <a:prstGeom prst="round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73640" y="3279038"/>
            <a:ext cx="457200" cy="182880"/>
          </a:xfrm>
          <a:prstGeom prst="rect">
            <a:avLst/>
          </a:prstGeom>
          <a:noFill/>
        </p:spPr>
        <p:txBody>
          <a:bodyPr wrap="none">
            <a:spAutoFit/>
          </a:bodyPr>
          <a:lstStyle/>
          <a:p>
            <a:pPr>
              <a:defRPr sz="1000" b="1">
                <a:solidFill>
                  <a:srgbClr val="FFFFFF"/>
                </a:solidFill>
                <a:latin typeface="Inter"/>
              </a:defRPr>
            </a:pPr>
            <a:r>
              <a:t>45%</a:t>
            </a:r>
          </a:p>
        </p:txBody>
      </p:sp>
      <p:sp>
        <p:nvSpPr>
          <p:cNvPr id="31" name="TextBox 30"/>
          <p:cNvSpPr txBox="1"/>
          <p:nvPr/>
        </p:nvSpPr>
        <p:spPr>
          <a:xfrm>
            <a:off x="548640" y="6309360"/>
            <a:ext cx="11064240" cy="365760"/>
          </a:xfrm>
          <a:prstGeom prst="rect">
            <a:avLst/>
          </a:prstGeom>
          <a:noFill/>
          <a:ln w="25400">
            <a:solidFill>
              <a:srgbClr val="14B8A6"/>
            </a:solidFill>
          </a:ln>
        </p:spPr>
        <p:txBody>
          <a:bodyPr wrap="none">
            <a:spAutoFit/>
          </a:bodyPr>
          <a:lstStyle/>
          <a:p>
            <a:pPr>
              <a:defRPr sz="900" b="1">
                <a:solidFill>
                  <a:srgbClr val="6B7280"/>
                </a:solidFill>
                <a:latin typeface="Inter"/>
              </a:defRPr>
            </a:pPr>
            <a:r>
              <a:t>Source: Phase 2 Analysis, Scotch performance perception across 58 creator videos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