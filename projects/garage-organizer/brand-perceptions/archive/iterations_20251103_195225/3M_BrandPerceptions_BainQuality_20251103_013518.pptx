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1695" y="761695"/>
            <a:ext cx="7620609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 algn="l">
              <a:lnSpc>
                <a:spcPct val="118750"/>
              </a:lnSpc>
              <a:defRPr sz="3200" b="1">
                <a:solidFill>
                  <a:srgbClr val="111827"/>
                </a:solidFill>
                <a:latin typeface="Helvetica Neue"/>
              </a:defRPr>
            </a:pPr>
            <a:r>
              <a:t>Command's Market Presence is Strong, But Creator</a:t>
            </a:r>
            <a:br/>
            <a:r>
              <a:t>Discussions Reveal a Tension Worth Exploring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1645920"/>
            <a:ext cx="32004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800"/>
              </a:spcAft>
              <a:defRPr sz="2000" b="1">
                <a:solidFill>
                  <a:srgbClr val="374151"/>
                </a:solidFill>
                <a:latin typeface="Helvetica Neue"/>
              </a:defRPr>
            </a:pPr>
            <a:r>
              <a:t>✱ THE PATTERN</a:t>
            </a:r>
          </a:p>
          <a:p>
            <a:pPr>
              <a:lnSpc>
                <a:spcPct val="143000"/>
              </a:lnSpc>
              <a:defRPr sz="1400">
                <a:solidFill>
                  <a:srgbClr val="111827"/>
                </a:solidFill>
                <a:latin typeface="Helvetica Neue"/>
              </a:defRPr>
            </a:pPr>
            <a:r>
              <a:t>Command appears frequently in creator content—particularly in tutorials. However, surface damage appears in feedback more often than damage-free benefits are highlighted, creating a strategic question about expectation setting.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695" y="2560320"/>
            <a:ext cx="3200400" cy="822960"/>
          </a:xfrm>
          <a:prstGeom prst="rect">
            <a:avLst/>
          </a:prstGeom>
          <a:solidFill>
            <a:srgbClr val="F9FAFB"/>
          </a:solidFill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8855" y="2697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3A8A"/>
                </a:solidFill>
              </a:defRPr>
            </a:pPr>
            <a:r>
              <a:t>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8895" y="2697480"/>
            <a:ext cx="2560320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/>
          <a:p>
            <a:pPr>
              <a:defRPr sz="1600" b="1">
                <a:solidFill>
                  <a:srgbClr val="374151"/>
                </a:solidFill>
                <a:latin typeface="Helvetica Neue"/>
              </a:defRPr>
            </a:pPr>
            <a:r>
              <a:t>HARD TRUTH</a:t>
            </a:r>
          </a:p>
          <a:p>
            <a:pPr>
              <a:spcBef>
                <a:spcPts val="400"/>
              </a:spcBef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Surface damage concerns outweigh damage-free benefit emphasis in creator content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  <a:latin typeface="Helvetica Neue"/>
              </a:defRPr>
            </a:pPr>
            <a:r>
              <a:t>This matters because marketing ROI is compromised when creator feedback contradicts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3566160"/>
            <a:ext cx="320040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F59E0B"/>
                </a:solidFill>
                <a:latin typeface="Helvetica Neue"/>
              </a:defRPr>
            </a:pPr>
            <a:r>
              <a:t>❓ PROVOCATION</a:t>
            </a:r>
          </a:p>
          <a:p>
            <a:pPr>
              <a:spcAft>
                <a:spcPts val="800"/>
              </a:spcAft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"Are claims setting expectations too high?"</a:t>
            </a:r>
          </a:p>
          <a:p>
            <a:pPr>
              <a:spcAft>
                <a:spcPts val="400"/>
              </a:spcAft>
              <a:defRPr sz="1300">
                <a:solidFill>
                  <a:srgbClr val="374151"/>
                </a:solidFill>
                <a:latin typeface="Helvetica Neue"/>
              </a:defRPr>
            </a:pPr>
            <a:r>
              <a:t>Consider:</a:t>
            </a:r>
          </a:p>
          <a:p>
            <a:pPr>
              <a:spcAft>
                <a:spcPts val="200"/>
              </a:spcAft>
              <a:defRPr sz="1300">
                <a:solidFill>
                  <a:srgbClr val="111827"/>
                </a:solidFill>
                <a:latin typeface="Helvetica Neue"/>
              </a:defRPr>
            </a:pPr>
            <a:r>
              <a:t>• Product innovation to reduce damage</a:t>
            </a:r>
          </a:p>
          <a:p>
            <a:pPr>
              <a:spcAft>
                <a:spcPts val="200"/>
              </a:spcAft>
              <a:defRPr sz="1300">
                <a:solidFill>
                  <a:srgbClr val="111827"/>
                </a:solidFill>
                <a:latin typeface="Helvetica Neue"/>
              </a:defRPr>
            </a:pPr>
            <a:r>
              <a:t>• Transparent compatibility labeling</a:t>
            </a:r>
          </a:p>
          <a:p>
            <a:pPr>
              <a:spcAft>
                <a:spcPts val="200"/>
              </a:spcAft>
              <a:defRPr sz="1300">
                <a:solidFill>
                  <a:srgbClr val="111827"/>
                </a:solidFill>
                <a:latin typeface="Helvetica Neue"/>
              </a:defRPr>
            </a:pPr>
            <a:r>
              <a:t>• Reframe expectations in messaging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6263640" y="2834640"/>
            <a:ext cx="274320" cy="274320"/>
          </a:xfrm>
          <a:prstGeom prst="triangl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120000">
            <a:off x="5029200" y="2651760"/>
            <a:ext cx="274320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2468880"/>
            <a:ext cx="731520" cy="45720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2286000"/>
            <a:ext cx="731520" cy="457200"/>
          </a:xfrm>
          <a:prstGeom prst="rect">
            <a:avLst/>
          </a:prstGeom>
          <a:solidFill>
            <a:srgbClr val="1E3A8A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 b="1">
                <a:solidFill>
                  <a:srgbClr val="374151"/>
                </a:solidFill>
                <a:latin typeface="Helvetica Neue"/>
              </a:defRPr>
            </a:pPr>
            <a:r>
              <a:t>Surface Damage</a:t>
            </a:r>
            <a:br/>
            <a:r>
              <a:t>Discussions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100" b="1">
                <a:solidFill>
                  <a:srgbClr val="374151"/>
                </a:solidFill>
                <a:latin typeface="Helvetica Neue"/>
              </a:defRPr>
            </a:pPr>
            <a:r>
              <a:t>Damage-Free</a:t>
            </a:r>
            <a:br/>
            <a:r>
              <a:t>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200" b="1">
                <a:solidFill>
                  <a:srgbClr val="374151"/>
                </a:solidFill>
                <a:latin typeface="Helvetica Neue"/>
              </a:defRPr>
            </a:pPr>
            <a:r>
              <a:t>DISCUSSION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749040"/>
            <a:ext cx="3200400" cy="274320"/>
          </a:xfrm>
          <a:prstGeom prst="rect">
            <a:avLst/>
          </a:prstGeom>
          <a:solidFill>
            <a:srgbClr val="F9FAFB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7490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>
              <a:defRPr sz="1200" b="1">
                <a:solidFill>
                  <a:srgbClr val="374151"/>
                </a:solidFill>
                <a:latin typeface="Helvetica Neue"/>
              </a:defRPr>
            </a:pPr>
            <a:r>
              <a:t>Discussion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749040"/>
            <a:ext cx="8001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r">
              <a:defRPr sz="1200" b="1">
                <a:solidFill>
                  <a:srgbClr val="374151"/>
                </a:solidFill>
                <a:latin typeface="Helvetica Neue"/>
              </a:defRPr>
            </a:pPr>
            <a:r>
              <a:t>Videos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2336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>
              <a:defRPr sz="1400" b="0">
                <a:solidFill>
                  <a:srgbClr val="111827"/>
                </a:solidFill>
                <a:latin typeface="Helvetica Neue"/>
              </a:defRPr>
            </a:pPr>
            <a:r>
              <a:t>Surface Damage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023360"/>
            <a:ext cx="8001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r"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29768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>
              <a:defRPr sz="1400" b="0">
                <a:solidFill>
                  <a:srgbClr val="111827"/>
                </a:solidFill>
                <a:latin typeface="Helvetica Neue"/>
              </a:defRPr>
            </a:pPr>
            <a:r>
              <a:t>Damage-Free Emphasis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297680"/>
            <a:ext cx="8001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r">
              <a:defRPr sz="1400" b="1">
                <a:solidFill>
                  <a:srgbClr val="111827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8463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374151"/>
                </a:solidFill>
                <a:latin typeface="Helvetica Neue"/>
              </a:defRPr>
            </a:pPr>
            <a:r>
              <a:t>SENTIMENT DISTRIBUTION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5120640"/>
            <a:ext cx="2688336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3288" y="5166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Neutral 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43216" y="5120640"/>
            <a:ext cx="208026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51242" y="5120640"/>
            <a:ext cx="20802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54864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1E3A8A"/>
                </a:solidFill>
                <a:latin typeface="Helvetica Neue"/>
              </a:defRPr>
            </a:pPr>
            <a:r>
              <a:t>Pos 6.5%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1242" y="54864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>
                <a:solidFill>
                  <a:srgbClr val="F59E0B"/>
                </a:solidFill>
                <a:latin typeface="Helvetica Neue"/>
              </a:defRPr>
            </a:pPr>
            <a:r>
              <a:t>Neg 6.5%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" y="4389120"/>
            <a:ext cx="762060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300" b="1">
                <a:solidFill>
                  <a:srgbClr val="374151"/>
                </a:solidFill>
                <a:latin typeface="Helvetica Neue"/>
              </a:defRPr>
            </a:pPr>
            <a:r>
              <a:t>→ CONVERSATION STARTERS</a:t>
            </a:r>
          </a:p>
          <a:p>
            <a:pPr>
              <a:spcAft>
                <a:spcPts val="200"/>
              </a:spcAft>
              <a:defRPr sz="1200">
                <a:solidFill>
                  <a:srgbClr val="111827"/>
                </a:solidFill>
                <a:latin typeface="Helvetica Neue"/>
              </a:defRPr>
            </a:pPr>
            <a:r>
              <a:t>→ How might we align damage-free claims with actual creator experiences?</a:t>
            </a:r>
          </a:p>
          <a:p>
            <a:pPr>
              <a:spcAft>
                <a:spcPts val="200"/>
              </a:spcAft>
              <a:defRPr sz="1200">
                <a:solidFill>
                  <a:srgbClr val="111827"/>
                </a:solidFill>
                <a:latin typeface="Helvetica Neue"/>
              </a:defRPr>
            </a:pPr>
            <a:r>
              <a:t>→ Should we invest in surface compatibility education or product reformulation?</a:t>
            </a:r>
          </a:p>
          <a:p>
            <a:pPr>
              <a:spcAft>
                <a:spcPts val="200"/>
              </a:spcAft>
              <a:defRPr sz="1200">
                <a:solidFill>
                  <a:srgbClr val="111827"/>
                </a:solidFill>
                <a:latin typeface="Helvetica Neue"/>
              </a:defRPr>
            </a:pPr>
            <a:r>
              <a:t>→ What role should Command play if damage-free isn't always achievable?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1695" y="4754880"/>
            <a:ext cx="7620609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" y="48463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9CA3AF"/>
                </a:solidFill>
                <a:latin typeface="Helvetica Neue"/>
              </a:defRPr>
            </a:pPr>
            <a:r>
              <a:t>Source: Phase 2 Analysis, 62 Command videos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CA3AF"/>
                </a:solidFill>
                <a:latin typeface="Helvetica Neue"/>
              </a:defRPr>
            </a:pPr>
            <a:r>
              <a:t>Slide 1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