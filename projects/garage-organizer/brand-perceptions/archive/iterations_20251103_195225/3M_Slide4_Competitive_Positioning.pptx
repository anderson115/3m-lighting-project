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48640"/>
            <a:ext cx="7772400" cy="822960"/>
          </a:xfrm>
          <a:prstGeom prst="rect">
            <a:avLst/>
          </a:prstGeom>
          <a:noFill/>
        </p:spPr>
        <p:txBody>
          <a:bodyPr wrap="square">
            <a:spAutoFit/>
          </a:bodyPr>
          <a:lstStyle/>
          <a:p>
            <a:pPr>
              <a:defRPr sz="3300" b="1">
                <a:solidFill>
                  <a:srgbClr val="2D3748"/>
                </a:solidFill>
                <a:latin typeface="Inter"/>
              </a:defRPr>
            </a:pPr>
            <a:r>
              <a:t>Garage Organizer Market Reveals Strategic Positioning Gaps—Where the Real Opportunity Lies</a:t>
            </a:r>
          </a:p>
        </p:txBody>
      </p:sp>
      <p:sp>
        <p:nvSpPr>
          <p:cNvPr id="3" name="Rectangle 2"/>
          <p:cNvSpPr/>
          <p:nvPr/>
        </p:nvSpPr>
        <p:spPr>
          <a:xfrm>
            <a:off x="548640" y="548640"/>
            <a:ext cx="73152" cy="82296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554480"/>
            <a:ext cx="7772400" cy="1188720"/>
          </a:xfrm>
          <a:prstGeom prst="roundRect">
            <a:avLst/>
          </a:prstGeom>
          <a:solidFill>
            <a:srgbClr val="2D3748"/>
          </a:solidFill>
          <a:ln w="7620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7315200" cy="274320"/>
          </a:xfrm>
          <a:prstGeom prst="rect">
            <a:avLst/>
          </a:prstGeom>
          <a:noFill/>
        </p:spPr>
        <p:txBody>
          <a:bodyPr wrap="none">
            <a:spAutoFit/>
          </a:bodyPr>
          <a:lstStyle/>
          <a:p>
            <a:pPr>
              <a:defRPr sz="1100" b="1">
                <a:solidFill>
                  <a:srgbClr val="14B8A6"/>
                </a:solidFill>
                <a:latin typeface="Inter"/>
              </a:defRPr>
            </a:pPr>
            <a:r>
              <a:t>THE PATTERN</a:t>
            </a:r>
          </a:p>
        </p:txBody>
      </p:sp>
      <p:sp>
        <p:nvSpPr>
          <p:cNvPr id="6" name="TextBox 5"/>
          <p:cNvSpPr txBox="1"/>
          <p:nvPr/>
        </p:nvSpPr>
        <p:spPr>
          <a:xfrm>
            <a:off x="822960" y="2011680"/>
            <a:ext cx="7315200" cy="640080"/>
          </a:xfrm>
          <a:prstGeom prst="rect">
            <a:avLst/>
          </a:prstGeom>
          <a:noFill/>
        </p:spPr>
        <p:txBody>
          <a:bodyPr wrap="square">
            <a:spAutoFit/>
          </a:bodyPr>
          <a:lstStyle/>
          <a:p>
            <a:pPr>
              <a:lnSpc>
                <a:spcPct val="130000"/>
              </a:lnSpc>
              <a:defRPr sz="1300">
                <a:solidFill>
                  <a:srgbClr val="FFFFFF"/>
                </a:solidFill>
                <a:latin typeface="Inter"/>
              </a:defRPr>
            </a:pPr>
            <a:r>
              <a:t>Three distinct market positions have emerged. Command dominates rental/temporary applications with mainstream presence. Scotch owns the DIY permanent mounting segment with strong creator advocacy. 3M Claw specializes in heavy-duty/extreme environments. Budget alternatives remain fragmented with minimal creator visibility.</a:t>
            </a:r>
          </a:p>
        </p:txBody>
      </p:sp>
      <p:sp>
        <p:nvSpPr>
          <p:cNvPr id="7" name="Rounded Rectangle 6"/>
          <p:cNvSpPr/>
          <p:nvPr/>
        </p:nvSpPr>
        <p:spPr>
          <a:xfrm>
            <a:off x="548640" y="2926080"/>
            <a:ext cx="7772400" cy="1188720"/>
          </a:xfrm>
          <a:prstGeom prst="roundRect">
            <a:avLst/>
          </a:prstGeom>
          <a:solidFill>
            <a:srgbClr val="2D3748"/>
          </a:solidFill>
          <a:ln w="7620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08960"/>
            <a:ext cx="7315200" cy="274320"/>
          </a:xfrm>
          <a:prstGeom prst="rect">
            <a:avLst/>
          </a:prstGeom>
          <a:noFill/>
        </p:spPr>
        <p:txBody>
          <a:bodyPr wrap="none">
            <a:spAutoFit/>
          </a:bodyPr>
          <a:lstStyle/>
          <a:p>
            <a:pPr>
              <a:defRPr sz="1100" b="1">
                <a:solidFill>
                  <a:srgbClr val="14B8A6"/>
                </a:solidFill>
                <a:latin typeface="Inter"/>
              </a:defRPr>
            </a:pPr>
            <a:r>
              <a:t>INSIGHT</a:t>
            </a:r>
          </a:p>
        </p:txBody>
      </p:sp>
      <p:sp>
        <p:nvSpPr>
          <p:cNvPr id="9" name="TextBox 8"/>
          <p:cNvSpPr txBox="1"/>
          <p:nvPr/>
        </p:nvSpPr>
        <p:spPr>
          <a:xfrm>
            <a:off x="822960" y="3383280"/>
            <a:ext cx="7315200" cy="640080"/>
          </a:xfrm>
          <a:prstGeom prst="rect">
            <a:avLst/>
          </a:prstGeom>
          <a:noFill/>
        </p:spPr>
        <p:txBody>
          <a:bodyPr wrap="square">
            <a:spAutoFit/>
          </a:bodyPr>
          <a:lstStyle/>
          <a:p>
            <a:pPr>
              <a:lnSpc>
                <a:spcPct val="130000"/>
              </a:lnSpc>
              <a:defRPr sz="1300">
                <a:solidFill>
                  <a:srgbClr val="FFFFFF"/>
                </a:solidFill>
                <a:latin typeface="Inter"/>
              </a:defRPr>
            </a:pPr>
            <a:r>
              <a:t>The market has naturally segmented by use case rather than price. Brands succeed by owning clear specialization, not by competing on cost. Creator commentary reveals strong category loyalty—customers choose brands for capability fit, not discounts.</a:t>
            </a:r>
          </a:p>
        </p:txBody>
      </p:sp>
      <p:sp>
        <p:nvSpPr>
          <p:cNvPr id="10" name="Rounded Rectangle 9"/>
          <p:cNvSpPr/>
          <p:nvPr/>
        </p:nvSpPr>
        <p:spPr>
          <a:xfrm>
            <a:off x="548640" y="4297680"/>
            <a:ext cx="7772400" cy="1188720"/>
          </a:xfrm>
          <a:prstGeom prst="roundRect">
            <a:avLst/>
          </a:prstGeom>
          <a:solidFill>
            <a:srgbClr val="2D3748"/>
          </a:solidFill>
          <a:ln w="7620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480560"/>
            <a:ext cx="7315200" cy="274320"/>
          </a:xfrm>
          <a:prstGeom prst="rect">
            <a:avLst/>
          </a:prstGeom>
          <a:noFill/>
        </p:spPr>
        <p:txBody>
          <a:bodyPr wrap="none">
            <a:spAutoFit/>
          </a:bodyPr>
          <a:lstStyle/>
          <a:p>
            <a:pPr>
              <a:defRPr sz="1100" b="1">
                <a:solidFill>
                  <a:srgbClr val="14B8A6"/>
                </a:solidFill>
                <a:latin typeface="Inter"/>
              </a:defRPr>
            </a:pPr>
            <a:r>
              <a:t>HARD TRUTH</a:t>
            </a:r>
          </a:p>
        </p:txBody>
      </p:sp>
      <p:sp>
        <p:nvSpPr>
          <p:cNvPr id="12" name="TextBox 11"/>
          <p:cNvSpPr txBox="1"/>
          <p:nvPr/>
        </p:nvSpPr>
        <p:spPr>
          <a:xfrm>
            <a:off x="822960" y="4754880"/>
            <a:ext cx="7315200" cy="640080"/>
          </a:xfrm>
          <a:prstGeom prst="rect">
            <a:avLst/>
          </a:prstGeom>
          <a:noFill/>
        </p:spPr>
        <p:txBody>
          <a:bodyPr wrap="square">
            <a:spAutoFit/>
          </a:bodyPr>
          <a:lstStyle/>
          <a:p>
            <a:pPr>
              <a:lnSpc>
                <a:spcPct val="130000"/>
              </a:lnSpc>
              <a:defRPr sz="1300">
                <a:solidFill>
                  <a:srgbClr val="FFFFFF"/>
                </a:solidFill>
                <a:latin typeface="Inter"/>
              </a:defRPr>
            </a:pPr>
            <a:r>
              <a:t>Two positioning gaps exist: (1) Premium all-purpose organizer for DIY enthusiasts wanting one trusted brand, (2) Mass-market accessibility—current leaders are under-indexed in budget/retail visibility. First-mover advantage available.</a:t>
            </a:r>
          </a:p>
        </p:txBody>
      </p:sp>
      <p:sp>
        <p:nvSpPr>
          <p:cNvPr id="13" name="Rectangle 12"/>
          <p:cNvSpPr/>
          <p:nvPr/>
        </p:nvSpPr>
        <p:spPr>
          <a:xfrm>
            <a:off x="8686800" y="1554480"/>
            <a:ext cx="1508760" cy="1188720"/>
          </a:xfrm>
          <a:prstGeom prst="rect">
            <a:avLst/>
          </a:prstGeom>
          <a:solidFill>
            <a:srgbClr val="FAFBFC"/>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1645920"/>
            <a:ext cx="1508760" cy="182880"/>
          </a:xfrm>
          <a:prstGeom prst="rect">
            <a:avLst/>
          </a:prstGeom>
          <a:noFill/>
        </p:spPr>
        <p:txBody>
          <a:bodyPr wrap="none">
            <a:spAutoFit/>
          </a:bodyPr>
          <a:lstStyle/>
          <a:p>
            <a:pPr algn="ctr">
              <a:defRPr sz="900" b="1">
                <a:solidFill>
                  <a:srgbClr val="999999"/>
                </a:solidFill>
              </a:defRPr>
            </a:pPr>
            <a:r>
              <a:t>BUDGET NICHE</a:t>
            </a:r>
          </a:p>
        </p:txBody>
      </p:sp>
      <p:sp>
        <p:nvSpPr>
          <p:cNvPr id="15" name="Oval 14"/>
          <p:cNvSpPr/>
          <p:nvPr/>
        </p:nvSpPr>
        <p:spPr>
          <a:xfrm>
            <a:off x="9212580" y="1874519"/>
            <a:ext cx="457200" cy="4572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12580" y="1874519"/>
            <a:ext cx="457200" cy="457200"/>
          </a:xfrm>
          <a:prstGeom prst="rect">
            <a:avLst/>
          </a:prstGeom>
          <a:noFill/>
        </p:spPr>
        <p:txBody>
          <a:bodyPr wrap="none" anchor="ctr">
            <a:spAutoFit/>
          </a:bodyPr>
          <a:lstStyle/>
          <a:p>
            <a:pPr algn="ctr">
              <a:defRPr sz="2000" b="1">
                <a:solidFill>
                  <a:srgbClr val="FFFFFF"/>
                </a:solidFill>
              </a:defRPr>
            </a:pPr>
            <a:r>
              <a:t>🏷</a:t>
            </a:r>
          </a:p>
        </p:txBody>
      </p:sp>
      <p:sp>
        <p:nvSpPr>
          <p:cNvPr id="17" name="TextBox 16"/>
          <p:cNvSpPr txBox="1"/>
          <p:nvPr/>
        </p:nvSpPr>
        <p:spPr>
          <a:xfrm>
            <a:off x="8686800" y="2377440"/>
            <a:ext cx="1508760" cy="182880"/>
          </a:xfrm>
          <a:prstGeom prst="rect">
            <a:avLst/>
          </a:prstGeom>
          <a:noFill/>
        </p:spPr>
        <p:txBody>
          <a:bodyPr wrap="none">
            <a:spAutoFit/>
          </a:bodyPr>
          <a:lstStyle/>
          <a:p>
            <a:pPr algn="ctr">
              <a:defRPr sz="900" b="1">
                <a:solidFill>
                  <a:srgbClr val="1A202C"/>
                </a:solidFill>
              </a:defRPr>
            </a:pPr>
            <a:r>
              <a:t>Generic</a:t>
            </a:r>
          </a:p>
        </p:txBody>
      </p:sp>
      <p:sp>
        <p:nvSpPr>
          <p:cNvPr id="18" name="Rectangle 17"/>
          <p:cNvSpPr/>
          <p:nvPr/>
        </p:nvSpPr>
        <p:spPr>
          <a:xfrm>
            <a:off x="10195560" y="1554480"/>
            <a:ext cx="1508760" cy="1188720"/>
          </a:xfrm>
          <a:prstGeom prst="rect">
            <a:avLst/>
          </a:prstGeom>
          <a:solidFill>
            <a:srgbClr val="FAFBFC"/>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95560" y="1645920"/>
            <a:ext cx="1508760" cy="182880"/>
          </a:xfrm>
          <a:prstGeom prst="rect">
            <a:avLst/>
          </a:prstGeom>
          <a:noFill/>
        </p:spPr>
        <p:txBody>
          <a:bodyPr wrap="none">
            <a:spAutoFit/>
          </a:bodyPr>
          <a:lstStyle/>
          <a:p>
            <a:pPr algn="ctr">
              <a:defRPr sz="900" b="1">
                <a:solidFill>
                  <a:srgbClr val="999999"/>
                </a:solidFill>
              </a:defRPr>
            </a:pPr>
            <a:r>
              <a:t>PREMIUM MAINSTREAM</a:t>
            </a:r>
          </a:p>
        </p:txBody>
      </p:sp>
      <p:sp>
        <p:nvSpPr>
          <p:cNvPr id="20" name="Oval 19"/>
          <p:cNvSpPr/>
          <p:nvPr/>
        </p:nvSpPr>
        <p:spPr>
          <a:xfrm>
            <a:off x="10721340" y="1874519"/>
            <a:ext cx="457200" cy="4572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21340" y="1874519"/>
            <a:ext cx="457200" cy="457200"/>
          </a:xfrm>
          <a:prstGeom prst="rect">
            <a:avLst/>
          </a:prstGeom>
          <a:noFill/>
        </p:spPr>
        <p:txBody>
          <a:bodyPr wrap="none" anchor="ctr">
            <a:spAutoFit/>
          </a:bodyPr>
          <a:lstStyle/>
          <a:p>
            <a:pPr algn="ctr">
              <a:defRPr sz="2000" b="1">
                <a:solidFill>
                  <a:srgbClr val="FFFFFF"/>
                </a:solidFill>
              </a:defRPr>
            </a:pPr>
            <a:r>
              <a:t>S</a:t>
            </a:r>
          </a:p>
        </p:txBody>
      </p:sp>
      <p:sp>
        <p:nvSpPr>
          <p:cNvPr id="22" name="TextBox 21"/>
          <p:cNvSpPr txBox="1"/>
          <p:nvPr/>
        </p:nvSpPr>
        <p:spPr>
          <a:xfrm>
            <a:off x="10195560" y="2377440"/>
            <a:ext cx="1508760" cy="182880"/>
          </a:xfrm>
          <a:prstGeom prst="rect">
            <a:avLst/>
          </a:prstGeom>
          <a:noFill/>
        </p:spPr>
        <p:txBody>
          <a:bodyPr wrap="none">
            <a:spAutoFit/>
          </a:bodyPr>
          <a:lstStyle/>
          <a:p>
            <a:pPr algn="ctr">
              <a:defRPr sz="900" b="1">
                <a:solidFill>
                  <a:srgbClr val="1A202C"/>
                </a:solidFill>
              </a:defRPr>
            </a:pPr>
            <a:r>
              <a:t>Scotch</a:t>
            </a:r>
          </a:p>
        </p:txBody>
      </p:sp>
      <p:sp>
        <p:nvSpPr>
          <p:cNvPr id="23" name="Rectangle 22"/>
          <p:cNvSpPr/>
          <p:nvPr/>
        </p:nvSpPr>
        <p:spPr>
          <a:xfrm>
            <a:off x="8686800" y="2743200"/>
            <a:ext cx="1508760" cy="1188720"/>
          </a:xfrm>
          <a:prstGeom prst="rect">
            <a:avLst/>
          </a:prstGeom>
          <a:solidFill>
            <a:srgbClr val="FAFBFC"/>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0" y="2834640"/>
            <a:ext cx="1508760" cy="182880"/>
          </a:xfrm>
          <a:prstGeom prst="rect">
            <a:avLst/>
          </a:prstGeom>
          <a:noFill/>
        </p:spPr>
        <p:txBody>
          <a:bodyPr wrap="none">
            <a:spAutoFit/>
          </a:bodyPr>
          <a:lstStyle/>
          <a:p>
            <a:pPr algn="ctr">
              <a:defRPr sz="900" b="1">
                <a:solidFill>
                  <a:srgbClr val="999999"/>
                </a:solidFill>
              </a:defRPr>
            </a:pPr>
            <a:r>
              <a:t>BUDGET MAINSTREAM</a:t>
            </a:r>
          </a:p>
        </p:txBody>
      </p:sp>
      <p:sp>
        <p:nvSpPr>
          <p:cNvPr id="25" name="Oval 24"/>
          <p:cNvSpPr/>
          <p:nvPr/>
        </p:nvSpPr>
        <p:spPr>
          <a:xfrm>
            <a:off x="9212580" y="306324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2580" y="3063240"/>
            <a:ext cx="457200" cy="457200"/>
          </a:xfrm>
          <a:prstGeom prst="rect">
            <a:avLst/>
          </a:prstGeom>
          <a:noFill/>
        </p:spPr>
        <p:txBody>
          <a:bodyPr wrap="none" anchor="ctr">
            <a:spAutoFit/>
          </a:bodyPr>
          <a:lstStyle/>
          <a:p>
            <a:pPr algn="ctr">
              <a:defRPr sz="2000" b="1">
                <a:solidFill>
                  <a:srgbClr val="FFFFFF"/>
                </a:solidFill>
              </a:defRPr>
            </a:pPr>
            <a:r>
              <a:t>C</a:t>
            </a:r>
          </a:p>
        </p:txBody>
      </p:sp>
      <p:sp>
        <p:nvSpPr>
          <p:cNvPr id="27" name="TextBox 26"/>
          <p:cNvSpPr txBox="1"/>
          <p:nvPr/>
        </p:nvSpPr>
        <p:spPr>
          <a:xfrm>
            <a:off x="8686800" y="3566160"/>
            <a:ext cx="1508760" cy="182880"/>
          </a:xfrm>
          <a:prstGeom prst="rect">
            <a:avLst/>
          </a:prstGeom>
          <a:noFill/>
        </p:spPr>
        <p:txBody>
          <a:bodyPr wrap="none">
            <a:spAutoFit/>
          </a:bodyPr>
          <a:lstStyle/>
          <a:p>
            <a:pPr algn="ctr">
              <a:defRPr sz="900" b="1">
                <a:solidFill>
                  <a:srgbClr val="1A202C"/>
                </a:solidFill>
              </a:defRPr>
            </a:pPr>
            <a:r>
              <a:t>Command</a:t>
            </a:r>
          </a:p>
        </p:txBody>
      </p:sp>
      <p:sp>
        <p:nvSpPr>
          <p:cNvPr id="28" name="Rectangle 27"/>
          <p:cNvSpPr/>
          <p:nvPr/>
        </p:nvSpPr>
        <p:spPr>
          <a:xfrm>
            <a:off x="10195560" y="2743200"/>
            <a:ext cx="1508760" cy="1188720"/>
          </a:xfrm>
          <a:prstGeom prst="rect">
            <a:avLst/>
          </a:prstGeom>
          <a:solidFill>
            <a:srgbClr val="FAFBFC"/>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95560" y="2834640"/>
            <a:ext cx="1508760" cy="182880"/>
          </a:xfrm>
          <a:prstGeom prst="rect">
            <a:avLst/>
          </a:prstGeom>
          <a:noFill/>
        </p:spPr>
        <p:txBody>
          <a:bodyPr wrap="none">
            <a:spAutoFit/>
          </a:bodyPr>
          <a:lstStyle/>
          <a:p>
            <a:pPr algn="ctr">
              <a:defRPr sz="900" b="1">
                <a:solidFill>
                  <a:srgbClr val="999999"/>
                </a:solidFill>
              </a:defRPr>
            </a:pPr>
            <a:r>
              <a:t>PREMIUM NICHE</a:t>
            </a:r>
          </a:p>
        </p:txBody>
      </p:sp>
      <p:sp>
        <p:nvSpPr>
          <p:cNvPr id="30" name="Oval 29"/>
          <p:cNvSpPr/>
          <p:nvPr/>
        </p:nvSpPr>
        <p:spPr>
          <a:xfrm>
            <a:off x="10721340" y="3063240"/>
            <a:ext cx="457200" cy="45720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21340" y="3063240"/>
            <a:ext cx="457200" cy="457200"/>
          </a:xfrm>
          <a:prstGeom prst="rect">
            <a:avLst/>
          </a:prstGeom>
          <a:noFill/>
        </p:spPr>
        <p:txBody>
          <a:bodyPr wrap="none" anchor="ctr">
            <a:spAutoFit/>
          </a:bodyPr>
          <a:lstStyle/>
          <a:p>
            <a:pPr algn="ctr">
              <a:defRPr sz="2000" b="1">
                <a:solidFill>
                  <a:srgbClr val="FFFFFF"/>
                </a:solidFill>
              </a:defRPr>
            </a:pPr>
            <a:r>
              <a:t>3C</a:t>
            </a:r>
          </a:p>
        </p:txBody>
      </p:sp>
      <p:sp>
        <p:nvSpPr>
          <p:cNvPr id="32" name="TextBox 31"/>
          <p:cNvSpPr txBox="1"/>
          <p:nvPr/>
        </p:nvSpPr>
        <p:spPr>
          <a:xfrm>
            <a:off x="10195560" y="3566160"/>
            <a:ext cx="1508760" cy="182880"/>
          </a:xfrm>
          <a:prstGeom prst="rect">
            <a:avLst/>
          </a:prstGeom>
          <a:noFill/>
        </p:spPr>
        <p:txBody>
          <a:bodyPr wrap="none">
            <a:spAutoFit/>
          </a:bodyPr>
          <a:lstStyle/>
          <a:p>
            <a:pPr algn="ctr">
              <a:defRPr sz="900" b="1">
                <a:solidFill>
                  <a:srgbClr val="1A202C"/>
                </a:solidFill>
              </a:defRPr>
            </a:pPr>
            <a:r>
              <a:t>3M Claw</a:t>
            </a:r>
          </a:p>
        </p:txBody>
      </p:sp>
      <p:sp>
        <p:nvSpPr>
          <p:cNvPr id="33" name="Oval 32"/>
          <p:cNvSpPr/>
          <p:nvPr/>
        </p:nvSpPr>
        <p:spPr>
          <a:xfrm>
            <a:off x="8686800" y="4069080"/>
            <a:ext cx="109728" cy="10972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51392" y="4041648"/>
            <a:ext cx="2743200" cy="164592"/>
          </a:xfrm>
          <a:prstGeom prst="rect">
            <a:avLst/>
          </a:prstGeom>
          <a:noFill/>
        </p:spPr>
        <p:txBody>
          <a:bodyPr wrap="none">
            <a:spAutoFit/>
          </a:bodyPr>
          <a:lstStyle/>
          <a:p>
            <a:pPr>
              <a:defRPr sz="1000">
                <a:solidFill>
                  <a:srgbClr val="4A5568"/>
                </a:solidFill>
                <a:latin typeface="Inter"/>
              </a:defRPr>
            </a:pPr>
            <a:r>
              <a:t>Creator Advocacy</a:t>
            </a:r>
          </a:p>
        </p:txBody>
      </p:sp>
      <p:sp>
        <p:nvSpPr>
          <p:cNvPr id="35" name="Oval 34"/>
          <p:cNvSpPr/>
          <p:nvPr/>
        </p:nvSpPr>
        <p:spPr>
          <a:xfrm>
            <a:off x="8686800" y="42976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51392" y="4270248"/>
            <a:ext cx="2743200" cy="164592"/>
          </a:xfrm>
          <a:prstGeom prst="rect">
            <a:avLst/>
          </a:prstGeom>
          <a:noFill/>
        </p:spPr>
        <p:txBody>
          <a:bodyPr wrap="none">
            <a:spAutoFit/>
          </a:bodyPr>
          <a:lstStyle/>
          <a:p>
            <a:pPr>
              <a:defRPr sz="1000">
                <a:solidFill>
                  <a:srgbClr val="4A5568"/>
                </a:solidFill>
                <a:latin typeface="Inter"/>
              </a:defRPr>
            </a:pPr>
            <a:r>
              <a:t>Mainstream</a:t>
            </a:r>
          </a:p>
        </p:txBody>
      </p:sp>
      <p:sp>
        <p:nvSpPr>
          <p:cNvPr id="37" name="Oval 36"/>
          <p:cNvSpPr/>
          <p:nvPr/>
        </p:nvSpPr>
        <p:spPr>
          <a:xfrm>
            <a:off x="8686800" y="45262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51392" y="4498848"/>
            <a:ext cx="2743200" cy="164592"/>
          </a:xfrm>
          <a:prstGeom prst="rect">
            <a:avLst/>
          </a:prstGeom>
          <a:noFill/>
        </p:spPr>
        <p:txBody>
          <a:bodyPr wrap="none">
            <a:spAutoFit/>
          </a:bodyPr>
          <a:lstStyle/>
          <a:p>
            <a:pPr>
              <a:defRPr sz="1000">
                <a:solidFill>
                  <a:srgbClr val="4A5568"/>
                </a:solidFill>
                <a:latin typeface="Inter"/>
              </a:defRPr>
            </a:pPr>
            <a:r>
              <a:t>Specialist</a:t>
            </a:r>
          </a:p>
        </p:txBody>
      </p:sp>
      <p:sp>
        <p:nvSpPr>
          <p:cNvPr id="39" name="Rectangle 38"/>
          <p:cNvSpPr/>
          <p:nvPr/>
        </p:nvSpPr>
        <p:spPr>
          <a:xfrm>
            <a:off x="548640" y="6309360"/>
            <a:ext cx="11155680" cy="2743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6400800"/>
            <a:ext cx="11155680" cy="274320"/>
          </a:xfrm>
          <a:prstGeom prst="rect">
            <a:avLst/>
          </a:prstGeom>
          <a:noFill/>
        </p:spPr>
        <p:txBody>
          <a:bodyPr wrap="none">
            <a:spAutoFit/>
          </a:bodyPr>
          <a:lstStyle/>
          <a:p>
            <a:pPr>
              <a:defRPr sz="1000">
                <a:solidFill>
                  <a:srgbClr val="6B7280"/>
                </a:solidFill>
                <a:latin typeface="Inter"/>
              </a:defRPr>
            </a:pPr>
            <a:r>
              <a:t>Source: Phase 2 Analysis, Competitive positioning matrix from 193 creator videos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