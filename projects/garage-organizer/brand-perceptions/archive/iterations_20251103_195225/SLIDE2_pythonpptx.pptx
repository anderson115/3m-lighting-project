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09600"/>
            <a:ext cx="13411200" cy="914400"/>
          </a:xfrm>
          <a:prstGeom prst="rect">
            <a:avLst/>
          </a:prstGeom>
          <a:noFill/>
        </p:spPr>
        <p:txBody>
          <a:bodyPr wrap="none">
            <a:spAutoFit/>
          </a:bodyPr>
          <a:lstStyle/>
          <a:p>
            <a:pPr algn="l">
              <a:lnSpc>
                <a:spcPct val="120000"/>
              </a:lnSpc>
              <a:spcBef>
                <a:spcPts val="0"/>
              </a:spcBef>
              <a:spcAft>
                <a:spcPts val="0"/>
              </a:spcAft>
              <a:defRPr sz="3000" b="1">
                <a:solidFill>
                  <a:srgbClr val="1A202C"/>
                </a:solidFill>
                <a:latin typeface="Inter"/>
              </a:defRPr>
            </a:pPr>
            <a:r>
              <a:t>Scotch Demonstrates Strong Creator Advocacy—Understanding Where It Shines and Where It's Challenged</a:t>
            </a:r>
          </a:p>
        </p:txBody>
      </p:sp>
      <p:sp>
        <p:nvSpPr>
          <p:cNvPr id="3" name="TextBox 2"/>
          <p:cNvSpPr txBox="1"/>
          <p:nvPr/>
        </p:nvSpPr>
        <p:spPr>
          <a:xfrm>
            <a:off x="609600" y="1569720"/>
            <a:ext cx="6096000" cy="274320"/>
          </a:xfrm>
          <a:prstGeom prst="rect">
            <a:avLst/>
          </a:prstGeom>
          <a:noFill/>
        </p:spPr>
        <p:txBody>
          <a:bodyPr wrap="none">
            <a:spAutoFit/>
          </a:bodyPr>
          <a:lstStyle/>
          <a:p>
            <a:pPr algn="l">
              <a:spcBef>
                <a:spcPts val="0"/>
              </a:spcBef>
              <a:spcAft>
                <a:spcPts val="200"/>
              </a:spcAft>
              <a:defRPr sz="1100" b="1">
                <a:solidFill>
                  <a:srgbClr val="2D3748"/>
                </a:solidFill>
                <a:latin typeface="Inter"/>
              </a:defRPr>
            </a:pPr>
            <a:r>
              <a:t>✱ THE PATTERN</a:t>
            </a:r>
          </a:p>
        </p:txBody>
      </p:sp>
      <p:sp>
        <p:nvSpPr>
          <p:cNvPr id="4" name="TextBox 3"/>
          <p:cNvSpPr txBox="1"/>
          <p:nvPr/>
        </p:nvSpPr>
        <p:spPr>
          <a:xfrm>
            <a:off x="609600" y="1798320"/>
            <a:ext cx="6096000" cy="1828800"/>
          </a:xfrm>
          <a:prstGeom prst="rect">
            <a:avLst/>
          </a:prstGeom>
          <a:noFill/>
        </p:spPr>
        <p:txBody>
          <a:bodyPr wrap="square">
            <a:spAutoFit/>
          </a:bodyPr>
          <a:lstStyle/>
          <a:p>
            <a:pPr>
              <a:lnSpc>
                <a:spcPct val="150000"/>
              </a:lnSpc>
              <a:defRPr sz="1200">
                <a:solidFill>
                  <a:srgbClr val="1A202C"/>
                </a:solidFill>
                <a:latin typeface="Inter"/>
              </a:defRPr>
            </a:pPr>
            <a:r>
              <a:t>Content creators who feature Scotch products tend to offer favorable recommendations. Across review and comparison content, Scotch receives notably more positive assessments than negative, with creators frequently emphasizing reliability and hold strength.</a:t>
            </a:r>
          </a:p>
        </p:txBody>
      </p:sp>
      <p:sp>
        <p:nvSpPr>
          <p:cNvPr id="5" name="TextBox 4"/>
          <p:cNvSpPr txBox="1"/>
          <p:nvPr/>
        </p:nvSpPr>
        <p:spPr>
          <a:xfrm>
            <a:off x="609600" y="2849880"/>
            <a:ext cx="6096000" cy="274320"/>
          </a:xfrm>
          <a:prstGeom prst="rect">
            <a:avLst/>
          </a:prstGeom>
          <a:noFill/>
        </p:spPr>
        <p:txBody>
          <a:bodyPr wrap="none">
            <a:spAutoFit/>
          </a:bodyPr>
          <a:lstStyle/>
          <a:p>
            <a:pPr algn="l">
              <a:spcBef>
                <a:spcPts val="0"/>
              </a:spcBef>
              <a:spcAft>
                <a:spcPts val="200"/>
              </a:spcAft>
              <a:defRPr sz="1100" b="1">
                <a:solidFill>
                  <a:srgbClr val="2D3748"/>
                </a:solidFill>
                <a:latin typeface="Inter"/>
              </a:defRPr>
            </a:pPr>
            <a:r>
              <a:t>✱ INSIGHT</a:t>
            </a:r>
          </a:p>
        </p:txBody>
      </p:sp>
      <p:sp>
        <p:nvSpPr>
          <p:cNvPr id="6" name="TextBox 5"/>
          <p:cNvSpPr txBox="1"/>
          <p:nvPr/>
        </p:nvSpPr>
        <p:spPr>
          <a:xfrm>
            <a:off x="609600" y="3078480"/>
            <a:ext cx="6096000" cy="1828800"/>
          </a:xfrm>
          <a:prstGeom prst="rect">
            <a:avLst/>
          </a:prstGeom>
          <a:noFill/>
        </p:spPr>
        <p:txBody>
          <a:bodyPr wrap="square">
            <a:spAutoFit/>
          </a:bodyPr>
          <a:lstStyle/>
          <a:p>
            <a:pPr>
              <a:lnSpc>
                <a:spcPct val="150000"/>
              </a:lnSpc>
              <a:defRPr sz="1200">
                <a:solidFill>
                  <a:srgbClr val="1A202C"/>
                </a:solidFill>
                <a:latin typeface="Inter"/>
              </a:defRPr>
            </a:pPr>
            <a:r>
              <a:t>Scotch's performance perception is strongest in indoor, permanent mounting applications. Temperature considerations shape use case recommendations for outdoor/vehicle contexts—creators understand optimal use through experience.</a:t>
            </a:r>
          </a:p>
        </p:txBody>
      </p:sp>
      <p:sp>
        <p:nvSpPr>
          <p:cNvPr id="7" name="Rounded Rectangle 6"/>
          <p:cNvSpPr/>
          <p:nvPr/>
        </p:nvSpPr>
        <p:spPr>
          <a:xfrm>
            <a:off x="609600" y="4221480"/>
            <a:ext cx="6096000" cy="1874519"/>
          </a:xfrm>
          <a:prstGeom prst="roundRect">
            <a:avLst/>
          </a:prstGeom>
          <a:solidFill>
            <a:srgbClr val="111827"/>
          </a:solidFill>
          <a:ln w="63500">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amond 7"/>
          <p:cNvSpPr/>
          <p:nvPr/>
        </p:nvSpPr>
        <p:spPr>
          <a:xfrm>
            <a:off x="774192" y="4495800"/>
            <a:ext cx="228600" cy="228600"/>
          </a:xfrm>
          <a:prstGeom prst="diamond">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2520" y="4450080"/>
            <a:ext cx="5364480" cy="1417319"/>
          </a:xfrm>
          <a:prstGeom prst="rect">
            <a:avLst/>
          </a:prstGeom>
          <a:noFill/>
        </p:spPr>
        <p:txBody>
          <a:bodyPr wrap="square">
            <a:spAutoFit/>
          </a:bodyPr>
          <a:lstStyle/>
          <a:p>
            <a:pPr>
              <a:defRPr sz="1000" b="1">
                <a:solidFill>
                  <a:srgbClr val="14B8A6"/>
                </a:solidFill>
                <a:latin typeface="Inter"/>
              </a:defRPr>
            </a:pPr>
            <a:r>
              <a:t>HARD TRUTH</a:t>
            </a:r>
          </a:p>
          <a:p>
            <a:pPr>
              <a:lnSpc>
                <a:spcPct val="140000"/>
              </a:lnSpc>
              <a:spcBef>
                <a:spcPts val="600"/>
              </a:spcBef>
              <a:defRPr sz="1400" b="1">
                <a:solidFill>
                  <a:srgbClr val="FFFFFF"/>
                </a:solidFill>
                <a:latin typeface="Inter"/>
              </a:defRPr>
            </a:pPr>
            <a:r>
              <a:t>Temperature boundary discussions signal market opportunity cost—outdoor/vehicle segments constrained.</a:t>
            </a:r>
          </a:p>
          <a:p>
            <a:pPr>
              <a:lnSpc>
                <a:spcPct val="140000"/>
              </a:lnSpc>
              <a:spcBef>
                <a:spcPts val="600"/>
              </a:spcBef>
              <a:defRPr sz="1000">
                <a:solidFill>
                  <a:srgbClr val="FFFFFF"/>
                </a:solidFill>
                <a:latin typeface="Inter"/>
              </a:defRPr>
            </a:pPr>
            <a:r>
              <a:t>Strategic choice: Invest in all-temperature formulation to expand TAM, or own indoor category dominance and accept boundary? Current positioning leaves outdoor segment vulnerable to competitors.</a:t>
            </a:r>
          </a:p>
        </p:txBody>
      </p:sp>
      <p:sp>
        <p:nvSpPr>
          <p:cNvPr id="10" name="Oval 9"/>
          <p:cNvSpPr/>
          <p:nvPr/>
        </p:nvSpPr>
        <p:spPr>
          <a:xfrm>
            <a:off x="609600" y="6324600"/>
            <a:ext cx="365760" cy="365760"/>
          </a:xfrm>
          <a:prstGeom prst="ellipse">
            <a:avLst/>
          </a:prstGeom>
          <a:solidFill>
            <a:srgbClr val="14B8A6"/>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1080" y="6278880"/>
            <a:ext cx="5684520" cy="548640"/>
          </a:xfrm>
          <a:prstGeom prst="rect">
            <a:avLst/>
          </a:prstGeom>
          <a:noFill/>
        </p:spPr>
        <p:txBody>
          <a:bodyPr wrap="none">
            <a:spAutoFit/>
          </a:bodyPr>
          <a:lstStyle/>
          <a:p>
            <a:pPr algn="l">
              <a:spcBef>
                <a:spcPts val="0"/>
              </a:spcBef>
              <a:spcAft>
                <a:spcPts val="0"/>
              </a:spcAft>
              <a:defRPr sz="1300" b="1">
                <a:solidFill>
                  <a:srgbClr val="1A202C"/>
                </a:solidFill>
                <a:latin typeface="Inter"/>
              </a:defRPr>
            </a:pPr>
            <a:r>
              <a:t>Is temperature sensitivity fixable or should we communicate boundaries transparently?</a:t>
            </a:r>
          </a:p>
        </p:txBody>
      </p:sp>
      <p:sp>
        <p:nvSpPr>
          <p:cNvPr id="12" name="TextBox 11"/>
          <p:cNvSpPr txBox="1"/>
          <p:nvPr/>
        </p:nvSpPr>
        <p:spPr>
          <a:xfrm>
            <a:off x="609600" y="6827520"/>
            <a:ext cx="6096000" cy="182880"/>
          </a:xfrm>
          <a:prstGeom prst="rect">
            <a:avLst/>
          </a:prstGeom>
          <a:noFill/>
        </p:spPr>
        <p:txBody>
          <a:bodyPr wrap="none">
            <a:spAutoFit/>
          </a:bodyPr>
          <a:lstStyle/>
          <a:p>
            <a:pPr algn="l">
              <a:spcBef>
                <a:spcPts val="0"/>
              </a:spcBef>
              <a:spcAft>
                <a:spcPts val="0"/>
              </a:spcAft>
              <a:defRPr sz="1100" b="1">
                <a:solidFill>
                  <a:srgbClr val="2D3748"/>
                </a:solidFill>
                <a:latin typeface="Inter"/>
              </a:defRPr>
            </a:pPr>
            <a:r>
              <a:t>Consider:</a:t>
            </a:r>
          </a:p>
        </p:txBody>
      </p:sp>
      <p:sp>
        <p:nvSpPr>
          <p:cNvPr id="13" name="TextBox 12"/>
          <p:cNvSpPr txBox="1"/>
          <p:nvPr/>
        </p:nvSpPr>
        <p:spPr>
          <a:xfrm>
            <a:off x="609600" y="7010400"/>
            <a:ext cx="6096000" cy="1097280"/>
          </a:xfrm>
          <a:prstGeom prst="rect">
            <a:avLst/>
          </a:prstGeom>
          <a:noFill/>
        </p:spPr>
        <p:txBody>
          <a:bodyPr wrap="square">
            <a:spAutoFit/>
          </a:bodyPr>
          <a:lstStyle/>
          <a:p>
            <a:pPr>
              <a:lnSpc>
                <a:spcPct val="140000"/>
              </a:lnSpc>
              <a:spcBef>
                <a:spcPts val="200"/>
              </a:spcBef>
              <a:defRPr sz="1100">
                <a:solidFill>
                  <a:srgbClr val="1A202C"/>
                </a:solidFill>
                <a:latin typeface="Inter"/>
              </a:defRPr>
            </a:pPr>
            <a:r>
              <a:t>▸ Product innovation: All-temperature line for outdoor segment</a:t>
            </a:r>
          </a:p>
          <a:p>
            <a:pPr>
              <a:lnSpc>
                <a:spcPct val="140000"/>
              </a:lnSpc>
              <a:spcBef>
                <a:spcPts val="200"/>
              </a:spcBef>
              <a:defRPr sz="1100">
                <a:solidFill>
                  <a:srgbClr val="1A202C"/>
                </a:solidFill>
                <a:latin typeface="Inter"/>
              </a:defRPr>
            </a:pPr>
            <a:r>
              <a:t>▸ Transparent positioning: "Optimized for indoor use, 40-100°F"</a:t>
            </a:r>
          </a:p>
          <a:p>
            <a:pPr>
              <a:lnSpc>
                <a:spcPct val="140000"/>
              </a:lnSpc>
              <a:spcBef>
                <a:spcPts val="200"/>
              </a:spcBef>
              <a:defRPr sz="1100">
                <a:solidFill>
                  <a:srgbClr val="1A202C"/>
                </a:solidFill>
                <a:latin typeface="Inter"/>
              </a:defRPr>
            </a:pPr>
            <a:r>
              <a:t>▸ Accept boundary and focus on indoor permanent mounting dominance</a:t>
            </a:r>
          </a:p>
        </p:txBody>
      </p:sp>
      <p:sp>
        <p:nvSpPr>
          <p:cNvPr id="14" name="TextBox 13"/>
          <p:cNvSpPr txBox="1"/>
          <p:nvPr/>
        </p:nvSpPr>
        <p:spPr>
          <a:xfrm>
            <a:off x="7162800" y="1615440"/>
            <a:ext cx="6858000" cy="213360"/>
          </a:xfrm>
          <a:prstGeom prst="rect">
            <a:avLst/>
          </a:prstGeom>
          <a:noFill/>
        </p:spPr>
        <p:txBody>
          <a:bodyPr wrap="none">
            <a:spAutoFit/>
          </a:bodyPr>
          <a:lstStyle/>
          <a:p>
            <a:pPr algn="l">
              <a:spcBef>
                <a:spcPts val="0"/>
              </a:spcBef>
              <a:spcAft>
                <a:spcPts val="0"/>
              </a:spcAft>
              <a:defRPr sz="1100" b="1">
                <a:solidFill>
                  <a:srgbClr val="2D3748"/>
                </a:solidFill>
                <a:latin typeface="Inter"/>
              </a:defRPr>
            </a:pPr>
            <a:r>
              <a:t>PERFORMANCE PERCEPTION BY CONTEXT</a:t>
            </a:r>
          </a:p>
        </p:txBody>
      </p:sp>
      <p:sp>
        <p:nvSpPr>
          <p:cNvPr id="15" name="TextBox 14"/>
          <p:cNvSpPr txBox="1"/>
          <p:nvPr/>
        </p:nvSpPr>
        <p:spPr>
          <a:xfrm>
            <a:off x="7162800" y="1889760"/>
            <a:ext cx="5090160" cy="198120"/>
          </a:xfrm>
          <a:prstGeom prst="rect">
            <a:avLst/>
          </a:prstGeom>
          <a:noFill/>
        </p:spPr>
        <p:txBody>
          <a:bodyPr wrap="none">
            <a:spAutoFit/>
          </a:bodyPr>
          <a:lstStyle/>
          <a:p>
            <a:pPr>
              <a:defRPr sz="1100" b="1">
                <a:solidFill>
                  <a:srgbClr val="1A202C"/>
                </a:solidFill>
                <a:latin typeface="Inter"/>
              </a:defRPr>
            </a:pPr>
            <a:r>
              <a:t>Indoor Permanent Mounting</a:t>
            </a:r>
          </a:p>
        </p:txBody>
      </p:sp>
      <p:sp>
        <p:nvSpPr>
          <p:cNvPr id="16" name="TextBox 15"/>
          <p:cNvSpPr txBox="1"/>
          <p:nvPr/>
        </p:nvSpPr>
        <p:spPr>
          <a:xfrm>
            <a:off x="12344400" y="1889760"/>
            <a:ext cx="1676400" cy="198120"/>
          </a:xfrm>
          <a:prstGeom prst="rect">
            <a:avLst/>
          </a:prstGeom>
          <a:noFill/>
        </p:spPr>
        <p:txBody>
          <a:bodyPr wrap="none">
            <a:spAutoFit/>
          </a:bodyPr>
          <a:lstStyle/>
          <a:p>
            <a:pPr algn="r">
              <a:defRPr sz="1100" b="1">
                <a:solidFill>
                  <a:srgbClr val="14B8A6"/>
                </a:solidFill>
                <a:latin typeface="Inter"/>
              </a:defRPr>
            </a:pPr>
            <a:r>
              <a:t>High Confidence</a:t>
            </a:r>
          </a:p>
        </p:txBody>
      </p:sp>
      <p:sp>
        <p:nvSpPr>
          <p:cNvPr id="17" name="Rounded Rectangle 16"/>
          <p:cNvSpPr/>
          <p:nvPr/>
        </p:nvSpPr>
        <p:spPr>
          <a:xfrm>
            <a:off x="7162800" y="2133600"/>
            <a:ext cx="6858000" cy="243840"/>
          </a:xfrm>
          <a:prstGeom prst="roundRect">
            <a:avLst/>
          </a:prstGeom>
          <a:solidFill>
            <a:srgbClr val="E5E7EB"/>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93280" y="2164080"/>
            <a:ext cx="6187440" cy="182880"/>
          </a:xfrm>
          <a:prstGeom prst="round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66320" y="2148840"/>
            <a:ext cx="838200" cy="213360"/>
          </a:xfrm>
          <a:prstGeom prst="rect">
            <a:avLst/>
          </a:prstGeom>
          <a:noFill/>
        </p:spPr>
        <p:txBody>
          <a:bodyPr wrap="none">
            <a:spAutoFit/>
          </a:bodyPr>
          <a:lstStyle/>
          <a:p>
            <a:pPr algn="r">
              <a:defRPr sz="1200" b="1">
                <a:solidFill>
                  <a:srgbClr val="FFFFFF"/>
                </a:solidFill>
                <a:latin typeface="Inter"/>
              </a:defRPr>
            </a:pPr>
            <a:r>
              <a:t>92%</a:t>
            </a:r>
          </a:p>
        </p:txBody>
      </p:sp>
      <p:sp>
        <p:nvSpPr>
          <p:cNvPr id="20" name="TextBox 19"/>
          <p:cNvSpPr txBox="1"/>
          <p:nvPr/>
        </p:nvSpPr>
        <p:spPr>
          <a:xfrm>
            <a:off x="7162800" y="2560320"/>
            <a:ext cx="5090160" cy="198120"/>
          </a:xfrm>
          <a:prstGeom prst="rect">
            <a:avLst/>
          </a:prstGeom>
          <a:noFill/>
        </p:spPr>
        <p:txBody>
          <a:bodyPr wrap="none">
            <a:spAutoFit/>
          </a:bodyPr>
          <a:lstStyle/>
          <a:p>
            <a:pPr>
              <a:defRPr sz="1100" b="1">
                <a:solidFill>
                  <a:srgbClr val="1A202C"/>
                </a:solidFill>
                <a:latin typeface="Inter"/>
              </a:defRPr>
            </a:pPr>
            <a:r>
              <a:t>DIY Project Applications</a:t>
            </a:r>
          </a:p>
        </p:txBody>
      </p:sp>
      <p:sp>
        <p:nvSpPr>
          <p:cNvPr id="21" name="TextBox 20"/>
          <p:cNvSpPr txBox="1"/>
          <p:nvPr/>
        </p:nvSpPr>
        <p:spPr>
          <a:xfrm>
            <a:off x="12344400" y="2560320"/>
            <a:ext cx="1676400" cy="198120"/>
          </a:xfrm>
          <a:prstGeom prst="rect">
            <a:avLst/>
          </a:prstGeom>
          <a:noFill/>
        </p:spPr>
        <p:txBody>
          <a:bodyPr wrap="none">
            <a:spAutoFit/>
          </a:bodyPr>
          <a:lstStyle/>
          <a:p>
            <a:pPr algn="r">
              <a:defRPr sz="1100" b="1">
                <a:solidFill>
                  <a:srgbClr val="14B8A6"/>
                </a:solidFill>
                <a:latin typeface="Inter"/>
              </a:defRPr>
            </a:pPr>
            <a:r>
              <a:t>Strong</a:t>
            </a:r>
          </a:p>
        </p:txBody>
      </p:sp>
      <p:sp>
        <p:nvSpPr>
          <p:cNvPr id="22" name="Rounded Rectangle 21"/>
          <p:cNvSpPr/>
          <p:nvPr/>
        </p:nvSpPr>
        <p:spPr>
          <a:xfrm>
            <a:off x="7162800" y="2804160"/>
            <a:ext cx="6858000" cy="243840"/>
          </a:xfrm>
          <a:prstGeom prst="roundRect">
            <a:avLst/>
          </a:prstGeom>
          <a:solidFill>
            <a:srgbClr val="E5E7EB"/>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93280" y="2834640"/>
            <a:ext cx="5913120" cy="182880"/>
          </a:xfrm>
          <a:prstGeom prst="round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192000" y="2819400"/>
            <a:ext cx="838200" cy="213360"/>
          </a:xfrm>
          <a:prstGeom prst="rect">
            <a:avLst/>
          </a:prstGeom>
          <a:noFill/>
        </p:spPr>
        <p:txBody>
          <a:bodyPr wrap="none">
            <a:spAutoFit/>
          </a:bodyPr>
          <a:lstStyle/>
          <a:p>
            <a:pPr algn="r">
              <a:defRPr sz="1200" b="1">
                <a:solidFill>
                  <a:srgbClr val="FFFFFF"/>
                </a:solidFill>
                <a:latin typeface="Inter"/>
              </a:defRPr>
            </a:pPr>
            <a:r>
              <a:t>88%</a:t>
            </a:r>
          </a:p>
        </p:txBody>
      </p:sp>
      <p:sp>
        <p:nvSpPr>
          <p:cNvPr id="25" name="TextBox 24"/>
          <p:cNvSpPr txBox="1"/>
          <p:nvPr/>
        </p:nvSpPr>
        <p:spPr>
          <a:xfrm>
            <a:off x="7162800" y="3230880"/>
            <a:ext cx="5090160" cy="198120"/>
          </a:xfrm>
          <a:prstGeom prst="rect">
            <a:avLst/>
          </a:prstGeom>
          <a:noFill/>
        </p:spPr>
        <p:txBody>
          <a:bodyPr wrap="none">
            <a:spAutoFit/>
          </a:bodyPr>
          <a:lstStyle/>
          <a:p>
            <a:pPr>
              <a:defRPr sz="1100" b="1">
                <a:solidFill>
                  <a:srgbClr val="1A202C"/>
                </a:solidFill>
                <a:latin typeface="Inter"/>
              </a:defRPr>
            </a:pPr>
            <a:r>
              <a:t>Outdoor/Extreme Temperature</a:t>
            </a:r>
          </a:p>
        </p:txBody>
      </p:sp>
      <p:sp>
        <p:nvSpPr>
          <p:cNvPr id="26" name="TextBox 25"/>
          <p:cNvSpPr txBox="1"/>
          <p:nvPr/>
        </p:nvSpPr>
        <p:spPr>
          <a:xfrm>
            <a:off x="12344400" y="3230880"/>
            <a:ext cx="1676400" cy="198120"/>
          </a:xfrm>
          <a:prstGeom prst="rect">
            <a:avLst/>
          </a:prstGeom>
          <a:noFill/>
        </p:spPr>
        <p:txBody>
          <a:bodyPr wrap="none">
            <a:spAutoFit/>
          </a:bodyPr>
          <a:lstStyle/>
          <a:p>
            <a:pPr algn="r">
              <a:defRPr sz="1100" b="1">
                <a:solidFill>
                  <a:srgbClr val="475569"/>
                </a:solidFill>
                <a:latin typeface="Inter"/>
              </a:defRPr>
            </a:pPr>
            <a:r>
              <a:t>Consideration</a:t>
            </a:r>
          </a:p>
        </p:txBody>
      </p:sp>
      <p:sp>
        <p:nvSpPr>
          <p:cNvPr id="27" name="Rounded Rectangle 26"/>
          <p:cNvSpPr/>
          <p:nvPr/>
        </p:nvSpPr>
        <p:spPr>
          <a:xfrm>
            <a:off x="7162800" y="3474720"/>
            <a:ext cx="6858000" cy="243840"/>
          </a:xfrm>
          <a:prstGeom prst="roundRect">
            <a:avLst/>
          </a:prstGeom>
          <a:solidFill>
            <a:srgbClr val="E5E7EB"/>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93280" y="3505200"/>
            <a:ext cx="2964180" cy="182880"/>
          </a:xfrm>
          <a:prstGeom prst="roundRect">
            <a:avLst/>
          </a:prstGeom>
          <a:solidFill>
            <a:srgbClr val="94A3B8"/>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43060" y="3489960"/>
            <a:ext cx="838200" cy="213360"/>
          </a:xfrm>
          <a:prstGeom prst="rect">
            <a:avLst/>
          </a:prstGeom>
          <a:noFill/>
        </p:spPr>
        <p:txBody>
          <a:bodyPr wrap="none">
            <a:spAutoFit/>
          </a:bodyPr>
          <a:lstStyle/>
          <a:p>
            <a:pPr algn="r">
              <a:defRPr sz="1200" b="1">
                <a:solidFill>
                  <a:srgbClr val="FFFFFF"/>
                </a:solidFill>
                <a:latin typeface="Inter"/>
              </a:defRPr>
            </a:pPr>
            <a:r>
              <a:t>45%</a:t>
            </a:r>
          </a:p>
        </p:txBody>
      </p:sp>
      <p:sp>
        <p:nvSpPr>
          <p:cNvPr id="30" name="TextBox 29"/>
          <p:cNvSpPr txBox="1"/>
          <p:nvPr/>
        </p:nvSpPr>
        <p:spPr>
          <a:xfrm>
            <a:off x="7162800" y="4130040"/>
            <a:ext cx="6858000" cy="213360"/>
          </a:xfrm>
          <a:prstGeom prst="rect">
            <a:avLst/>
          </a:prstGeom>
          <a:noFill/>
        </p:spPr>
        <p:txBody>
          <a:bodyPr wrap="none">
            <a:spAutoFit/>
          </a:bodyPr>
          <a:lstStyle/>
          <a:p>
            <a:pPr algn="l">
              <a:spcBef>
                <a:spcPts val="0"/>
              </a:spcBef>
              <a:spcAft>
                <a:spcPts val="0"/>
              </a:spcAft>
              <a:defRPr sz="1100" b="1">
                <a:solidFill>
                  <a:srgbClr val="2D3748"/>
                </a:solidFill>
                <a:latin typeface="Inter"/>
              </a:defRPr>
            </a:pPr>
            <a:r>
              <a:t>CREATOR SENTIMENT ANALYSIS</a:t>
            </a:r>
          </a:p>
        </p:txBody>
      </p:sp>
      <p:sp>
        <p:nvSpPr>
          <p:cNvPr id="31" name="Rounded Rectangle 30"/>
          <p:cNvSpPr/>
          <p:nvPr/>
        </p:nvSpPr>
        <p:spPr>
          <a:xfrm>
            <a:off x="7162800" y="4404360"/>
            <a:ext cx="3291840" cy="1463040"/>
          </a:xfrm>
          <a:prstGeom prst="roundRect">
            <a:avLst/>
          </a:prstGeom>
          <a:solidFill>
            <a:srgbClr val="FFFFFF"/>
          </a:solidFill>
          <a:ln w="38100">
            <a:solidFill>
              <a:srgbClr val="14B8A6"/>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3000" b="1">
                <a:solidFill>
                  <a:srgbClr val="14B8A6"/>
                </a:solidFill>
                <a:latin typeface="Inter"/>
              </a:defRPr>
            </a:pPr>
            <a:r>
              <a:t>High</a:t>
            </a:r>
          </a:p>
          <a:p>
            <a:pPr algn="ctr">
              <a:spcBef>
                <a:spcPts val="800"/>
              </a:spcBef>
              <a:defRPr sz="1000" b="1">
                <a:solidFill>
                  <a:srgbClr val="1A202C"/>
                </a:solidFill>
                <a:latin typeface="Inter"/>
              </a:defRPr>
            </a:pPr>
            <a:r>
              <a:t>POSITIVE ASSESSMENTS</a:t>
            </a:r>
          </a:p>
        </p:txBody>
      </p:sp>
      <p:sp>
        <p:nvSpPr>
          <p:cNvPr id="32" name="Rounded Rectangle 31"/>
          <p:cNvSpPr/>
          <p:nvPr/>
        </p:nvSpPr>
        <p:spPr>
          <a:xfrm>
            <a:off x="10728960" y="4404360"/>
            <a:ext cx="3291840" cy="1463040"/>
          </a:xfrm>
          <a:prstGeom prst="roundRect">
            <a:avLst/>
          </a:prstGeom>
          <a:solidFill>
            <a:srgbClr val="FFFFFF"/>
          </a:solidFill>
          <a:ln w="38100">
            <a:solidFill>
              <a:srgbClr val="2D3748"/>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3000" b="1">
                <a:solidFill>
                  <a:srgbClr val="2D3748"/>
                </a:solidFill>
                <a:latin typeface="Inter"/>
              </a:defRPr>
            </a:pPr>
            <a:r>
              <a:t>Low</a:t>
            </a:r>
          </a:p>
          <a:p>
            <a:pPr algn="ctr">
              <a:spcBef>
                <a:spcPts val="800"/>
              </a:spcBef>
              <a:defRPr sz="1000" b="1">
                <a:solidFill>
                  <a:srgbClr val="1A202C"/>
                </a:solidFill>
                <a:latin typeface="Inter"/>
              </a:defRPr>
            </a:pPr>
            <a:r>
              <a:t>NEGATIVE FEEDBACK</a:t>
            </a:r>
          </a:p>
        </p:txBody>
      </p:sp>
      <p:sp>
        <p:nvSpPr>
          <p:cNvPr id="33" name="Rounded Rectangle 32"/>
          <p:cNvSpPr/>
          <p:nvPr/>
        </p:nvSpPr>
        <p:spPr>
          <a:xfrm>
            <a:off x="7162800" y="6141720"/>
            <a:ext cx="6858000" cy="1280160"/>
          </a:xfrm>
          <a:prstGeom prst="roundRect">
            <a:avLst/>
          </a:prstGeom>
          <a:solidFill>
            <a:srgbClr val="FDE68A"/>
          </a:solidFill>
          <a:ln w="508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37120" y="6324600"/>
            <a:ext cx="6309360" cy="228600"/>
          </a:xfrm>
          <a:prstGeom prst="rect">
            <a:avLst/>
          </a:prstGeom>
          <a:noFill/>
        </p:spPr>
        <p:txBody>
          <a:bodyPr wrap="none">
            <a:spAutoFit/>
          </a:bodyPr>
          <a:lstStyle/>
          <a:p>
            <a:pPr>
              <a:defRPr sz="1000" b="1">
                <a:solidFill>
                  <a:srgbClr val="92400E"/>
                </a:solidFill>
                <a:latin typeface="Inter"/>
              </a:defRPr>
            </a:pPr>
            <a:r>
              <a:t>TEMPERATURE DISCUSSION FREQUENCY</a:t>
            </a:r>
          </a:p>
        </p:txBody>
      </p:sp>
      <p:sp>
        <p:nvSpPr>
          <p:cNvPr id="35" name="TextBox 34"/>
          <p:cNvSpPr txBox="1"/>
          <p:nvPr/>
        </p:nvSpPr>
        <p:spPr>
          <a:xfrm>
            <a:off x="7437120" y="6598920"/>
            <a:ext cx="6309360" cy="365760"/>
          </a:xfrm>
          <a:prstGeom prst="rect">
            <a:avLst/>
          </a:prstGeom>
          <a:noFill/>
        </p:spPr>
        <p:txBody>
          <a:bodyPr wrap="none">
            <a:spAutoFit/>
          </a:bodyPr>
          <a:lstStyle/>
          <a:p>
            <a:pPr algn="l">
              <a:defRPr sz="2800" b="1">
                <a:solidFill>
                  <a:srgbClr val="F59E0B"/>
                </a:solidFill>
                <a:latin typeface="Inter"/>
              </a:defRPr>
            </a:pPr>
            <a:r>
              <a:t>1 in 6</a:t>
            </a:r>
          </a:p>
        </p:txBody>
      </p:sp>
      <p:sp>
        <p:nvSpPr>
          <p:cNvPr id="36" name="TextBox 35"/>
          <p:cNvSpPr txBox="1"/>
          <p:nvPr/>
        </p:nvSpPr>
        <p:spPr>
          <a:xfrm>
            <a:off x="7437120" y="7010400"/>
            <a:ext cx="6309360" cy="320040"/>
          </a:xfrm>
          <a:prstGeom prst="rect">
            <a:avLst/>
          </a:prstGeom>
          <a:noFill/>
        </p:spPr>
        <p:txBody>
          <a:bodyPr wrap="none">
            <a:spAutoFit/>
          </a:bodyPr>
          <a:lstStyle/>
          <a:p>
            <a:pPr>
              <a:lnSpc>
                <a:spcPct val="130000"/>
              </a:lnSpc>
              <a:defRPr sz="1000">
                <a:solidFill>
                  <a:srgbClr val="92400E"/>
                </a:solidFill>
                <a:latin typeface="Inter"/>
              </a:defRPr>
            </a:pPr>
            <a:r>
              <a:t>Temperature performance mentioned in ~17% of Scotch content, primarily outdoor/vehicle contexts</a:t>
            </a:r>
          </a:p>
        </p:txBody>
      </p:sp>
      <p:sp>
        <p:nvSpPr>
          <p:cNvPr id="37" name="TextBox 36"/>
          <p:cNvSpPr txBox="1"/>
          <p:nvPr/>
        </p:nvSpPr>
        <p:spPr>
          <a:xfrm>
            <a:off x="609600" y="6583680"/>
            <a:ext cx="13411200" cy="274320"/>
          </a:xfrm>
          <a:prstGeom prst="rect">
            <a:avLst/>
          </a:prstGeom>
          <a:noFill/>
        </p:spPr>
        <p:txBody>
          <a:bodyPr wrap="none">
            <a:spAutoFit/>
          </a:bodyPr>
          <a:lstStyle/>
          <a:p>
            <a:pPr>
              <a:defRPr sz="1100" b="1">
                <a:solidFill>
                  <a:srgbClr val="2D3748"/>
                </a:solidFill>
                <a:latin typeface="Inter"/>
              </a:defRPr>
            </a:pPr>
            <a:r>
              <a:t>CONVERSATION STARTERS</a:t>
            </a:r>
          </a:p>
        </p:txBody>
      </p:sp>
      <p:sp>
        <p:nvSpPr>
          <p:cNvPr id="38" name="TextBox 37"/>
          <p:cNvSpPr txBox="1"/>
          <p:nvPr/>
        </p:nvSpPr>
        <p:spPr>
          <a:xfrm>
            <a:off x="609600" y="6812280"/>
            <a:ext cx="13411200" cy="822960"/>
          </a:xfrm>
          <a:prstGeom prst="rect">
            <a:avLst/>
          </a:prstGeom>
          <a:noFill/>
        </p:spPr>
        <p:txBody>
          <a:bodyPr wrap="square">
            <a:spAutoFit/>
          </a:bodyPr>
          <a:lstStyle/>
          <a:p>
            <a:pPr>
              <a:lnSpc>
                <a:spcPct val="140000"/>
              </a:lnSpc>
              <a:spcBef>
                <a:spcPts val="200"/>
              </a:spcBef>
              <a:defRPr sz="1100">
                <a:solidFill>
                  <a:srgbClr val="1A202C"/>
                </a:solidFill>
                <a:latin typeface="Inter"/>
              </a:defRPr>
            </a:pPr>
            <a:r>
              <a:t>→ Could an 'All-Temperature' product line address outdoor segments without cannibalizing indoor business?</a:t>
            </a:r>
          </a:p>
          <a:p>
            <a:pPr>
              <a:lnSpc>
                <a:spcPct val="140000"/>
              </a:lnSpc>
              <a:spcBef>
                <a:spcPts val="200"/>
              </a:spcBef>
              <a:defRPr sz="1100">
                <a:solidFill>
                  <a:srgbClr val="1A202C"/>
                </a:solidFill>
                <a:latin typeface="Inter"/>
              </a:defRPr>
            </a:pPr>
            <a:r>
              <a:t>→ Should we make temperature range explicit on packaging to set proper expectations?</a:t>
            </a:r>
          </a:p>
          <a:p>
            <a:pPr>
              <a:lnSpc>
                <a:spcPct val="140000"/>
              </a:lnSpc>
              <a:spcBef>
                <a:spcPts val="200"/>
              </a:spcBef>
              <a:defRPr sz="1100">
                <a:solidFill>
                  <a:srgbClr val="1A202C"/>
                </a:solidFill>
                <a:latin typeface="Inter"/>
              </a:defRPr>
            </a:pPr>
            <a:r>
              <a:t>→ DIY and maker communities are growing—how do we deepen presence here as "professional choice"?</a:t>
            </a:r>
          </a:p>
        </p:txBody>
      </p:sp>
      <p:sp>
        <p:nvSpPr>
          <p:cNvPr id="39" name="TextBox 38"/>
          <p:cNvSpPr txBox="1"/>
          <p:nvPr/>
        </p:nvSpPr>
        <p:spPr>
          <a:xfrm>
            <a:off x="609600" y="7772400"/>
            <a:ext cx="13411200" cy="365760"/>
          </a:xfrm>
          <a:prstGeom prst="rect">
            <a:avLst/>
          </a:prstGeom>
          <a:noFill/>
          <a:ln w="25400">
            <a:solidFill>
              <a:srgbClr val="14B8A6"/>
            </a:solidFill>
          </a:ln>
        </p:spPr>
        <p:txBody>
          <a:bodyPr wrap="none">
            <a:spAutoFit/>
          </a:bodyPr>
          <a:lstStyle/>
          <a:p>
            <a:pPr>
              <a:defRPr sz="1000">
                <a:solidFill>
                  <a:srgbClr val="64748B"/>
                </a:solidFill>
                <a:latin typeface="Inter"/>
              </a:defRPr>
            </a:pPr>
            <a:r>
              <a:t>Source: Phase 2 Analysis, Scotch performance perception across 58 creator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