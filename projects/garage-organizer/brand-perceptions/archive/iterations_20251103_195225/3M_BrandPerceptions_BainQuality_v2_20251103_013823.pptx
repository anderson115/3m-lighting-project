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Command's Market Presence is Strong, But Creator Discussions Reveal Strategic 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5433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KEY INSIGHT: Surface damage concerns appear 2.2x more frequently than damage-free benefits in creator content, suggesting expectation misalignment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029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400" b="1">
                <a:solidFill>
                  <a:srgbClr val="0054A6"/>
                </a:solidFill>
                <a:latin typeface="Calibri"/>
              </a:defRPr>
            </a:pPr>
            <a:r>
              <a:t>OBSERVED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0292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Command appears frequently in creator tutorials, particularly for picture hanging. However, analysis reveals that surface damage discussions significantly outweigh damage-free benefit mentions, creating potential brand promise challenges.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26080"/>
            <a:ext cx="5029200" cy="731520"/>
          </a:xfrm>
          <a:prstGeom prst="rect">
            <a:avLst/>
          </a:prstGeom>
          <a:solidFill>
            <a:srgbClr val="FFFAF5"/>
          </a:solidFill>
          <a:ln w="25400">
            <a:solidFill>
              <a:srgbClr val="F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663440" cy="137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100" b="1">
                <a:solidFill>
                  <a:srgbClr val="FF7D00"/>
                </a:solidFill>
                <a:latin typeface="Calibri"/>
              </a:defRPr>
            </a:pPr>
            <a:r>
              <a:t>CRITICAL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6634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When creators discuss surface damage (39% of videos), it directly contradicts Command's core 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5029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400" b="1">
                <a:solidFill>
                  <a:srgbClr val="0054A6"/>
                </a:solidFill>
                <a:latin typeface="Calibri"/>
              </a:defRPr>
            </a:pPr>
            <a:r>
              <a:t>STRATEGIC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4663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Reframe messaging: Focus on 'removable' vs. 'damage-free'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4663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Product innovation: Develop surface-specific formulations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4663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Education initiative: Clear compatibility guidelines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4663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Market segmentation: Target damage-tolerant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28800"/>
            <a:ext cx="5486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400" b="1">
                <a:solidFill>
                  <a:srgbClr val="0054A6"/>
                </a:solidFill>
                <a:latin typeface="Calibri"/>
              </a:defRPr>
            </a:pPr>
            <a:r>
              <a:t>SUPPORTING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94560"/>
            <a:ext cx="54864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Creator Discussion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2560320"/>
            <a:ext cx="1645920" cy="182880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86000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2000" b="1">
                <a:solidFill>
                  <a:srgbClr val="FF7D00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8056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Surface Damage</a:t>
            </a:r>
            <a:br/>
            <a:r>
              <a:t>Discussions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3550920"/>
            <a:ext cx="1645920" cy="838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3276600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2000" b="1">
                <a:solidFill>
                  <a:srgbClr val="0054A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48056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Damage-Free</a:t>
            </a:r>
            <a:br/>
            <a:r>
              <a:t>Benefit Mentions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5029200"/>
            <a:ext cx="2743200" cy="45720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5138928"/>
            <a:ext cx="237744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400" b="1">
                <a:solidFill>
                  <a:srgbClr val="FF7D00"/>
                </a:solidFill>
                <a:latin typeface="Calibri"/>
              </a:defRPr>
            </a:pPr>
            <a:r>
              <a:t>2.2x Gap in Discussion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760720"/>
            <a:ext cx="54864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Overall Sentiment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6035040"/>
            <a:ext cx="384048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6080760"/>
            <a:ext cx="384048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Neutral 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69880" y="6035040"/>
            <a:ext cx="297180" cy="2743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67060" y="6035040"/>
            <a:ext cx="297180" cy="2743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6355080"/>
            <a:ext cx="914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 7% | Neg 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760720"/>
            <a:ext cx="10820095" cy="54864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33872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200" b="1">
                <a:solidFill>
                  <a:srgbClr val="0054A6"/>
                </a:solidFill>
                <a:latin typeface="Calibri"/>
              </a:defRPr>
            </a:pPr>
            <a:r>
              <a:t>KEY QUESTIONS: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897880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How might we align damage-free claims with actual creator experiences?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897880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 Should we invest in surface education or product reformulation?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897880"/>
            <a:ext cx="2926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3. What role should Command play if damage-free isn't always achievable?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92240"/>
            <a:ext cx="1082009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583680"/>
            <a:ext cx="36576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Source: Phase 2 Analysis of 62 Command creator videos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658368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3M Brand Perceptions |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