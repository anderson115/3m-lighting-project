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1110" y="508406"/>
            <a:ext cx="11023092" cy="609904"/>
          </a:xfrm>
          <a:prstGeom prst="rect">
            <a:avLst/>
          </a:prstGeom>
          <a:noFill/>
        </p:spPr>
        <p:txBody>
          <a:bodyPr wrap="none">
            <a:spAutoFit/>
          </a:bodyPr>
          <a:lstStyle/>
          <a:p>
            <a:pPr>
              <a:lnSpc>
                <a:spcPct val="115000"/>
              </a:lnSpc>
              <a:defRPr sz="3300" b="1">
                <a:solidFill>
                  <a:srgbClr val="1A202C"/>
                </a:solidFill>
                <a:latin typeface="Inter"/>
              </a:defRPr>
            </a:pPr>
            <a:r>
              <a:t>Scotch Demonstrates Strong Creator Advocacy—Understanding Where It Shines and Where It's Challenged</a:t>
            </a:r>
          </a:p>
        </p:txBody>
      </p:sp>
      <p:sp>
        <p:nvSpPr>
          <p:cNvPr id="3" name="Rectangle 2"/>
          <p:cNvSpPr/>
          <p:nvPr/>
        </p:nvSpPr>
        <p:spPr>
          <a:xfrm>
            <a:off x="508406" y="508406"/>
            <a:ext cx="38404" cy="609904"/>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8406" y="1422806"/>
            <a:ext cx="6985101" cy="698601"/>
          </a:xfrm>
          <a:prstGeom prst="roundRect">
            <a:avLst/>
          </a:prstGeom>
          <a:solidFill>
            <a:srgbClr val="2D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406" y="1422806"/>
            <a:ext cx="45720" cy="698601"/>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7006" y="1651406"/>
            <a:ext cx="6527901" cy="274320"/>
          </a:xfrm>
          <a:prstGeom prst="rect">
            <a:avLst/>
          </a:prstGeom>
          <a:noFill/>
        </p:spPr>
        <p:txBody>
          <a:bodyPr wrap="none">
            <a:spAutoFit/>
          </a:bodyPr>
          <a:lstStyle/>
          <a:p>
            <a:pPr>
              <a:defRPr sz="1000" b="1">
                <a:solidFill>
                  <a:srgbClr val="14B8A6"/>
                </a:solidFill>
                <a:latin typeface="Inter"/>
              </a:defRPr>
            </a:pPr>
            <a:r>
              <a:t>✱  THE PATTERN</a:t>
            </a:r>
          </a:p>
        </p:txBody>
      </p:sp>
      <p:sp>
        <p:nvSpPr>
          <p:cNvPr id="7" name="TextBox 6"/>
          <p:cNvSpPr txBox="1"/>
          <p:nvPr/>
        </p:nvSpPr>
        <p:spPr>
          <a:xfrm>
            <a:off x="737006" y="1971446"/>
            <a:ext cx="6527901" cy="-78639"/>
          </a:xfrm>
          <a:prstGeom prst="rect">
            <a:avLst/>
          </a:prstGeom>
          <a:noFill/>
        </p:spPr>
        <p:txBody>
          <a:bodyPr wrap="square">
            <a:spAutoFit/>
          </a:bodyPr>
          <a:lstStyle/>
          <a:p>
            <a:pPr>
              <a:lnSpc>
                <a:spcPct val="150000"/>
              </a:lnSpc>
              <a:defRPr sz="1100">
                <a:solidFill>
                  <a:srgbClr val="FFFFFF"/>
                </a:solidFill>
                <a:latin typeface="Inter"/>
              </a:defRPr>
            </a:pPr>
            <a:r>
              <a:t>Content creators who feature Scotch products tend to offer favorable recommendations. Across review and comparison content, Scotch receives notably more positive assessments than negative, with creators frequently emphasizing reliability and hold strength.</a:t>
            </a:r>
          </a:p>
        </p:txBody>
      </p:sp>
      <p:sp>
        <p:nvSpPr>
          <p:cNvPr id="8" name="Rounded Rectangle 7"/>
          <p:cNvSpPr/>
          <p:nvPr/>
        </p:nvSpPr>
        <p:spPr>
          <a:xfrm>
            <a:off x="508406" y="2274111"/>
            <a:ext cx="6985101" cy="634593"/>
          </a:xfrm>
          <a:prstGeom prst="roundRect">
            <a:avLst/>
          </a:prstGeom>
          <a:solidFill>
            <a:srgbClr val="2D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8406" y="2274111"/>
            <a:ext cx="45720" cy="634593"/>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7006" y="2502711"/>
            <a:ext cx="6527901" cy="274320"/>
          </a:xfrm>
          <a:prstGeom prst="rect">
            <a:avLst/>
          </a:prstGeom>
          <a:noFill/>
        </p:spPr>
        <p:txBody>
          <a:bodyPr wrap="none">
            <a:spAutoFit/>
          </a:bodyPr>
          <a:lstStyle/>
          <a:p>
            <a:pPr>
              <a:defRPr sz="1000" b="1">
                <a:solidFill>
                  <a:srgbClr val="14B8A6"/>
                </a:solidFill>
                <a:latin typeface="Inter"/>
              </a:defRPr>
            </a:pPr>
            <a:r>
              <a:t>✱  INSIGHT</a:t>
            </a:r>
          </a:p>
        </p:txBody>
      </p:sp>
      <p:sp>
        <p:nvSpPr>
          <p:cNvPr id="11" name="TextBox 10"/>
          <p:cNvSpPr txBox="1"/>
          <p:nvPr/>
        </p:nvSpPr>
        <p:spPr>
          <a:xfrm>
            <a:off x="737006" y="2822751"/>
            <a:ext cx="6527901" cy="-142647"/>
          </a:xfrm>
          <a:prstGeom prst="rect">
            <a:avLst/>
          </a:prstGeom>
          <a:noFill/>
        </p:spPr>
        <p:txBody>
          <a:bodyPr wrap="square">
            <a:spAutoFit/>
          </a:bodyPr>
          <a:lstStyle/>
          <a:p>
            <a:pPr>
              <a:lnSpc>
                <a:spcPct val="150000"/>
              </a:lnSpc>
              <a:defRPr sz="1100">
                <a:solidFill>
                  <a:srgbClr val="FFFFFF"/>
                </a:solidFill>
                <a:latin typeface="Inter"/>
              </a:defRPr>
            </a:pPr>
            <a:r>
              <a:t>Scotch's performance perception is strongest in indoor, permanent mounting applications. Temperature considerations shape use case recommendations for outdoor/vehicle contexts—creators understand optimal use through experience.</a:t>
            </a:r>
          </a:p>
        </p:txBody>
      </p:sp>
      <p:sp>
        <p:nvSpPr>
          <p:cNvPr id="12" name="Rounded Rectangle 11"/>
          <p:cNvSpPr/>
          <p:nvPr/>
        </p:nvSpPr>
        <p:spPr>
          <a:xfrm>
            <a:off x="508406" y="3061408"/>
            <a:ext cx="6985101" cy="825703"/>
          </a:xfrm>
          <a:prstGeom prst="roundRect">
            <a:avLst/>
          </a:prstGeom>
          <a:solidFill>
            <a:srgbClr val="2D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8406" y="3061408"/>
            <a:ext cx="45720" cy="825703"/>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7006" y="3290008"/>
            <a:ext cx="6527901" cy="274320"/>
          </a:xfrm>
          <a:prstGeom prst="rect">
            <a:avLst/>
          </a:prstGeom>
          <a:noFill/>
        </p:spPr>
        <p:txBody>
          <a:bodyPr wrap="none">
            <a:spAutoFit/>
          </a:bodyPr>
          <a:lstStyle/>
          <a:p>
            <a:pPr>
              <a:defRPr sz="1000" b="1">
                <a:solidFill>
                  <a:srgbClr val="14B8A6"/>
                </a:solidFill>
                <a:latin typeface="Inter"/>
              </a:defRPr>
            </a:pPr>
            <a:r>
              <a:t>✱  HARD TRUTH</a:t>
            </a:r>
          </a:p>
        </p:txBody>
      </p:sp>
      <p:sp>
        <p:nvSpPr>
          <p:cNvPr id="15" name="TextBox 14"/>
          <p:cNvSpPr txBox="1"/>
          <p:nvPr/>
        </p:nvSpPr>
        <p:spPr>
          <a:xfrm>
            <a:off x="737006" y="3610048"/>
            <a:ext cx="6527901" cy="48463"/>
          </a:xfrm>
          <a:prstGeom prst="rect">
            <a:avLst/>
          </a:prstGeom>
          <a:noFill/>
        </p:spPr>
        <p:txBody>
          <a:bodyPr wrap="square">
            <a:spAutoFit/>
          </a:bodyPr>
          <a:lstStyle/>
          <a:p>
            <a:pPr>
              <a:lnSpc>
                <a:spcPct val="150000"/>
              </a:lnSpc>
              <a:defRPr sz="1100">
                <a:solidFill>
                  <a:srgbClr val="FFFFFF"/>
                </a:solidFill>
                <a:latin typeface="Inter"/>
              </a:defRPr>
            </a:pPr>
            <a:r>
              <a:t>Temperature boundary discussions signal market opportunity cost—outdoor/vehicle segments constrained. Strategic choice: Invest in all-temperature formulation to expand TAM, or own indoor category dominance? Current positioning leaves outdoor segment vulnerable to competitors.</a:t>
            </a:r>
          </a:p>
        </p:txBody>
      </p:sp>
      <p:sp>
        <p:nvSpPr>
          <p:cNvPr id="16" name="TextBox 15"/>
          <p:cNvSpPr txBox="1"/>
          <p:nvPr/>
        </p:nvSpPr>
        <p:spPr>
          <a:xfrm>
            <a:off x="548640" y="6309360"/>
            <a:ext cx="11064240" cy="365760"/>
          </a:xfrm>
          <a:prstGeom prst="rect">
            <a:avLst/>
          </a:prstGeom>
          <a:noFill/>
          <a:ln w="25400">
            <a:solidFill>
              <a:srgbClr val="14B8A6"/>
            </a:solidFill>
          </a:ln>
        </p:spPr>
        <p:txBody>
          <a:bodyPr wrap="none">
            <a:spAutoFit/>
          </a:bodyPr>
          <a:lstStyle/>
          <a:p>
            <a:pPr>
              <a:defRPr sz="900" b="1">
                <a:solidFill>
                  <a:srgbClr val="6B7280"/>
                </a:solidFill>
                <a:latin typeface="Inter"/>
              </a:defRPr>
            </a:pPr>
            <a:r>
              <a:t>Source: Phase 2 Analysis, Scotch performance perception across 58 creator videos</a:t>
            </a:r>
          </a:p>
        </p:txBody>
      </p:sp>
      <p:sp>
        <p:nvSpPr>
          <p:cNvPr id="17" name="Rounded Rectangle 16"/>
          <p:cNvSpPr/>
          <p:nvPr/>
        </p:nvSpPr>
        <p:spPr>
          <a:xfrm>
            <a:off x="7798002" y="1422806"/>
            <a:ext cx="3886200" cy="1270101"/>
          </a:xfrm>
          <a:prstGeom prst="roundRect">
            <a:avLst/>
          </a:prstGeom>
          <a:solidFill>
            <a:srgbClr val="F8F9FA"/>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80882" y="1605686"/>
            <a:ext cx="3520440" cy="274320"/>
          </a:xfrm>
          <a:prstGeom prst="rect">
            <a:avLst/>
          </a:prstGeom>
          <a:noFill/>
        </p:spPr>
        <p:txBody>
          <a:bodyPr wrap="none">
            <a:spAutoFit/>
          </a:bodyPr>
          <a:lstStyle/>
          <a:p>
            <a:pPr>
              <a:defRPr sz="900" b="1">
                <a:solidFill>
                  <a:srgbClr val="2D3748"/>
                </a:solidFill>
                <a:latin typeface="Inter"/>
              </a:defRPr>
            </a:pPr>
            <a:r>
              <a:t>PERFORMANCE BY CONTEXT</a:t>
            </a:r>
          </a:p>
        </p:txBody>
      </p:sp>
      <p:sp>
        <p:nvSpPr>
          <p:cNvPr id="19" name="TextBox 18"/>
          <p:cNvSpPr txBox="1"/>
          <p:nvPr/>
        </p:nvSpPr>
        <p:spPr>
          <a:xfrm>
            <a:off x="7980882" y="1925726"/>
            <a:ext cx="3520440" cy="228600"/>
          </a:xfrm>
          <a:prstGeom prst="rect">
            <a:avLst/>
          </a:prstGeom>
          <a:noFill/>
        </p:spPr>
        <p:txBody>
          <a:bodyPr wrap="none">
            <a:spAutoFit/>
          </a:bodyPr>
          <a:lstStyle/>
          <a:p>
            <a:pPr>
              <a:defRPr sz="900" b="1">
                <a:solidFill>
                  <a:srgbClr val="1A202C"/>
                </a:solidFill>
                <a:latin typeface="Inter"/>
              </a:defRPr>
            </a:pPr>
            <a:r>
              <a:t>Indoor Permanent Mounting</a:t>
            </a:r>
          </a:p>
        </p:txBody>
      </p:sp>
      <p:sp>
        <p:nvSpPr>
          <p:cNvPr id="20" name="Rounded Rectangle 19"/>
          <p:cNvSpPr/>
          <p:nvPr/>
        </p:nvSpPr>
        <p:spPr>
          <a:xfrm>
            <a:off x="7980882" y="2181758"/>
            <a:ext cx="3520440" cy="182880"/>
          </a:xfrm>
          <a:prstGeom prst="roundRect">
            <a:avLst/>
          </a:prstGeom>
          <a:solidFill>
            <a:srgbClr val="E5E7EB"/>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980882" y="2181758"/>
            <a:ext cx="3238804" cy="18288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128246" y="2181758"/>
            <a:ext cx="457200" cy="182880"/>
          </a:xfrm>
          <a:prstGeom prst="rect">
            <a:avLst/>
          </a:prstGeom>
          <a:noFill/>
        </p:spPr>
        <p:txBody>
          <a:bodyPr wrap="none">
            <a:spAutoFit/>
          </a:bodyPr>
          <a:lstStyle/>
          <a:p>
            <a:pPr>
              <a:defRPr sz="1000" b="1">
                <a:solidFill>
                  <a:srgbClr val="FFFFFF"/>
                </a:solidFill>
                <a:latin typeface="Inter"/>
              </a:defRPr>
            </a:pPr>
            <a:r>
              <a:t>92%</a:t>
            </a:r>
          </a:p>
        </p:txBody>
      </p:sp>
      <p:sp>
        <p:nvSpPr>
          <p:cNvPr id="23" name="TextBox 22"/>
          <p:cNvSpPr txBox="1"/>
          <p:nvPr/>
        </p:nvSpPr>
        <p:spPr>
          <a:xfrm>
            <a:off x="7980882" y="2474366"/>
            <a:ext cx="3520440" cy="228600"/>
          </a:xfrm>
          <a:prstGeom prst="rect">
            <a:avLst/>
          </a:prstGeom>
          <a:noFill/>
        </p:spPr>
        <p:txBody>
          <a:bodyPr wrap="none">
            <a:spAutoFit/>
          </a:bodyPr>
          <a:lstStyle/>
          <a:p>
            <a:pPr>
              <a:defRPr sz="900" b="1">
                <a:solidFill>
                  <a:srgbClr val="1A202C"/>
                </a:solidFill>
                <a:latin typeface="Inter"/>
              </a:defRPr>
            </a:pPr>
            <a:r>
              <a:t>DIY Project Applications</a:t>
            </a:r>
          </a:p>
        </p:txBody>
      </p:sp>
      <p:sp>
        <p:nvSpPr>
          <p:cNvPr id="24" name="Rounded Rectangle 23"/>
          <p:cNvSpPr/>
          <p:nvPr/>
        </p:nvSpPr>
        <p:spPr>
          <a:xfrm>
            <a:off x="7980882" y="2730398"/>
            <a:ext cx="3520440" cy="182880"/>
          </a:xfrm>
          <a:prstGeom prst="roundRect">
            <a:avLst/>
          </a:prstGeom>
          <a:solidFill>
            <a:srgbClr val="E5E7EB"/>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980882" y="2730398"/>
            <a:ext cx="3097987" cy="18288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87429" y="2730398"/>
            <a:ext cx="457200" cy="182880"/>
          </a:xfrm>
          <a:prstGeom prst="rect">
            <a:avLst/>
          </a:prstGeom>
          <a:noFill/>
        </p:spPr>
        <p:txBody>
          <a:bodyPr wrap="none">
            <a:spAutoFit/>
          </a:bodyPr>
          <a:lstStyle/>
          <a:p>
            <a:pPr>
              <a:defRPr sz="1000" b="1">
                <a:solidFill>
                  <a:srgbClr val="FFFFFF"/>
                </a:solidFill>
                <a:latin typeface="Inter"/>
              </a:defRPr>
            </a:pPr>
            <a:r>
              <a:t>88%</a:t>
            </a:r>
          </a:p>
        </p:txBody>
      </p:sp>
      <p:sp>
        <p:nvSpPr>
          <p:cNvPr id="27" name="TextBox 26"/>
          <p:cNvSpPr txBox="1"/>
          <p:nvPr/>
        </p:nvSpPr>
        <p:spPr>
          <a:xfrm>
            <a:off x="7980882" y="3023006"/>
            <a:ext cx="3520440" cy="228600"/>
          </a:xfrm>
          <a:prstGeom prst="rect">
            <a:avLst/>
          </a:prstGeom>
          <a:noFill/>
        </p:spPr>
        <p:txBody>
          <a:bodyPr wrap="none">
            <a:spAutoFit/>
          </a:bodyPr>
          <a:lstStyle/>
          <a:p>
            <a:pPr>
              <a:defRPr sz="900" b="1">
                <a:solidFill>
                  <a:srgbClr val="1A202C"/>
                </a:solidFill>
                <a:latin typeface="Inter"/>
              </a:defRPr>
            </a:pPr>
            <a:r>
              <a:t>Outdoor/Extreme Temp</a:t>
            </a:r>
          </a:p>
        </p:txBody>
      </p:sp>
      <p:sp>
        <p:nvSpPr>
          <p:cNvPr id="28" name="Rounded Rectangle 27"/>
          <p:cNvSpPr/>
          <p:nvPr/>
        </p:nvSpPr>
        <p:spPr>
          <a:xfrm>
            <a:off x="7980882" y="3279038"/>
            <a:ext cx="3520440" cy="182880"/>
          </a:xfrm>
          <a:prstGeom prst="roundRect">
            <a:avLst/>
          </a:prstGeom>
          <a:solidFill>
            <a:srgbClr val="E5E7EB"/>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980882" y="3279038"/>
            <a:ext cx="1584198" cy="182880"/>
          </a:xfrm>
          <a:prstGeom prst="round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73640" y="3279038"/>
            <a:ext cx="457200" cy="182880"/>
          </a:xfrm>
          <a:prstGeom prst="rect">
            <a:avLst/>
          </a:prstGeom>
          <a:noFill/>
        </p:spPr>
        <p:txBody>
          <a:bodyPr wrap="none">
            <a:spAutoFit/>
          </a:bodyPr>
          <a:lstStyle/>
          <a:p>
            <a:pPr>
              <a:defRPr sz="1000" b="1">
                <a:solidFill>
                  <a:srgbClr val="FFFFFF"/>
                </a:solidFill>
                <a:latin typeface="Inter"/>
              </a:defRPr>
            </a:pPr>
            <a:r>
              <a:t>45%</a:t>
            </a:r>
          </a:p>
        </p:txBody>
      </p:sp>
      <p:sp>
        <p:nvSpPr>
          <p:cNvPr id="31" name="TextBox 30"/>
          <p:cNvSpPr txBox="1"/>
          <p:nvPr/>
        </p:nvSpPr>
        <p:spPr>
          <a:xfrm>
            <a:off x="548640" y="6309360"/>
            <a:ext cx="11064240" cy="365760"/>
          </a:xfrm>
          <a:prstGeom prst="rect">
            <a:avLst/>
          </a:prstGeom>
          <a:noFill/>
          <a:ln w="25400">
            <a:solidFill>
              <a:srgbClr val="14B8A6"/>
            </a:solidFill>
          </a:ln>
        </p:spPr>
        <p:txBody>
          <a:bodyPr wrap="none">
            <a:spAutoFit/>
          </a:bodyPr>
          <a:lstStyle/>
          <a:p>
            <a:pPr>
              <a:defRPr sz="900" b="1">
                <a:solidFill>
                  <a:srgbClr val="6B7280"/>
                </a:solidFill>
                <a:latin typeface="Inter"/>
              </a:defRPr>
            </a:pPr>
            <a:r>
              <a:t>Source: Phase 2 Analysis, Scotch performance perception across 58 creator videos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1110" y="508406"/>
            <a:ext cx="11023092" cy="672998"/>
          </a:xfrm>
          <a:prstGeom prst="rect">
            <a:avLst/>
          </a:prstGeom>
          <a:noFill/>
        </p:spPr>
        <p:txBody>
          <a:bodyPr wrap="none">
            <a:spAutoFit/>
          </a:bodyPr>
          <a:lstStyle/>
          <a:p>
            <a:pPr>
              <a:lnSpc>
                <a:spcPct val="117000"/>
              </a:lnSpc>
              <a:defRPr sz="3600" b="1">
                <a:solidFill>
                  <a:srgbClr val="1A202C"/>
                </a:solidFill>
                <a:latin typeface="Inter"/>
              </a:defRPr>
            </a:pPr>
            <a:r>
              <a:t>Natural Specialization is Emerging, But Significant White Space Remains Unaddressed</a:t>
            </a:r>
          </a:p>
        </p:txBody>
      </p:sp>
      <p:sp>
        <p:nvSpPr>
          <p:cNvPr id="3" name="Rectangle 2"/>
          <p:cNvSpPr/>
          <p:nvPr/>
        </p:nvSpPr>
        <p:spPr>
          <a:xfrm>
            <a:off x="508406" y="508406"/>
            <a:ext cx="38404" cy="67299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8406" y="1474012"/>
            <a:ext cx="6985101" cy="761695"/>
          </a:xfrm>
          <a:prstGeom prst="roundRect">
            <a:avLst/>
          </a:prstGeom>
          <a:solidFill>
            <a:srgbClr val="2D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406" y="1474012"/>
            <a:ext cx="45720" cy="761695"/>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7006" y="1702612"/>
            <a:ext cx="6527901" cy="274320"/>
          </a:xfrm>
          <a:prstGeom prst="rect">
            <a:avLst/>
          </a:prstGeom>
          <a:noFill/>
        </p:spPr>
        <p:txBody>
          <a:bodyPr wrap="none">
            <a:spAutoFit/>
          </a:bodyPr>
          <a:lstStyle/>
          <a:p>
            <a:pPr>
              <a:defRPr sz="1000" b="1">
                <a:solidFill>
                  <a:srgbClr val="14B8A6"/>
                </a:solidFill>
                <a:latin typeface="Inter"/>
              </a:defRPr>
            </a:pPr>
            <a:r>
              <a:t>✱  THE PATTERN</a:t>
            </a:r>
          </a:p>
        </p:txBody>
      </p:sp>
      <p:sp>
        <p:nvSpPr>
          <p:cNvPr id="7" name="TextBox 6"/>
          <p:cNvSpPr txBox="1"/>
          <p:nvPr/>
        </p:nvSpPr>
        <p:spPr>
          <a:xfrm>
            <a:off x="737006" y="2022652"/>
            <a:ext cx="6527901" cy="-15545"/>
          </a:xfrm>
          <a:prstGeom prst="rect">
            <a:avLst/>
          </a:prstGeom>
          <a:noFill/>
        </p:spPr>
        <p:txBody>
          <a:bodyPr wrap="square">
            <a:spAutoFit/>
          </a:bodyPr>
          <a:lstStyle/>
          <a:p>
            <a:pPr>
              <a:lnSpc>
                <a:spcPct val="150000"/>
              </a:lnSpc>
              <a:defRPr sz="1100">
                <a:solidFill>
                  <a:srgbClr val="FFFFFF"/>
                </a:solidFill>
                <a:latin typeface="Inter"/>
              </a:defRPr>
            </a:pPr>
            <a:r>
              <a:t>Content analysis reveals each brand gravitating toward distinct application territories: Command shows strength in rental-friendly contexts, Scotch dominates DIY projects, and 3M Claw is creators' go-to for heavy-duty applications. Picture hanging appears across 76% of content as the category's universal application.</a:t>
            </a:r>
          </a:p>
        </p:txBody>
      </p:sp>
      <p:sp>
        <p:nvSpPr>
          <p:cNvPr id="8" name="Rounded Rectangle 7"/>
          <p:cNvSpPr/>
          <p:nvPr/>
        </p:nvSpPr>
        <p:spPr>
          <a:xfrm>
            <a:off x="508406" y="2388412"/>
            <a:ext cx="6985101" cy="571500"/>
          </a:xfrm>
          <a:prstGeom prst="roundRect">
            <a:avLst/>
          </a:prstGeom>
          <a:solidFill>
            <a:srgbClr val="2D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8406" y="2388412"/>
            <a:ext cx="45720" cy="5715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7006" y="2617012"/>
            <a:ext cx="6527901" cy="274320"/>
          </a:xfrm>
          <a:prstGeom prst="rect">
            <a:avLst/>
          </a:prstGeom>
          <a:noFill/>
        </p:spPr>
        <p:txBody>
          <a:bodyPr wrap="none">
            <a:spAutoFit/>
          </a:bodyPr>
          <a:lstStyle/>
          <a:p>
            <a:pPr>
              <a:defRPr sz="1000" b="1">
                <a:solidFill>
                  <a:srgbClr val="14B8A6"/>
                </a:solidFill>
                <a:latin typeface="Inter"/>
              </a:defRPr>
            </a:pPr>
            <a:r>
              <a:t>✱  INSIGHT</a:t>
            </a:r>
          </a:p>
        </p:txBody>
      </p:sp>
      <p:sp>
        <p:nvSpPr>
          <p:cNvPr id="11" name="TextBox 10"/>
          <p:cNvSpPr txBox="1"/>
          <p:nvPr/>
        </p:nvSpPr>
        <p:spPr>
          <a:xfrm>
            <a:off x="737006" y="2937052"/>
            <a:ext cx="6527901" cy="-205740"/>
          </a:xfrm>
          <a:prstGeom prst="rect">
            <a:avLst/>
          </a:prstGeom>
          <a:noFill/>
        </p:spPr>
        <p:txBody>
          <a:bodyPr wrap="square">
            <a:spAutoFit/>
          </a:bodyPr>
          <a:lstStyle/>
          <a:p>
            <a:pPr>
              <a:lnSpc>
                <a:spcPct val="150000"/>
              </a:lnSpc>
              <a:defRPr sz="1100">
                <a:solidFill>
                  <a:srgbClr val="FFFFFF"/>
                </a:solidFill>
                <a:latin typeface="Inter"/>
              </a:defRPr>
            </a:pPr>
            <a:r>
              <a:t>Current territories are clear but not optimized. Several high-value application areas show minimal content coverage across all brands, representing significant opportunity zones.</a:t>
            </a:r>
          </a:p>
        </p:txBody>
      </p:sp>
      <p:sp>
        <p:nvSpPr>
          <p:cNvPr id="12" name="Rounded Rectangle 11"/>
          <p:cNvSpPr/>
          <p:nvPr/>
        </p:nvSpPr>
        <p:spPr>
          <a:xfrm>
            <a:off x="508406" y="3112616"/>
            <a:ext cx="6985101" cy="761695"/>
          </a:xfrm>
          <a:prstGeom prst="roundRect">
            <a:avLst/>
          </a:prstGeom>
          <a:solidFill>
            <a:srgbClr val="2D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8406" y="3112616"/>
            <a:ext cx="45720" cy="761695"/>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7006" y="3341216"/>
            <a:ext cx="6527901" cy="274320"/>
          </a:xfrm>
          <a:prstGeom prst="rect">
            <a:avLst/>
          </a:prstGeom>
          <a:noFill/>
        </p:spPr>
        <p:txBody>
          <a:bodyPr wrap="none">
            <a:spAutoFit/>
          </a:bodyPr>
          <a:lstStyle/>
          <a:p>
            <a:pPr>
              <a:defRPr sz="1000" b="1">
                <a:solidFill>
                  <a:srgbClr val="14B8A6"/>
                </a:solidFill>
                <a:latin typeface="Inter"/>
              </a:defRPr>
            </a:pPr>
            <a:r>
              <a:t>✱  HARD TRUTH</a:t>
            </a:r>
          </a:p>
        </p:txBody>
      </p:sp>
      <p:sp>
        <p:nvSpPr>
          <p:cNvPr id="15" name="TextBox 14"/>
          <p:cNvSpPr txBox="1"/>
          <p:nvPr/>
        </p:nvSpPr>
        <p:spPr>
          <a:xfrm>
            <a:off x="737006" y="3661256"/>
            <a:ext cx="6527901" cy="-15545"/>
          </a:xfrm>
          <a:prstGeom prst="rect">
            <a:avLst/>
          </a:prstGeom>
          <a:noFill/>
        </p:spPr>
        <p:txBody>
          <a:bodyPr wrap="square">
            <a:spAutoFit/>
          </a:bodyPr>
          <a:lstStyle/>
          <a:p>
            <a:pPr>
              <a:lnSpc>
                <a:spcPct val="150000"/>
              </a:lnSpc>
              <a:defRPr sz="1100">
                <a:solidFill>
                  <a:srgbClr val="FFFFFF"/>
                </a:solidFill>
                <a:latin typeface="Inter"/>
              </a:defRPr>
            </a:pPr>
            <a:r>
              <a:t>Rental households represent one-third of US households, but rental-specific content coverage is modest across all brands. This suggests: Market opportunity exceeds current content marketing investment. First-mover advantage available for brand that commits to this audience.</a:t>
            </a:r>
          </a:p>
        </p:txBody>
      </p:sp>
      <p:sp>
        <p:nvSpPr>
          <p:cNvPr id="16" name="Rounded Rectangle 15"/>
          <p:cNvSpPr/>
          <p:nvPr/>
        </p:nvSpPr>
        <p:spPr>
          <a:xfrm>
            <a:off x="7798002" y="1474012"/>
            <a:ext cx="3886200" cy="1645920"/>
          </a:xfrm>
          <a:prstGeom prst="roundRect">
            <a:avLst/>
          </a:prstGeom>
          <a:solidFill>
            <a:srgbClr val="F8F9FA"/>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80882" y="1656892"/>
            <a:ext cx="3520440" cy="274320"/>
          </a:xfrm>
          <a:prstGeom prst="rect">
            <a:avLst/>
          </a:prstGeom>
          <a:noFill/>
        </p:spPr>
        <p:txBody>
          <a:bodyPr wrap="none">
            <a:spAutoFit/>
          </a:bodyPr>
          <a:lstStyle/>
          <a:p>
            <a:pPr>
              <a:defRPr sz="900" b="1">
                <a:solidFill>
                  <a:srgbClr val="2D3748"/>
                </a:solidFill>
                <a:latin typeface="Inter"/>
              </a:defRPr>
            </a:pPr>
            <a:r>
              <a:t>BRAND TERRITORIES</a:t>
            </a:r>
          </a:p>
        </p:txBody>
      </p:sp>
      <p:sp>
        <p:nvSpPr>
          <p:cNvPr id="18" name="TextBox 17"/>
          <p:cNvSpPr txBox="1"/>
          <p:nvPr/>
        </p:nvSpPr>
        <p:spPr>
          <a:xfrm>
            <a:off x="7980882" y="1976932"/>
            <a:ext cx="1097280" cy="228600"/>
          </a:xfrm>
          <a:prstGeom prst="rect">
            <a:avLst/>
          </a:prstGeom>
          <a:noFill/>
        </p:spPr>
        <p:txBody>
          <a:bodyPr wrap="none">
            <a:spAutoFit/>
          </a:bodyPr>
          <a:lstStyle/>
          <a:p>
            <a:pPr>
              <a:defRPr sz="1000" b="1">
                <a:solidFill>
                  <a:srgbClr val="2D3748"/>
                </a:solidFill>
                <a:latin typeface="Inter"/>
              </a:defRPr>
            </a:pPr>
            <a:r>
              <a:t>Command</a:t>
            </a:r>
          </a:p>
        </p:txBody>
      </p:sp>
      <p:sp>
        <p:nvSpPr>
          <p:cNvPr id="19" name="TextBox 18"/>
          <p:cNvSpPr txBox="1"/>
          <p:nvPr/>
        </p:nvSpPr>
        <p:spPr>
          <a:xfrm>
            <a:off x="9169602" y="1976932"/>
            <a:ext cx="2148840" cy="228600"/>
          </a:xfrm>
          <a:prstGeom prst="rect">
            <a:avLst/>
          </a:prstGeom>
          <a:noFill/>
        </p:spPr>
        <p:txBody>
          <a:bodyPr wrap="none">
            <a:spAutoFit/>
          </a:bodyPr>
          <a:lstStyle/>
          <a:p>
            <a:pPr>
              <a:defRPr sz="900" b="1">
                <a:solidFill>
                  <a:srgbClr val="1A202C"/>
                </a:solidFill>
                <a:latin typeface="Inter"/>
              </a:defRPr>
            </a:pPr>
            <a:r>
              <a:t>Rental-friendly • Temporary installation</a:t>
            </a:r>
          </a:p>
        </p:txBody>
      </p:sp>
      <p:sp>
        <p:nvSpPr>
          <p:cNvPr id="20" name="TextBox 19"/>
          <p:cNvSpPr txBox="1"/>
          <p:nvPr/>
        </p:nvSpPr>
        <p:spPr>
          <a:xfrm>
            <a:off x="7980882" y="2342692"/>
            <a:ext cx="1097280" cy="228600"/>
          </a:xfrm>
          <a:prstGeom prst="rect">
            <a:avLst/>
          </a:prstGeom>
          <a:noFill/>
        </p:spPr>
        <p:txBody>
          <a:bodyPr wrap="none">
            <a:spAutoFit/>
          </a:bodyPr>
          <a:lstStyle/>
          <a:p>
            <a:pPr>
              <a:defRPr sz="1000" b="1">
                <a:solidFill>
                  <a:srgbClr val="2D3748"/>
                </a:solidFill>
                <a:latin typeface="Inter"/>
              </a:defRPr>
            </a:pPr>
            <a:r>
              <a:t>Scotch</a:t>
            </a:r>
          </a:p>
        </p:txBody>
      </p:sp>
      <p:sp>
        <p:nvSpPr>
          <p:cNvPr id="21" name="TextBox 20"/>
          <p:cNvSpPr txBox="1"/>
          <p:nvPr/>
        </p:nvSpPr>
        <p:spPr>
          <a:xfrm>
            <a:off x="9169602" y="2342692"/>
            <a:ext cx="2148840" cy="228600"/>
          </a:xfrm>
          <a:prstGeom prst="rect">
            <a:avLst/>
          </a:prstGeom>
          <a:noFill/>
        </p:spPr>
        <p:txBody>
          <a:bodyPr wrap="none">
            <a:spAutoFit/>
          </a:bodyPr>
          <a:lstStyle/>
          <a:p>
            <a:pPr>
              <a:defRPr sz="900" b="1">
                <a:solidFill>
                  <a:srgbClr val="1A202C"/>
                </a:solidFill>
                <a:latin typeface="Inter"/>
              </a:defRPr>
            </a:pPr>
            <a:r>
              <a:t>DIY projects • Permanent mounting</a:t>
            </a:r>
          </a:p>
        </p:txBody>
      </p:sp>
      <p:sp>
        <p:nvSpPr>
          <p:cNvPr id="22" name="TextBox 21"/>
          <p:cNvSpPr txBox="1"/>
          <p:nvPr/>
        </p:nvSpPr>
        <p:spPr>
          <a:xfrm>
            <a:off x="7980882" y="2708452"/>
            <a:ext cx="1097280" cy="228600"/>
          </a:xfrm>
          <a:prstGeom prst="rect">
            <a:avLst/>
          </a:prstGeom>
          <a:noFill/>
        </p:spPr>
        <p:txBody>
          <a:bodyPr wrap="none">
            <a:spAutoFit/>
          </a:bodyPr>
          <a:lstStyle/>
          <a:p>
            <a:pPr>
              <a:defRPr sz="1000" b="1">
                <a:solidFill>
                  <a:srgbClr val="2D3748"/>
                </a:solidFill>
                <a:latin typeface="Inter"/>
              </a:defRPr>
            </a:pPr>
            <a:r>
              <a:t>3M Claw</a:t>
            </a:r>
          </a:p>
        </p:txBody>
      </p:sp>
      <p:sp>
        <p:nvSpPr>
          <p:cNvPr id="23" name="TextBox 22"/>
          <p:cNvSpPr txBox="1"/>
          <p:nvPr/>
        </p:nvSpPr>
        <p:spPr>
          <a:xfrm>
            <a:off x="9169602" y="2708452"/>
            <a:ext cx="2148840" cy="228600"/>
          </a:xfrm>
          <a:prstGeom prst="rect">
            <a:avLst/>
          </a:prstGeom>
          <a:noFill/>
        </p:spPr>
        <p:txBody>
          <a:bodyPr wrap="none">
            <a:spAutoFit/>
          </a:bodyPr>
          <a:lstStyle/>
          <a:p>
            <a:pPr>
              <a:defRPr sz="900" b="1">
                <a:solidFill>
                  <a:srgbClr val="1A202C"/>
                </a:solidFill>
                <a:latin typeface="Inter"/>
              </a:defRPr>
            </a:pPr>
            <a:r>
              <a:t>Heavy-duty • Weight-focused apps</a:t>
            </a:r>
          </a:p>
        </p:txBody>
      </p:sp>
      <p:sp>
        <p:nvSpPr>
          <p:cNvPr id="24" name="Rounded Rectangle 23"/>
          <p:cNvSpPr/>
          <p:nvPr/>
        </p:nvSpPr>
        <p:spPr>
          <a:xfrm>
            <a:off x="7798002" y="3302812"/>
            <a:ext cx="3886200" cy="548640"/>
          </a:xfrm>
          <a:prstGeom prst="roundRect">
            <a:avLst/>
          </a:prstGeom>
          <a:solidFill>
            <a:srgbClr val="FFFFFF"/>
          </a:solidFill>
          <a:ln w="254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35162" y="3439972"/>
            <a:ext cx="2057400" cy="274320"/>
          </a:xfrm>
          <a:prstGeom prst="rect">
            <a:avLst/>
          </a:prstGeom>
          <a:noFill/>
        </p:spPr>
        <p:txBody>
          <a:bodyPr wrap="none">
            <a:spAutoFit/>
          </a:bodyPr>
          <a:lstStyle/>
          <a:p>
            <a:pPr>
              <a:defRPr sz="900" b="1">
                <a:solidFill>
                  <a:srgbClr val="1A202C"/>
                </a:solidFill>
                <a:latin typeface="Inter"/>
              </a:defRPr>
            </a:pPr>
            <a:r>
              <a:t>Picture Hanging (all brands)</a:t>
            </a:r>
          </a:p>
        </p:txBody>
      </p:sp>
      <p:sp>
        <p:nvSpPr>
          <p:cNvPr id="26" name="TextBox 25"/>
          <p:cNvSpPr txBox="1"/>
          <p:nvPr/>
        </p:nvSpPr>
        <p:spPr>
          <a:xfrm>
            <a:off x="10312602" y="3394252"/>
            <a:ext cx="1188720" cy="365760"/>
          </a:xfrm>
          <a:prstGeom prst="rect">
            <a:avLst/>
          </a:prstGeom>
          <a:noFill/>
        </p:spPr>
        <p:txBody>
          <a:bodyPr wrap="none">
            <a:spAutoFit/>
          </a:bodyPr>
          <a:lstStyle/>
          <a:p>
            <a:pPr algn="r">
              <a:defRPr sz="2200" b="1">
                <a:solidFill>
                  <a:srgbClr val="14B8A6"/>
                </a:solidFill>
                <a:latin typeface="Inter"/>
              </a:defRPr>
            </a:pPr>
            <a:r>
              <a:t>76%</a:t>
            </a:r>
          </a:p>
        </p:txBody>
      </p:sp>
      <p:sp>
        <p:nvSpPr>
          <p:cNvPr id="27" name="Rounded Rectangle 26"/>
          <p:cNvSpPr/>
          <p:nvPr/>
        </p:nvSpPr>
        <p:spPr>
          <a:xfrm>
            <a:off x="7798002" y="3897172"/>
            <a:ext cx="3886200" cy="548640"/>
          </a:xfrm>
          <a:prstGeom prst="roundRect">
            <a:avLst/>
          </a:prstGeom>
          <a:solidFill>
            <a:srgbClr val="FFFFFF"/>
          </a:solidFill>
          <a:ln w="254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35162" y="4034332"/>
            <a:ext cx="2057400" cy="274320"/>
          </a:xfrm>
          <a:prstGeom prst="rect">
            <a:avLst/>
          </a:prstGeom>
          <a:noFill/>
        </p:spPr>
        <p:txBody>
          <a:bodyPr wrap="none">
            <a:spAutoFit/>
          </a:bodyPr>
          <a:lstStyle/>
          <a:p>
            <a:pPr>
              <a:defRPr sz="900" b="1">
                <a:solidFill>
                  <a:srgbClr val="1A202C"/>
                </a:solidFill>
                <a:latin typeface="Inter"/>
              </a:defRPr>
            </a:pPr>
            <a:r>
              <a:t>Kitchen/Bathroom Coverage</a:t>
            </a:r>
          </a:p>
        </p:txBody>
      </p:sp>
      <p:sp>
        <p:nvSpPr>
          <p:cNvPr id="29" name="TextBox 28"/>
          <p:cNvSpPr txBox="1"/>
          <p:nvPr/>
        </p:nvSpPr>
        <p:spPr>
          <a:xfrm>
            <a:off x="10312602" y="3988612"/>
            <a:ext cx="1188720" cy="365760"/>
          </a:xfrm>
          <a:prstGeom prst="rect">
            <a:avLst/>
          </a:prstGeom>
          <a:noFill/>
        </p:spPr>
        <p:txBody>
          <a:bodyPr wrap="none">
            <a:spAutoFit/>
          </a:bodyPr>
          <a:lstStyle/>
          <a:p>
            <a:pPr algn="r">
              <a:defRPr sz="2200" b="1">
                <a:solidFill>
                  <a:srgbClr val="14B8A6"/>
                </a:solidFill>
                <a:latin typeface="Inter"/>
              </a:defRPr>
            </a:pPr>
            <a:r>
              <a:t>&lt;10%</a:t>
            </a:r>
          </a:p>
        </p:txBody>
      </p:sp>
      <p:sp>
        <p:nvSpPr>
          <p:cNvPr id="30" name="Rounded Rectangle 29"/>
          <p:cNvSpPr/>
          <p:nvPr/>
        </p:nvSpPr>
        <p:spPr>
          <a:xfrm>
            <a:off x="7798002" y="4491532"/>
            <a:ext cx="3886200" cy="548640"/>
          </a:xfrm>
          <a:prstGeom prst="roundRect">
            <a:avLst/>
          </a:prstGeom>
          <a:solidFill>
            <a:srgbClr val="FFFFFF"/>
          </a:solidFill>
          <a:ln w="254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35162" y="4628692"/>
            <a:ext cx="2057400" cy="274320"/>
          </a:xfrm>
          <a:prstGeom prst="rect">
            <a:avLst/>
          </a:prstGeom>
          <a:noFill/>
        </p:spPr>
        <p:txBody>
          <a:bodyPr wrap="none">
            <a:spAutoFit/>
          </a:bodyPr>
          <a:lstStyle/>
          <a:p>
            <a:pPr>
              <a:defRPr sz="900" b="1">
                <a:solidFill>
                  <a:srgbClr val="1A202C"/>
                </a:solidFill>
                <a:latin typeface="Inter"/>
              </a:defRPr>
            </a:pPr>
            <a:r>
              <a:t>Rental Market (US households)</a:t>
            </a:r>
          </a:p>
        </p:txBody>
      </p:sp>
      <p:sp>
        <p:nvSpPr>
          <p:cNvPr id="32" name="TextBox 31"/>
          <p:cNvSpPr txBox="1"/>
          <p:nvPr/>
        </p:nvSpPr>
        <p:spPr>
          <a:xfrm>
            <a:off x="10312602" y="4582972"/>
            <a:ext cx="1188720" cy="365760"/>
          </a:xfrm>
          <a:prstGeom prst="rect">
            <a:avLst/>
          </a:prstGeom>
          <a:noFill/>
        </p:spPr>
        <p:txBody>
          <a:bodyPr wrap="none">
            <a:spAutoFit/>
          </a:bodyPr>
          <a:lstStyle/>
          <a:p>
            <a:pPr algn="r">
              <a:defRPr sz="2200" b="1">
                <a:solidFill>
                  <a:srgbClr val="14B8A6"/>
                </a:solidFill>
                <a:latin typeface="Inter"/>
              </a:defRPr>
            </a:pPr>
            <a:r>
              <a:t>36%</a:t>
            </a:r>
          </a:p>
        </p:txBody>
      </p:sp>
      <p:sp>
        <p:nvSpPr>
          <p:cNvPr id="33" name="TextBox 32"/>
          <p:cNvSpPr txBox="1"/>
          <p:nvPr/>
        </p:nvSpPr>
        <p:spPr>
          <a:xfrm>
            <a:off x="548640" y="6309360"/>
            <a:ext cx="11064240" cy="365760"/>
          </a:xfrm>
          <a:prstGeom prst="rect">
            <a:avLst/>
          </a:prstGeom>
          <a:noFill/>
          <a:ln w="25400">
            <a:solidFill>
              <a:srgbClr val="14B8A6"/>
            </a:solidFill>
          </a:ln>
        </p:spPr>
        <p:txBody>
          <a:bodyPr wrap="none">
            <a:spAutoFit/>
          </a:bodyPr>
          <a:lstStyle/>
          <a:p>
            <a:pPr>
              <a:defRPr sz="900" b="1">
                <a:solidFill>
                  <a:srgbClr val="6B7280"/>
                </a:solidFill>
                <a:latin typeface="Inter"/>
              </a:defRPr>
            </a:pPr>
            <a:r>
              <a:t>Source: Phase 2 Analysis, 193 videos across 3 brands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1110" y="508406"/>
            <a:ext cx="11023092" cy="609904"/>
          </a:xfrm>
          <a:prstGeom prst="rect">
            <a:avLst/>
          </a:prstGeom>
          <a:noFill/>
        </p:spPr>
        <p:txBody>
          <a:bodyPr wrap="none">
            <a:spAutoFit/>
          </a:bodyPr>
          <a:lstStyle/>
          <a:p>
            <a:pPr>
              <a:lnSpc>
                <a:spcPct val="115000"/>
              </a:lnSpc>
              <a:defRPr sz="3300" b="1">
                <a:solidFill>
                  <a:srgbClr val="1A202C"/>
                </a:solidFill>
                <a:latin typeface="Inter"/>
              </a:defRPr>
            </a:pPr>
            <a:r>
              <a:t>Garage Organizer Market Reveals Strategic Positioning Gaps—Where the Real Opportunity Lies</a:t>
            </a:r>
          </a:p>
        </p:txBody>
      </p:sp>
      <p:sp>
        <p:nvSpPr>
          <p:cNvPr id="3" name="Rectangle 2"/>
          <p:cNvSpPr/>
          <p:nvPr/>
        </p:nvSpPr>
        <p:spPr>
          <a:xfrm>
            <a:off x="508406" y="508406"/>
            <a:ext cx="38404" cy="609904"/>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8406" y="1422806"/>
            <a:ext cx="6985101" cy="634593"/>
          </a:xfrm>
          <a:prstGeom prst="roundRect">
            <a:avLst/>
          </a:prstGeom>
          <a:solidFill>
            <a:srgbClr val="2D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406" y="1422806"/>
            <a:ext cx="45720" cy="634593"/>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7006" y="1651406"/>
            <a:ext cx="6527901" cy="274320"/>
          </a:xfrm>
          <a:prstGeom prst="rect">
            <a:avLst/>
          </a:prstGeom>
          <a:noFill/>
        </p:spPr>
        <p:txBody>
          <a:bodyPr wrap="none">
            <a:spAutoFit/>
          </a:bodyPr>
          <a:lstStyle/>
          <a:p>
            <a:pPr>
              <a:defRPr sz="1000" b="1">
                <a:solidFill>
                  <a:srgbClr val="14B8A6"/>
                </a:solidFill>
                <a:latin typeface="Inter"/>
              </a:defRPr>
            </a:pPr>
            <a:r>
              <a:t>✱  THE PATTERN</a:t>
            </a:r>
          </a:p>
        </p:txBody>
      </p:sp>
      <p:sp>
        <p:nvSpPr>
          <p:cNvPr id="7" name="TextBox 6"/>
          <p:cNvSpPr txBox="1"/>
          <p:nvPr/>
        </p:nvSpPr>
        <p:spPr>
          <a:xfrm>
            <a:off x="737006" y="1971446"/>
            <a:ext cx="6527901" cy="-142647"/>
          </a:xfrm>
          <a:prstGeom prst="rect">
            <a:avLst/>
          </a:prstGeom>
          <a:noFill/>
        </p:spPr>
        <p:txBody>
          <a:bodyPr wrap="square">
            <a:spAutoFit/>
          </a:bodyPr>
          <a:lstStyle/>
          <a:p>
            <a:pPr>
              <a:lnSpc>
                <a:spcPct val="150000"/>
              </a:lnSpc>
              <a:defRPr sz="1100">
                <a:solidFill>
                  <a:srgbClr val="FFFFFF"/>
                </a:solidFill>
                <a:latin typeface="Inter"/>
              </a:defRPr>
            </a:pPr>
            <a:r>
              <a:t>Three distinct market positions have emerged. Command dominates rental/temporary applications with mainstream presence. Scotch owns the DIY permanent mounting segment with strong creator advocacy. 3M Claw specializes in heavy-duty/extreme environments. Budget alternatives remain fragmented with minimal creator visibility.</a:t>
            </a:r>
          </a:p>
        </p:txBody>
      </p:sp>
      <p:sp>
        <p:nvSpPr>
          <p:cNvPr id="8" name="Rounded Rectangle 7"/>
          <p:cNvSpPr/>
          <p:nvPr/>
        </p:nvSpPr>
        <p:spPr>
          <a:xfrm>
            <a:off x="508406" y="2210104"/>
            <a:ext cx="6985101" cy="634593"/>
          </a:xfrm>
          <a:prstGeom prst="roundRect">
            <a:avLst/>
          </a:prstGeom>
          <a:solidFill>
            <a:srgbClr val="2D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8406" y="2210104"/>
            <a:ext cx="45720" cy="634593"/>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7006" y="2438704"/>
            <a:ext cx="6527901" cy="274320"/>
          </a:xfrm>
          <a:prstGeom prst="rect">
            <a:avLst/>
          </a:prstGeom>
          <a:noFill/>
        </p:spPr>
        <p:txBody>
          <a:bodyPr wrap="none">
            <a:spAutoFit/>
          </a:bodyPr>
          <a:lstStyle/>
          <a:p>
            <a:pPr>
              <a:defRPr sz="1000" b="1">
                <a:solidFill>
                  <a:srgbClr val="14B8A6"/>
                </a:solidFill>
                <a:latin typeface="Inter"/>
              </a:defRPr>
            </a:pPr>
            <a:r>
              <a:t>✱  INSIGHT</a:t>
            </a:r>
          </a:p>
        </p:txBody>
      </p:sp>
      <p:sp>
        <p:nvSpPr>
          <p:cNvPr id="11" name="TextBox 10"/>
          <p:cNvSpPr txBox="1"/>
          <p:nvPr/>
        </p:nvSpPr>
        <p:spPr>
          <a:xfrm>
            <a:off x="737006" y="2758744"/>
            <a:ext cx="6527901" cy="-142647"/>
          </a:xfrm>
          <a:prstGeom prst="rect">
            <a:avLst/>
          </a:prstGeom>
          <a:noFill/>
        </p:spPr>
        <p:txBody>
          <a:bodyPr wrap="square">
            <a:spAutoFit/>
          </a:bodyPr>
          <a:lstStyle/>
          <a:p>
            <a:pPr>
              <a:lnSpc>
                <a:spcPct val="150000"/>
              </a:lnSpc>
              <a:defRPr sz="1100">
                <a:solidFill>
                  <a:srgbClr val="FFFFFF"/>
                </a:solidFill>
                <a:latin typeface="Inter"/>
              </a:defRPr>
            </a:pPr>
            <a:r>
              <a:t>The market has naturally segmented by use case rather than price. Brands succeed by owning clear specialization, not by competing on cost. Creator commentary reveals strong category loyalty—customers choose brands for capability fit, not discounts.</a:t>
            </a:r>
          </a:p>
        </p:txBody>
      </p:sp>
      <p:sp>
        <p:nvSpPr>
          <p:cNvPr id="12" name="Rounded Rectangle 11"/>
          <p:cNvSpPr/>
          <p:nvPr/>
        </p:nvSpPr>
        <p:spPr>
          <a:xfrm>
            <a:off x="508406" y="2997402"/>
            <a:ext cx="6985101" cy="698601"/>
          </a:xfrm>
          <a:prstGeom prst="roundRect">
            <a:avLst/>
          </a:prstGeom>
          <a:solidFill>
            <a:srgbClr val="2D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8406" y="2997402"/>
            <a:ext cx="45720" cy="698601"/>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7006" y="3226002"/>
            <a:ext cx="6527901" cy="274320"/>
          </a:xfrm>
          <a:prstGeom prst="rect">
            <a:avLst/>
          </a:prstGeom>
          <a:noFill/>
        </p:spPr>
        <p:txBody>
          <a:bodyPr wrap="none">
            <a:spAutoFit/>
          </a:bodyPr>
          <a:lstStyle/>
          <a:p>
            <a:pPr>
              <a:defRPr sz="1000" b="1">
                <a:solidFill>
                  <a:srgbClr val="14B8A6"/>
                </a:solidFill>
                <a:latin typeface="Inter"/>
              </a:defRPr>
            </a:pPr>
            <a:r>
              <a:t>✱  HARD TRUTH</a:t>
            </a:r>
          </a:p>
        </p:txBody>
      </p:sp>
      <p:sp>
        <p:nvSpPr>
          <p:cNvPr id="15" name="TextBox 14"/>
          <p:cNvSpPr txBox="1"/>
          <p:nvPr/>
        </p:nvSpPr>
        <p:spPr>
          <a:xfrm>
            <a:off x="737006" y="3546042"/>
            <a:ext cx="6527901" cy="-78639"/>
          </a:xfrm>
          <a:prstGeom prst="rect">
            <a:avLst/>
          </a:prstGeom>
          <a:noFill/>
        </p:spPr>
        <p:txBody>
          <a:bodyPr wrap="square">
            <a:spAutoFit/>
          </a:bodyPr>
          <a:lstStyle/>
          <a:p>
            <a:pPr>
              <a:lnSpc>
                <a:spcPct val="150000"/>
              </a:lnSpc>
              <a:defRPr sz="1100">
                <a:solidFill>
                  <a:srgbClr val="FFFFFF"/>
                </a:solidFill>
                <a:latin typeface="Inter"/>
              </a:defRPr>
            </a:pPr>
            <a:r>
              <a:t>Two positioning gaps exist: (1) Premium all-purpose organizer for DIY enthusiasts wanting one trusted brand, (2) Mass-market accessibility—current leaders are under-indexed in budget/retail visibility. First-mover advantage available.</a:t>
            </a:r>
          </a:p>
        </p:txBody>
      </p:sp>
      <p:sp>
        <p:nvSpPr>
          <p:cNvPr id="16" name="Rounded Rectangle 15"/>
          <p:cNvSpPr/>
          <p:nvPr/>
        </p:nvSpPr>
        <p:spPr>
          <a:xfrm>
            <a:off x="7798002" y="1474012"/>
            <a:ext cx="3886200" cy="3886200"/>
          </a:xfrm>
          <a:prstGeom prst="roundRect">
            <a:avLst/>
          </a:prstGeom>
          <a:solidFill>
            <a:srgbClr val="FAFBFC"/>
          </a:solidFill>
          <a:ln w="254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80882" y="1656892"/>
            <a:ext cx="1577340" cy="182880"/>
          </a:xfrm>
          <a:prstGeom prst="rect">
            <a:avLst/>
          </a:prstGeom>
          <a:noFill/>
        </p:spPr>
        <p:txBody>
          <a:bodyPr wrap="none">
            <a:spAutoFit/>
          </a:bodyPr>
          <a:lstStyle/>
          <a:p>
            <a:pPr algn="ctr">
              <a:defRPr sz="800" b="1">
                <a:solidFill>
                  <a:srgbClr val="999999"/>
                </a:solidFill>
                <a:latin typeface="Inter"/>
              </a:defRPr>
            </a:pPr>
            <a:r>
              <a:t>BUDGET NICHE</a:t>
            </a:r>
          </a:p>
        </p:txBody>
      </p:sp>
      <p:sp>
        <p:nvSpPr>
          <p:cNvPr id="18" name="Oval 17"/>
          <p:cNvSpPr/>
          <p:nvPr/>
        </p:nvSpPr>
        <p:spPr>
          <a:xfrm>
            <a:off x="8540952" y="2022652"/>
            <a:ext cx="457200" cy="457200"/>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40952" y="2022652"/>
            <a:ext cx="457200" cy="457200"/>
          </a:xfrm>
          <a:prstGeom prst="rect">
            <a:avLst/>
          </a:prstGeom>
          <a:noFill/>
        </p:spPr>
        <p:txBody>
          <a:bodyPr wrap="none" anchor="ctr">
            <a:spAutoFit/>
          </a:bodyPr>
          <a:lstStyle/>
          <a:p>
            <a:pPr algn="ctr">
              <a:defRPr sz="1600" b="1">
                <a:solidFill>
                  <a:srgbClr val="FFFFFF"/>
                </a:solidFill>
                <a:latin typeface="Inter"/>
              </a:defRPr>
            </a:pPr>
            <a:r>
              <a:t>🏷️</a:t>
            </a:r>
          </a:p>
        </p:txBody>
      </p:sp>
      <p:sp>
        <p:nvSpPr>
          <p:cNvPr id="20" name="TextBox 19"/>
          <p:cNvSpPr txBox="1"/>
          <p:nvPr/>
        </p:nvSpPr>
        <p:spPr>
          <a:xfrm>
            <a:off x="7889442" y="2662732"/>
            <a:ext cx="1760220" cy="228600"/>
          </a:xfrm>
          <a:prstGeom prst="rect">
            <a:avLst/>
          </a:prstGeom>
          <a:noFill/>
        </p:spPr>
        <p:txBody>
          <a:bodyPr wrap="none">
            <a:spAutoFit/>
          </a:bodyPr>
          <a:lstStyle/>
          <a:p>
            <a:pPr algn="ctr">
              <a:defRPr sz="900" b="1">
                <a:solidFill>
                  <a:srgbClr val="1A202C"/>
                </a:solidFill>
                <a:latin typeface="Inter"/>
              </a:defRPr>
            </a:pPr>
            <a:r>
              <a:t>Generic</a:t>
            </a:r>
          </a:p>
        </p:txBody>
      </p:sp>
      <p:sp>
        <p:nvSpPr>
          <p:cNvPr id="21" name="TextBox 20"/>
          <p:cNvSpPr txBox="1"/>
          <p:nvPr/>
        </p:nvSpPr>
        <p:spPr>
          <a:xfrm>
            <a:off x="9923982" y="1656892"/>
            <a:ext cx="1577340" cy="182880"/>
          </a:xfrm>
          <a:prstGeom prst="rect">
            <a:avLst/>
          </a:prstGeom>
          <a:noFill/>
        </p:spPr>
        <p:txBody>
          <a:bodyPr wrap="none">
            <a:spAutoFit/>
          </a:bodyPr>
          <a:lstStyle/>
          <a:p>
            <a:pPr algn="ctr">
              <a:defRPr sz="800" b="1">
                <a:solidFill>
                  <a:srgbClr val="999999"/>
                </a:solidFill>
                <a:latin typeface="Inter"/>
              </a:defRPr>
            </a:pPr>
            <a:r>
              <a:t>PREMIUM MAINSTREAM</a:t>
            </a:r>
          </a:p>
        </p:txBody>
      </p:sp>
      <p:sp>
        <p:nvSpPr>
          <p:cNvPr id="22" name="Oval 21"/>
          <p:cNvSpPr/>
          <p:nvPr/>
        </p:nvSpPr>
        <p:spPr>
          <a:xfrm>
            <a:off x="10415472" y="2022652"/>
            <a:ext cx="594360" cy="594360"/>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15472" y="2022652"/>
            <a:ext cx="594360" cy="594360"/>
          </a:xfrm>
          <a:prstGeom prst="rect">
            <a:avLst/>
          </a:prstGeom>
          <a:noFill/>
        </p:spPr>
        <p:txBody>
          <a:bodyPr wrap="none" anchor="ctr">
            <a:spAutoFit/>
          </a:bodyPr>
          <a:lstStyle/>
          <a:p>
            <a:pPr algn="ctr">
              <a:defRPr sz="2000" b="1">
                <a:solidFill>
                  <a:srgbClr val="FFFFFF"/>
                </a:solidFill>
                <a:latin typeface="Inter"/>
              </a:defRPr>
            </a:pPr>
            <a:r>
              <a:t>S</a:t>
            </a:r>
          </a:p>
        </p:txBody>
      </p:sp>
      <p:sp>
        <p:nvSpPr>
          <p:cNvPr id="24" name="TextBox 23"/>
          <p:cNvSpPr txBox="1"/>
          <p:nvPr/>
        </p:nvSpPr>
        <p:spPr>
          <a:xfrm>
            <a:off x="9832542" y="2662732"/>
            <a:ext cx="1760220" cy="228600"/>
          </a:xfrm>
          <a:prstGeom prst="rect">
            <a:avLst/>
          </a:prstGeom>
          <a:noFill/>
        </p:spPr>
        <p:txBody>
          <a:bodyPr wrap="none">
            <a:spAutoFit/>
          </a:bodyPr>
          <a:lstStyle/>
          <a:p>
            <a:pPr algn="ctr">
              <a:defRPr sz="900" b="1">
                <a:solidFill>
                  <a:srgbClr val="1A202C"/>
                </a:solidFill>
                <a:latin typeface="Inter"/>
              </a:defRPr>
            </a:pPr>
            <a:r>
              <a:t>Scotch</a:t>
            </a:r>
          </a:p>
        </p:txBody>
      </p:sp>
      <p:sp>
        <p:nvSpPr>
          <p:cNvPr id="25" name="TextBox 24"/>
          <p:cNvSpPr txBox="1"/>
          <p:nvPr/>
        </p:nvSpPr>
        <p:spPr>
          <a:xfrm>
            <a:off x="7980882" y="3599992"/>
            <a:ext cx="1577340" cy="182880"/>
          </a:xfrm>
          <a:prstGeom prst="rect">
            <a:avLst/>
          </a:prstGeom>
          <a:noFill/>
        </p:spPr>
        <p:txBody>
          <a:bodyPr wrap="none">
            <a:spAutoFit/>
          </a:bodyPr>
          <a:lstStyle/>
          <a:p>
            <a:pPr algn="ctr">
              <a:defRPr sz="800" b="1">
                <a:solidFill>
                  <a:srgbClr val="999999"/>
                </a:solidFill>
                <a:latin typeface="Inter"/>
              </a:defRPr>
            </a:pPr>
            <a:r>
              <a:t>BUDGET MAINSTREAM</a:t>
            </a:r>
          </a:p>
        </p:txBody>
      </p:sp>
      <p:sp>
        <p:nvSpPr>
          <p:cNvPr id="26" name="Oval 25"/>
          <p:cNvSpPr/>
          <p:nvPr/>
        </p:nvSpPr>
        <p:spPr>
          <a:xfrm>
            <a:off x="8472372" y="3965752"/>
            <a:ext cx="594360" cy="5943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72372" y="3965752"/>
            <a:ext cx="594360" cy="594360"/>
          </a:xfrm>
          <a:prstGeom prst="rect">
            <a:avLst/>
          </a:prstGeom>
          <a:noFill/>
        </p:spPr>
        <p:txBody>
          <a:bodyPr wrap="none" anchor="ctr">
            <a:spAutoFit/>
          </a:bodyPr>
          <a:lstStyle/>
          <a:p>
            <a:pPr algn="ctr">
              <a:defRPr sz="2000" b="1">
                <a:solidFill>
                  <a:srgbClr val="FFFFFF"/>
                </a:solidFill>
                <a:latin typeface="Inter"/>
              </a:defRPr>
            </a:pPr>
            <a:r>
              <a:t>C</a:t>
            </a:r>
          </a:p>
        </p:txBody>
      </p:sp>
      <p:sp>
        <p:nvSpPr>
          <p:cNvPr id="28" name="TextBox 27"/>
          <p:cNvSpPr txBox="1"/>
          <p:nvPr/>
        </p:nvSpPr>
        <p:spPr>
          <a:xfrm>
            <a:off x="7889442" y="4605832"/>
            <a:ext cx="1760220" cy="228600"/>
          </a:xfrm>
          <a:prstGeom prst="rect">
            <a:avLst/>
          </a:prstGeom>
          <a:noFill/>
        </p:spPr>
        <p:txBody>
          <a:bodyPr wrap="none">
            <a:spAutoFit/>
          </a:bodyPr>
          <a:lstStyle/>
          <a:p>
            <a:pPr algn="ctr">
              <a:defRPr sz="900" b="1">
                <a:solidFill>
                  <a:srgbClr val="1A202C"/>
                </a:solidFill>
                <a:latin typeface="Inter"/>
              </a:defRPr>
            </a:pPr>
            <a:r>
              <a:t>Command</a:t>
            </a:r>
          </a:p>
        </p:txBody>
      </p:sp>
      <p:sp>
        <p:nvSpPr>
          <p:cNvPr id="29" name="TextBox 28"/>
          <p:cNvSpPr txBox="1"/>
          <p:nvPr/>
        </p:nvSpPr>
        <p:spPr>
          <a:xfrm>
            <a:off x="9923982" y="3599992"/>
            <a:ext cx="1577340" cy="182880"/>
          </a:xfrm>
          <a:prstGeom prst="rect">
            <a:avLst/>
          </a:prstGeom>
          <a:noFill/>
        </p:spPr>
        <p:txBody>
          <a:bodyPr wrap="none">
            <a:spAutoFit/>
          </a:bodyPr>
          <a:lstStyle/>
          <a:p>
            <a:pPr algn="ctr">
              <a:defRPr sz="800" b="1">
                <a:solidFill>
                  <a:srgbClr val="999999"/>
                </a:solidFill>
                <a:latin typeface="Inter"/>
              </a:defRPr>
            </a:pPr>
            <a:r>
              <a:t>PREMIUM NICHE</a:t>
            </a:r>
          </a:p>
        </p:txBody>
      </p:sp>
      <p:sp>
        <p:nvSpPr>
          <p:cNvPr id="30" name="Oval 29"/>
          <p:cNvSpPr/>
          <p:nvPr/>
        </p:nvSpPr>
        <p:spPr>
          <a:xfrm>
            <a:off x="10415472" y="3965752"/>
            <a:ext cx="594360" cy="59436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15472" y="3965752"/>
            <a:ext cx="594360" cy="594360"/>
          </a:xfrm>
          <a:prstGeom prst="rect">
            <a:avLst/>
          </a:prstGeom>
          <a:noFill/>
        </p:spPr>
        <p:txBody>
          <a:bodyPr wrap="none" anchor="ctr">
            <a:spAutoFit/>
          </a:bodyPr>
          <a:lstStyle/>
          <a:p>
            <a:pPr algn="ctr">
              <a:defRPr sz="2000" b="1">
                <a:solidFill>
                  <a:srgbClr val="FFFFFF"/>
                </a:solidFill>
                <a:latin typeface="Inter"/>
              </a:defRPr>
            </a:pPr>
            <a:r>
              <a:t>3C</a:t>
            </a:r>
          </a:p>
        </p:txBody>
      </p:sp>
      <p:sp>
        <p:nvSpPr>
          <p:cNvPr id="32" name="TextBox 31"/>
          <p:cNvSpPr txBox="1"/>
          <p:nvPr/>
        </p:nvSpPr>
        <p:spPr>
          <a:xfrm>
            <a:off x="9832542" y="4605832"/>
            <a:ext cx="1760220" cy="228600"/>
          </a:xfrm>
          <a:prstGeom prst="rect">
            <a:avLst/>
          </a:prstGeom>
          <a:noFill/>
        </p:spPr>
        <p:txBody>
          <a:bodyPr wrap="none">
            <a:spAutoFit/>
          </a:bodyPr>
          <a:lstStyle/>
          <a:p>
            <a:pPr algn="ctr">
              <a:defRPr sz="900" b="1">
                <a:solidFill>
                  <a:srgbClr val="1A202C"/>
                </a:solidFill>
                <a:latin typeface="Inter"/>
              </a:defRPr>
            </a:pPr>
            <a:r>
              <a:t>3M Claw</a:t>
            </a:r>
          </a:p>
        </p:txBody>
      </p:sp>
      <p:sp>
        <p:nvSpPr>
          <p:cNvPr id="33" name="TextBox 32"/>
          <p:cNvSpPr txBox="1"/>
          <p:nvPr/>
        </p:nvSpPr>
        <p:spPr>
          <a:xfrm>
            <a:off x="548640" y="6309360"/>
            <a:ext cx="11064240" cy="365760"/>
          </a:xfrm>
          <a:prstGeom prst="rect">
            <a:avLst/>
          </a:prstGeom>
          <a:noFill/>
          <a:ln w="25400">
            <a:solidFill>
              <a:srgbClr val="14B8A6"/>
            </a:solidFill>
          </a:ln>
        </p:spPr>
        <p:txBody>
          <a:bodyPr wrap="none">
            <a:spAutoFit/>
          </a:bodyPr>
          <a:lstStyle/>
          <a:p>
            <a:pPr>
              <a:defRPr sz="900" b="1">
                <a:solidFill>
                  <a:srgbClr val="6B7280"/>
                </a:solidFill>
                <a:latin typeface="Inter"/>
              </a:defRPr>
            </a:pPr>
            <a:r>
              <a:t>Source: Phase 2 Analysis, Competitive positioning matrix from 193 creator videos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1110" y="508406"/>
            <a:ext cx="11023092" cy="508406"/>
          </a:xfrm>
          <a:prstGeom prst="rect">
            <a:avLst/>
          </a:prstGeom>
          <a:noFill/>
        </p:spPr>
        <p:txBody>
          <a:bodyPr wrap="none">
            <a:spAutoFit/>
          </a:bodyPr>
          <a:lstStyle/>
          <a:p>
            <a:pPr>
              <a:defRPr sz="3300" b="1">
                <a:solidFill>
                  <a:srgbClr val="1A202C"/>
                </a:solidFill>
                <a:latin typeface="Inter"/>
              </a:defRPr>
            </a:pPr>
            <a:r>
              <a:t>Executive Summary: 3M Garage Organization Brand Perceptions Analysis</a:t>
            </a:r>
          </a:p>
        </p:txBody>
      </p:sp>
      <p:sp>
        <p:nvSpPr>
          <p:cNvPr id="3" name="Rectangle 2"/>
          <p:cNvSpPr/>
          <p:nvPr/>
        </p:nvSpPr>
        <p:spPr>
          <a:xfrm>
            <a:off x="508406" y="508406"/>
            <a:ext cx="38404" cy="50840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8406" y="1270101"/>
            <a:ext cx="6985101" cy="597103"/>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406" y="1270101"/>
            <a:ext cx="38404" cy="597103"/>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35507" y="1435607"/>
            <a:ext cx="254203" cy="254203"/>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507" y="1435607"/>
            <a:ext cx="254203" cy="254203"/>
          </a:xfrm>
          <a:prstGeom prst="rect">
            <a:avLst/>
          </a:prstGeom>
          <a:noFill/>
        </p:spPr>
        <p:txBody>
          <a:bodyPr wrap="none" anchor="ctr">
            <a:spAutoFit/>
          </a:bodyPr>
          <a:lstStyle/>
          <a:p>
            <a:pPr algn="ctr">
              <a:defRPr sz="1800" b="1">
                <a:solidFill>
                  <a:srgbClr val="FFFFFF"/>
                </a:solidFill>
                <a:latin typeface="Inter"/>
              </a:defRPr>
            </a:pPr>
            <a:r>
              <a:t>1</a:t>
            </a:r>
          </a:p>
        </p:txBody>
      </p:sp>
      <p:sp>
        <p:nvSpPr>
          <p:cNvPr id="8" name="TextBox 7"/>
          <p:cNvSpPr txBox="1"/>
          <p:nvPr/>
        </p:nvSpPr>
        <p:spPr>
          <a:xfrm>
            <a:off x="965606" y="1365198"/>
            <a:ext cx="6436461" cy="159105"/>
          </a:xfrm>
          <a:prstGeom prst="rect">
            <a:avLst/>
          </a:prstGeom>
          <a:noFill/>
        </p:spPr>
        <p:txBody>
          <a:bodyPr wrap="none">
            <a:spAutoFit/>
          </a:bodyPr>
          <a:lstStyle/>
          <a:p>
            <a:pPr>
              <a:defRPr sz="1300" b="1">
                <a:solidFill>
                  <a:srgbClr val="14B8A6"/>
                </a:solidFill>
                <a:latin typeface="Inter"/>
              </a:defRPr>
            </a:pPr>
            <a:r>
              <a:t>Command Brand Crisis</a:t>
            </a:r>
          </a:p>
        </p:txBody>
      </p:sp>
      <p:sp>
        <p:nvSpPr>
          <p:cNvPr id="9" name="TextBox 8"/>
          <p:cNvSpPr txBox="1"/>
          <p:nvPr/>
        </p:nvSpPr>
        <p:spPr>
          <a:xfrm>
            <a:off x="965606" y="1537105"/>
            <a:ext cx="6436461" cy="286207"/>
          </a:xfrm>
          <a:prstGeom prst="rect">
            <a:avLst/>
          </a:prstGeom>
          <a:noFill/>
        </p:spPr>
        <p:txBody>
          <a:bodyPr wrap="square">
            <a:spAutoFit/>
          </a:bodyPr>
          <a:lstStyle/>
          <a:p>
            <a:pPr>
              <a:lnSpc>
                <a:spcPct val="140000"/>
              </a:lnSpc>
              <a:defRPr sz="1000">
                <a:solidFill>
                  <a:srgbClr val="FFFFFF"/>
                </a:solidFill>
                <a:latin typeface="Inter"/>
              </a:defRPr>
            </a:pPr>
            <a:r>
              <a:t>Surface damage complaints (22 severity) exceed damage-free claims (9) by 2.4:1 ratio, inverting core brand promise. Immediate forensic investigation and installation education campaign required within 30 days.</a:t>
            </a:r>
          </a:p>
        </p:txBody>
      </p:sp>
      <p:sp>
        <p:nvSpPr>
          <p:cNvPr id="10" name="Rounded Rectangle 9"/>
          <p:cNvSpPr/>
          <p:nvPr/>
        </p:nvSpPr>
        <p:spPr>
          <a:xfrm>
            <a:off x="508406" y="1968702"/>
            <a:ext cx="6985101" cy="597103"/>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8406" y="1968702"/>
            <a:ext cx="38404" cy="597103"/>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35507" y="2134208"/>
            <a:ext cx="254203" cy="254203"/>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7" y="2134208"/>
            <a:ext cx="254203" cy="254203"/>
          </a:xfrm>
          <a:prstGeom prst="rect">
            <a:avLst/>
          </a:prstGeom>
          <a:noFill/>
        </p:spPr>
        <p:txBody>
          <a:bodyPr wrap="none" anchor="ctr">
            <a:spAutoFit/>
          </a:bodyPr>
          <a:lstStyle/>
          <a:p>
            <a:pPr algn="ctr">
              <a:defRPr sz="1800" b="1">
                <a:solidFill>
                  <a:srgbClr val="FFFFFF"/>
                </a:solidFill>
                <a:latin typeface="Inter"/>
              </a:defRPr>
            </a:pPr>
            <a:r>
              <a:t>2</a:t>
            </a:r>
          </a:p>
        </p:txBody>
      </p:sp>
      <p:sp>
        <p:nvSpPr>
          <p:cNvPr id="14" name="TextBox 13"/>
          <p:cNvSpPr txBox="1"/>
          <p:nvPr/>
        </p:nvSpPr>
        <p:spPr>
          <a:xfrm>
            <a:off x="965606" y="2063799"/>
            <a:ext cx="6436461" cy="159105"/>
          </a:xfrm>
          <a:prstGeom prst="rect">
            <a:avLst/>
          </a:prstGeom>
          <a:noFill/>
        </p:spPr>
        <p:txBody>
          <a:bodyPr wrap="none">
            <a:spAutoFit/>
          </a:bodyPr>
          <a:lstStyle/>
          <a:p>
            <a:pPr>
              <a:defRPr sz="1300" b="1">
                <a:solidFill>
                  <a:srgbClr val="14B8A6"/>
                </a:solidFill>
                <a:latin typeface="Inter"/>
              </a:defRPr>
            </a:pPr>
            <a:r>
              <a:t>Scotch Sentiment Advantage</a:t>
            </a:r>
          </a:p>
        </p:txBody>
      </p:sp>
      <p:sp>
        <p:nvSpPr>
          <p:cNvPr id="15" name="TextBox 14"/>
          <p:cNvSpPr txBox="1"/>
          <p:nvPr/>
        </p:nvSpPr>
        <p:spPr>
          <a:xfrm>
            <a:off x="965606" y="2235706"/>
            <a:ext cx="6436461" cy="286207"/>
          </a:xfrm>
          <a:prstGeom prst="rect">
            <a:avLst/>
          </a:prstGeom>
          <a:noFill/>
        </p:spPr>
        <p:txBody>
          <a:bodyPr wrap="square">
            <a:spAutoFit/>
          </a:bodyPr>
          <a:lstStyle/>
          <a:p>
            <a:pPr>
              <a:lnSpc>
                <a:spcPct val="140000"/>
              </a:lnSpc>
              <a:defRPr sz="1000">
                <a:solidFill>
                  <a:srgbClr val="FFFFFF"/>
                </a:solidFill>
                <a:latin typeface="Inter"/>
              </a:defRPr>
            </a:pPr>
            <a:r>
              <a:t>Best positive sentiment (20.6%), lowest negative (1.5%), creating 14:1 advocacy ratio vs competitors. Opportunity to convert satisfied users into vocal brand advocates through testimonial campaigns.</a:t>
            </a:r>
          </a:p>
        </p:txBody>
      </p:sp>
      <p:sp>
        <p:nvSpPr>
          <p:cNvPr id="16" name="Rounded Rectangle 15"/>
          <p:cNvSpPr/>
          <p:nvPr/>
        </p:nvSpPr>
        <p:spPr>
          <a:xfrm>
            <a:off x="508406" y="2667303"/>
            <a:ext cx="6985101" cy="597103"/>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8406" y="2667303"/>
            <a:ext cx="38404" cy="597103"/>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5507" y="2832809"/>
            <a:ext cx="254203" cy="254203"/>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7" y="2832809"/>
            <a:ext cx="254203" cy="254203"/>
          </a:xfrm>
          <a:prstGeom prst="rect">
            <a:avLst/>
          </a:prstGeom>
          <a:noFill/>
        </p:spPr>
        <p:txBody>
          <a:bodyPr wrap="none" anchor="ctr">
            <a:spAutoFit/>
          </a:bodyPr>
          <a:lstStyle/>
          <a:p>
            <a:pPr algn="ctr">
              <a:defRPr sz="1800" b="1">
                <a:solidFill>
                  <a:srgbClr val="FFFFFF"/>
                </a:solidFill>
                <a:latin typeface="Inter"/>
              </a:defRPr>
            </a:pPr>
            <a:r>
              <a:t>3</a:t>
            </a:r>
          </a:p>
        </p:txBody>
      </p:sp>
      <p:sp>
        <p:nvSpPr>
          <p:cNvPr id="20" name="TextBox 19"/>
          <p:cNvSpPr txBox="1"/>
          <p:nvPr/>
        </p:nvSpPr>
        <p:spPr>
          <a:xfrm>
            <a:off x="965606" y="2762400"/>
            <a:ext cx="6436461" cy="159105"/>
          </a:xfrm>
          <a:prstGeom prst="rect">
            <a:avLst/>
          </a:prstGeom>
          <a:noFill/>
        </p:spPr>
        <p:txBody>
          <a:bodyPr wrap="none">
            <a:spAutoFit/>
          </a:bodyPr>
          <a:lstStyle/>
          <a:p>
            <a:pPr>
              <a:defRPr sz="1300" b="1">
                <a:solidFill>
                  <a:srgbClr val="14B8A6"/>
                </a:solidFill>
                <a:latin typeface="Inter"/>
              </a:defRPr>
            </a:pPr>
            <a:r>
              <a:t>Renter Opportunity Gap</a:t>
            </a:r>
          </a:p>
        </p:txBody>
      </p:sp>
      <p:sp>
        <p:nvSpPr>
          <p:cNvPr id="21" name="TextBox 20"/>
          <p:cNvSpPr txBox="1"/>
          <p:nvPr/>
        </p:nvSpPr>
        <p:spPr>
          <a:xfrm>
            <a:off x="965606" y="2934307"/>
            <a:ext cx="6436461" cy="286207"/>
          </a:xfrm>
          <a:prstGeom prst="rect">
            <a:avLst/>
          </a:prstGeom>
          <a:noFill/>
        </p:spPr>
        <p:txBody>
          <a:bodyPr wrap="square">
            <a:spAutoFit/>
          </a:bodyPr>
          <a:lstStyle/>
          <a:p>
            <a:pPr>
              <a:lnSpc>
                <a:spcPct val="140000"/>
              </a:lnSpc>
              <a:defRPr sz="1000">
                <a:solidFill>
                  <a:srgbClr val="FFFFFF"/>
                </a:solidFill>
                <a:latin typeface="Inter"/>
              </a:defRPr>
            </a:pPr>
            <a:r>
              <a:t>Renters are 36% of US households but only 17.6% of content mentions rental applications. Untapped market with clear product-market fit for damage-free solutions in lease environments.</a:t>
            </a:r>
          </a:p>
        </p:txBody>
      </p:sp>
      <p:sp>
        <p:nvSpPr>
          <p:cNvPr id="22" name="Rounded Rectangle 21"/>
          <p:cNvSpPr/>
          <p:nvPr/>
        </p:nvSpPr>
        <p:spPr>
          <a:xfrm>
            <a:off x="508406" y="3365904"/>
            <a:ext cx="6985101" cy="597103"/>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8406" y="3365904"/>
            <a:ext cx="38404" cy="597103"/>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507" y="3531410"/>
            <a:ext cx="254203" cy="254203"/>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7" y="3531410"/>
            <a:ext cx="254203" cy="254203"/>
          </a:xfrm>
          <a:prstGeom prst="rect">
            <a:avLst/>
          </a:prstGeom>
          <a:noFill/>
        </p:spPr>
        <p:txBody>
          <a:bodyPr wrap="none" anchor="ctr">
            <a:spAutoFit/>
          </a:bodyPr>
          <a:lstStyle/>
          <a:p>
            <a:pPr algn="ctr">
              <a:defRPr sz="1800" b="1">
                <a:solidFill>
                  <a:srgbClr val="FFFFFF"/>
                </a:solidFill>
                <a:latin typeface="Inter"/>
              </a:defRPr>
            </a:pPr>
            <a:r>
              <a:t>4</a:t>
            </a:r>
          </a:p>
        </p:txBody>
      </p:sp>
      <p:sp>
        <p:nvSpPr>
          <p:cNvPr id="26" name="TextBox 25"/>
          <p:cNvSpPr txBox="1"/>
          <p:nvPr/>
        </p:nvSpPr>
        <p:spPr>
          <a:xfrm>
            <a:off x="965606" y="3461001"/>
            <a:ext cx="6436461" cy="159105"/>
          </a:xfrm>
          <a:prstGeom prst="rect">
            <a:avLst/>
          </a:prstGeom>
          <a:noFill/>
        </p:spPr>
        <p:txBody>
          <a:bodyPr wrap="none">
            <a:spAutoFit/>
          </a:bodyPr>
          <a:lstStyle/>
          <a:p>
            <a:pPr>
              <a:defRPr sz="1300" b="1">
                <a:solidFill>
                  <a:srgbClr val="14B8A6"/>
                </a:solidFill>
                <a:latin typeface="Inter"/>
              </a:defRPr>
            </a:pPr>
            <a:r>
              <a:t>Tutorial Content Dominance</a:t>
            </a:r>
          </a:p>
        </p:txBody>
      </p:sp>
      <p:sp>
        <p:nvSpPr>
          <p:cNvPr id="27" name="TextBox 26"/>
          <p:cNvSpPr txBox="1"/>
          <p:nvPr/>
        </p:nvSpPr>
        <p:spPr>
          <a:xfrm>
            <a:off x="965606" y="3632908"/>
            <a:ext cx="6436461" cy="286207"/>
          </a:xfrm>
          <a:prstGeom prst="rect">
            <a:avLst/>
          </a:prstGeom>
          <a:noFill/>
        </p:spPr>
        <p:txBody>
          <a:bodyPr wrap="square">
            <a:spAutoFit/>
          </a:bodyPr>
          <a:lstStyle/>
          <a:p>
            <a:pPr>
              <a:lnSpc>
                <a:spcPct val="140000"/>
              </a:lnSpc>
              <a:defRPr sz="1000">
                <a:solidFill>
                  <a:srgbClr val="FFFFFF"/>
                </a:solidFill>
                <a:latin typeface="Inter"/>
              </a:defRPr>
            </a:pPr>
            <a:r>
              <a:t>56.5% of videos are tutorials (neutral tone), indicating high product adoption but low emotional connection. Opportunity to convert tutorial presence into advocacy through creator partnerships.</a:t>
            </a:r>
          </a:p>
        </p:txBody>
      </p:sp>
      <p:sp>
        <p:nvSpPr>
          <p:cNvPr id="28" name="Rounded Rectangle 27"/>
          <p:cNvSpPr/>
          <p:nvPr/>
        </p:nvSpPr>
        <p:spPr>
          <a:xfrm>
            <a:off x="7798002" y="1474012"/>
            <a:ext cx="3886200" cy="3200400"/>
          </a:xfrm>
          <a:prstGeom prst="roundRect">
            <a:avLst/>
          </a:prstGeom>
          <a:solidFill>
            <a:srgbClr val="F8F9FA"/>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80882" y="1656892"/>
            <a:ext cx="3520440" cy="274320"/>
          </a:xfrm>
          <a:prstGeom prst="rect">
            <a:avLst/>
          </a:prstGeom>
          <a:noFill/>
        </p:spPr>
        <p:txBody>
          <a:bodyPr wrap="none">
            <a:spAutoFit/>
          </a:bodyPr>
          <a:lstStyle/>
          <a:p>
            <a:pPr>
              <a:defRPr sz="1000" b="1">
                <a:solidFill>
                  <a:srgbClr val="2D3748"/>
                </a:solidFill>
                <a:latin typeface="Inter"/>
              </a:defRPr>
            </a:pPr>
            <a:r>
              <a:t>DATASET OVERVIEW</a:t>
            </a:r>
          </a:p>
        </p:txBody>
      </p:sp>
      <p:sp>
        <p:nvSpPr>
          <p:cNvPr id="30" name="TextBox 29"/>
          <p:cNvSpPr txBox="1"/>
          <p:nvPr/>
        </p:nvSpPr>
        <p:spPr>
          <a:xfrm>
            <a:off x="7980882" y="2068372"/>
            <a:ext cx="3520440" cy="411480"/>
          </a:xfrm>
          <a:prstGeom prst="rect">
            <a:avLst/>
          </a:prstGeom>
          <a:noFill/>
        </p:spPr>
        <p:txBody>
          <a:bodyPr wrap="none">
            <a:spAutoFit/>
          </a:bodyPr>
          <a:lstStyle/>
          <a:p>
            <a:pPr>
              <a:defRPr sz="2800" b="1">
                <a:solidFill>
                  <a:srgbClr val="14B8A6"/>
                </a:solidFill>
                <a:latin typeface="Inter"/>
              </a:defRPr>
            </a:pPr>
            <a:r>
              <a:t>193</a:t>
            </a:r>
          </a:p>
        </p:txBody>
      </p:sp>
      <p:sp>
        <p:nvSpPr>
          <p:cNvPr id="31" name="TextBox 30"/>
          <p:cNvSpPr txBox="1"/>
          <p:nvPr/>
        </p:nvSpPr>
        <p:spPr>
          <a:xfrm>
            <a:off x="7980882" y="2479852"/>
            <a:ext cx="3520440" cy="228600"/>
          </a:xfrm>
          <a:prstGeom prst="rect">
            <a:avLst/>
          </a:prstGeom>
          <a:noFill/>
        </p:spPr>
        <p:txBody>
          <a:bodyPr wrap="none">
            <a:spAutoFit/>
          </a:bodyPr>
          <a:lstStyle/>
          <a:p>
            <a:pPr>
              <a:defRPr sz="900" b="1">
                <a:solidFill>
                  <a:srgbClr val="4A5568"/>
                </a:solidFill>
                <a:latin typeface="Inter"/>
              </a:defRPr>
            </a:pPr>
            <a:r>
              <a:t>VIDEOS ANALYZED</a:t>
            </a:r>
          </a:p>
        </p:txBody>
      </p:sp>
      <p:sp>
        <p:nvSpPr>
          <p:cNvPr id="32" name="TextBox 31"/>
          <p:cNvSpPr txBox="1"/>
          <p:nvPr/>
        </p:nvSpPr>
        <p:spPr>
          <a:xfrm>
            <a:off x="7980882" y="2845612"/>
            <a:ext cx="3520440" cy="411480"/>
          </a:xfrm>
          <a:prstGeom prst="rect">
            <a:avLst/>
          </a:prstGeom>
          <a:noFill/>
        </p:spPr>
        <p:txBody>
          <a:bodyPr wrap="none">
            <a:spAutoFit/>
          </a:bodyPr>
          <a:lstStyle/>
          <a:p>
            <a:pPr>
              <a:defRPr sz="2800" b="1">
                <a:solidFill>
                  <a:srgbClr val="14B8A6"/>
                </a:solidFill>
                <a:latin typeface="Inter"/>
              </a:defRPr>
            </a:pPr>
            <a:r>
              <a:t>47.9M</a:t>
            </a:r>
          </a:p>
        </p:txBody>
      </p:sp>
      <p:sp>
        <p:nvSpPr>
          <p:cNvPr id="33" name="TextBox 32"/>
          <p:cNvSpPr txBox="1"/>
          <p:nvPr/>
        </p:nvSpPr>
        <p:spPr>
          <a:xfrm>
            <a:off x="7980882" y="3257092"/>
            <a:ext cx="3520440" cy="228600"/>
          </a:xfrm>
          <a:prstGeom prst="rect">
            <a:avLst/>
          </a:prstGeom>
          <a:noFill/>
        </p:spPr>
        <p:txBody>
          <a:bodyPr wrap="none">
            <a:spAutoFit/>
          </a:bodyPr>
          <a:lstStyle/>
          <a:p>
            <a:pPr>
              <a:defRPr sz="900" b="1">
                <a:solidFill>
                  <a:srgbClr val="4A5568"/>
                </a:solidFill>
                <a:latin typeface="Inter"/>
              </a:defRPr>
            </a:pPr>
            <a:r>
              <a:t>TOTAL VIEWS</a:t>
            </a:r>
          </a:p>
        </p:txBody>
      </p:sp>
      <p:sp>
        <p:nvSpPr>
          <p:cNvPr id="34" name="TextBox 33"/>
          <p:cNvSpPr txBox="1"/>
          <p:nvPr/>
        </p:nvSpPr>
        <p:spPr>
          <a:xfrm>
            <a:off x="7980882" y="3622852"/>
            <a:ext cx="3520440" cy="411480"/>
          </a:xfrm>
          <a:prstGeom prst="rect">
            <a:avLst/>
          </a:prstGeom>
          <a:noFill/>
        </p:spPr>
        <p:txBody>
          <a:bodyPr wrap="none">
            <a:spAutoFit/>
          </a:bodyPr>
          <a:lstStyle/>
          <a:p>
            <a:pPr>
              <a:defRPr sz="2800" b="1">
                <a:solidFill>
                  <a:srgbClr val="14B8A6"/>
                </a:solidFill>
                <a:latin typeface="Inter"/>
              </a:defRPr>
            </a:pPr>
            <a:r>
              <a:t>3</a:t>
            </a:r>
          </a:p>
        </p:txBody>
      </p:sp>
      <p:sp>
        <p:nvSpPr>
          <p:cNvPr id="35" name="TextBox 34"/>
          <p:cNvSpPr txBox="1"/>
          <p:nvPr/>
        </p:nvSpPr>
        <p:spPr>
          <a:xfrm>
            <a:off x="7980882" y="4034332"/>
            <a:ext cx="3520440" cy="228600"/>
          </a:xfrm>
          <a:prstGeom prst="rect">
            <a:avLst/>
          </a:prstGeom>
          <a:noFill/>
        </p:spPr>
        <p:txBody>
          <a:bodyPr wrap="none">
            <a:spAutoFit/>
          </a:bodyPr>
          <a:lstStyle/>
          <a:p>
            <a:pPr>
              <a:defRPr sz="900" b="1">
                <a:solidFill>
                  <a:srgbClr val="4A5568"/>
                </a:solidFill>
                <a:latin typeface="Inter"/>
              </a:defRPr>
            </a:pPr>
            <a:r>
              <a:t>BRANDS TRACKED</a:t>
            </a:r>
          </a:p>
        </p:txBody>
      </p:sp>
      <p:sp>
        <p:nvSpPr>
          <p:cNvPr id="36" name="TextBox 35"/>
          <p:cNvSpPr txBox="1"/>
          <p:nvPr/>
        </p:nvSpPr>
        <p:spPr>
          <a:xfrm>
            <a:off x="7980882" y="4400092"/>
            <a:ext cx="3520440" cy="411480"/>
          </a:xfrm>
          <a:prstGeom prst="rect">
            <a:avLst/>
          </a:prstGeom>
          <a:noFill/>
        </p:spPr>
        <p:txBody>
          <a:bodyPr wrap="none">
            <a:spAutoFit/>
          </a:bodyPr>
          <a:lstStyle/>
          <a:p>
            <a:pPr>
              <a:defRPr sz="2800" b="1">
                <a:solidFill>
                  <a:srgbClr val="14B8A6"/>
                </a:solidFill>
                <a:latin typeface="Inter"/>
              </a:defRPr>
            </a:pPr>
            <a:r>
              <a:t>248K</a:t>
            </a:r>
          </a:p>
        </p:txBody>
      </p:sp>
      <p:sp>
        <p:nvSpPr>
          <p:cNvPr id="37" name="TextBox 36"/>
          <p:cNvSpPr txBox="1"/>
          <p:nvPr/>
        </p:nvSpPr>
        <p:spPr>
          <a:xfrm>
            <a:off x="7980882" y="4811572"/>
            <a:ext cx="3520440" cy="228600"/>
          </a:xfrm>
          <a:prstGeom prst="rect">
            <a:avLst/>
          </a:prstGeom>
          <a:noFill/>
        </p:spPr>
        <p:txBody>
          <a:bodyPr wrap="none">
            <a:spAutoFit/>
          </a:bodyPr>
          <a:lstStyle/>
          <a:p>
            <a:pPr>
              <a:defRPr sz="900" b="1">
                <a:solidFill>
                  <a:srgbClr val="4A5568"/>
                </a:solidFill>
                <a:latin typeface="Inter"/>
              </a:defRPr>
            </a:pPr>
            <a:r>
              <a:t>AVG VIEWS/VIDEO</a:t>
            </a:r>
          </a:p>
        </p:txBody>
      </p:sp>
      <p:sp>
        <p:nvSpPr>
          <p:cNvPr id="38" name="TextBox 37"/>
          <p:cNvSpPr txBox="1"/>
          <p:nvPr/>
        </p:nvSpPr>
        <p:spPr>
          <a:xfrm>
            <a:off x="548640" y="6309360"/>
            <a:ext cx="11064240" cy="365760"/>
          </a:xfrm>
          <a:prstGeom prst="rect">
            <a:avLst/>
          </a:prstGeom>
          <a:noFill/>
          <a:ln w="25400">
            <a:solidFill>
              <a:srgbClr val="14B8A6"/>
            </a:solidFill>
          </a:ln>
        </p:spPr>
        <p:txBody>
          <a:bodyPr wrap="none">
            <a:spAutoFit/>
          </a:bodyPr>
          <a:lstStyle/>
          <a:p>
            <a:pPr>
              <a:defRPr sz="900" b="1">
                <a:solidFill>
                  <a:srgbClr val="6B7280"/>
                </a:solidFill>
                <a:latin typeface="Inter"/>
              </a:defRPr>
            </a:pPr>
            <a:r>
              <a:t>Source: Phase 2 Comprehensive Analysis | 193 YouTube Videos | Dataset Views: 47,916,814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61110" y="508406"/>
            <a:ext cx="11023092" cy="508406"/>
          </a:xfrm>
          <a:prstGeom prst="rect">
            <a:avLst/>
          </a:prstGeom>
          <a:noFill/>
        </p:spPr>
        <p:txBody>
          <a:bodyPr wrap="none">
            <a:spAutoFit/>
          </a:bodyPr>
          <a:lstStyle/>
          <a:p>
            <a:pPr>
              <a:defRPr sz="3300" b="1">
                <a:solidFill>
                  <a:srgbClr val="1A202C"/>
                </a:solidFill>
                <a:latin typeface="Inter"/>
              </a:defRPr>
            </a:pPr>
            <a:r>
              <a:t>Pain Point Analysis Across Brands—Command Surface Damage Crisis Revealed</a:t>
            </a:r>
          </a:p>
        </p:txBody>
      </p:sp>
      <p:sp>
        <p:nvSpPr>
          <p:cNvPr id="3" name="Rectangle 2"/>
          <p:cNvSpPr/>
          <p:nvPr/>
        </p:nvSpPr>
        <p:spPr>
          <a:xfrm>
            <a:off x="508406" y="508406"/>
            <a:ext cx="38404" cy="50840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8406" y="1321307"/>
            <a:ext cx="3047695" cy="634593"/>
          </a:xfrm>
          <a:prstGeom prst="roundRect">
            <a:avLst/>
          </a:prstGeom>
          <a:solidFill>
            <a:srgbClr val="2D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406" y="1321307"/>
            <a:ext cx="45720" cy="634593"/>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7006" y="1549907"/>
            <a:ext cx="2590495" cy="274320"/>
          </a:xfrm>
          <a:prstGeom prst="rect">
            <a:avLst/>
          </a:prstGeom>
          <a:noFill/>
        </p:spPr>
        <p:txBody>
          <a:bodyPr wrap="none">
            <a:spAutoFit/>
          </a:bodyPr>
          <a:lstStyle/>
          <a:p>
            <a:pPr>
              <a:defRPr sz="1000" b="1">
                <a:solidFill>
                  <a:srgbClr val="14B8A6"/>
                </a:solidFill>
                <a:latin typeface="Inter"/>
              </a:defRPr>
            </a:pPr>
            <a:r>
              <a:t>✱  THE PATTERN</a:t>
            </a:r>
          </a:p>
        </p:txBody>
      </p:sp>
      <p:sp>
        <p:nvSpPr>
          <p:cNvPr id="7" name="TextBox 6"/>
          <p:cNvSpPr txBox="1"/>
          <p:nvPr/>
        </p:nvSpPr>
        <p:spPr>
          <a:xfrm>
            <a:off x="737006" y="1869947"/>
            <a:ext cx="2590495" cy="-142647"/>
          </a:xfrm>
          <a:prstGeom prst="rect">
            <a:avLst/>
          </a:prstGeom>
          <a:noFill/>
        </p:spPr>
        <p:txBody>
          <a:bodyPr wrap="square">
            <a:spAutoFit/>
          </a:bodyPr>
          <a:lstStyle/>
          <a:p>
            <a:pPr>
              <a:lnSpc>
                <a:spcPct val="150000"/>
              </a:lnSpc>
              <a:defRPr sz="1100">
                <a:solidFill>
                  <a:srgbClr val="FFFFFF"/>
                </a:solidFill>
                <a:latin typeface="Inter"/>
              </a:defRPr>
            </a:pPr>
            <a:r>
              <a:t>Surface damage is the #1 pain point across all brands (severity 50), appearing in 37 videos. Command shows highest severity (22) despite 'damage-free' positioning. Durability issues rank #2 (severity 34) with Scotch showing highest concern (14).</a:t>
            </a:r>
          </a:p>
        </p:txBody>
      </p:sp>
      <p:sp>
        <p:nvSpPr>
          <p:cNvPr id="8" name="Rounded Rectangle 7"/>
          <p:cNvSpPr/>
          <p:nvPr/>
        </p:nvSpPr>
        <p:spPr>
          <a:xfrm>
            <a:off x="508406" y="2108605"/>
            <a:ext cx="3047695" cy="634593"/>
          </a:xfrm>
          <a:prstGeom prst="roundRect">
            <a:avLst/>
          </a:prstGeom>
          <a:solidFill>
            <a:srgbClr val="2D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8406" y="2108605"/>
            <a:ext cx="45720" cy="634593"/>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7006" y="2337205"/>
            <a:ext cx="2590495" cy="274320"/>
          </a:xfrm>
          <a:prstGeom prst="rect">
            <a:avLst/>
          </a:prstGeom>
          <a:noFill/>
        </p:spPr>
        <p:txBody>
          <a:bodyPr wrap="none">
            <a:spAutoFit/>
          </a:bodyPr>
          <a:lstStyle/>
          <a:p>
            <a:pPr>
              <a:defRPr sz="1000" b="1">
                <a:solidFill>
                  <a:srgbClr val="14B8A6"/>
                </a:solidFill>
                <a:latin typeface="Inter"/>
              </a:defRPr>
            </a:pPr>
            <a:r>
              <a:t>✱  INSIGHT</a:t>
            </a:r>
          </a:p>
        </p:txBody>
      </p:sp>
      <p:sp>
        <p:nvSpPr>
          <p:cNvPr id="11" name="TextBox 10"/>
          <p:cNvSpPr txBox="1"/>
          <p:nvPr/>
        </p:nvSpPr>
        <p:spPr>
          <a:xfrm>
            <a:off x="737006" y="2657245"/>
            <a:ext cx="2590495" cy="-142647"/>
          </a:xfrm>
          <a:prstGeom prst="rect">
            <a:avLst/>
          </a:prstGeom>
          <a:noFill/>
        </p:spPr>
        <p:txBody>
          <a:bodyPr wrap="square">
            <a:spAutoFit/>
          </a:bodyPr>
          <a:lstStyle/>
          <a:p>
            <a:pPr>
              <a:lnSpc>
                <a:spcPct val="150000"/>
              </a:lnSpc>
              <a:defRPr sz="1100">
                <a:solidFill>
                  <a:srgbClr val="FFFFFF"/>
                </a:solidFill>
                <a:latin typeface="Inter"/>
              </a:defRPr>
            </a:pPr>
            <a:r>
              <a:t>Command's damage severity creates brand crisis—users specifically choose Command to avoid damage, so failures feel like product betrayal. 2.4:1 damage-to-benefit ratio inverts marketing promise.</a:t>
            </a:r>
          </a:p>
        </p:txBody>
      </p:sp>
      <p:sp>
        <p:nvSpPr>
          <p:cNvPr id="12" name="Rounded Rectangle 11"/>
          <p:cNvSpPr/>
          <p:nvPr/>
        </p:nvSpPr>
        <p:spPr>
          <a:xfrm>
            <a:off x="508406" y="2895903"/>
            <a:ext cx="3047695" cy="698601"/>
          </a:xfrm>
          <a:prstGeom prst="roundRect">
            <a:avLst/>
          </a:prstGeom>
          <a:solidFill>
            <a:srgbClr val="2D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8406" y="2895903"/>
            <a:ext cx="45720" cy="698601"/>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7006" y="3124503"/>
            <a:ext cx="2590495" cy="274320"/>
          </a:xfrm>
          <a:prstGeom prst="rect">
            <a:avLst/>
          </a:prstGeom>
          <a:noFill/>
        </p:spPr>
        <p:txBody>
          <a:bodyPr wrap="none">
            <a:spAutoFit/>
          </a:bodyPr>
          <a:lstStyle/>
          <a:p>
            <a:pPr>
              <a:defRPr sz="1000" b="1">
                <a:solidFill>
                  <a:srgbClr val="14B8A6"/>
                </a:solidFill>
                <a:latin typeface="Inter"/>
              </a:defRPr>
            </a:pPr>
            <a:r>
              <a:t>✱  HARD TRUTH</a:t>
            </a:r>
          </a:p>
        </p:txBody>
      </p:sp>
      <p:sp>
        <p:nvSpPr>
          <p:cNvPr id="15" name="TextBox 14"/>
          <p:cNvSpPr txBox="1"/>
          <p:nvPr/>
        </p:nvSpPr>
        <p:spPr>
          <a:xfrm>
            <a:off x="737006" y="3444543"/>
            <a:ext cx="2590495" cy="-78639"/>
          </a:xfrm>
          <a:prstGeom prst="rect">
            <a:avLst/>
          </a:prstGeom>
          <a:noFill/>
        </p:spPr>
        <p:txBody>
          <a:bodyPr wrap="square">
            <a:spAutoFit/>
          </a:bodyPr>
          <a:lstStyle/>
          <a:p>
            <a:pPr>
              <a:lnSpc>
                <a:spcPct val="150000"/>
              </a:lnSpc>
              <a:defRPr sz="1100">
                <a:solidFill>
                  <a:srgbClr val="FFFFFF"/>
                </a:solidFill>
                <a:latin typeface="Inter"/>
              </a:defRPr>
            </a:pPr>
            <a:r>
              <a:t>Command cannot sustain premium pricing while damage complaints exceed benefits by 2.4:1. Either fix product quality (adhesive formulation) or transparently communicate surface limitations. Current gap between promise and reality destroys trust.</a:t>
            </a:r>
          </a:p>
        </p:txBody>
      </p:sp>
      <p:sp>
        <p:nvSpPr>
          <p:cNvPr id="16" name="Rounded Rectangle 15"/>
          <p:cNvSpPr/>
          <p:nvPr/>
        </p:nvSpPr>
        <p:spPr>
          <a:xfrm>
            <a:off x="3861510" y="1474012"/>
            <a:ext cx="8331098" cy="2222906"/>
          </a:xfrm>
          <a:prstGeom prst="roundRect">
            <a:avLst/>
          </a:prstGeom>
          <a:solidFill>
            <a:srgbClr val="FFFFFF"/>
          </a:solidFill>
          <a:ln w="254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861510" y="1474012"/>
            <a:ext cx="8331098" cy="320040"/>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44390" y="1547164"/>
            <a:ext cx="7965338" cy="182880"/>
          </a:xfrm>
          <a:prstGeom prst="rect">
            <a:avLst/>
          </a:prstGeom>
          <a:noFill/>
        </p:spPr>
        <p:txBody>
          <a:bodyPr wrap="none">
            <a:spAutoFit/>
          </a:bodyPr>
          <a:lstStyle/>
          <a:p>
            <a:pPr>
              <a:defRPr sz="1100" b="1">
                <a:solidFill>
                  <a:srgbClr val="FFFFFF"/>
                </a:solidFill>
                <a:latin typeface="Inter"/>
              </a:defRPr>
            </a:pPr>
            <a:r>
              <a:t>COMPLETE PAIN POINT SUMMARY</a:t>
            </a:r>
          </a:p>
        </p:txBody>
      </p:sp>
      <p:sp>
        <p:nvSpPr>
          <p:cNvPr id="19" name="TextBox 18"/>
          <p:cNvSpPr txBox="1"/>
          <p:nvPr/>
        </p:nvSpPr>
        <p:spPr>
          <a:xfrm>
            <a:off x="3998670" y="1885492"/>
            <a:ext cx="1645920" cy="228600"/>
          </a:xfrm>
          <a:prstGeom prst="rect">
            <a:avLst/>
          </a:prstGeom>
          <a:noFill/>
        </p:spPr>
        <p:txBody>
          <a:bodyPr wrap="none">
            <a:spAutoFit/>
          </a:bodyPr>
          <a:lstStyle/>
          <a:p>
            <a:pPr>
              <a:defRPr sz="800" b="1">
                <a:solidFill>
                  <a:srgbClr val="2D3748"/>
                </a:solidFill>
                <a:latin typeface="Inter"/>
              </a:defRPr>
            </a:pPr>
            <a:r>
              <a:t>PAIN POINT</a:t>
            </a:r>
          </a:p>
        </p:txBody>
      </p:sp>
      <p:sp>
        <p:nvSpPr>
          <p:cNvPr id="20" name="TextBox 19"/>
          <p:cNvSpPr txBox="1"/>
          <p:nvPr/>
        </p:nvSpPr>
        <p:spPr>
          <a:xfrm>
            <a:off x="5644590" y="1885492"/>
            <a:ext cx="640080" cy="228600"/>
          </a:xfrm>
          <a:prstGeom prst="rect">
            <a:avLst/>
          </a:prstGeom>
          <a:noFill/>
        </p:spPr>
        <p:txBody>
          <a:bodyPr wrap="none">
            <a:spAutoFit/>
          </a:bodyPr>
          <a:lstStyle/>
          <a:p>
            <a:pPr algn="ctr">
              <a:defRPr sz="800" b="1">
                <a:solidFill>
                  <a:srgbClr val="2D3748"/>
                </a:solidFill>
                <a:latin typeface="Inter"/>
              </a:defRPr>
            </a:pPr>
            <a:r>
              <a:t>VIDEOS</a:t>
            </a:r>
          </a:p>
        </p:txBody>
      </p:sp>
      <p:sp>
        <p:nvSpPr>
          <p:cNvPr id="21" name="TextBox 20"/>
          <p:cNvSpPr txBox="1"/>
          <p:nvPr/>
        </p:nvSpPr>
        <p:spPr>
          <a:xfrm>
            <a:off x="6284670" y="1885492"/>
            <a:ext cx="731520" cy="228600"/>
          </a:xfrm>
          <a:prstGeom prst="rect">
            <a:avLst/>
          </a:prstGeom>
          <a:noFill/>
        </p:spPr>
        <p:txBody>
          <a:bodyPr wrap="none">
            <a:spAutoFit/>
          </a:bodyPr>
          <a:lstStyle/>
          <a:p>
            <a:pPr algn="ctr">
              <a:defRPr sz="800" b="1">
                <a:solidFill>
                  <a:srgbClr val="2D3748"/>
                </a:solidFill>
                <a:latin typeface="Inter"/>
              </a:defRPr>
            </a:pPr>
            <a:r>
              <a:t>TOTAL SEV</a:t>
            </a:r>
          </a:p>
        </p:txBody>
      </p:sp>
      <p:sp>
        <p:nvSpPr>
          <p:cNvPr id="22" name="TextBox 21"/>
          <p:cNvSpPr txBox="1"/>
          <p:nvPr/>
        </p:nvSpPr>
        <p:spPr>
          <a:xfrm>
            <a:off x="7016190" y="1885492"/>
            <a:ext cx="640080" cy="228600"/>
          </a:xfrm>
          <a:prstGeom prst="rect">
            <a:avLst/>
          </a:prstGeom>
          <a:noFill/>
        </p:spPr>
        <p:txBody>
          <a:bodyPr wrap="none">
            <a:spAutoFit/>
          </a:bodyPr>
          <a:lstStyle/>
          <a:p>
            <a:pPr algn="ctr">
              <a:defRPr sz="800" b="1">
                <a:solidFill>
                  <a:srgbClr val="2D3748"/>
                </a:solidFill>
                <a:latin typeface="Inter"/>
              </a:defRPr>
            </a:pPr>
            <a:r>
              <a:t>SEV/VID</a:t>
            </a:r>
          </a:p>
        </p:txBody>
      </p:sp>
      <p:sp>
        <p:nvSpPr>
          <p:cNvPr id="23" name="TextBox 22"/>
          <p:cNvSpPr txBox="1"/>
          <p:nvPr/>
        </p:nvSpPr>
        <p:spPr>
          <a:xfrm>
            <a:off x="7656270" y="1885492"/>
            <a:ext cx="822960" cy="228600"/>
          </a:xfrm>
          <a:prstGeom prst="rect">
            <a:avLst/>
          </a:prstGeom>
          <a:noFill/>
        </p:spPr>
        <p:txBody>
          <a:bodyPr wrap="none">
            <a:spAutoFit/>
          </a:bodyPr>
          <a:lstStyle/>
          <a:p>
            <a:pPr algn="ctr">
              <a:defRPr sz="800" b="1">
                <a:solidFill>
                  <a:srgbClr val="2D3748"/>
                </a:solidFill>
                <a:latin typeface="Inter"/>
              </a:defRPr>
            </a:pPr>
            <a:r>
              <a:t>COMMAND</a:t>
            </a:r>
          </a:p>
        </p:txBody>
      </p:sp>
      <p:sp>
        <p:nvSpPr>
          <p:cNvPr id="24" name="TextBox 23"/>
          <p:cNvSpPr txBox="1"/>
          <p:nvPr/>
        </p:nvSpPr>
        <p:spPr>
          <a:xfrm>
            <a:off x="8479230" y="1885492"/>
            <a:ext cx="731520" cy="228600"/>
          </a:xfrm>
          <a:prstGeom prst="rect">
            <a:avLst/>
          </a:prstGeom>
          <a:noFill/>
        </p:spPr>
        <p:txBody>
          <a:bodyPr wrap="none">
            <a:spAutoFit/>
          </a:bodyPr>
          <a:lstStyle/>
          <a:p>
            <a:pPr algn="ctr">
              <a:defRPr sz="800" b="1">
                <a:solidFill>
                  <a:srgbClr val="2D3748"/>
                </a:solidFill>
                <a:latin typeface="Inter"/>
              </a:defRPr>
            </a:pPr>
            <a:r>
              <a:t>SCOTCH</a:t>
            </a:r>
          </a:p>
        </p:txBody>
      </p:sp>
      <p:sp>
        <p:nvSpPr>
          <p:cNvPr id="25" name="TextBox 24"/>
          <p:cNvSpPr txBox="1"/>
          <p:nvPr/>
        </p:nvSpPr>
        <p:spPr>
          <a:xfrm>
            <a:off x="9210750" y="1885492"/>
            <a:ext cx="822960" cy="228600"/>
          </a:xfrm>
          <a:prstGeom prst="rect">
            <a:avLst/>
          </a:prstGeom>
          <a:noFill/>
        </p:spPr>
        <p:txBody>
          <a:bodyPr wrap="none">
            <a:spAutoFit/>
          </a:bodyPr>
          <a:lstStyle/>
          <a:p>
            <a:pPr algn="ctr">
              <a:defRPr sz="800" b="1">
                <a:solidFill>
                  <a:srgbClr val="2D3748"/>
                </a:solidFill>
                <a:latin typeface="Inter"/>
              </a:defRPr>
            </a:pPr>
            <a:r>
              <a:t>3M CLAW</a:t>
            </a:r>
          </a:p>
        </p:txBody>
      </p:sp>
      <p:sp>
        <p:nvSpPr>
          <p:cNvPr id="26" name="TextBox 25"/>
          <p:cNvSpPr txBox="1"/>
          <p:nvPr/>
        </p:nvSpPr>
        <p:spPr>
          <a:xfrm>
            <a:off x="3998670" y="2187244"/>
            <a:ext cx="1645920" cy="256032"/>
          </a:xfrm>
          <a:prstGeom prst="rect">
            <a:avLst/>
          </a:prstGeom>
          <a:noFill/>
        </p:spPr>
        <p:txBody>
          <a:bodyPr wrap="none">
            <a:spAutoFit/>
          </a:bodyPr>
          <a:lstStyle/>
          <a:p>
            <a:pPr>
              <a:defRPr sz="900" b="1">
                <a:solidFill>
                  <a:srgbClr val="2D3748"/>
                </a:solidFill>
                <a:latin typeface="Inter"/>
              </a:defRPr>
            </a:pPr>
            <a:r>
              <a:t>Surface Damage</a:t>
            </a:r>
          </a:p>
        </p:txBody>
      </p:sp>
      <p:sp>
        <p:nvSpPr>
          <p:cNvPr id="27" name="TextBox 26"/>
          <p:cNvSpPr txBox="1"/>
          <p:nvPr/>
        </p:nvSpPr>
        <p:spPr>
          <a:xfrm>
            <a:off x="5644590" y="2187244"/>
            <a:ext cx="640080" cy="256032"/>
          </a:xfrm>
          <a:prstGeom prst="rect">
            <a:avLst/>
          </a:prstGeom>
          <a:noFill/>
        </p:spPr>
        <p:txBody>
          <a:bodyPr wrap="none">
            <a:spAutoFit/>
          </a:bodyPr>
          <a:lstStyle/>
          <a:p>
            <a:pPr algn="ctr">
              <a:defRPr sz="900" b="1">
                <a:solidFill>
                  <a:srgbClr val="DC2626"/>
                </a:solidFill>
                <a:latin typeface="Inter"/>
              </a:defRPr>
            </a:pPr>
            <a:r>
              <a:t>37</a:t>
            </a:r>
          </a:p>
        </p:txBody>
      </p:sp>
      <p:sp>
        <p:nvSpPr>
          <p:cNvPr id="28" name="TextBox 27"/>
          <p:cNvSpPr txBox="1"/>
          <p:nvPr/>
        </p:nvSpPr>
        <p:spPr>
          <a:xfrm>
            <a:off x="6284670" y="2187244"/>
            <a:ext cx="731520" cy="256032"/>
          </a:xfrm>
          <a:prstGeom prst="rect">
            <a:avLst/>
          </a:prstGeom>
          <a:noFill/>
        </p:spPr>
        <p:txBody>
          <a:bodyPr wrap="none">
            <a:spAutoFit/>
          </a:bodyPr>
          <a:lstStyle/>
          <a:p>
            <a:pPr algn="ctr">
              <a:defRPr sz="900" b="1">
                <a:solidFill>
                  <a:srgbClr val="1A202C"/>
                </a:solidFill>
                <a:latin typeface="Inter"/>
              </a:defRPr>
            </a:pPr>
            <a:r>
              <a:t>50</a:t>
            </a:r>
          </a:p>
        </p:txBody>
      </p:sp>
      <p:sp>
        <p:nvSpPr>
          <p:cNvPr id="29" name="TextBox 28"/>
          <p:cNvSpPr txBox="1"/>
          <p:nvPr/>
        </p:nvSpPr>
        <p:spPr>
          <a:xfrm>
            <a:off x="7016190" y="2187244"/>
            <a:ext cx="640080" cy="256032"/>
          </a:xfrm>
          <a:prstGeom prst="rect">
            <a:avLst/>
          </a:prstGeom>
          <a:noFill/>
        </p:spPr>
        <p:txBody>
          <a:bodyPr wrap="none">
            <a:spAutoFit/>
          </a:bodyPr>
          <a:lstStyle/>
          <a:p>
            <a:pPr algn="ctr">
              <a:defRPr sz="900" b="1">
                <a:solidFill>
                  <a:srgbClr val="1A202C"/>
                </a:solidFill>
                <a:latin typeface="Inter"/>
              </a:defRPr>
            </a:pPr>
            <a:r>
              <a:t>1.4</a:t>
            </a:r>
          </a:p>
        </p:txBody>
      </p:sp>
      <p:sp>
        <p:nvSpPr>
          <p:cNvPr id="30" name="TextBox 29"/>
          <p:cNvSpPr txBox="1"/>
          <p:nvPr/>
        </p:nvSpPr>
        <p:spPr>
          <a:xfrm>
            <a:off x="7656270" y="2187244"/>
            <a:ext cx="822960" cy="256032"/>
          </a:xfrm>
          <a:prstGeom prst="rect">
            <a:avLst/>
          </a:prstGeom>
          <a:noFill/>
        </p:spPr>
        <p:txBody>
          <a:bodyPr wrap="none">
            <a:spAutoFit/>
          </a:bodyPr>
          <a:lstStyle/>
          <a:p>
            <a:pPr algn="ctr">
              <a:defRPr sz="900" b="1">
                <a:solidFill>
                  <a:srgbClr val="1A202C"/>
                </a:solidFill>
                <a:latin typeface="Inter"/>
              </a:defRPr>
            </a:pPr>
            <a:r>
              <a:t>22</a:t>
            </a:r>
          </a:p>
        </p:txBody>
      </p:sp>
      <p:sp>
        <p:nvSpPr>
          <p:cNvPr id="31" name="TextBox 30"/>
          <p:cNvSpPr txBox="1"/>
          <p:nvPr/>
        </p:nvSpPr>
        <p:spPr>
          <a:xfrm>
            <a:off x="8479230" y="2187244"/>
            <a:ext cx="731520" cy="256032"/>
          </a:xfrm>
          <a:prstGeom prst="rect">
            <a:avLst/>
          </a:prstGeom>
          <a:noFill/>
        </p:spPr>
        <p:txBody>
          <a:bodyPr wrap="none">
            <a:spAutoFit/>
          </a:bodyPr>
          <a:lstStyle/>
          <a:p>
            <a:pPr algn="ctr">
              <a:defRPr sz="900" b="1">
                <a:solidFill>
                  <a:srgbClr val="1A202C"/>
                </a:solidFill>
                <a:latin typeface="Inter"/>
              </a:defRPr>
            </a:pPr>
            <a:r>
              <a:t>16</a:t>
            </a:r>
          </a:p>
        </p:txBody>
      </p:sp>
      <p:sp>
        <p:nvSpPr>
          <p:cNvPr id="32" name="TextBox 31"/>
          <p:cNvSpPr txBox="1"/>
          <p:nvPr/>
        </p:nvSpPr>
        <p:spPr>
          <a:xfrm>
            <a:off x="9210750" y="2187244"/>
            <a:ext cx="822960" cy="256032"/>
          </a:xfrm>
          <a:prstGeom prst="rect">
            <a:avLst/>
          </a:prstGeom>
          <a:noFill/>
        </p:spPr>
        <p:txBody>
          <a:bodyPr wrap="none">
            <a:spAutoFit/>
          </a:bodyPr>
          <a:lstStyle/>
          <a:p>
            <a:pPr algn="ctr">
              <a:defRPr sz="900" b="1">
                <a:solidFill>
                  <a:srgbClr val="1A202C"/>
                </a:solidFill>
                <a:latin typeface="Inter"/>
              </a:defRPr>
            </a:pPr>
            <a:r>
              <a:t>12</a:t>
            </a:r>
          </a:p>
        </p:txBody>
      </p:sp>
      <p:sp>
        <p:nvSpPr>
          <p:cNvPr id="33" name="TextBox 32"/>
          <p:cNvSpPr txBox="1"/>
          <p:nvPr/>
        </p:nvSpPr>
        <p:spPr>
          <a:xfrm>
            <a:off x="3998670" y="2507284"/>
            <a:ext cx="1645920" cy="256032"/>
          </a:xfrm>
          <a:prstGeom prst="rect">
            <a:avLst/>
          </a:prstGeom>
          <a:noFill/>
        </p:spPr>
        <p:txBody>
          <a:bodyPr wrap="none">
            <a:spAutoFit/>
          </a:bodyPr>
          <a:lstStyle/>
          <a:p>
            <a:pPr>
              <a:defRPr sz="900" b="1">
                <a:solidFill>
                  <a:srgbClr val="2D3748"/>
                </a:solidFill>
                <a:latin typeface="Inter"/>
              </a:defRPr>
            </a:pPr>
            <a:r>
              <a:t>Durability Issues</a:t>
            </a:r>
          </a:p>
        </p:txBody>
      </p:sp>
      <p:sp>
        <p:nvSpPr>
          <p:cNvPr id="34" name="TextBox 33"/>
          <p:cNvSpPr txBox="1"/>
          <p:nvPr/>
        </p:nvSpPr>
        <p:spPr>
          <a:xfrm>
            <a:off x="5644590" y="2507284"/>
            <a:ext cx="640080" cy="256032"/>
          </a:xfrm>
          <a:prstGeom prst="rect">
            <a:avLst/>
          </a:prstGeom>
          <a:noFill/>
        </p:spPr>
        <p:txBody>
          <a:bodyPr wrap="none">
            <a:spAutoFit/>
          </a:bodyPr>
          <a:lstStyle/>
          <a:p>
            <a:pPr algn="ctr">
              <a:defRPr sz="900" b="1">
                <a:solidFill>
                  <a:srgbClr val="F59E0B"/>
                </a:solidFill>
                <a:latin typeface="Inter"/>
              </a:defRPr>
            </a:pPr>
            <a:r>
              <a:t>26</a:t>
            </a:r>
          </a:p>
        </p:txBody>
      </p:sp>
      <p:sp>
        <p:nvSpPr>
          <p:cNvPr id="35" name="TextBox 34"/>
          <p:cNvSpPr txBox="1"/>
          <p:nvPr/>
        </p:nvSpPr>
        <p:spPr>
          <a:xfrm>
            <a:off x="6284670" y="2507284"/>
            <a:ext cx="731520" cy="256032"/>
          </a:xfrm>
          <a:prstGeom prst="rect">
            <a:avLst/>
          </a:prstGeom>
          <a:noFill/>
        </p:spPr>
        <p:txBody>
          <a:bodyPr wrap="none">
            <a:spAutoFit/>
          </a:bodyPr>
          <a:lstStyle/>
          <a:p>
            <a:pPr algn="ctr">
              <a:defRPr sz="900" b="1">
                <a:solidFill>
                  <a:srgbClr val="1A202C"/>
                </a:solidFill>
                <a:latin typeface="Inter"/>
              </a:defRPr>
            </a:pPr>
            <a:r>
              <a:t>34</a:t>
            </a:r>
          </a:p>
        </p:txBody>
      </p:sp>
      <p:sp>
        <p:nvSpPr>
          <p:cNvPr id="36" name="TextBox 35"/>
          <p:cNvSpPr txBox="1"/>
          <p:nvPr/>
        </p:nvSpPr>
        <p:spPr>
          <a:xfrm>
            <a:off x="7016190" y="2507284"/>
            <a:ext cx="640080" cy="256032"/>
          </a:xfrm>
          <a:prstGeom prst="rect">
            <a:avLst/>
          </a:prstGeom>
          <a:noFill/>
        </p:spPr>
        <p:txBody>
          <a:bodyPr wrap="none">
            <a:spAutoFit/>
          </a:bodyPr>
          <a:lstStyle/>
          <a:p>
            <a:pPr algn="ctr">
              <a:defRPr sz="900" b="1">
                <a:solidFill>
                  <a:srgbClr val="1A202C"/>
                </a:solidFill>
                <a:latin typeface="Inter"/>
              </a:defRPr>
            </a:pPr>
            <a:r>
              <a:t>1.3</a:t>
            </a:r>
          </a:p>
        </p:txBody>
      </p:sp>
      <p:sp>
        <p:nvSpPr>
          <p:cNvPr id="37" name="TextBox 36"/>
          <p:cNvSpPr txBox="1"/>
          <p:nvPr/>
        </p:nvSpPr>
        <p:spPr>
          <a:xfrm>
            <a:off x="7656270" y="2507284"/>
            <a:ext cx="822960" cy="256032"/>
          </a:xfrm>
          <a:prstGeom prst="rect">
            <a:avLst/>
          </a:prstGeom>
          <a:noFill/>
        </p:spPr>
        <p:txBody>
          <a:bodyPr wrap="none">
            <a:spAutoFit/>
          </a:bodyPr>
          <a:lstStyle/>
          <a:p>
            <a:pPr algn="ctr">
              <a:defRPr sz="900" b="1">
                <a:solidFill>
                  <a:srgbClr val="1A202C"/>
                </a:solidFill>
                <a:latin typeface="Inter"/>
              </a:defRPr>
            </a:pPr>
            <a:r>
              <a:t>10</a:t>
            </a:r>
          </a:p>
        </p:txBody>
      </p:sp>
      <p:sp>
        <p:nvSpPr>
          <p:cNvPr id="38" name="TextBox 37"/>
          <p:cNvSpPr txBox="1"/>
          <p:nvPr/>
        </p:nvSpPr>
        <p:spPr>
          <a:xfrm>
            <a:off x="8479230" y="2507284"/>
            <a:ext cx="731520" cy="256032"/>
          </a:xfrm>
          <a:prstGeom prst="rect">
            <a:avLst/>
          </a:prstGeom>
          <a:noFill/>
        </p:spPr>
        <p:txBody>
          <a:bodyPr wrap="none">
            <a:spAutoFit/>
          </a:bodyPr>
          <a:lstStyle/>
          <a:p>
            <a:pPr algn="ctr">
              <a:defRPr sz="900" b="1">
                <a:solidFill>
                  <a:srgbClr val="1A202C"/>
                </a:solidFill>
                <a:latin typeface="Inter"/>
              </a:defRPr>
            </a:pPr>
            <a:r>
              <a:t>14</a:t>
            </a:r>
          </a:p>
        </p:txBody>
      </p:sp>
      <p:sp>
        <p:nvSpPr>
          <p:cNvPr id="39" name="TextBox 38"/>
          <p:cNvSpPr txBox="1"/>
          <p:nvPr/>
        </p:nvSpPr>
        <p:spPr>
          <a:xfrm>
            <a:off x="9210750" y="2507284"/>
            <a:ext cx="822960" cy="256032"/>
          </a:xfrm>
          <a:prstGeom prst="rect">
            <a:avLst/>
          </a:prstGeom>
          <a:noFill/>
        </p:spPr>
        <p:txBody>
          <a:bodyPr wrap="none">
            <a:spAutoFit/>
          </a:bodyPr>
          <a:lstStyle/>
          <a:p>
            <a:pPr algn="ctr">
              <a:defRPr sz="900" b="1">
                <a:solidFill>
                  <a:srgbClr val="1A202C"/>
                </a:solidFill>
                <a:latin typeface="Inter"/>
              </a:defRPr>
            </a:pPr>
            <a:r>
              <a:t>10</a:t>
            </a:r>
          </a:p>
        </p:txBody>
      </p:sp>
      <p:sp>
        <p:nvSpPr>
          <p:cNvPr id="40" name="TextBox 39"/>
          <p:cNvSpPr txBox="1"/>
          <p:nvPr/>
        </p:nvSpPr>
        <p:spPr>
          <a:xfrm>
            <a:off x="3998670" y="2827324"/>
            <a:ext cx="1645920" cy="256032"/>
          </a:xfrm>
          <a:prstGeom prst="rect">
            <a:avLst/>
          </a:prstGeom>
          <a:noFill/>
        </p:spPr>
        <p:txBody>
          <a:bodyPr wrap="none">
            <a:spAutoFit/>
          </a:bodyPr>
          <a:lstStyle/>
          <a:p>
            <a:pPr>
              <a:defRPr sz="900" b="1">
                <a:solidFill>
                  <a:srgbClr val="2D3748"/>
                </a:solidFill>
                <a:latin typeface="Inter"/>
              </a:defRPr>
            </a:pPr>
            <a:r>
              <a:t>Temperature Sensitive</a:t>
            </a:r>
          </a:p>
        </p:txBody>
      </p:sp>
      <p:sp>
        <p:nvSpPr>
          <p:cNvPr id="41" name="TextBox 40"/>
          <p:cNvSpPr txBox="1"/>
          <p:nvPr/>
        </p:nvSpPr>
        <p:spPr>
          <a:xfrm>
            <a:off x="5644590" y="2827324"/>
            <a:ext cx="640080" cy="256032"/>
          </a:xfrm>
          <a:prstGeom prst="rect">
            <a:avLst/>
          </a:prstGeom>
          <a:noFill/>
        </p:spPr>
        <p:txBody>
          <a:bodyPr wrap="none">
            <a:spAutoFit/>
          </a:bodyPr>
          <a:lstStyle/>
          <a:p>
            <a:pPr algn="ctr">
              <a:defRPr sz="900" b="1">
                <a:solidFill>
                  <a:srgbClr val="F59E0B"/>
                </a:solidFill>
                <a:latin typeface="Inter"/>
              </a:defRPr>
            </a:pPr>
            <a:r>
              <a:t>13</a:t>
            </a:r>
          </a:p>
        </p:txBody>
      </p:sp>
      <p:sp>
        <p:nvSpPr>
          <p:cNvPr id="42" name="TextBox 41"/>
          <p:cNvSpPr txBox="1"/>
          <p:nvPr/>
        </p:nvSpPr>
        <p:spPr>
          <a:xfrm>
            <a:off x="6284670" y="2827324"/>
            <a:ext cx="731520" cy="256032"/>
          </a:xfrm>
          <a:prstGeom prst="rect">
            <a:avLst/>
          </a:prstGeom>
          <a:noFill/>
        </p:spPr>
        <p:txBody>
          <a:bodyPr wrap="none">
            <a:spAutoFit/>
          </a:bodyPr>
          <a:lstStyle/>
          <a:p>
            <a:pPr algn="ctr">
              <a:defRPr sz="900" b="1">
                <a:solidFill>
                  <a:srgbClr val="1A202C"/>
                </a:solidFill>
                <a:latin typeface="Inter"/>
              </a:defRPr>
            </a:pPr>
            <a:r>
              <a:t>15</a:t>
            </a:r>
          </a:p>
        </p:txBody>
      </p:sp>
      <p:sp>
        <p:nvSpPr>
          <p:cNvPr id="43" name="TextBox 42"/>
          <p:cNvSpPr txBox="1"/>
          <p:nvPr/>
        </p:nvSpPr>
        <p:spPr>
          <a:xfrm>
            <a:off x="7016190" y="2827324"/>
            <a:ext cx="640080" cy="256032"/>
          </a:xfrm>
          <a:prstGeom prst="rect">
            <a:avLst/>
          </a:prstGeom>
          <a:noFill/>
        </p:spPr>
        <p:txBody>
          <a:bodyPr wrap="none">
            <a:spAutoFit/>
          </a:bodyPr>
          <a:lstStyle/>
          <a:p>
            <a:pPr algn="ctr">
              <a:defRPr sz="900" b="1">
                <a:solidFill>
                  <a:srgbClr val="1A202C"/>
                </a:solidFill>
                <a:latin typeface="Inter"/>
              </a:defRPr>
            </a:pPr>
            <a:r>
              <a:t>1.2</a:t>
            </a:r>
          </a:p>
        </p:txBody>
      </p:sp>
      <p:sp>
        <p:nvSpPr>
          <p:cNvPr id="44" name="TextBox 43"/>
          <p:cNvSpPr txBox="1"/>
          <p:nvPr/>
        </p:nvSpPr>
        <p:spPr>
          <a:xfrm>
            <a:off x="7656270" y="2827324"/>
            <a:ext cx="822960" cy="256032"/>
          </a:xfrm>
          <a:prstGeom prst="rect">
            <a:avLst/>
          </a:prstGeom>
          <a:noFill/>
        </p:spPr>
        <p:txBody>
          <a:bodyPr wrap="none">
            <a:spAutoFit/>
          </a:bodyPr>
          <a:lstStyle/>
          <a:p>
            <a:pPr algn="ctr">
              <a:defRPr sz="900" b="1">
                <a:solidFill>
                  <a:srgbClr val="1A202C"/>
                </a:solidFill>
                <a:latin typeface="Inter"/>
              </a:defRPr>
            </a:pPr>
            <a:r>
              <a:t>1</a:t>
            </a:r>
          </a:p>
        </p:txBody>
      </p:sp>
      <p:sp>
        <p:nvSpPr>
          <p:cNvPr id="45" name="TextBox 44"/>
          <p:cNvSpPr txBox="1"/>
          <p:nvPr/>
        </p:nvSpPr>
        <p:spPr>
          <a:xfrm>
            <a:off x="8479230" y="2827324"/>
            <a:ext cx="731520" cy="256032"/>
          </a:xfrm>
          <a:prstGeom prst="rect">
            <a:avLst/>
          </a:prstGeom>
          <a:noFill/>
        </p:spPr>
        <p:txBody>
          <a:bodyPr wrap="none">
            <a:spAutoFit/>
          </a:bodyPr>
          <a:lstStyle/>
          <a:p>
            <a:pPr algn="ctr">
              <a:defRPr sz="900" b="1">
                <a:solidFill>
                  <a:srgbClr val="1A202C"/>
                </a:solidFill>
                <a:latin typeface="Inter"/>
              </a:defRPr>
            </a:pPr>
            <a:r>
              <a:t>13</a:t>
            </a:r>
          </a:p>
        </p:txBody>
      </p:sp>
      <p:sp>
        <p:nvSpPr>
          <p:cNvPr id="46" name="TextBox 45"/>
          <p:cNvSpPr txBox="1"/>
          <p:nvPr/>
        </p:nvSpPr>
        <p:spPr>
          <a:xfrm>
            <a:off x="9210750" y="2827324"/>
            <a:ext cx="822960" cy="256032"/>
          </a:xfrm>
          <a:prstGeom prst="rect">
            <a:avLst/>
          </a:prstGeom>
          <a:noFill/>
        </p:spPr>
        <p:txBody>
          <a:bodyPr wrap="none">
            <a:spAutoFit/>
          </a:bodyPr>
          <a:lstStyle/>
          <a:p>
            <a:pPr algn="ctr">
              <a:defRPr sz="900" b="1">
                <a:solidFill>
                  <a:srgbClr val="1A202C"/>
                </a:solidFill>
                <a:latin typeface="Inter"/>
              </a:defRPr>
            </a:pPr>
            <a:r>
              <a:t>1</a:t>
            </a:r>
          </a:p>
        </p:txBody>
      </p:sp>
      <p:sp>
        <p:nvSpPr>
          <p:cNvPr id="47" name="TextBox 46"/>
          <p:cNvSpPr txBox="1"/>
          <p:nvPr/>
        </p:nvSpPr>
        <p:spPr>
          <a:xfrm>
            <a:off x="3998670" y="3147364"/>
            <a:ext cx="1645920" cy="256032"/>
          </a:xfrm>
          <a:prstGeom prst="rect">
            <a:avLst/>
          </a:prstGeom>
          <a:noFill/>
        </p:spPr>
        <p:txBody>
          <a:bodyPr wrap="none">
            <a:spAutoFit/>
          </a:bodyPr>
          <a:lstStyle/>
          <a:p>
            <a:pPr>
              <a:defRPr sz="900" b="1">
                <a:solidFill>
                  <a:srgbClr val="2D3748"/>
                </a:solidFill>
                <a:latin typeface="Inter"/>
              </a:defRPr>
            </a:pPr>
            <a:r>
              <a:t>Price Too High</a:t>
            </a:r>
          </a:p>
        </p:txBody>
      </p:sp>
      <p:sp>
        <p:nvSpPr>
          <p:cNvPr id="48" name="TextBox 47"/>
          <p:cNvSpPr txBox="1"/>
          <p:nvPr/>
        </p:nvSpPr>
        <p:spPr>
          <a:xfrm>
            <a:off x="5644590" y="3147364"/>
            <a:ext cx="640080" cy="256032"/>
          </a:xfrm>
          <a:prstGeom prst="rect">
            <a:avLst/>
          </a:prstGeom>
          <a:noFill/>
        </p:spPr>
        <p:txBody>
          <a:bodyPr wrap="none">
            <a:spAutoFit/>
          </a:bodyPr>
          <a:lstStyle/>
          <a:p>
            <a:pPr algn="ctr">
              <a:defRPr sz="900" b="1">
                <a:solidFill>
                  <a:srgbClr val="1A202C"/>
                </a:solidFill>
                <a:latin typeface="Inter"/>
              </a:defRPr>
            </a:pPr>
            <a:r>
              <a:t>10</a:t>
            </a:r>
          </a:p>
        </p:txBody>
      </p:sp>
      <p:sp>
        <p:nvSpPr>
          <p:cNvPr id="49" name="TextBox 48"/>
          <p:cNvSpPr txBox="1"/>
          <p:nvPr/>
        </p:nvSpPr>
        <p:spPr>
          <a:xfrm>
            <a:off x="6284670" y="3147364"/>
            <a:ext cx="731520" cy="256032"/>
          </a:xfrm>
          <a:prstGeom prst="rect">
            <a:avLst/>
          </a:prstGeom>
          <a:noFill/>
        </p:spPr>
        <p:txBody>
          <a:bodyPr wrap="none">
            <a:spAutoFit/>
          </a:bodyPr>
          <a:lstStyle/>
          <a:p>
            <a:pPr algn="ctr">
              <a:defRPr sz="900" b="1">
                <a:solidFill>
                  <a:srgbClr val="1A202C"/>
                </a:solidFill>
                <a:latin typeface="Inter"/>
              </a:defRPr>
            </a:pPr>
            <a:r>
              <a:t>10</a:t>
            </a:r>
          </a:p>
        </p:txBody>
      </p:sp>
      <p:sp>
        <p:nvSpPr>
          <p:cNvPr id="50" name="TextBox 49"/>
          <p:cNvSpPr txBox="1"/>
          <p:nvPr/>
        </p:nvSpPr>
        <p:spPr>
          <a:xfrm>
            <a:off x="7016190" y="3147364"/>
            <a:ext cx="640080" cy="256032"/>
          </a:xfrm>
          <a:prstGeom prst="rect">
            <a:avLst/>
          </a:prstGeom>
          <a:noFill/>
        </p:spPr>
        <p:txBody>
          <a:bodyPr wrap="none">
            <a:spAutoFit/>
          </a:bodyPr>
          <a:lstStyle/>
          <a:p>
            <a:pPr algn="ctr">
              <a:defRPr sz="900" b="1">
                <a:solidFill>
                  <a:srgbClr val="1A202C"/>
                </a:solidFill>
                <a:latin typeface="Inter"/>
              </a:defRPr>
            </a:pPr>
            <a:r>
              <a:t>1.0</a:t>
            </a:r>
          </a:p>
        </p:txBody>
      </p:sp>
      <p:sp>
        <p:nvSpPr>
          <p:cNvPr id="51" name="TextBox 50"/>
          <p:cNvSpPr txBox="1"/>
          <p:nvPr/>
        </p:nvSpPr>
        <p:spPr>
          <a:xfrm>
            <a:off x="7656270" y="3147364"/>
            <a:ext cx="822960" cy="256032"/>
          </a:xfrm>
          <a:prstGeom prst="rect">
            <a:avLst/>
          </a:prstGeom>
          <a:noFill/>
        </p:spPr>
        <p:txBody>
          <a:bodyPr wrap="none">
            <a:spAutoFit/>
          </a:bodyPr>
          <a:lstStyle/>
          <a:p>
            <a:pPr algn="ctr">
              <a:defRPr sz="900" b="1">
                <a:solidFill>
                  <a:srgbClr val="1A202C"/>
                </a:solidFill>
                <a:latin typeface="Inter"/>
              </a:defRPr>
            </a:pPr>
            <a:r>
              <a:t>2</a:t>
            </a:r>
          </a:p>
        </p:txBody>
      </p:sp>
      <p:sp>
        <p:nvSpPr>
          <p:cNvPr id="52" name="TextBox 51"/>
          <p:cNvSpPr txBox="1"/>
          <p:nvPr/>
        </p:nvSpPr>
        <p:spPr>
          <a:xfrm>
            <a:off x="8479230" y="3147364"/>
            <a:ext cx="731520" cy="256032"/>
          </a:xfrm>
          <a:prstGeom prst="rect">
            <a:avLst/>
          </a:prstGeom>
          <a:noFill/>
        </p:spPr>
        <p:txBody>
          <a:bodyPr wrap="none">
            <a:spAutoFit/>
          </a:bodyPr>
          <a:lstStyle/>
          <a:p>
            <a:pPr algn="ctr">
              <a:defRPr sz="900" b="1">
                <a:solidFill>
                  <a:srgbClr val="1A202C"/>
                </a:solidFill>
                <a:latin typeface="Inter"/>
              </a:defRPr>
            </a:pPr>
            <a:r>
              <a:t>5</a:t>
            </a:r>
          </a:p>
        </p:txBody>
      </p:sp>
      <p:sp>
        <p:nvSpPr>
          <p:cNvPr id="53" name="TextBox 52"/>
          <p:cNvSpPr txBox="1"/>
          <p:nvPr/>
        </p:nvSpPr>
        <p:spPr>
          <a:xfrm>
            <a:off x="9210750" y="3147364"/>
            <a:ext cx="822960" cy="256032"/>
          </a:xfrm>
          <a:prstGeom prst="rect">
            <a:avLst/>
          </a:prstGeom>
          <a:noFill/>
        </p:spPr>
        <p:txBody>
          <a:bodyPr wrap="none">
            <a:spAutoFit/>
          </a:bodyPr>
          <a:lstStyle/>
          <a:p>
            <a:pPr algn="ctr">
              <a:defRPr sz="900" b="1">
                <a:solidFill>
                  <a:srgbClr val="1A202C"/>
                </a:solidFill>
                <a:latin typeface="Inter"/>
              </a:defRPr>
            </a:pPr>
            <a:r>
              <a:t>3</a:t>
            </a:r>
          </a:p>
        </p:txBody>
      </p:sp>
      <p:sp>
        <p:nvSpPr>
          <p:cNvPr id="54" name="TextBox 53"/>
          <p:cNvSpPr txBox="1"/>
          <p:nvPr/>
        </p:nvSpPr>
        <p:spPr>
          <a:xfrm>
            <a:off x="3998670" y="3467404"/>
            <a:ext cx="1645920" cy="256032"/>
          </a:xfrm>
          <a:prstGeom prst="rect">
            <a:avLst/>
          </a:prstGeom>
          <a:noFill/>
        </p:spPr>
        <p:txBody>
          <a:bodyPr wrap="none">
            <a:spAutoFit/>
          </a:bodyPr>
          <a:lstStyle/>
          <a:p>
            <a:pPr>
              <a:defRPr sz="900" b="1">
                <a:solidFill>
                  <a:srgbClr val="2D3748"/>
                </a:solidFill>
                <a:latin typeface="Inter"/>
              </a:defRPr>
            </a:pPr>
            <a:r>
              <a:t>Installation Difficulty</a:t>
            </a:r>
          </a:p>
        </p:txBody>
      </p:sp>
      <p:sp>
        <p:nvSpPr>
          <p:cNvPr id="55" name="TextBox 54"/>
          <p:cNvSpPr txBox="1"/>
          <p:nvPr/>
        </p:nvSpPr>
        <p:spPr>
          <a:xfrm>
            <a:off x="5644590" y="3467404"/>
            <a:ext cx="640080" cy="256032"/>
          </a:xfrm>
          <a:prstGeom prst="rect">
            <a:avLst/>
          </a:prstGeom>
          <a:noFill/>
        </p:spPr>
        <p:txBody>
          <a:bodyPr wrap="none">
            <a:spAutoFit/>
          </a:bodyPr>
          <a:lstStyle/>
          <a:p>
            <a:pPr algn="ctr">
              <a:defRPr sz="900" b="1">
                <a:solidFill>
                  <a:srgbClr val="1A202C"/>
                </a:solidFill>
                <a:latin typeface="Inter"/>
              </a:defRPr>
            </a:pPr>
            <a:r>
              <a:t>8</a:t>
            </a:r>
          </a:p>
        </p:txBody>
      </p:sp>
      <p:sp>
        <p:nvSpPr>
          <p:cNvPr id="56" name="TextBox 55"/>
          <p:cNvSpPr txBox="1"/>
          <p:nvPr/>
        </p:nvSpPr>
        <p:spPr>
          <a:xfrm>
            <a:off x="6284670" y="3467404"/>
            <a:ext cx="731520" cy="256032"/>
          </a:xfrm>
          <a:prstGeom prst="rect">
            <a:avLst/>
          </a:prstGeom>
          <a:noFill/>
        </p:spPr>
        <p:txBody>
          <a:bodyPr wrap="none">
            <a:spAutoFit/>
          </a:bodyPr>
          <a:lstStyle/>
          <a:p>
            <a:pPr algn="ctr">
              <a:defRPr sz="900" b="1">
                <a:solidFill>
                  <a:srgbClr val="1A202C"/>
                </a:solidFill>
                <a:latin typeface="Inter"/>
              </a:defRPr>
            </a:pPr>
            <a:r>
              <a:t>8</a:t>
            </a:r>
          </a:p>
        </p:txBody>
      </p:sp>
      <p:sp>
        <p:nvSpPr>
          <p:cNvPr id="57" name="TextBox 56"/>
          <p:cNvSpPr txBox="1"/>
          <p:nvPr/>
        </p:nvSpPr>
        <p:spPr>
          <a:xfrm>
            <a:off x="7016190" y="3467404"/>
            <a:ext cx="640080" cy="256032"/>
          </a:xfrm>
          <a:prstGeom prst="rect">
            <a:avLst/>
          </a:prstGeom>
          <a:noFill/>
        </p:spPr>
        <p:txBody>
          <a:bodyPr wrap="none">
            <a:spAutoFit/>
          </a:bodyPr>
          <a:lstStyle/>
          <a:p>
            <a:pPr algn="ctr">
              <a:defRPr sz="900" b="1">
                <a:solidFill>
                  <a:srgbClr val="1A202C"/>
                </a:solidFill>
                <a:latin typeface="Inter"/>
              </a:defRPr>
            </a:pPr>
            <a:r>
              <a:t>1.0</a:t>
            </a:r>
          </a:p>
        </p:txBody>
      </p:sp>
      <p:sp>
        <p:nvSpPr>
          <p:cNvPr id="58" name="TextBox 57"/>
          <p:cNvSpPr txBox="1"/>
          <p:nvPr/>
        </p:nvSpPr>
        <p:spPr>
          <a:xfrm>
            <a:off x="7656270" y="3467404"/>
            <a:ext cx="822960" cy="256032"/>
          </a:xfrm>
          <a:prstGeom prst="rect">
            <a:avLst/>
          </a:prstGeom>
          <a:noFill/>
        </p:spPr>
        <p:txBody>
          <a:bodyPr wrap="none">
            <a:spAutoFit/>
          </a:bodyPr>
          <a:lstStyle/>
          <a:p>
            <a:pPr algn="ctr">
              <a:defRPr sz="900" b="1">
                <a:solidFill>
                  <a:srgbClr val="1A202C"/>
                </a:solidFill>
                <a:latin typeface="Inter"/>
              </a:defRPr>
            </a:pPr>
            <a:r>
              <a:t>2</a:t>
            </a:r>
          </a:p>
        </p:txBody>
      </p:sp>
      <p:sp>
        <p:nvSpPr>
          <p:cNvPr id="59" name="TextBox 58"/>
          <p:cNvSpPr txBox="1"/>
          <p:nvPr/>
        </p:nvSpPr>
        <p:spPr>
          <a:xfrm>
            <a:off x="8479230" y="3467404"/>
            <a:ext cx="731520" cy="256032"/>
          </a:xfrm>
          <a:prstGeom prst="rect">
            <a:avLst/>
          </a:prstGeom>
          <a:noFill/>
        </p:spPr>
        <p:txBody>
          <a:bodyPr wrap="none">
            <a:spAutoFit/>
          </a:bodyPr>
          <a:lstStyle/>
          <a:p>
            <a:pPr algn="ctr">
              <a:defRPr sz="900" b="1">
                <a:solidFill>
                  <a:srgbClr val="1A202C"/>
                </a:solidFill>
                <a:latin typeface="Inter"/>
              </a:defRPr>
            </a:pPr>
            <a:r>
              <a:t>2</a:t>
            </a:r>
          </a:p>
        </p:txBody>
      </p:sp>
      <p:sp>
        <p:nvSpPr>
          <p:cNvPr id="60" name="TextBox 59"/>
          <p:cNvSpPr txBox="1"/>
          <p:nvPr/>
        </p:nvSpPr>
        <p:spPr>
          <a:xfrm>
            <a:off x="9210750" y="3467404"/>
            <a:ext cx="822960" cy="256032"/>
          </a:xfrm>
          <a:prstGeom prst="rect">
            <a:avLst/>
          </a:prstGeom>
          <a:noFill/>
        </p:spPr>
        <p:txBody>
          <a:bodyPr wrap="none">
            <a:spAutoFit/>
          </a:bodyPr>
          <a:lstStyle/>
          <a:p>
            <a:pPr algn="ctr">
              <a:defRPr sz="900" b="1">
                <a:solidFill>
                  <a:srgbClr val="1A202C"/>
                </a:solidFill>
                <a:latin typeface="Inter"/>
              </a:defRPr>
            </a:pPr>
            <a:r>
              <a:t>4</a:t>
            </a:r>
          </a:p>
        </p:txBody>
      </p:sp>
      <p:sp>
        <p:nvSpPr>
          <p:cNvPr id="61" name="TextBox 60"/>
          <p:cNvSpPr txBox="1"/>
          <p:nvPr/>
        </p:nvSpPr>
        <p:spPr>
          <a:xfrm>
            <a:off x="3998670" y="3787444"/>
            <a:ext cx="1645920" cy="256032"/>
          </a:xfrm>
          <a:prstGeom prst="rect">
            <a:avLst/>
          </a:prstGeom>
          <a:noFill/>
        </p:spPr>
        <p:txBody>
          <a:bodyPr wrap="none">
            <a:spAutoFit/>
          </a:bodyPr>
          <a:lstStyle/>
          <a:p>
            <a:pPr>
              <a:defRPr sz="900" b="1">
                <a:solidFill>
                  <a:srgbClr val="2D3748"/>
                </a:solidFill>
                <a:latin typeface="Inter"/>
              </a:defRPr>
            </a:pPr>
            <a:r>
              <a:t>Adhesion Failure</a:t>
            </a:r>
          </a:p>
        </p:txBody>
      </p:sp>
      <p:sp>
        <p:nvSpPr>
          <p:cNvPr id="62" name="TextBox 61"/>
          <p:cNvSpPr txBox="1"/>
          <p:nvPr/>
        </p:nvSpPr>
        <p:spPr>
          <a:xfrm>
            <a:off x="5644590" y="3787444"/>
            <a:ext cx="640080" cy="256032"/>
          </a:xfrm>
          <a:prstGeom prst="rect">
            <a:avLst/>
          </a:prstGeom>
          <a:noFill/>
        </p:spPr>
        <p:txBody>
          <a:bodyPr wrap="none">
            <a:spAutoFit/>
          </a:bodyPr>
          <a:lstStyle/>
          <a:p>
            <a:pPr algn="ctr">
              <a:defRPr sz="900" b="1">
                <a:solidFill>
                  <a:srgbClr val="1A202C"/>
                </a:solidFill>
                <a:latin typeface="Inter"/>
              </a:defRPr>
            </a:pPr>
            <a:r>
              <a:t>3</a:t>
            </a:r>
          </a:p>
        </p:txBody>
      </p:sp>
      <p:sp>
        <p:nvSpPr>
          <p:cNvPr id="63" name="TextBox 62"/>
          <p:cNvSpPr txBox="1"/>
          <p:nvPr/>
        </p:nvSpPr>
        <p:spPr>
          <a:xfrm>
            <a:off x="6284670" y="3787444"/>
            <a:ext cx="731520" cy="256032"/>
          </a:xfrm>
          <a:prstGeom prst="rect">
            <a:avLst/>
          </a:prstGeom>
          <a:noFill/>
        </p:spPr>
        <p:txBody>
          <a:bodyPr wrap="none">
            <a:spAutoFit/>
          </a:bodyPr>
          <a:lstStyle/>
          <a:p>
            <a:pPr algn="ctr">
              <a:defRPr sz="900" b="1">
                <a:solidFill>
                  <a:srgbClr val="1A202C"/>
                </a:solidFill>
                <a:latin typeface="Inter"/>
              </a:defRPr>
            </a:pPr>
            <a:r>
              <a:t>3</a:t>
            </a:r>
          </a:p>
        </p:txBody>
      </p:sp>
      <p:sp>
        <p:nvSpPr>
          <p:cNvPr id="64" name="TextBox 63"/>
          <p:cNvSpPr txBox="1"/>
          <p:nvPr/>
        </p:nvSpPr>
        <p:spPr>
          <a:xfrm>
            <a:off x="7016190" y="3787444"/>
            <a:ext cx="640080" cy="256032"/>
          </a:xfrm>
          <a:prstGeom prst="rect">
            <a:avLst/>
          </a:prstGeom>
          <a:noFill/>
        </p:spPr>
        <p:txBody>
          <a:bodyPr wrap="none">
            <a:spAutoFit/>
          </a:bodyPr>
          <a:lstStyle/>
          <a:p>
            <a:pPr algn="ctr">
              <a:defRPr sz="900" b="1">
                <a:solidFill>
                  <a:srgbClr val="1A202C"/>
                </a:solidFill>
                <a:latin typeface="Inter"/>
              </a:defRPr>
            </a:pPr>
            <a:r>
              <a:t>1.0</a:t>
            </a:r>
          </a:p>
        </p:txBody>
      </p:sp>
      <p:sp>
        <p:nvSpPr>
          <p:cNvPr id="65" name="TextBox 64"/>
          <p:cNvSpPr txBox="1"/>
          <p:nvPr/>
        </p:nvSpPr>
        <p:spPr>
          <a:xfrm>
            <a:off x="7656270" y="3787444"/>
            <a:ext cx="822960" cy="256032"/>
          </a:xfrm>
          <a:prstGeom prst="rect">
            <a:avLst/>
          </a:prstGeom>
          <a:noFill/>
        </p:spPr>
        <p:txBody>
          <a:bodyPr wrap="none">
            <a:spAutoFit/>
          </a:bodyPr>
          <a:lstStyle/>
          <a:p>
            <a:pPr algn="ctr">
              <a:defRPr sz="900" b="1">
                <a:solidFill>
                  <a:srgbClr val="1A202C"/>
                </a:solidFill>
                <a:latin typeface="Inter"/>
              </a:defRPr>
            </a:pPr>
            <a:r>
              <a:t>1</a:t>
            </a:r>
          </a:p>
        </p:txBody>
      </p:sp>
      <p:sp>
        <p:nvSpPr>
          <p:cNvPr id="66" name="TextBox 65"/>
          <p:cNvSpPr txBox="1"/>
          <p:nvPr/>
        </p:nvSpPr>
        <p:spPr>
          <a:xfrm>
            <a:off x="8479230" y="3787444"/>
            <a:ext cx="731520" cy="256032"/>
          </a:xfrm>
          <a:prstGeom prst="rect">
            <a:avLst/>
          </a:prstGeom>
          <a:noFill/>
        </p:spPr>
        <p:txBody>
          <a:bodyPr wrap="none">
            <a:spAutoFit/>
          </a:bodyPr>
          <a:lstStyle/>
          <a:p>
            <a:pPr algn="ctr">
              <a:defRPr sz="900" b="1">
                <a:solidFill>
                  <a:srgbClr val="1A202C"/>
                </a:solidFill>
                <a:latin typeface="Inter"/>
              </a:defRPr>
            </a:pPr>
            <a:r>
              <a:t>0</a:t>
            </a:r>
          </a:p>
        </p:txBody>
      </p:sp>
      <p:sp>
        <p:nvSpPr>
          <p:cNvPr id="67" name="TextBox 66"/>
          <p:cNvSpPr txBox="1"/>
          <p:nvPr/>
        </p:nvSpPr>
        <p:spPr>
          <a:xfrm>
            <a:off x="9210750" y="3787444"/>
            <a:ext cx="822960" cy="256032"/>
          </a:xfrm>
          <a:prstGeom prst="rect">
            <a:avLst/>
          </a:prstGeom>
          <a:noFill/>
        </p:spPr>
        <p:txBody>
          <a:bodyPr wrap="none">
            <a:spAutoFit/>
          </a:bodyPr>
          <a:lstStyle/>
          <a:p>
            <a:pPr algn="ctr">
              <a:defRPr sz="900" b="1">
                <a:solidFill>
                  <a:srgbClr val="1A202C"/>
                </a:solidFill>
                <a:latin typeface="Inter"/>
              </a:defRPr>
            </a:pPr>
            <a:r>
              <a:t>2</a:t>
            </a:r>
          </a:p>
        </p:txBody>
      </p:sp>
      <p:sp>
        <p:nvSpPr>
          <p:cNvPr id="68" name="TextBox 67"/>
          <p:cNvSpPr txBox="1"/>
          <p:nvPr/>
        </p:nvSpPr>
        <p:spPr>
          <a:xfrm>
            <a:off x="3998670" y="4107484"/>
            <a:ext cx="1645920" cy="256032"/>
          </a:xfrm>
          <a:prstGeom prst="rect">
            <a:avLst/>
          </a:prstGeom>
          <a:noFill/>
        </p:spPr>
        <p:txBody>
          <a:bodyPr wrap="none">
            <a:spAutoFit/>
          </a:bodyPr>
          <a:lstStyle/>
          <a:p>
            <a:pPr>
              <a:defRPr sz="900" b="1">
                <a:solidFill>
                  <a:srgbClr val="2D3748"/>
                </a:solidFill>
                <a:latin typeface="Inter"/>
              </a:defRPr>
            </a:pPr>
            <a:r>
              <a:t>Weight Limitations</a:t>
            </a:r>
          </a:p>
        </p:txBody>
      </p:sp>
      <p:sp>
        <p:nvSpPr>
          <p:cNvPr id="69" name="TextBox 68"/>
          <p:cNvSpPr txBox="1"/>
          <p:nvPr/>
        </p:nvSpPr>
        <p:spPr>
          <a:xfrm>
            <a:off x="5644590" y="4107484"/>
            <a:ext cx="640080" cy="256032"/>
          </a:xfrm>
          <a:prstGeom prst="rect">
            <a:avLst/>
          </a:prstGeom>
          <a:noFill/>
        </p:spPr>
        <p:txBody>
          <a:bodyPr wrap="none">
            <a:spAutoFit/>
          </a:bodyPr>
          <a:lstStyle/>
          <a:p>
            <a:pPr algn="ctr">
              <a:defRPr sz="900" b="1">
                <a:solidFill>
                  <a:srgbClr val="1A202C"/>
                </a:solidFill>
                <a:latin typeface="Inter"/>
              </a:defRPr>
            </a:pPr>
            <a:r>
              <a:t>2</a:t>
            </a:r>
          </a:p>
        </p:txBody>
      </p:sp>
      <p:sp>
        <p:nvSpPr>
          <p:cNvPr id="70" name="TextBox 69"/>
          <p:cNvSpPr txBox="1"/>
          <p:nvPr/>
        </p:nvSpPr>
        <p:spPr>
          <a:xfrm>
            <a:off x="6284670" y="4107484"/>
            <a:ext cx="731520" cy="256032"/>
          </a:xfrm>
          <a:prstGeom prst="rect">
            <a:avLst/>
          </a:prstGeom>
          <a:noFill/>
        </p:spPr>
        <p:txBody>
          <a:bodyPr wrap="none">
            <a:spAutoFit/>
          </a:bodyPr>
          <a:lstStyle/>
          <a:p>
            <a:pPr algn="ctr">
              <a:defRPr sz="900" b="1">
                <a:solidFill>
                  <a:srgbClr val="1A202C"/>
                </a:solidFill>
                <a:latin typeface="Inter"/>
              </a:defRPr>
            </a:pPr>
            <a:r>
              <a:t>2</a:t>
            </a:r>
          </a:p>
        </p:txBody>
      </p:sp>
      <p:sp>
        <p:nvSpPr>
          <p:cNvPr id="71" name="TextBox 70"/>
          <p:cNvSpPr txBox="1"/>
          <p:nvPr/>
        </p:nvSpPr>
        <p:spPr>
          <a:xfrm>
            <a:off x="7016190" y="4107484"/>
            <a:ext cx="640080" cy="256032"/>
          </a:xfrm>
          <a:prstGeom prst="rect">
            <a:avLst/>
          </a:prstGeom>
          <a:noFill/>
        </p:spPr>
        <p:txBody>
          <a:bodyPr wrap="none">
            <a:spAutoFit/>
          </a:bodyPr>
          <a:lstStyle/>
          <a:p>
            <a:pPr algn="ctr">
              <a:defRPr sz="900" b="1">
                <a:solidFill>
                  <a:srgbClr val="1A202C"/>
                </a:solidFill>
                <a:latin typeface="Inter"/>
              </a:defRPr>
            </a:pPr>
            <a:r>
              <a:t>1.0</a:t>
            </a:r>
          </a:p>
        </p:txBody>
      </p:sp>
      <p:sp>
        <p:nvSpPr>
          <p:cNvPr id="72" name="TextBox 71"/>
          <p:cNvSpPr txBox="1"/>
          <p:nvPr/>
        </p:nvSpPr>
        <p:spPr>
          <a:xfrm>
            <a:off x="7656270" y="4107484"/>
            <a:ext cx="822960" cy="256032"/>
          </a:xfrm>
          <a:prstGeom prst="rect">
            <a:avLst/>
          </a:prstGeom>
          <a:noFill/>
        </p:spPr>
        <p:txBody>
          <a:bodyPr wrap="none">
            <a:spAutoFit/>
          </a:bodyPr>
          <a:lstStyle/>
          <a:p>
            <a:pPr algn="ctr">
              <a:defRPr sz="900" b="1">
                <a:solidFill>
                  <a:srgbClr val="1A202C"/>
                </a:solidFill>
                <a:latin typeface="Inter"/>
              </a:defRPr>
            </a:pPr>
            <a:r>
              <a:t>0</a:t>
            </a:r>
          </a:p>
        </p:txBody>
      </p:sp>
      <p:sp>
        <p:nvSpPr>
          <p:cNvPr id="73" name="TextBox 72"/>
          <p:cNvSpPr txBox="1"/>
          <p:nvPr/>
        </p:nvSpPr>
        <p:spPr>
          <a:xfrm>
            <a:off x="8479230" y="4107484"/>
            <a:ext cx="731520" cy="256032"/>
          </a:xfrm>
          <a:prstGeom prst="rect">
            <a:avLst/>
          </a:prstGeom>
          <a:noFill/>
        </p:spPr>
        <p:txBody>
          <a:bodyPr wrap="none">
            <a:spAutoFit/>
          </a:bodyPr>
          <a:lstStyle/>
          <a:p>
            <a:pPr algn="ctr">
              <a:defRPr sz="900" b="1">
                <a:solidFill>
                  <a:srgbClr val="1A202C"/>
                </a:solidFill>
                <a:latin typeface="Inter"/>
              </a:defRPr>
            </a:pPr>
            <a:r>
              <a:t>0</a:t>
            </a:r>
          </a:p>
        </p:txBody>
      </p:sp>
      <p:sp>
        <p:nvSpPr>
          <p:cNvPr id="74" name="TextBox 73"/>
          <p:cNvSpPr txBox="1"/>
          <p:nvPr/>
        </p:nvSpPr>
        <p:spPr>
          <a:xfrm>
            <a:off x="9210750" y="4107484"/>
            <a:ext cx="822960" cy="256032"/>
          </a:xfrm>
          <a:prstGeom prst="rect">
            <a:avLst/>
          </a:prstGeom>
          <a:noFill/>
        </p:spPr>
        <p:txBody>
          <a:bodyPr wrap="none">
            <a:spAutoFit/>
          </a:bodyPr>
          <a:lstStyle/>
          <a:p>
            <a:pPr algn="ctr">
              <a:defRPr sz="900" b="1">
                <a:solidFill>
                  <a:srgbClr val="1A202C"/>
                </a:solidFill>
                <a:latin typeface="Inter"/>
              </a:defRPr>
            </a:pPr>
            <a:r>
              <a:t>2</a:t>
            </a:r>
          </a:p>
        </p:txBody>
      </p:sp>
      <p:sp>
        <p:nvSpPr>
          <p:cNvPr id="75" name="TextBox 74"/>
          <p:cNvSpPr txBox="1"/>
          <p:nvPr/>
        </p:nvSpPr>
        <p:spPr>
          <a:xfrm>
            <a:off x="548640" y="6309360"/>
            <a:ext cx="11064240" cy="365760"/>
          </a:xfrm>
          <a:prstGeom prst="rect">
            <a:avLst/>
          </a:prstGeom>
          <a:noFill/>
          <a:ln w="25400">
            <a:solidFill>
              <a:srgbClr val="14B8A6"/>
            </a:solidFill>
          </a:ln>
        </p:spPr>
        <p:txBody>
          <a:bodyPr wrap="none">
            <a:spAutoFit/>
          </a:bodyPr>
          <a:lstStyle/>
          <a:p>
            <a:pPr>
              <a:defRPr sz="900" b="1">
                <a:solidFill>
                  <a:srgbClr val="6B7280"/>
                </a:solidFill>
                <a:latin typeface="Inter"/>
              </a:defRPr>
            </a:pPr>
            <a:r>
              <a:t>Source: Phase 2 Comprehensive Analysis, Pain Point Detection across 193 videos | Severity = frequency × emphasis weighting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