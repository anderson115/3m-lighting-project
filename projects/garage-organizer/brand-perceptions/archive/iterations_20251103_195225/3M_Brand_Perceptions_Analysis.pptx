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7315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A202C"/>
                </a:solidFill>
                <a:latin typeface="Arial"/>
              </a:defRPr>
            </a:pPr>
            <a:r>
              <a:t>Command's Market Presence is Strong, But Creator Discussions Reveal a Tension Worth Exploring</a:t>
            </a:r>
          </a:p>
        </p:txBody>
      </p:sp>
      <p:sp>
        <p:nvSpPr>
          <p:cNvPr id="3" name="TextBox 2"/>
          <p:cNvSpPr txBox="1"/>
          <p:nvPr/>
        </p:nvSpPr>
        <p:spPr>
          <a:xfrm>
            <a:off x="731520" y="1737360"/>
            <a:ext cx="3657600" cy="27432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 THE PATTERN</a:t>
            </a:r>
          </a:p>
        </p:txBody>
      </p:sp>
      <p:sp>
        <p:nvSpPr>
          <p:cNvPr id="4" name="TextBox 3"/>
          <p:cNvSpPr txBox="1"/>
          <p:nvPr/>
        </p:nvSpPr>
        <p:spPr>
          <a:xfrm>
            <a:off x="731520" y="2103120"/>
            <a:ext cx="3657600" cy="822960"/>
          </a:xfrm>
          <a:prstGeom prst="rect">
            <a:avLst/>
          </a:prstGeom>
          <a:noFill/>
        </p:spPr>
        <p:txBody>
          <a:bodyPr wrap="square" anchor="t" tIns="0" bIns="0" lIns="0" rIns="0">
            <a:spAutoFit/>
          </a:bodyPr>
          <a:lstStyle/>
          <a:p>
            <a:pPr algn="l">
              <a:lnSpc>
                <a:spcPct val="130000"/>
              </a:lnSpc>
              <a:spcBef>
                <a:spcPts val="0"/>
              </a:spcBef>
              <a:spcAft>
                <a:spcPts val="0"/>
              </a:spcAft>
              <a:defRPr sz="1400" b="0">
                <a:solidFill>
                  <a:srgbClr val="1A202C"/>
                </a:solidFill>
                <a:latin typeface="Arial"/>
              </a:defRPr>
            </a:pPr>
            <a:r>
              <a:t>Command appears frequently in YouTube content—particularly in instructional videos where creators demonstrate picture hanging and organization techniques. However, surface damage appears as a topic in creator feedback more frequently than damage-free benefits are highlighted as an advantage.</a:t>
            </a:r>
          </a:p>
        </p:txBody>
      </p:sp>
      <p:sp>
        <p:nvSpPr>
          <p:cNvPr id="5" name="Rounded Rectangle 4"/>
          <p:cNvSpPr/>
          <p:nvPr/>
        </p:nvSpPr>
        <p:spPr>
          <a:xfrm>
            <a:off x="731520" y="3108960"/>
            <a:ext cx="3657600" cy="128016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rot="2700000">
            <a:off x="868680" y="3246120"/>
            <a:ext cx="228600"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246120"/>
            <a:ext cx="3291840" cy="22860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14B8A6"/>
                </a:solidFill>
                <a:latin typeface="Arial"/>
              </a:defRPr>
            </a:pPr>
            <a:r>
              <a:t>HARD TRUTH</a:t>
            </a:r>
          </a:p>
        </p:txBody>
      </p:sp>
      <p:sp>
        <p:nvSpPr>
          <p:cNvPr id="8" name="TextBox 7"/>
          <p:cNvSpPr txBox="1"/>
          <p:nvPr/>
        </p:nvSpPr>
        <p:spPr>
          <a:xfrm>
            <a:off x="1051560" y="3520440"/>
            <a:ext cx="3291840" cy="457200"/>
          </a:xfrm>
          <a:prstGeom prst="rect">
            <a:avLst/>
          </a:prstGeom>
          <a:noFill/>
        </p:spPr>
        <p:txBody>
          <a:bodyPr wrap="square" anchor="t" tIns="0" bIns="0" lIns="0" rIns="0">
            <a:spAutoFit/>
          </a:bodyPr>
          <a:lstStyle/>
          <a:p>
            <a:pPr algn="l">
              <a:lnSpc>
                <a:spcPct val="120000"/>
              </a:lnSpc>
              <a:spcBef>
                <a:spcPts val="0"/>
              </a:spcBef>
              <a:spcAft>
                <a:spcPts val="0"/>
              </a:spcAft>
              <a:defRPr sz="1500" b="1">
                <a:solidFill>
                  <a:srgbClr val="FFFFFF"/>
                </a:solidFill>
                <a:latin typeface="Arial"/>
              </a:defRPr>
            </a:pPr>
            <a:r>
              <a:t>In YouTube creator content, surface damage concerns outweigh damage-free benefit emphasis.</a:t>
            </a:r>
          </a:p>
        </p:txBody>
      </p:sp>
      <p:sp>
        <p:nvSpPr>
          <p:cNvPr id="9" name="TextBox 8"/>
          <p:cNvSpPr txBox="1"/>
          <p:nvPr/>
        </p:nvSpPr>
        <p:spPr>
          <a:xfrm>
            <a:off x="1051560" y="4023360"/>
            <a:ext cx="3291840" cy="32004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C8C8C8"/>
                </a:solidFill>
                <a:latin typeface="Arial"/>
              </a:defRPr>
            </a:pPr>
            <a:r>
              <a:t>This matters because: When creator feedback contradicts positioning, marketing ROI is compromised.</a:t>
            </a:r>
          </a:p>
        </p:txBody>
      </p:sp>
      <p:sp>
        <p:nvSpPr>
          <p:cNvPr id="10" name="TextBox 9"/>
          <p:cNvSpPr txBox="1"/>
          <p:nvPr/>
        </p:nvSpPr>
        <p:spPr>
          <a:xfrm>
            <a:off x="731520" y="4572000"/>
            <a:ext cx="3657600" cy="457200"/>
          </a:xfrm>
          <a:prstGeom prst="rect">
            <a:avLst/>
          </a:prstGeom>
          <a:noFill/>
        </p:spPr>
        <p:txBody>
          <a:bodyPr wrap="square">
            <a:spAutoFit/>
          </a:bodyPr>
          <a:lstStyle/>
          <a:p>
            <a:r>
              <a:rPr sz="2000" b="1">
                <a:solidFill>
                  <a:srgbClr val="14B8A6"/>
                </a:solidFill>
              </a:rPr>
              <a:t>? </a:t>
            </a:r>
            <a:r>
              <a:rPr sz="1600" b="1">
                <a:solidFill>
                  <a:srgbClr val="1A202C"/>
                </a:solidFill>
              </a:rPr>
              <a:t>Are claims setting expectations too high?</a:t>
            </a:r>
          </a:p>
        </p:txBody>
      </p:sp>
      <p:sp>
        <p:nvSpPr>
          <p:cNvPr id="11" name="TextBox 10"/>
          <p:cNvSpPr txBox="1"/>
          <p:nvPr/>
        </p:nvSpPr>
        <p:spPr>
          <a:xfrm>
            <a:off x="731520" y="512064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Consider:</a:t>
            </a:r>
          </a:p>
        </p:txBody>
      </p:sp>
      <p:sp>
        <p:nvSpPr>
          <p:cNvPr id="12" name="TextBox 11"/>
          <p:cNvSpPr txBox="1"/>
          <p:nvPr/>
        </p:nvSpPr>
        <p:spPr>
          <a:xfrm>
            <a:off x="868680" y="5394960"/>
            <a:ext cx="3520440" cy="228600"/>
          </a:xfrm>
          <a:prstGeom prst="rect">
            <a:avLst/>
          </a:prstGeom>
          <a:noFill/>
        </p:spPr>
        <p:txBody>
          <a:bodyPr wrap="none">
            <a:spAutoFit/>
          </a:bodyPr>
          <a:lstStyle/>
          <a:p>
            <a:r>
              <a:rPr sz="1200" b="1">
                <a:solidFill>
                  <a:srgbClr val="14B8A6"/>
                </a:solidFill>
              </a:rPr>
              <a:t>▸ </a:t>
            </a:r>
            <a:r>
              <a:rPr sz="1100">
                <a:solidFill>
                  <a:srgbClr val="1A202C"/>
                </a:solidFill>
              </a:rPr>
              <a:t>Surface compatibility guidance could reduce damage instances</a:t>
            </a:r>
          </a:p>
        </p:txBody>
      </p:sp>
      <p:sp>
        <p:nvSpPr>
          <p:cNvPr id="13" name="TextBox 12"/>
          <p:cNvSpPr txBox="1"/>
          <p:nvPr/>
        </p:nvSpPr>
        <p:spPr>
          <a:xfrm>
            <a:off x="868680" y="5669280"/>
            <a:ext cx="3520440" cy="228600"/>
          </a:xfrm>
          <a:prstGeom prst="rect">
            <a:avLst/>
          </a:prstGeom>
          <a:noFill/>
        </p:spPr>
        <p:txBody>
          <a:bodyPr wrap="none">
            <a:spAutoFit/>
          </a:bodyPr>
          <a:lstStyle/>
          <a:p>
            <a:r>
              <a:rPr sz="1200" b="1">
                <a:solidFill>
                  <a:srgbClr val="14B8A6"/>
                </a:solidFill>
              </a:rPr>
              <a:t>▸ </a:t>
            </a:r>
            <a:r>
              <a:rPr sz="1100">
                <a:solidFill>
                  <a:srgbClr val="1A202C"/>
                </a:solidFill>
              </a:rPr>
              <a:t>Conditional claims: 'damage-free on properly prepared smooth surfaces'</a:t>
            </a:r>
          </a:p>
        </p:txBody>
      </p:sp>
      <p:sp>
        <p:nvSpPr>
          <p:cNvPr id="14" name="TextBox 13"/>
          <p:cNvSpPr txBox="1"/>
          <p:nvPr/>
        </p:nvSpPr>
        <p:spPr>
          <a:xfrm>
            <a:off x="868680" y="5943600"/>
            <a:ext cx="3520440" cy="228600"/>
          </a:xfrm>
          <a:prstGeom prst="rect">
            <a:avLst/>
          </a:prstGeom>
          <a:noFill/>
        </p:spPr>
        <p:txBody>
          <a:bodyPr wrap="none">
            <a:spAutoFit/>
          </a:bodyPr>
          <a:lstStyle/>
          <a:p>
            <a:r>
              <a:rPr sz="1200" b="1">
                <a:solidFill>
                  <a:srgbClr val="14B8A6"/>
                </a:solidFill>
              </a:rPr>
              <a:t>▸ </a:t>
            </a:r>
            <a:r>
              <a:rPr sz="1100">
                <a:solidFill>
                  <a:srgbClr val="1A202C"/>
                </a:solidFill>
              </a:rPr>
              <a:t>Focus on proper installation education vs. absolute promises</a:t>
            </a:r>
          </a:p>
        </p:txBody>
      </p:sp>
      <p:sp>
        <p:nvSpPr>
          <p:cNvPr id="15" name="TextBox 14"/>
          <p:cNvSpPr txBox="1"/>
          <p:nvPr/>
        </p:nvSpPr>
        <p:spPr>
          <a:xfrm>
            <a:off x="731520" y="630936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CONVERSATION STARTERS</a:t>
            </a:r>
          </a:p>
        </p:txBody>
      </p:sp>
      <p:sp>
        <p:nvSpPr>
          <p:cNvPr id="16" name="TextBox 15"/>
          <p:cNvSpPr txBox="1"/>
          <p:nvPr/>
        </p:nvSpPr>
        <p:spPr>
          <a:xfrm>
            <a:off x="868680" y="6583680"/>
            <a:ext cx="3520440" cy="274320"/>
          </a:xfrm>
          <a:prstGeom prst="rect">
            <a:avLst/>
          </a:prstGeom>
          <a:noFill/>
        </p:spPr>
        <p:txBody>
          <a:bodyPr wrap="none">
            <a:spAutoFit/>
          </a:bodyPr>
          <a:lstStyle/>
          <a:p>
            <a:r>
              <a:rPr sz="1400" b="1">
                <a:solidFill>
                  <a:srgbClr val="14B8A6"/>
                </a:solidFill>
              </a:rPr>
              <a:t>→ </a:t>
            </a:r>
            <a:r>
              <a:rPr sz="1100">
                <a:solidFill>
                  <a:srgbClr val="1A202C"/>
                </a:solidFill>
              </a:rPr>
              <a:t>What's the actual ROI on damage-free messaging if creator content tells a different story?</a:t>
            </a:r>
          </a:p>
        </p:txBody>
      </p:sp>
      <p:sp>
        <p:nvSpPr>
          <p:cNvPr id="17" name="TextBox 16"/>
          <p:cNvSpPr txBox="1"/>
          <p:nvPr/>
        </p:nvSpPr>
        <p:spPr>
          <a:xfrm>
            <a:off x="868680" y="6903720"/>
            <a:ext cx="3520440" cy="274320"/>
          </a:xfrm>
          <a:prstGeom prst="rect">
            <a:avLst/>
          </a:prstGeom>
          <a:noFill/>
        </p:spPr>
        <p:txBody>
          <a:bodyPr wrap="none">
            <a:spAutoFit/>
          </a:bodyPr>
          <a:lstStyle/>
          <a:p>
            <a:r>
              <a:rPr sz="1400" b="1">
                <a:solidFill>
                  <a:srgbClr val="14B8A6"/>
                </a:solidFill>
              </a:rPr>
              <a:t>→ </a:t>
            </a:r>
            <a:r>
              <a:rPr sz="1100">
                <a:solidFill>
                  <a:srgbClr val="1A202C"/>
                </a:solidFill>
              </a:rPr>
              <a:t>Should we shift from absolute claims to contextual guidance?</a:t>
            </a:r>
          </a:p>
        </p:txBody>
      </p:sp>
      <p:sp>
        <p:nvSpPr>
          <p:cNvPr id="18" name="TextBox 17"/>
          <p:cNvSpPr txBox="1"/>
          <p:nvPr/>
        </p:nvSpPr>
        <p:spPr>
          <a:xfrm>
            <a:off x="868680" y="7223760"/>
            <a:ext cx="3520440" cy="274320"/>
          </a:xfrm>
          <a:prstGeom prst="rect">
            <a:avLst/>
          </a:prstGeom>
          <a:noFill/>
        </p:spPr>
        <p:txBody>
          <a:bodyPr wrap="none">
            <a:spAutoFit/>
          </a:bodyPr>
          <a:lstStyle/>
          <a:p>
            <a:r>
              <a:rPr sz="1400" b="1">
                <a:solidFill>
                  <a:srgbClr val="14B8A6"/>
                </a:solidFill>
              </a:rPr>
              <a:t>→ </a:t>
            </a:r>
            <a:r>
              <a:rPr sz="1100">
                <a:solidFill>
                  <a:srgbClr val="1A202C"/>
                </a:solidFill>
              </a:rPr>
              <a:t>Can we identify failure patterns and address them proactively?</a:t>
            </a:r>
          </a:p>
        </p:txBody>
      </p:sp>
      <p:sp>
        <p:nvSpPr>
          <p:cNvPr id="19" name="Isosceles Triangle 18"/>
          <p:cNvSpPr/>
          <p:nvPr/>
        </p:nvSpPr>
        <p:spPr>
          <a:xfrm rot="10800000">
            <a:off x="6492240" y="2468880"/>
            <a:ext cx="274320" cy="228600"/>
          </a:xfrm>
          <a:prstGeom prst="triangle">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rot="20940000">
            <a:off x="5120640" y="2286000"/>
            <a:ext cx="3017520" cy="381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303520" y="173736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35240" y="2011680"/>
            <a:ext cx="320040" cy="32004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3200400"/>
            <a:ext cx="914400" cy="274320"/>
          </a:xfrm>
          <a:prstGeom prst="rect">
            <a:avLst/>
          </a:prstGeom>
          <a:noFill/>
        </p:spPr>
        <p:txBody>
          <a:bodyPr wrap="square" anchor="t" tIns="0" bIns="0" lIns="0" rIns="0">
            <a:spAutoFit/>
          </a:bodyPr>
          <a:lstStyle/>
          <a:p>
            <a:pPr algn="ctr">
              <a:lnSpc>
                <a:spcPct val="120000"/>
              </a:lnSpc>
              <a:spcBef>
                <a:spcPts val="0"/>
              </a:spcBef>
              <a:spcAft>
                <a:spcPts val="0"/>
              </a:spcAft>
              <a:defRPr sz="1100" b="0">
                <a:solidFill>
                  <a:srgbClr val="92400E"/>
                </a:solidFill>
                <a:latin typeface="Arial"/>
              </a:defRPr>
            </a:pPr>
            <a:r>
              <a:t>Surface Damage</a:t>
            </a:r>
            <a:br/>
            <a:r>
              <a:t>Discussions</a:t>
            </a:r>
          </a:p>
        </p:txBody>
      </p:sp>
      <p:sp>
        <p:nvSpPr>
          <p:cNvPr id="24" name="TextBox 23"/>
          <p:cNvSpPr txBox="1"/>
          <p:nvPr/>
        </p:nvSpPr>
        <p:spPr>
          <a:xfrm>
            <a:off x="7315200" y="3383280"/>
            <a:ext cx="914400" cy="274320"/>
          </a:xfrm>
          <a:prstGeom prst="rect">
            <a:avLst/>
          </a:prstGeom>
          <a:noFill/>
        </p:spPr>
        <p:txBody>
          <a:bodyPr wrap="square" anchor="t" tIns="0" bIns="0" lIns="0" rIns="0">
            <a:spAutoFit/>
          </a:bodyPr>
          <a:lstStyle/>
          <a:p>
            <a:pPr algn="ctr">
              <a:lnSpc>
                <a:spcPct val="120000"/>
              </a:lnSpc>
              <a:spcBef>
                <a:spcPts val="0"/>
              </a:spcBef>
              <a:spcAft>
                <a:spcPts val="0"/>
              </a:spcAft>
              <a:defRPr sz="1100" b="0">
                <a:solidFill>
                  <a:srgbClr val="1E3A8A"/>
                </a:solidFill>
                <a:latin typeface="Arial"/>
              </a:defRPr>
            </a:pPr>
            <a:r>
              <a:t>Damage-Free</a:t>
            </a:r>
            <a:br/>
            <a:r>
              <a:t>Benefits</a:t>
            </a:r>
          </a:p>
        </p:txBody>
      </p:sp>
      <p:sp>
        <p:nvSpPr>
          <p:cNvPr id="25" name="Rounded Rectangle 24"/>
          <p:cNvSpPr/>
          <p:nvPr/>
        </p:nvSpPr>
        <p:spPr>
          <a:xfrm>
            <a:off x="5212080" y="4023360"/>
            <a:ext cx="2834640" cy="1097280"/>
          </a:xfrm>
          <a:prstGeom prst="roundRect">
            <a:avLst/>
          </a:prstGeom>
          <a:solidFill>
            <a:srgbClr val="FFFFFF"/>
          </a:solidFill>
          <a:ln w="381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212080" y="4023360"/>
            <a:ext cx="2834640" cy="3200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303520" y="4096512"/>
            <a:ext cx="1828800" cy="18288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2D3748"/>
                </a:solidFill>
                <a:latin typeface="Arial"/>
              </a:defRPr>
            </a:pPr>
            <a:r>
              <a:t>DISCUSSION TYPE</a:t>
            </a:r>
          </a:p>
        </p:txBody>
      </p:sp>
      <p:sp>
        <p:nvSpPr>
          <p:cNvPr id="28" name="TextBox 27"/>
          <p:cNvSpPr txBox="1"/>
          <p:nvPr/>
        </p:nvSpPr>
        <p:spPr>
          <a:xfrm>
            <a:off x="7406640" y="4096512"/>
            <a:ext cx="548640" cy="182880"/>
          </a:xfrm>
          <a:prstGeom prst="rect">
            <a:avLst/>
          </a:prstGeom>
          <a:noFill/>
        </p:spPr>
        <p:txBody>
          <a:bodyPr wrap="square" anchor="t" tIns="0" bIns="0" lIns="0" rIns="0">
            <a:spAutoFit/>
          </a:bodyPr>
          <a:lstStyle/>
          <a:p>
            <a:pPr algn="r">
              <a:lnSpc>
                <a:spcPct val="120000"/>
              </a:lnSpc>
              <a:spcBef>
                <a:spcPts val="0"/>
              </a:spcBef>
              <a:spcAft>
                <a:spcPts val="0"/>
              </a:spcAft>
              <a:defRPr sz="1000" b="1">
                <a:solidFill>
                  <a:srgbClr val="2D3748"/>
                </a:solidFill>
                <a:latin typeface="Arial"/>
              </a:defRPr>
            </a:pPr>
            <a:r>
              <a:t>VIDEOS</a:t>
            </a:r>
          </a:p>
        </p:txBody>
      </p:sp>
      <p:sp>
        <p:nvSpPr>
          <p:cNvPr id="29" name="TextBox 28"/>
          <p:cNvSpPr txBox="1"/>
          <p:nvPr/>
        </p:nvSpPr>
        <p:spPr>
          <a:xfrm>
            <a:off x="5303520" y="4434840"/>
            <a:ext cx="1828800" cy="228600"/>
          </a:xfrm>
          <a:prstGeom prst="rect">
            <a:avLst/>
          </a:prstGeom>
          <a:noFill/>
        </p:spPr>
        <p:txBody>
          <a:bodyPr wrap="square" anchor="t" tIns="0" bIns="0" lIns="0" rIns="0">
            <a:spAutoFit/>
          </a:bodyPr>
          <a:lstStyle/>
          <a:p>
            <a:pPr algn="l">
              <a:lnSpc>
                <a:spcPct val="120000"/>
              </a:lnSpc>
              <a:spcBef>
                <a:spcPts val="0"/>
              </a:spcBef>
              <a:spcAft>
                <a:spcPts val="0"/>
              </a:spcAft>
              <a:defRPr sz="1300" b="0">
                <a:solidFill>
                  <a:srgbClr val="1A202C"/>
                </a:solidFill>
                <a:latin typeface="Arial"/>
              </a:defRPr>
            </a:pPr>
            <a:r>
              <a:t>Surface Damage</a:t>
            </a:r>
          </a:p>
        </p:txBody>
      </p:sp>
      <p:sp>
        <p:nvSpPr>
          <p:cNvPr id="30" name="TextBox 29"/>
          <p:cNvSpPr txBox="1"/>
          <p:nvPr/>
        </p:nvSpPr>
        <p:spPr>
          <a:xfrm>
            <a:off x="7406640" y="4434840"/>
            <a:ext cx="548640" cy="228600"/>
          </a:xfrm>
          <a:prstGeom prst="rect">
            <a:avLst/>
          </a:prstGeom>
          <a:noFill/>
        </p:spPr>
        <p:txBody>
          <a:bodyPr wrap="square" anchor="t" tIns="0" bIns="0" lIns="0" rIns="0">
            <a:spAutoFit/>
          </a:bodyPr>
          <a:lstStyle/>
          <a:p>
            <a:pPr algn="r">
              <a:lnSpc>
                <a:spcPct val="120000"/>
              </a:lnSpc>
              <a:spcBef>
                <a:spcPts val="0"/>
              </a:spcBef>
              <a:spcAft>
                <a:spcPts val="0"/>
              </a:spcAft>
              <a:defRPr sz="1500" b="1">
                <a:solidFill>
                  <a:srgbClr val="1A202C"/>
                </a:solidFill>
                <a:latin typeface="Arial"/>
              </a:defRPr>
            </a:pPr>
            <a:r>
              <a:t>24</a:t>
            </a:r>
          </a:p>
        </p:txBody>
      </p:sp>
      <p:sp>
        <p:nvSpPr>
          <p:cNvPr id="31" name="TextBox 30"/>
          <p:cNvSpPr txBox="1"/>
          <p:nvPr/>
        </p:nvSpPr>
        <p:spPr>
          <a:xfrm>
            <a:off x="5303520" y="4754880"/>
            <a:ext cx="1828800" cy="228600"/>
          </a:xfrm>
          <a:prstGeom prst="rect">
            <a:avLst/>
          </a:prstGeom>
          <a:noFill/>
        </p:spPr>
        <p:txBody>
          <a:bodyPr wrap="square" anchor="t" tIns="0" bIns="0" lIns="0" rIns="0">
            <a:spAutoFit/>
          </a:bodyPr>
          <a:lstStyle/>
          <a:p>
            <a:pPr algn="l">
              <a:lnSpc>
                <a:spcPct val="120000"/>
              </a:lnSpc>
              <a:spcBef>
                <a:spcPts val="0"/>
              </a:spcBef>
              <a:spcAft>
                <a:spcPts val="0"/>
              </a:spcAft>
              <a:defRPr sz="1300" b="0">
                <a:solidFill>
                  <a:srgbClr val="1A202C"/>
                </a:solidFill>
                <a:latin typeface="Arial"/>
              </a:defRPr>
            </a:pPr>
            <a:r>
              <a:t>Damage-Free Emphasis</a:t>
            </a:r>
          </a:p>
        </p:txBody>
      </p:sp>
      <p:sp>
        <p:nvSpPr>
          <p:cNvPr id="32" name="TextBox 31"/>
          <p:cNvSpPr txBox="1"/>
          <p:nvPr/>
        </p:nvSpPr>
        <p:spPr>
          <a:xfrm>
            <a:off x="7406640" y="4754880"/>
            <a:ext cx="548640" cy="228600"/>
          </a:xfrm>
          <a:prstGeom prst="rect">
            <a:avLst/>
          </a:prstGeom>
          <a:noFill/>
        </p:spPr>
        <p:txBody>
          <a:bodyPr wrap="square" anchor="t" tIns="0" bIns="0" lIns="0" rIns="0">
            <a:spAutoFit/>
          </a:bodyPr>
          <a:lstStyle/>
          <a:p>
            <a:pPr algn="r">
              <a:lnSpc>
                <a:spcPct val="120000"/>
              </a:lnSpc>
              <a:spcBef>
                <a:spcPts val="0"/>
              </a:spcBef>
              <a:spcAft>
                <a:spcPts val="0"/>
              </a:spcAft>
              <a:defRPr sz="1500" b="1">
                <a:solidFill>
                  <a:srgbClr val="1A202C"/>
                </a:solidFill>
                <a:latin typeface="Arial"/>
              </a:defRPr>
            </a:pPr>
            <a:r>
              <a:t>11</a:t>
            </a:r>
          </a:p>
        </p:txBody>
      </p:sp>
      <p:sp>
        <p:nvSpPr>
          <p:cNvPr id="33" name="TextBox 32"/>
          <p:cNvSpPr txBox="1"/>
          <p:nvPr/>
        </p:nvSpPr>
        <p:spPr>
          <a:xfrm>
            <a:off x="5212080" y="5394960"/>
            <a:ext cx="2743200" cy="18288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2D3748"/>
                </a:solidFill>
                <a:latin typeface="Arial"/>
              </a:defRPr>
            </a:pPr>
            <a:r>
              <a:t>SENTIMENT DISTRIBUTION</a:t>
            </a:r>
          </a:p>
        </p:txBody>
      </p:sp>
      <p:sp>
        <p:nvSpPr>
          <p:cNvPr id="34" name="Rounded Rectangle 33"/>
          <p:cNvSpPr/>
          <p:nvPr/>
        </p:nvSpPr>
        <p:spPr>
          <a:xfrm>
            <a:off x="5212080" y="5669280"/>
            <a:ext cx="2834640" cy="32004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212080" y="5669280"/>
            <a:ext cx="2381097" cy="3200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43600" y="5742432"/>
            <a:ext cx="914400" cy="182880"/>
          </a:xfrm>
          <a:prstGeom prst="rect">
            <a:avLst/>
          </a:prstGeom>
          <a:noFill/>
        </p:spPr>
        <p:txBody>
          <a:bodyPr wrap="square" anchor="t" tIns="0" bIns="0" lIns="0" rIns="0">
            <a:spAutoFit/>
          </a:bodyPr>
          <a:lstStyle/>
          <a:p>
            <a:pPr algn="ctr">
              <a:lnSpc>
                <a:spcPct val="120000"/>
              </a:lnSpc>
              <a:spcBef>
                <a:spcPts val="0"/>
              </a:spcBef>
              <a:spcAft>
                <a:spcPts val="0"/>
              </a:spcAft>
              <a:defRPr sz="1200" b="1">
                <a:solidFill>
                  <a:srgbClr val="FFFFFF"/>
                </a:solidFill>
                <a:latin typeface="Arial"/>
              </a:defRPr>
            </a:pPr>
            <a:r>
              <a:t>Neutral 84%</a:t>
            </a:r>
          </a:p>
        </p:txBody>
      </p:sp>
      <p:sp>
        <p:nvSpPr>
          <p:cNvPr id="37" name="Oval 36"/>
          <p:cNvSpPr/>
          <p:nvPr/>
        </p:nvSpPr>
        <p:spPr>
          <a:xfrm>
            <a:off x="5212080" y="6172200"/>
            <a:ext cx="88900" cy="8890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349240" y="6126480"/>
            <a:ext cx="731520" cy="13716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Positive 6.5%</a:t>
            </a:r>
          </a:p>
        </p:txBody>
      </p:sp>
      <p:sp>
        <p:nvSpPr>
          <p:cNvPr id="39" name="Oval 38"/>
          <p:cNvSpPr/>
          <p:nvPr/>
        </p:nvSpPr>
        <p:spPr>
          <a:xfrm>
            <a:off x="6309360" y="6172200"/>
            <a:ext cx="88900" cy="889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6126480"/>
            <a:ext cx="731520" cy="13716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Negative 6.5%</a:t>
            </a:r>
          </a:p>
        </p:txBody>
      </p:sp>
      <p:sp>
        <p:nvSpPr>
          <p:cNvPr id="41" name="Rectangle 40"/>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62 Command videos</a:t>
            </a:r>
          </a:p>
        </p:txBody>
      </p:sp>
      <p:sp>
        <p:nvSpPr>
          <p:cNvPr id="43" name="TextBox 42"/>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1 of 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64008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Scotch Demonstrates Strong Creator Advocacy—Understanding Where It Shines and Where It's Challenged</a:t>
            </a:r>
          </a:p>
        </p:txBody>
      </p:sp>
      <p:sp>
        <p:nvSpPr>
          <p:cNvPr id="3" name="TextBox 2"/>
          <p:cNvSpPr txBox="1"/>
          <p:nvPr/>
        </p:nvSpPr>
        <p:spPr>
          <a:xfrm>
            <a:off x="731520" y="1645920"/>
            <a:ext cx="3657600" cy="22860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 THE PATTERN</a:t>
            </a:r>
          </a:p>
        </p:txBody>
      </p:sp>
      <p:sp>
        <p:nvSpPr>
          <p:cNvPr id="4" name="TextBox 3"/>
          <p:cNvSpPr txBox="1"/>
          <p:nvPr/>
        </p:nvSpPr>
        <p:spPr>
          <a:xfrm>
            <a:off x="731520" y="1965960"/>
            <a:ext cx="3657600" cy="548640"/>
          </a:xfrm>
          <a:prstGeom prst="rect">
            <a:avLst/>
          </a:prstGeom>
          <a:noFill/>
        </p:spPr>
        <p:txBody>
          <a:bodyPr wrap="square" anchor="t" tIns="0" bIns="0" lIns="0" rIns="0">
            <a:spAutoFit/>
          </a:bodyPr>
          <a:lstStyle/>
          <a:p>
            <a:pPr algn="l">
              <a:lnSpc>
                <a:spcPct val="130000"/>
              </a:lnSpc>
              <a:spcBef>
                <a:spcPts val="0"/>
              </a:spcBef>
              <a:spcAft>
                <a:spcPts val="0"/>
              </a:spcAft>
              <a:defRPr sz="1200" b="0">
                <a:solidFill>
                  <a:srgbClr val="1A202C"/>
                </a:solidFill>
                <a:latin typeface="Arial"/>
              </a:defRPr>
            </a:pPr>
            <a:r>
              <a:t>Content creators who feature Scotch products tend to offer favorable recommendations. Across review and comparison content, Scotch receives notably more positive assessments than negative, with creators frequently emphasizing reliability and hold strength.</a:t>
            </a:r>
          </a:p>
        </p:txBody>
      </p:sp>
      <p:sp>
        <p:nvSpPr>
          <p:cNvPr id="5" name="TextBox 4"/>
          <p:cNvSpPr txBox="1"/>
          <p:nvPr/>
        </p:nvSpPr>
        <p:spPr>
          <a:xfrm>
            <a:off x="731520" y="2697480"/>
            <a:ext cx="3657600" cy="22860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 INSIGHT</a:t>
            </a:r>
          </a:p>
        </p:txBody>
      </p:sp>
      <p:sp>
        <p:nvSpPr>
          <p:cNvPr id="6" name="TextBox 5"/>
          <p:cNvSpPr txBox="1"/>
          <p:nvPr/>
        </p:nvSpPr>
        <p:spPr>
          <a:xfrm>
            <a:off x="731520" y="3017520"/>
            <a:ext cx="3657600" cy="548640"/>
          </a:xfrm>
          <a:prstGeom prst="rect">
            <a:avLst/>
          </a:prstGeom>
          <a:noFill/>
        </p:spPr>
        <p:txBody>
          <a:bodyPr wrap="square" anchor="t" tIns="0" bIns="0" lIns="0" rIns="0">
            <a:spAutoFit/>
          </a:bodyPr>
          <a:lstStyle/>
          <a:p>
            <a:pPr algn="l">
              <a:lnSpc>
                <a:spcPct val="130000"/>
              </a:lnSpc>
              <a:spcBef>
                <a:spcPts val="0"/>
              </a:spcBef>
              <a:spcAft>
                <a:spcPts val="0"/>
              </a:spcAft>
              <a:defRPr sz="1200" b="0">
                <a:solidFill>
                  <a:srgbClr val="1A202C"/>
                </a:solidFill>
                <a:latin typeface="Arial"/>
              </a:defRPr>
            </a:pPr>
            <a:r>
              <a:t>Scotch's performance perception is strongest in indoor, permanent mounting applications. Temperature considerations shape use case recommendations for outdoor/vehicle contexts—creators understand optimal use through experience.</a:t>
            </a:r>
          </a:p>
        </p:txBody>
      </p:sp>
      <p:sp>
        <p:nvSpPr>
          <p:cNvPr id="7" name="Rounded Rectangle 6"/>
          <p:cNvSpPr/>
          <p:nvPr/>
        </p:nvSpPr>
        <p:spPr>
          <a:xfrm>
            <a:off x="731520" y="3749040"/>
            <a:ext cx="3657600" cy="10058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858768"/>
            <a:ext cx="3337560" cy="18288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14B8A6"/>
                </a:solidFill>
                <a:latin typeface="Arial"/>
              </a:defRPr>
            </a:pPr>
            <a:r>
              <a:t>HARD TRUTH</a:t>
            </a:r>
          </a:p>
        </p:txBody>
      </p:sp>
      <p:sp>
        <p:nvSpPr>
          <p:cNvPr id="9" name="TextBox 8"/>
          <p:cNvSpPr txBox="1"/>
          <p:nvPr/>
        </p:nvSpPr>
        <p:spPr>
          <a:xfrm>
            <a:off x="1005840" y="4069080"/>
            <a:ext cx="3337560" cy="365760"/>
          </a:xfrm>
          <a:prstGeom prst="rect">
            <a:avLst/>
          </a:prstGeom>
          <a:noFill/>
        </p:spPr>
        <p:txBody>
          <a:bodyPr wrap="square" anchor="t" tIns="0" bIns="0" lIns="0" rIns="0">
            <a:spAutoFit/>
          </a:bodyPr>
          <a:lstStyle/>
          <a:p>
            <a:pPr algn="l">
              <a:lnSpc>
                <a:spcPct val="120000"/>
              </a:lnSpc>
              <a:spcBef>
                <a:spcPts val="0"/>
              </a:spcBef>
              <a:spcAft>
                <a:spcPts val="0"/>
              </a:spcAft>
              <a:defRPr sz="1400" b="1">
                <a:solidFill>
                  <a:srgbClr val="FFFFFF"/>
                </a:solidFill>
                <a:latin typeface="Arial"/>
              </a:defRPr>
            </a:pPr>
            <a:r>
              <a:t>Temperature boundary discussions signal market opportunity cost—outdoor/vehicle segments constrained.</a:t>
            </a:r>
          </a:p>
        </p:txBody>
      </p:sp>
      <p:sp>
        <p:nvSpPr>
          <p:cNvPr id="10" name="TextBox 9"/>
          <p:cNvSpPr txBox="1"/>
          <p:nvPr/>
        </p:nvSpPr>
        <p:spPr>
          <a:xfrm>
            <a:off x="1005840" y="4434840"/>
            <a:ext cx="333756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C8C8C8"/>
                </a:solidFill>
                <a:latin typeface="Arial"/>
              </a:defRPr>
            </a:pPr>
            <a:r>
              <a:t>Strategic choice: Invest in all-temperature formulation to expand TAM, or own indoor category dominance and accept boundary? Current positioning leaves outdoor segment vulnerable to competitors.</a:t>
            </a:r>
          </a:p>
        </p:txBody>
      </p:sp>
      <p:sp>
        <p:nvSpPr>
          <p:cNvPr id="11" name="TextBox 10"/>
          <p:cNvSpPr txBox="1"/>
          <p:nvPr/>
        </p:nvSpPr>
        <p:spPr>
          <a:xfrm>
            <a:off x="731520" y="4937760"/>
            <a:ext cx="3657600" cy="365760"/>
          </a:xfrm>
          <a:prstGeom prst="rect">
            <a:avLst/>
          </a:prstGeom>
          <a:noFill/>
        </p:spPr>
        <p:txBody>
          <a:bodyPr wrap="none">
            <a:spAutoFit/>
          </a:bodyPr>
          <a:lstStyle/>
          <a:p>
            <a:r>
              <a:rPr sz="1800" b="1">
                <a:solidFill>
                  <a:srgbClr val="14B8A6"/>
                </a:solidFill>
              </a:rPr>
              <a:t>? </a:t>
            </a:r>
            <a:r>
              <a:rPr sz="1400" b="1">
                <a:solidFill>
                  <a:srgbClr val="1A202C"/>
                </a:solidFill>
              </a:rPr>
              <a:t>Is temperature sensitivity fixable or should we communicate boundaries transparently?</a:t>
            </a:r>
          </a:p>
        </p:txBody>
      </p:sp>
      <p:sp>
        <p:nvSpPr>
          <p:cNvPr id="12" name="TextBox 11"/>
          <p:cNvSpPr txBox="1"/>
          <p:nvPr/>
        </p:nvSpPr>
        <p:spPr>
          <a:xfrm>
            <a:off x="731520" y="539496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Consider:</a:t>
            </a:r>
          </a:p>
        </p:txBody>
      </p:sp>
      <p:sp>
        <p:nvSpPr>
          <p:cNvPr id="13" name="TextBox 12"/>
          <p:cNvSpPr txBox="1"/>
          <p:nvPr/>
        </p:nvSpPr>
        <p:spPr>
          <a:xfrm>
            <a:off x="868680" y="5650992"/>
            <a:ext cx="3520440" cy="228600"/>
          </a:xfrm>
          <a:prstGeom prst="rect">
            <a:avLst/>
          </a:prstGeom>
          <a:noFill/>
        </p:spPr>
        <p:txBody>
          <a:bodyPr wrap="none">
            <a:spAutoFit/>
          </a:bodyPr>
          <a:lstStyle/>
          <a:p>
            <a:r>
              <a:rPr sz="1300" b="1">
                <a:solidFill>
                  <a:srgbClr val="14B8A6"/>
                </a:solidFill>
              </a:rPr>
              <a:t>▸ </a:t>
            </a:r>
            <a:r>
              <a:rPr sz="1100">
                <a:solidFill>
                  <a:srgbClr val="1A202C"/>
                </a:solidFill>
              </a:rPr>
              <a:t>Product innovation: All-temperature line for outdoor segment</a:t>
            </a:r>
          </a:p>
        </p:txBody>
      </p:sp>
      <p:sp>
        <p:nvSpPr>
          <p:cNvPr id="14" name="TextBox 13"/>
          <p:cNvSpPr txBox="1"/>
          <p:nvPr/>
        </p:nvSpPr>
        <p:spPr>
          <a:xfrm>
            <a:off x="868680" y="5907024"/>
            <a:ext cx="3520440" cy="228600"/>
          </a:xfrm>
          <a:prstGeom prst="rect">
            <a:avLst/>
          </a:prstGeom>
          <a:noFill/>
        </p:spPr>
        <p:txBody>
          <a:bodyPr wrap="none">
            <a:spAutoFit/>
          </a:bodyPr>
          <a:lstStyle/>
          <a:p>
            <a:r>
              <a:rPr sz="1300" b="1">
                <a:solidFill>
                  <a:srgbClr val="14B8A6"/>
                </a:solidFill>
              </a:rPr>
              <a:t>▸ </a:t>
            </a:r>
            <a:r>
              <a:rPr sz="1100">
                <a:solidFill>
                  <a:srgbClr val="1A202C"/>
                </a:solidFill>
              </a:rPr>
              <a:t>Transparent positioning: 'Optimized for indoor use, 40-100°F'</a:t>
            </a:r>
          </a:p>
        </p:txBody>
      </p:sp>
      <p:sp>
        <p:nvSpPr>
          <p:cNvPr id="15" name="TextBox 14"/>
          <p:cNvSpPr txBox="1"/>
          <p:nvPr/>
        </p:nvSpPr>
        <p:spPr>
          <a:xfrm>
            <a:off x="868680" y="6163056"/>
            <a:ext cx="3520440" cy="228600"/>
          </a:xfrm>
          <a:prstGeom prst="rect">
            <a:avLst/>
          </a:prstGeom>
          <a:noFill/>
        </p:spPr>
        <p:txBody>
          <a:bodyPr wrap="none">
            <a:spAutoFit/>
          </a:bodyPr>
          <a:lstStyle/>
          <a:p>
            <a:r>
              <a:rPr sz="1300" b="1">
                <a:solidFill>
                  <a:srgbClr val="14B8A6"/>
                </a:solidFill>
              </a:rPr>
              <a:t>▸ </a:t>
            </a:r>
            <a:r>
              <a:rPr sz="1100">
                <a:solidFill>
                  <a:srgbClr val="1A202C"/>
                </a:solidFill>
              </a:rPr>
              <a:t>Accept boundary and focus on indoor permanent mounting dominance</a:t>
            </a:r>
          </a:p>
        </p:txBody>
      </p:sp>
      <p:sp>
        <p:nvSpPr>
          <p:cNvPr id="16" name="TextBox 15"/>
          <p:cNvSpPr txBox="1"/>
          <p:nvPr/>
        </p:nvSpPr>
        <p:spPr>
          <a:xfrm>
            <a:off x="4846320" y="1645920"/>
            <a:ext cx="3566160" cy="22860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PERFORMANCE PERCEPTION BY CONTEXT</a:t>
            </a:r>
          </a:p>
        </p:txBody>
      </p:sp>
      <p:sp>
        <p:nvSpPr>
          <p:cNvPr id="17" name="TextBox 16"/>
          <p:cNvSpPr txBox="1"/>
          <p:nvPr/>
        </p:nvSpPr>
        <p:spPr>
          <a:xfrm>
            <a:off x="4846320" y="2011680"/>
            <a:ext cx="2139696" cy="164592"/>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Indoor Permanent Mounting</a:t>
            </a:r>
          </a:p>
        </p:txBody>
      </p:sp>
      <p:sp>
        <p:nvSpPr>
          <p:cNvPr id="18" name="TextBox 17"/>
          <p:cNvSpPr txBox="1"/>
          <p:nvPr/>
        </p:nvSpPr>
        <p:spPr>
          <a:xfrm>
            <a:off x="7040880" y="2011680"/>
            <a:ext cx="1335024" cy="164592"/>
          </a:xfrm>
          <a:prstGeom prst="rect">
            <a:avLst/>
          </a:prstGeom>
          <a:noFill/>
        </p:spPr>
        <p:txBody>
          <a:bodyPr wrap="square" anchor="t" tIns="0" bIns="0" lIns="0" rIns="0">
            <a:spAutoFit/>
          </a:bodyPr>
          <a:lstStyle/>
          <a:p>
            <a:pPr algn="r">
              <a:lnSpc>
                <a:spcPct val="120000"/>
              </a:lnSpc>
              <a:spcBef>
                <a:spcPts val="0"/>
              </a:spcBef>
              <a:spcAft>
                <a:spcPts val="0"/>
              </a:spcAft>
              <a:defRPr sz="1100" b="1">
                <a:solidFill>
                  <a:srgbClr val="14B8A6"/>
                </a:solidFill>
                <a:latin typeface="Arial"/>
              </a:defRPr>
            </a:pPr>
            <a:r>
              <a:t>High Confidence</a:t>
            </a:r>
          </a:p>
        </p:txBody>
      </p:sp>
      <p:sp>
        <p:nvSpPr>
          <p:cNvPr id="19" name="Rounded Rectangle 18"/>
          <p:cNvSpPr/>
          <p:nvPr/>
        </p:nvSpPr>
        <p:spPr>
          <a:xfrm>
            <a:off x="4846320" y="2240280"/>
            <a:ext cx="3566160" cy="246888"/>
          </a:xfrm>
          <a:prstGeom prst="roundRect">
            <a:avLst/>
          </a:prstGeom>
          <a:solidFill>
            <a:srgbClr val="E5E7EB"/>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846320" y="2240280"/>
            <a:ext cx="3280867" cy="24688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9987" y="2286000"/>
            <a:ext cx="365760" cy="155448"/>
          </a:xfrm>
          <a:prstGeom prst="rect">
            <a:avLst/>
          </a:prstGeom>
          <a:noFill/>
        </p:spPr>
        <p:txBody>
          <a:bodyPr wrap="square" anchor="t" tIns="0" bIns="0" lIns="0" rIns="0">
            <a:spAutoFit/>
          </a:bodyPr>
          <a:lstStyle/>
          <a:p>
            <a:pPr algn="r">
              <a:lnSpc>
                <a:spcPct val="120000"/>
              </a:lnSpc>
              <a:spcBef>
                <a:spcPts val="0"/>
              </a:spcBef>
              <a:spcAft>
                <a:spcPts val="0"/>
              </a:spcAft>
              <a:defRPr sz="1300" b="1">
                <a:solidFill>
                  <a:srgbClr val="FFFFFF"/>
                </a:solidFill>
                <a:latin typeface="Arial"/>
              </a:defRPr>
            </a:pPr>
            <a:r>
              <a:t>92%</a:t>
            </a:r>
          </a:p>
        </p:txBody>
      </p:sp>
      <p:sp>
        <p:nvSpPr>
          <p:cNvPr id="22" name="TextBox 21"/>
          <p:cNvSpPr txBox="1"/>
          <p:nvPr/>
        </p:nvSpPr>
        <p:spPr>
          <a:xfrm>
            <a:off x="4846320" y="2651760"/>
            <a:ext cx="2139696" cy="164592"/>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DIY Project Applications</a:t>
            </a:r>
          </a:p>
        </p:txBody>
      </p:sp>
      <p:sp>
        <p:nvSpPr>
          <p:cNvPr id="23" name="TextBox 22"/>
          <p:cNvSpPr txBox="1"/>
          <p:nvPr/>
        </p:nvSpPr>
        <p:spPr>
          <a:xfrm>
            <a:off x="7040880" y="2651760"/>
            <a:ext cx="1335024" cy="164592"/>
          </a:xfrm>
          <a:prstGeom prst="rect">
            <a:avLst/>
          </a:prstGeom>
          <a:noFill/>
        </p:spPr>
        <p:txBody>
          <a:bodyPr wrap="square" anchor="t" tIns="0" bIns="0" lIns="0" rIns="0">
            <a:spAutoFit/>
          </a:bodyPr>
          <a:lstStyle/>
          <a:p>
            <a:pPr algn="r">
              <a:lnSpc>
                <a:spcPct val="120000"/>
              </a:lnSpc>
              <a:spcBef>
                <a:spcPts val="0"/>
              </a:spcBef>
              <a:spcAft>
                <a:spcPts val="0"/>
              </a:spcAft>
              <a:defRPr sz="1100" b="1">
                <a:solidFill>
                  <a:srgbClr val="14B8A6"/>
                </a:solidFill>
                <a:latin typeface="Arial"/>
              </a:defRPr>
            </a:pPr>
            <a:r>
              <a:t>Strong</a:t>
            </a:r>
          </a:p>
        </p:txBody>
      </p:sp>
      <p:sp>
        <p:nvSpPr>
          <p:cNvPr id="24" name="Rounded Rectangle 23"/>
          <p:cNvSpPr/>
          <p:nvPr/>
        </p:nvSpPr>
        <p:spPr>
          <a:xfrm>
            <a:off x="4846320" y="2880360"/>
            <a:ext cx="3566160" cy="246888"/>
          </a:xfrm>
          <a:prstGeom prst="roundRect">
            <a:avLst/>
          </a:prstGeom>
          <a:solidFill>
            <a:srgbClr val="E5E7EB"/>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46320" y="2880360"/>
            <a:ext cx="3138220" cy="24688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27340" y="2926080"/>
            <a:ext cx="365760" cy="155448"/>
          </a:xfrm>
          <a:prstGeom prst="rect">
            <a:avLst/>
          </a:prstGeom>
          <a:noFill/>
        </p:spPr>
        <p:txBody>
          <a:bodyPr wrap="square" anchor="t" tIns="0" bIns="0" lIns="0" rIns="0">
            <a:spAutoFit/>
          </a:bodyPr>
          <a:lstStyle/>
          <a:p>
            <a:pPr algn="r">
              <a:lnSpc>
                <a:spcPct val="120000"/>
              </a:lnSpc>
              <a:spcBef>
                <a:spcPts val="0"/>
              </a:spcBef>
              <a:spcAft>
                <a:spcPts val="0"/>
              </a:spcAft>
              <a:defRPr sz="1300" b="1">
                <a:solidFill>
                  <a:srgbClr val="FFFFFF"/>
                </a:solidFill>
                <a:latin typeface="Arial"/>
              </a:defRPr>
            </a:pPr>
            <a:r>
              <a:t>88%</a:t>
            </a:r>
          </a:p>
        </p:txBody>
      </p:sp>
      <p:sp>
        <p:nvSpPr>
          <p:cNvPr id="27" name="TextBox 26"/>
          <p:cNvSpPr txBox="1"/>
          <p:nvPr/>
        </p:nvSpPr>
        <p:spPr>
          <a:xfrm>
            <a:off x="4846320" y="3291840"/>
            <a:ext cx="2139696" cy="164592"/>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Outdoor/Extreme Temperature</a:t>
            </a:r>
          </a:p>
        </p:txBody>
      </p:sp>
      <p:sp>
        <p:nvSpPr>
          <p:cNvPr id="28" name="TextBox 27"/>
          <p:cNvSpPr txBox="1"/>
          <p:nvPr/>
        </p:nvSpPr>
        <p:spPr>
          <a:xfrm>
            <a:off x="7040880" y="3291840"/>
            <a:ext cx="1335024" cy="164592"/>
          </a:xfrm>
          <a:prstGeom prst="rect">
            <a:avLst/>
          </a:prstGeom>
          <a:noFill/>
        </p:spPr>
        <p:txBody>
          <a:bodyPr wrap="square" anchor="t" tIns="0" bIns="0" lIns="0" rIns="0">
            <a:spAutoFit/>
          </a:bodyPr>
          <a:lstStyle/>
          <a:p>
            <a:pPr algn="r">
              <a:lnSpc>
                <a:spcPct val="120000"/>
              </a:lnSpc>
              <a:spcBef>
                <a:spcPts val="0"/>
              </a:spcBef>
              <a:spcAft>
                <a:spcPts val="0"/>
              </a:spcAft>
              <a:defRPr sz="1100" b="1">
                <a:solidFill>
                  <a:srgbClr val="64748B"/>
                </a:solidFill>
                <a:latin typeface="Arial"/>
              </a:defRPr>
            </a:pPr>
            <a:r>
              <a:t>Consideration</a:t>
            </a:r>
          </a:p>
        </p:txBody>
      </p:sp>
      <p:sp>
        <p:nvSpPr>
          <p:cNvPr id="29" name="Rounded Rectangle 28"/>
          <p:cNvSpPr/>
          <p:nvPr/>
        </p:nvSpPr>
        <p:spPr>
          <a:xfrm>
            <a:off x="4846320" y="3520440"/>
            <a:ext cx="3566160" cy="246888"/>
          </a:xfrm>
          <a:prstGeom prst="roundRect">
            <a:avLst/>
          </a:prstGeom>
          <a:solidFill>
            <a:srgbClr val="E5E7EB"/>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846320" y="3520440"/>
            <a:ext cx="1604772" cy="24688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93892" y="3566160"/>
            <a:ext cx="365760" cy="155448"/>
          </a:xfrm>
          <a:prstGeom prst="rect">
            <a:avLst/>
          </a:prstGeom>
          <a:noFill/>
        </p:spPr>
        <p:txBody>
          <a:bodyPr wrap="square" anchor="t" tIns="0" bIns="0" lIns="0" rIns="0">
            <a:spAutoFit/>
          </a:bodyPr>
          <a:lstStyle/>
          <a:p>
            <a:pPr algn="r">
              <a:lnSpc>
                <a:spcPct val="120000"/>
              </a:lnSpc>
              <a:spcBef>
                <a:spcPts val="0"/>
              </a:spcBef>
              <a:spcAft>
                <a:spcPts val="0"/>
              </a:spcAft>
              <a:defRPr sz="1300" b="1">
                <a:solidFill>
                  <a:srgbClr val="FFFFFF"/>
                </a:solidFill>
                <a:latin typeface="Arial"/>
              </a:defRPr>
            </a:pPr>
            <a:r>
              <a:t>45%</a:t>
            </a:r>
          </a:p>
        </p:txBody>
      </p:sp>
      <p:sp>
        <p:nvSpPr>
          <p:cNvPr id="32" name="TextBox 31"/>
          <p:cNvSpPr txBox="1"/>
          <p:nvPr/>
        </p:nvSpPr>
        <p:spPr>
          <a:xfrm>
            <a:off x="4846320" y="4114800"/>
            <a:ext cx="356616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CREATOR SENTIMENT ANALYSIS</a:t>
            </a:r>
          </a:p>
        </p:txBody>
      </p:sp>
      <p:sp>
        <p:nvSpPr>
          <p:cNvPr id="33" name="Rounded Rectangle 32"/>
          <p:cNvSpPr/>
          <p:nvPr/>
        </p:nvSpPr>
        <p:spPr>
          <a:xfrm>
            <a:off x="4846320" y="4434840"/>
            <a:ext cx="1691640" cy="640080"/>
          </a:xfrm>
          <a:prstGeom prst="roundRect">
            <a:avLst/>
          </a:prstGeom>
          <a:solidFill>
            <a:srgbClr val="F8F9FA"/>
          </a:solidFill>
          <a:ln w="381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0" y="4572000"/>
            <a:ext cx="1691640" cy="320040"/>
          </a:xfrm>
          <a:prstGeom prst="rect">
            <a:avLst/>
          </a:prstGeom>
          <a:noFill/>
        </p:spPr>
        <p:txBody>
          <a:bodyPr wrap="square" anchor="t" tIns="0" bIns="0" lIns="0" rIns="0">
            <a:spAutoFit/>
          </a:bodyPr>
          <a:lstStyle/>
          <a:p>
            <a:pPr algn="ctr">
              <a:lnSpc>
                <a:spcPct val="120000"/>
              </a:lnSpc>
              <a:spcBef>
                <a:spcPts val="0"/>
              </a:spcBef>
              <a:spcAft>
                <a:spcPts val="0"/>
              </a:spcAft>
              <a:defRPr sz="3600" b="1">
                <a:solidFill>
                  <a:srgbClr val="14B8A6"/>
                </a:solidFill>
                <a:latin typeface="Arial"/>
              </a:defRPr>
            </a:pPr>
            <a:r>
              <a:t>High</a:t>
            </a:r>
          </a:p>
        </p:txBody>
      </p:sp>
      <p:sp>
        <p:nvSpPr>
          <p:cNvPr id="35" name="TextBox 34"/>
          <p:cNvSpPr txBox="1"/>
          <p:nvPr/>
        </p:nvSpPr>
        <p:spPr>
          <a:xfrm>
            <a:off x="4846320" y="4892040"/>
            <a:ext cx="1691640" cy="13716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POSITIVE ASSESSMENTS</a:t>
            </a:r>
          </a:p>
        </p:txBody>
      </p:sp>
      <p:sp>
        <p:nvSpPr>
          <p:cNvPr id="36" name="Rounded Rectangle 35"/>
          <p:cNvSpPr/>
          <p:nvPr/>
        </p:nvSpPr>
        <p:spPr>
          <a:xfrm>
            <a:off x="6720840" y="4434840"/>
            <a:ext cx="1691640" cy="640080"/>
          </a:xfrm>
          <a:prstGeom prst="roundRect">
            <a:avLst/>
          </a:prstGeom>
          <a:solidFill>
            <a:srgbClr val="F8F9FA"/>
          </a:solidFill>
          <a:ln w="381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4572000"/>
            <a:ext cx="1691640" cy="320040"/>
          </a:xfrm>
          <a:prstGeom prst="rect">
            <a:avLst/>
          </a:prstGeom>
          <a:noFill/>
        </p:spPr>
        <p:txBody>
          <a:bodyPr wrap="square" anchor="t" tIns="0" bIns="0" lIns="0" rIns="0">
            <a:spAutoFit/>
          </a:bodyPr>
          <a:lstStyle/>
          <a:p>
            <a:pPr algn="ctr">
              <a:lnSpc>
                <a:spcPct val="120000"/>
              </a:lnSpc>
              <a:spcBef>
                <a:spcPts val="0"/>
              </a:spcBef>
              <a:spcAft>
                <a:spcPts val="0"/>
              </a:spcAft>
              <a:defRPr sz="3600" b="1">
                <a:solidFill>
                  <a:srgbClr val="2D3748"/>
                </a:solidFill>
                <a:latin typeface="Arial"/>
              </a:defRPr>
            </a:pPr>
            <a:r>
              <a:t>Low</a:t>
            </a:r>
          </a:p>
        </p:txBody>
      </p:sp>
      <p:sp>
        <p:nvSpPr>
          <p:cNvPr id="38" name="TextBox 37"/>
          <p:cNvSpPr txBox="1"/>
          <p:nvPr/>
        </p:nvSpPr>
        <p:spPr>
          <a:xfrm>
            <a:off x="6720840" y="4892040"/>
            <a:ext cx="1691640" cy="13716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NEGATIVE FEEDBACK</a:t>
            </a:r>
          </a:p>
        </p:txBody>
      </p:sp>
      <p:sp>
        <p:nvSpPr>
          <p:cNvPr id="39" name="Rounded Rectangle 38"/>
          <p:cNvSpPr/>
          <p:nvPr/>
        </p:nvSpPr>
        <p:spPr>
          <a:xfrm>
            <a:off x="4846320" y="5257800"/>
            <a:ext cx="3566160" cy="731520"/>
          </a:xfrm>
          <a:prstGeom prst="roundRect">
            <a:avLst/>
          </a:prstGeom>
          <a:solidFill>
            <a:srgbClr val="FEF3C7"/>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0" y="5367528"/>
            <a:ext cx="3200400" cy="164592"/>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92400E"/>
                </a:solidFill>
                <a:latin typeface="Arial"/>
              </a:defRPr>
            </a:pPr>
            <a:r>
              <a:t>TEMPERATURE DISCUSSION FREQUENCY</a:t>
            </a:r>
          </a:p>
        </p:txBody>
      </p:sp>
      <p:sp>
        <p:nvSpPr>
          <p:cNvPr id="41" name="TextBox 40"/>
          <p:cNvSpPr txBox="1"/>
          <p:nvPr/>
        </p:nvSpPr>
        <p:spPr>
          <a:xfrm>
            <a:off x="5029200" y="5550408"/>
            <a:ext cx="3200400" cy="22860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F59E0B"/>
                </a:solidFill>
                <a:latin typeface="Arial"/>
              </a:defRPr>
            </a:pPr>
            <a:r>
              <a:t>1 in 6</a:t>
            </a:r>
          </a:p>
        </p:txBody>
      </p:sp>
      <p:sp>
        <p:nvSpPr>
          <p:cNvPr id="42" name="TextBox 41"/>
          <p:cNvSpPr txBox="1"/>
          <p:nvPr/>
        </p:nvSpPr>
        <p:spPr>
          <a:xfrm>
            <a:off x="5029200" y="5788152"/>
            <a:ext cx="3200400" cy="164592"/>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78350F"/>
                </a:solidFill>
                <a:latin typeface="Arial"/>
              </a:defRPr>
            </a:pPr>
            <a:r>
              <a:t>Temperature performance mentioned in ~17% of Scotch content</a:t>
            </a:r>
          </a:p>
        </p:txBody>
      </p:sp>
      <p:sp>
        <p:nvSpPr>
          <p:cNvPr id="43" name="TextBox 42"/>
          <p:cNvSpPr txBox="1"/>
          <p:nvPr/>
        </p:nvSpPr>
        <p:spPr>
          <a:xfrm>
            <a:off x="731520" y="5486400"/>
            <a:ext cx="7680960" cy="18288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CONVERSATION STARTERS</a:t>
            </a:r>
          </a:p>
        </p:txBody>
      </p:sp>
      <p:sp>
        <p:nvSpPr>
          <p:cNvPr id="44" name="TextBox 43"/>
          <p:cNvSpPr txBox="1"/>
          <p:nvPr/>
        </p:nvSpPr>
        <p:spPr>
          <a:xfrm>
            <a:off x="868680" y="5779008"/>
            <a:ext cx="2240280" cy="457200"/>
          </a:xfrm>
          <a:prstGeom prst="rect">
            <a:avLst/>
          </a:prstGeom>
          <a:noFill/>
        </p:spPr>
        <p:txBody>
          <a:bodyPr wrap="none">
            <a:spAutoFit/>
          </a:bodyPr>
          <a:lstStyle/>
          <a:p>
            <a:r>
              <a:rPr sz="1400" b="1">
                <a:solidFill>
                  <a:srgbClr val="14B8A6"/>
                </a:solidFill>
              </a:rPr>
              <a:t>→ </a:t>
            </a:r>
            <a:r>
              <a:rPr sz="1100">
                <a:solidFill>
                  <a:srgbClr val="1A202C"/>
                </a:solidFill>
              </a:rPr>
              <a:t>Could an 'All-Temperature' product line address outdoor segments without cannibalizing indoor business?</a:t>
            </a:r>
          </a:p>
        </p:txBody>
      </p:sp>
      <p:sp>
        <p:nvSpPr>
          <p:cNvPr id="45" name="TextBox 44"/>
          <p:cNvSpPr txBox="1"/>
          <p:nvPr/>
        </p:nvSpPr>
        <p:spPr>
          <a:xfrm>
            <a:off x="3429000" y="5779008"/>
            <a:ext cx="2240280" cy="457200"/>
          </a:xfrm>
          <a:prstGeom prst="rect">
            <a:avLst/>
          </a:prstGeom>
          <a:noFill/>
        </p:spPr>
        <p:txBody>
          <a:bodyPr wrap="none">
            <a:spAutoFit/>
          </a:bodyPr>
          <a:lstStyle/>
          <a:p>
            <a:r>
              <a:rPr sz="1400" b="1">
                <a:solidFill>
                  <a:srgbClr val="14B8A6"/>
                </a:solidFill>
              </a:rPr>
              <a:t>→ </a:t>
            </a:r>
            <a:r>
              <a:rPr sz="1100">
                <a:solidFill>
                  <a:srgbClr val="1A202C"/>
                </a:solidFill>
              </a:rPr>
              <a:t>Should we make temperature range explicit on packaging to set proper expectations?</a:t>
            </a:r>
          </a:p>
        </p:txBody>
      </p:sp>
      <p:sp>
        <p:nvSpPr>
          <p:cNvPr id="46" name="TextBox 45"/>
          <p:cNvSpPr txBox="1"/>
          <p:nvPr/>
        </p:nvSpPr>
        <p:spPr>
          <a:xfrm>
            <a:off x="5989320" y="5779008"/>
            <a:ext cx="2240280" cy="457200"/>
          </a:xfrm>
          <a:prstGeom prst="rect">
            <a:avLst/>
          </a:prstGeom>
          <a:noFill/>
        </p:spPr>
        <p:txBody>
          <a:bodyPr wrap="none">
            <a:spAutoFit/>
          </a:bodyPr>
          <a:lstStyle/>
          <a:p>
            <a:r>
              <a:rPr sz="1400" b="1">
                <a:solidFill>
                  <a:srgbClr val="14B8A6"/>
                </a:solidFill>
              </a:rPr>
              <a:t>→ </a:t>
            </a:r>
            <a:r>
              <a:rPr sz="1100">
                <a:solidFill>
                  <a:srgbClr val="1A202C"/>
                </a:solidFill>
              </a:rPr>
              <a:t>DIY and maker communities are growing—how do we deepen presence here as 'professional choice'?</a:t>
            </a:r>
          </a:p>
        </p:txBody>
      </p:sp>
      <p:sp>
        <p:nvSpPr>
          <p:cNvPr id="47" name="Rectangle 46"/>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Scotch performance perception across 58 creator videos</a:t>
            </a:r>
          </a:p>
        </p:txBody>
      </p:sp>
      <p:sp>
        <p:nvSpPr>
          <p:cNvPr id="49" name="TextBox 48"/>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2 of 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85800" y="731520"/>
            <a:ext cx="76200" cy="6400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731520"/>
            <a:ext cx="7452360" cy="64008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Scotch Demonstrates Strong Creator Advocacy—Understanding Where It Shines and Where It's Challenged</a:t>
            </a:r>
          </a:p>
        </p:txBody>
      </p:sp>
      <p:sp>
        <p:nvSpPr>
          <p:cNvPr id="4" name="Rounded Rectangle 3"/>
          <p:cNvSpPr/>
          <p:nvPr/>
        </p:nvSpPr>
        <p:spPr>
          <a:xfrm>
            <a:off x="731520" y="1645920"/>
            <a:ext cx="50292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645920"/>
            <a:ext cx="76200" cy="685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83080"/>
            <a:ext cx="470916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 THE PATTERN</a:t>
            </a:r>
          </a:p>
        </p:txBody>
      </p:sp>
      <p:sp>
        <p:nvSpPr>
          <p:cNvPr id="7" name="TextBox 6"/>
          <p:cNvSpPr txBox="1"/>
          <p:nvPr/>
        </p:nvSpPr>
        <p:spPr>
          <a:xfrm>
            <a:off x="1005840" y="2011680"/>
            <a:ext cx="4709160" cy="256032"/>
          </a:xfrm>
          <a:prstGeom prst="rect">
            <a:avLst/>
          </a:prstGeom>
          <a:noFill/>
        </p:spPr>
        <p:txBody>
          <a:bodyPr wrap="square" anchor="t" tIns="0" bIns="0" lIns="0" rIns="0">
            <a:spAutoFit/>
          </a:bodyPr>
          <a:lstStyle/>
          <a:p>
            <a:pPr algn="l">
              <a:lnSpc>
                <a:spcPct val="120000"/>
              </a:lnSpc>
              <a:spcBef>
                <a:spcPts val="0"/>
              </a:spcBef>
              <a:spcAft>
                <a:spcPts val="0"/>
              </a:spcAft>
              <a:defRPr sz="1400" b="0">
                <a:solidFill>
                  <a:srgbClr val="FFFFFF"/>
                </a:solidFill>
                <a:latin typeface="Arial"/>
              </a:defRPr>
            </a:pPr>
            <a:r>
              <a:t>Content creators who feature Scotch products tend to offer favorable recommendations. Across review and comparison content, Scotch receives notably more positive assessments than negative, with creators frequently emphasizing reliability and hold strength.</a:t>
            </a:r>
          </a:p>
        </p:txBody>
      </p:sp>
      <p:sp>
        <p:nvSpPr>
          <p:cNvPr id="8" name="Rounded Rectangle 7"/>
          <p:cNvSpPr/>
          <p:nvPr/>
        </p:nvSpPr>
        <p:spPr>
          <a:xfrm>
            <a:off x="731520" y="2468880"/>
            <a:ext cx="50292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468880"/>
            <a:ext cx="76200" cy="685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06040"/>
            <a:ext cx="470916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 INSIGHT</a:t>
            </a:r>
          </a:p>
        </p:txBody>
      </p:sp>
      <p:sp>
        <p:nvSpPr>
          <p:cNvPr id="11" name="TextBox 10"/>
          <p:cNvSpPr txBox="1"/>
          <p:nvPr/>
        </p:nvSpPr>
        <p:spPr>
          <a:xfrm>
            <a:off x="1005840" y="2834640"/>
            <a:ext cx="4709160" cy="256032"/>
          </a:xfrm>
          <a:prstGeom prst="rect">
            <a:avLst/>
          </a:prstGeom>
          <a:noFill/>
        </p:spPr>
        <p:txBody>
          <a:bodyPr wrap="square" anchor="t" tIns="0" bIns="0" lIns="0" rIns="0">
            <a:spAutoFit/>
          </a:bodyPr>
          <a:lstStyle/>
          <a:p>
            <a:pPr algn="l">
              <a:lnSpc>
                <a:spcPct val="120000"/>
              </a:lnSpc>
              <a:spcBef>
                <a:spcPts val="0"/>
              </a:spcBef>
              <a:spcAft>
                <a:spcPts val="0"/>
              </a:spcAft>
              <a:defRPr sz="1400" b="0">
                <a:solidFill>
                  <a:srgbClr val="FFFFFF"/>
                </a:solidFill>
                <a:latin typeface="Arial"/>
              </a:defRPr>
            </a:pPr>
            <a:r>
              <a:t>Scotch's performance perception is strongest in indoor, permanent mounting applications. Temperature considerations shape use case recommendations for outdoor/vehicle contexts—creators understand optimal use through experience.</a:t>
            </a:r>
          </a:p>
        </p:txBody>
      </p:sp>
      <p:sp>
        <p:nvSpPr>
          <p:cNvPr id="12" name="Rounded Rectangle 11"/>
          <p:cNvSpPr/>
          <p:nvPr/>
        </p:nvSpPr>
        <p:spPr>
          <a:xfrm>
            <a:off x="731520" y="3291840"/>
            <a:ext cx="50292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291840"/>
            <a:ext cx="76200" cy="6858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29000"/>
            <a:ext cx="470916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HARD TRUTH</a:t>
            </a:r>
          </a:p>
        </p:txBody>
      </p:sp>
      <p:sp>
        <p:nvSpPr>
          <p:cNvPr id="15" name="TextBox 14"/>
          <p:cNvSpPr txBox="1"/>
          <p:nvPr/>
        </p:nvSpPr>
        <p:spPr>
          <a:xfrm>
            <a:off x="1005840" y="3657600"/>
            <a:ext cx="4709160" cy="256032"/>
          </a:xfrm>
          <a:prstGeom prst="rect">
            <a:avLst/>
          </a:prstGeom>
          <a:noFill/>
        </p:spPr>
        <p:txBody>
          <a:bodyPr wrap="square" anchor="t" tIns="0" bIns="0" lIns="0" rIns="0">
            <a:spAutoFit/>
          </a:bodyPr>
          <a:lstStyle/>
          <a:p>
            <a:pPr algn="l">
              <a:lnSpc>
                <a:spcPct val="120000"/>
              </a:lnSpc>
              <a:spcBef>
                <a:spcPts val="0"/>
              </a:spcBef>
              <a:spcAft>
                <a:spcPts val="0"/>
              </a:spcAft>
              <a:defRPr sz="1400" b="0">
                <a:solidFill>
                  <a:srgbClr val="FFFFFF"/>
                </a:solidFill>
                <a:latin typeface="Arial"/>
              </a:defRPr>
            </a:pPr>
            <a:r>
              <a:t>Temperature boundary discussions signal market opportunity cost—outdoor/vehicle segments constrained.</a:t>
            </a:r>
            <a:br/>
            <a:br/>
            <a:r>
              <a:t>Strategic choice: Invest in all-temperature formulation to expand TAM, or own indoor category dominance? Current positioning leaves outdoor segment vulnerable to competitors.</a:t>
            </a:r>
          </a:p>
        </p:txBody>
      </p:sp>
      <p:sp>
        <p:nvSpPr>
          <p:cNvPr id="16" name="Rounded Rectangle 15"/>
          <p:cNvSpPr/>
          <p:nvPr/>
        </p:nvSpPr>
        <p:spPr>
          <a:xfrm>
            <a:off x="731520" y="4114800"/>
            <a:ext cx="5029200" cy="82296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251960"/>
            <a:ext cx="4754880" cy="320040"/>
          </a:xfrm>
          <a:prstGeom prst="rect">
            <a:avLst/>
          </a:prstGeom>
          <a:noFill/>
        </p:spPr>
        <p:txBody>
          <a:bodyPr wrap="none">
            <a:spAutoFit/>
          </a:bodyPr>
          <a:lstStyle/>
          <a:p>
            <a:r>
              <a:rPr sz="1800" b="1">
                <a:solidFill>
                  <a:srgbClr val="14B8A6"/>
                </a:solidFill>
              </a:rPr>
              <a:t>? </a:t>
            </a:r>
            <a:r>
              <a:rPr sz="1600" b="1">
                <a:solidFill>
                  <a:srgbClr val="1A202C"/>
                </a:solidFill>
              </a:rPr>
              <a:t>Is temperature sensitivity fixable or should we communicate boundaries transparently?</a:t>
            </a:r>
          </a:p>
        </p:txBody>
      </p:sp>
      <p:sp>
        <p:nvSpPr>
          <p:cNvPr id="18" name="TextBox 17"/>
          <p:cNvSpPr txBox="1"/>
          <p:nvPr/>
        </p:nvSpPr>
        <p:spPr>
          <a:xfrm>
            <a:off x="960120" y="4590288"/>
            <a:ext cx="475488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Consider:</a:t>
            </a:r>
          </a:p>
        </p:txBody>
      </p:sp>
      <p:sp>
        <p:nvSpPr>
          <p:cNvPr id="19" name="TextBox 18"/>
          <p:cNvSpPr txBox="1"/>
          <p:nvPr/>
        </p:nvSpPr>
        <p:spPr>
          <a:xfrm>
            <a:off x="1097280" y="4727448"/>
            <a:ext cx="4572000" cy="64008"/>
          </a:xfrm>
          <a:prstGeom prst="rect">
            <a:avLst/>
          </a:prstGeom>
          <a:noFill/>
        </p:spPr>
        <p:txBody>
          <a:bodyPr wrap="none">
            <a:spAutoFit/>
          </a:bodyPr>
          <a:lstStyle/>
          <a:p>
            <a:pPr>
              <a:defRPr sz="1000"/>
            </a:pPr>
            <a:r>
              <a:t>▸ Product innovation: All-temperature line for outdoor segment</a:t>
            </a:r>
          </a:p>
        </p:txBody>
      </p:sp>
      <p:sp>
        <p:nvSpPr>
          <p:cNvPr id="20" name="TextBox 19"/>
          <p:cNvSpPr txBox="1"/>
          <p:nvPr/>
        </p:nvSpPr>
        <p:spPr>
          <a:xfrm>
            <a:off x="1097280" y="4791456"/>
            <a:ext cx="4572000" cy="64008"/>
          </a:xfrm>
          <a:prstGeom prst="rect">
            <a:avLst/>
          </a:prstGeom>
          <a:noFill/>
        </p:spPr>
        <p:txBody>
          <a:bodyPr wrap="none">
            <a:spAutoFit/>
          </a:bodyPr>
          <a:lstStyle/>
          <a:p>
            <a:pPr>
              <a:defRPr sz="1000"/>
            </a:pPr>
            <a:r>
              <a:t>▸ Transparent positioning: 'Optimized for indoor use, 40-100°F'</a:t>
            </a:r>
          </a:p>
        </p:txBody>
      </p:sp>
      <p:sp>
        <p:nvSpPr>
          <p:cNvPr id="21" name="TextBox 20"/>
          <p:cNvSpPr txBox="1"/>
          <p:nvPr/>
        </p:nvSpPr>
        <p:spPr>
          <a:xfrm>
            <a:off x="1097280" y="4855464"/>
            <a:ext cx="4572000" cy="64008"/>
          </a:xfrm>
          <a:prstGeom prst="rect">
            <a:avLst/>
          </a:prstGeom>
          <a:noFill/>
        </p:spPr>
        <p:txBody>
          <a:bodyPr wrap="none">
            <a:spAutoFit/>
          </a:bodyPr>
          <a:lstStyle/>
          <a:p>
            <a:pPr>
              <a:defRPr sz="1000"/>
            </a:pPr>
            <a:r>
              <a:t>▸ Accept boundary and focus on indoor permanent mounting dominance</a:t>
            </a:r>
          </a:p>
        </p:txBody>
      </p:sp>
      <p:sp>
        <p:nvSpPr>
          <p:cNvPr id="22" name="Rounded Rectangle 21"/>
          <p:cNvSpPr/>
          <p:nvPr/>
        </p:nvSpPr>
        <p:spPr>
          <a:xfrm>
            <a:off x="731520" y="5074920"/>
            <a:ext cx="5029200" cy="7772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212080"/>
            <a:ext cx="4754880" cy="13716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CONVERSATION STARTERS</a:t>
            </a:r>
          </a:p>
        </p:txBody>
      </p:sp>
      <p:sp>
        <p:nvSpPr>
          <p:cNvPr id="24" name="TextBox 23"/>
          <p:cNvSpPr txBox="1"/>
          <p:nvPr/>
        </p:nvSpPr>
        <p:spPr>
          <a:xfrm>
            <a:off x="1097280" y="5394960"/>
            <a:ext cx="4572000" cy="137160"/>
          </a:xfrm>
          <a:prstGeom prst="rect">
            <a:avLst/>
          </a:prstGeom>
          <a:noFill/>
        </p:spPr>
        <p:txBody>
          <a:bodyPr wrap="none">
            <a:spAutoFit/>
          </a:bodyPr>
          <a:lstStyle/>
          <a:p>
            <a:r>
              <a:rPr sz="1200">
                <a:solidFill>
                  <a:srgbClr val="14B8A6"/>
                </a:solidFill>
              </a:rPr>
              <a:t>→ </a:t>
            </a:r>
            <a:r>
              <a:rPr sz="1000">
                <a:solidFill>
                  <a:srgbClr val="1A202C"/>
                </a:solidFill>
              </a:rPr>
              <a:t>Could an 'All-Temperature' product line address outdoor segments without cannibalizing?</a:t>
            </a:r>
          </a:p>
        </p:txBody>
      </p:sp>
      <p:sp>
        <p:nvSpPr>
          <p:cNvPr id="25" name="TextBox 24"/>
          <p:cNvSpPr txBox="1"/>
          <p:nvPr/>
        </p:nvSpPr>
        <p:spPr>
          <a:xfrm>
            <a:off x="1097280" y="5550408"/>
            <a:ext cx="4572000" cy="137160"/>
          </a:xfrm>
          <a:prstGeom prst="rect">
            <a:avLst/>
          </a:prstGeom>
          <a:noFill/>
        </p:spPr>
        <p:txBody>
          <a:bodyPr wrap="none">
            <a:spAutoFit/>
          </a:bodyPr>
          <a:lstStyle/>
          <a:p>
            <a:r>
              <a:rPr sz="1200">
                <a:solidFill>
                  <a:srgbClr val="14B8A6"/>
                </a:solidFill>
              </a:rPr>
              <a:t>→ </a:t>
            </a:r>
            <a:r>
              <a:rPr sz="1000">
                <a:solidFill>
                  <a:srgbClr val="1A202C"/>
                </a:solidFill>
              </a:rPr>
              <a:t>Should we make temperature range explicit on packaging to set proper expectations?</a:t>
            </a:r>
          </a:p>
        </p:txBody>
      </p:sp>
      <p:sp>
        <p:nvSpPr>
          <p:cNvPr id="26" name="TextBox 25"/>
          <p:cNvSpPr txBox="1"/>
          <p:nvPr/>
        </p:nvSpPr>
        <p:spPr>
          <a:xfrm>
            <a:off x="1097280" y="5705856"/>
            <a:ext cx="4572000" cy="137160"/>
          </a:xfrm>
          <a:prstGeom prst="rect">
            <a:avLst/>
          </a:prstGeom>
          <a:noFill/>
        </p:spPr>
        <p:txBody>
          <a:bodyPr wrap="none">
            <a:spAutoFit/>
          </a:bodyPr>
          <a:lstStyle/>
          <a:p>
            <a:r>
              <a:rPr sz="1200">
                <a:solidFill>
                  <a:srgbClr val="14B8A6"/>
                </a:solidFill>
              </a:rPr>
              <a:t>→ </a:t>
            </a:r>
            <a:r>
              <a:rPr sz="1000">
                <a:solidFill>
                  <a:srgbClr val="1A202C"/>
                </a:solidFill>
              </a:rPr>
              <a:t>DIY communities are growing—how do we deepen presence as 'professional choice'?</a:t>
            </a:r>
          </a:p>
        </p:txBody>
      </p:sp>
      <p:sp>
        <p:nvSpPr>
          <p:cNvPr id="27" name="Rounded Rectangle 26"/>
          <p:cNvSpPr/>
          <p:nvPr/>
        </p:nvSpPr>
        <p:spPr>
          <a:xfrm>
            <a:off x="5943600" y="1645920"/>
            <a:ext cx="2468880" cy="137160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1783080"/>
            <a:ext cx="210312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2D3748"/>
                </a:solidFill>
                <a:latin typeface="Arial"/>
              </a:defRPr>
            </a:pPr>
            <a:r>
              <a:t>PERFORMANCE BY CONTEXT</a:t>
            </a:r>
          </a:p>
        </p:txBody>
      </p:sp>
      <p:sp>
        <p:nvSpPr>
          <p:cNvPr id="29" name="TextBox 28"/>
          <p:cNvSpPr txBox="1"/>
          <p:nvPr/>
        </p:nvSpPr>
        <p:spPr>
          <a:xfrm>
            <a:off x="6126480" y="1984248"/>
            <a:ext cx="2103120" cy="109728"/>
          </a:xfrm>
          <a:prstGeom prst="rect">
            <a:avLst/>
          </a:prstGeom>
          <a:noFill/>
        </p:spPr>
        <p:txBody>
          <a:bodyPr wrap="none">
            <a:spAutoFit/>
          </a:bodyPr>
          <a:lstStyle/>
          <a:p>
            <a:pPr>
              <a:defRPr sz="900" b="1">
                <a:solidFill>
                  <a:srgbClr val="1A202C"/>
                </a:solidFill>
              </a:defRPr>
            </a:pPr>
            <a:r>
              <a:t>Indoor Permanent</a:t>
            </a:r>
          </a:p>
        </p:txBody>
      </p:sp>
      <p:sp>
        <p:nvSpPr>
          <p:cNvPr id="30" name="Rounded Rectangle 29"/>
          <p:cNvSpPr/>
          <p:nvPr/>
        </p:nvSpPr>
        <p:spPr>
          <a:xfrm>
            <a:off x="6126480" y="2121408"/>
            <a:ext cx="210312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26480" y="2121408"/>
            <a:ext cx="1934870" cy="1828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41310" y="2157984"/>
            <a:ext cx="274320" cy="109728"/>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FFFFFF"/>
                </a:solidFill>
                <a:latin typeface="Arial"/>
              </a:defRPr>
            </a:pPr>
            <a:r>
              <a:t>92%</a:t>
            </a:r>
          </a:p>
        </p:txBody>
      </p:sp>
      <p:sp>
        <p:nvSpPr>
          <p:cNvPr id="33" name="TextBox 32"/>
          <p:cNvSpPr txBox="1"/>
          <p:nvPr/>
        </p:nvSpPr>
        <p:spPr>
          <a:xfrm>
            <a:off x="6126480" y="2395728"/>
            <a:ext cx="2103120" cy="109728"/>
          </a:xfrm>
          <a:prstGeom prst="rect">
            <a:avLst/>
          </a:prstGeom>
          <a:noFill/>
        </p:spPr>
        <p:txBody>
          <a:bodyPr wrap="none">
            <a:spAutoFit/>
          </a:bodyPr>
          <a:lstStyle/>
          <a:p>
            <a:pPr>
              <a:defRPr sz="900" b="1">
                <a:solidFill>
                  <a:srgbClr val="1A202C"/>
                </a:solidFill>
              </a:defRPr>
            </a:pPr>
            <a:r>
              <a:t>DIY Applications</a:t>
            </a:r>
          </a:p>
        </p:txBody>
      </p:sp>
      <p:sp>
        <p:nvSpPr>
          <p:cNvPr id="34" name="Rounded Rectangle 33"/>
          <p:cNvSpPr/>
          <p:nvPr/>
        </p:nvSpPr>
        <p:spPr>
          <a:xfrm>
            <a:off x="6126480" y="2532888"/>
            <a:ext cx="210312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26480" y="2532888"/>
            <a:ext cx="1850745" cy="1828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57185" y="2569464"/>
            <a:ext cx="274320" cy="109728"/>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FFFFFF"/>
                </a:solidFill>
                <a:latin typeface="Arial"/>
              </a:defRPr>
            </a:pPr>
            <a:r>
              <a:t>88%</a:t>
            </a:r>
          </a:p>
        </p:txBody>
      </p:sp>
      <p:sp>
        <p:nvSpPr>
          <p:cNvPr id="37" name="TextBox 36"/>
          <p:cNvSpPr txBox="1"/>
          <p:nvPr/>
        </p:nvSpPr>
        <p:spPr>
          <a:xfrm>
            <a:off x="6126480" y="2807208"/>
            <a:ext cx="2103120" cy="109728"/>
          </a:xfrm>
          <a:prstGeom prst="rect">
            <a:avLst/>
          </a:prstGeom>
          <a:noFill/>
        </p:spPr>
        <p:txBody>
          <a:bodyPr wrap="none">
            <a:spAutoFit/>
          </a:bodyPr>
          <a:lstStyle/>
          <a:p>
            <a:pPr>
              <a:defRPr sz="900" b="1">
                <a:solidFill>
                  <a:srgbClr val="1A202C"/>
                </a:solidFill>
              </a:defRPr>
            </a:pPr>
            <a:r>
              <a:t>Outdoor/Extreme</a:t>
            </a:r>
          </a:p>
        </p:txBody>
      </p:sp>
      <p:sp>
        <p:nvSpPr>
          <p:cNvPr id="38" name="Rounded Rectangle 37"/>
          <p:cNvSpPr/>
          <p:nvPr/>
        </p:nvSpPr>
        <p:spPr>
          <a:xfrm>
            <a:off x="6126480" y="2944368"/>
            <a:ext cx="210312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2944368"/>
            <a:ext cx="946404" cy="18288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52844" y="2980944"/>
            <a:ext cx="274320" cy="109728"/>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FFFFFF"/>
                </a:solidFill>
                <a:latin typeface="Arial"/>
              </a:defRPr>
            </a:pPr>
            <a:r>
              <a:t>45%</a:t>
            </a:r>
          </a:p>
        </p:txBody>
      </p:sp>
      <p:sp>
        <p:nvSpPr>
          <p:cNvPr id="41" name="Rounded Rectangle 40"/>
          <p:cNvSpPr/>
          <p:nvPr/>
        </p:nvSpPr>
        <p:spPr>
          <a:xfrm>
            <a:off x="5943600" y="3154680"/>
            <a:ext cx="2468880" cy="73152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26480" y="3291840"/>
            <a:ext cx="2103120" cy="109728"/>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2D3748"/>
                </a:solidFill>
                <a:latin typeface="Arial"/>
              </a:defRPr>
            </a:pPr>
            <a:r>
              <a:t>CREATOR SENTIMENT</a:t>
            </a:r>
          </a:p>
        </p:txBody>
      </p:sp>
      <p:sp>
        <p:nvSpPr>
          <p:cNvPr id="43" name="Rounded Rectangle 42"/>
          <p:cNvSpPr/>
          <p:nvPr/>
        </p:nvSpPr>
        <p:spPr>
          <a:xfrm>
            <a:off x="6126480" y="3456432"/>
            <a:ext cx="2103120" cy="201168"/>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0" y="3511296"/>
            <a:ext cx="640080" cy="91440"/>
          </a:xfrm>
          <a:prstGeom prst="rect">
            <a:avLst/>
          </a:prstGeom>
          <a:noFill/>
        </p:spPr>
        <p:txBody>
          <a:bodyPr wrap="square" anchor="t" tIns="0" bIns="0" lIns="0" rIns="0">
            <a:spAutoFit/>
          </a:bodyPr>
          <a:lstStyle/>
          <a:p>
            <a:pPr algn="l">
              <a:lnSpc>
                <a:spcPct val="120000"/>
              </a:lnSpc>
              <a:spcBef>
                <a:spcPts val="0"/>
              </a:spcBef>
              <a:spcAft>
                <a:spcPts val="0"/>
              </a:spcAft>
              <a:defRPr sz="1800" b="1">
                <a:solidFill>
                  <a:srgbClr val="14B8A6"/>
                </a:solidFill>
                <a:latin typeface="Arial"/>
              </a:defRPr>
            </a:pPr>
            <a:r>
              <a:t>High</a:t>
            </a:r>
          </a:p>
        </p:txBody>
      </p:sp>
      <p:sp>
        <p:nvSpPr>
          <p:cNvPr id="45" name="TextBox 44"/>
          <p:cNvSpPr txBox="1"/>
          <p:nvPr/>
        </p:nvSpPr>
        <p:spPr>
          <a:xfrm>
            <a:off x="6949440" y="3511296"/>
            <a:ext cx="1280160" cy="91440"/>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POSITIVE</a:t>
            </a:r>
          </a:p>
        </p:txBody>
      </p:sp>
      <p:sp>
        <p:nvSpPr>
          <p:cNvPr id="46" name="Rounded Rectangle 45"/>
          <p:cNvSpPr/>
          <p:nvPr/>
        </p:nvSpPr>
        <p:spPr>
          <a:xfrm>
            <a:off x="6126480" y="3703320"/>
            <a:ext cx="2103120" cy="201168"/>
          </a:xfrm>
          <a:prstGeom prst="roundRect">
            <a:avLst/>
          </a:prstGeom>
          <a:solidFill>
            <a:srgbClr val="FFFFFF"/>
          </a:solidFill>
          <a:ln w="2540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0" y="3758184"/>
            <a:ext cx="640080" cy="91440"/>
          </a:xfrm>
          <a:prstGeom prst="rect">
            <a:avLst/>
          </a:prstGeom>
          <a:noFill/>
        </p:spPr>
        <p:txBody>
          <a:bodyPr wrap="square" anchor="t" tIns="0" bIns="0" lIns="0" rIns="0">
            <a:spAutoFit/>
          </a:bodyPr>
          <a:lstStyle/>
          <a:p>
            <a:pPr algn="l">
              <a:lnSpc>
                <a:spcPct val="120000"/>
              </a:lnSpc>
              <a:spcBef>
                <a:spcPts val="0"/>
              </a:spcBef>
              <a:spcAft>
                <a:spcPts val="0"/>
              </a:spcAft>
              <a:defRPr sz="1800" b="1">
                <a:solidFill>
                  <a:srgbClr val="2D3748"/>
                </a:solidFill>
                <a:latin typeface="Arial"/>
              </a:defRPr>
            </a:pPr>
            <a:r>
              <a:t>Low</a:t>
            </a:r>
          </a:p>
        </p:txBody>
      </p:sp>
      <p:sp>
        <p:nvSpPr>
          <p:cNvPr id="48" name="TextBox 47"/>
          <p:cNvSpPr txBox="1"/>
          <p:nvPr/>
        </p:nvSpPr>
        <p:spPr>
          <a:xfrm>
            <a:off x="6949440" y="3758184"/>
            <a:ext cx="1280160" cy="91440"/>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NEGATIVE</a:t>
            </a:r>
          </a:p>
        </p:txBody>
      </p:sp>
      <p:sp>
        <p:nvSpPr>
          <p:cNvPr id="49" name="Rounded Rectangle 48"/>
          <p:cNvSpPr/>
          <p:nvPr/>
        </p:nvSpPr>
        <p:spPr>
          <a:xfrm>
            <a:off x="5943600" y="4023360"/>
            <a:ext cx="2468880" cy="548640"/>
          </a:xfrm>
          <a:prstGeom prst="roundRect">
            <a:avLst/>
          </a:prstGeom>
          <a:solidFill>
            <a:srgbClr val="FEF3C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6480" y="4114800"/>
            <a:ext cx="2103120" cy="9144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2400E"/>
                </a:solidFill>
                <a:latin typeface="Arial"/>
              </a:defRPr>
            </a:pPr>
            <a:r>
              <a:t>TEMPERATURE DISCUSSION</a:t>
            </a:r>
          </a:p>
        </p:txBody>
      </p:sp>
      <p:sp>
        <p:nvSpPr>
          <p:cNvPr id="51" name="TextBox 50"/>
          <p:cNvSpPr txBox="1"/>
          <p:nvPr/>
        </p:nvSpPr>
        <p:spPr>
          <a:xfrm>
            <a:off x="6126480" y="4251960"/>
            <a:ext cx="2103120" cy="228600"/>
          </a:xfrm>
          <a:prstGeom prst="rect">
            <a:avLst/>
          </a:prstGeom>
          <a:noFill/>
        </p:spPr>
        <p:txBody>
          <a:bodyPr wrap="square" anchor="t" tIns="0" bIns="0" lIns="0" rIns="0">
            <a:spAutoFit/>
          </a:bodyPr>
          <a:lstStyle/>
          <a:p>
            <a:pPr algn="ctr">
              <a:lnSpc>
                <a:spcPct val="120000"/>
              </a:lnSpc>
              <a:spcBef>
                <a:spcPts val="0"/>
              </a:spcBef>
              <a:spcAft>
                <a:spcPts val="0"/>
              </a:spcAft>
              <a:defRPr sz="2200" b="1">
                <a:solidFill>
                  <a:srgbClr val="F59E0B"/>
                </a:solidFill>
                <a:latin typeface="Arial"/>
              </a:defRPr>
            </a:pPr>
            <a:r>
              <a:t>1 in 6</a:t>
            </a:r>
          </a:p>
        </p:txBody>
      </p:sp>
      <p:sp>
        <p:nvSpPr>
          <p:cNvPr id="52" name="Rectangle 51"/>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Scotch performance perception across 58 creator videos</a:t>
            </a:r>
          </a:p>
        </p:txBody>
      </p:sp>
      <p:sp>
        <p:nvSpPr>
          <p:cNvPr id="54" name="TextBox 53"/>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3 of 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64008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Natural Specialization is Emerging, But Significant White Space Remains Unaddressed</a:t>
            </a:r>
          </a:p>
        </p:txBody>
      </p:sp>
      <p:sp>
        <p:nvSpPr>
          <p:cNvPr id="3" name="TextBox 2"/>
          <p:cNvSpPr txBox="1"/>
          <p:nvPr/>
        </p:nvSpPr>
        <p:spPr>
          <a:xfrm>
            <a:off x="731520" y="1645920"/>
            <a:ext cx="3657600" cy="22860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 THE PATTERN</a:t>
            </a:r>
          </a:p>
        </p:txBody>
      </p:sp>
      <p:sp>
        <p:nvSpPr>
          <p:cNvPr id="4" name="TextBox 3"/>
          <p:cNvSpPr txBox="1"/>
          <p:nvPr/>
        </p:nvSpPr>
        <p:spPr>
          <a:xfrm>
            <a:off x="731520" y="1965960"/>
            <a:ext cx="3657600" cy="73152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1A202C"/>
                </a:solidFill>
                <a:latin typeface="Arial"/>
              </a:defRPr>
            </a:pPr>
            <a:r>
              <a:t>Content analysis reveals each brand gravitating toward distinct application territories: Command shows strength in rental-friendly contexts, Scotch dominates DIY projects, and 3M Claw is creators' go-to for heavy-duty applications.</a:t>
            </a:r>
          </a:p>
        </p:txBody>
      </p:sp>
      <p:sp>
        <p:nvSpPr>
          <p:cNvPr id="5" name="Rounded Rectangle 4"/>
          <p:cNvSpPr/>
          <p:nvPr/>
        </p:nvSpPr>
        <p:spPr>
          <a:xfrm>
            <a:off x="731520" y="2880360"/>
            <a:ext cx="3657600" cy="9144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017520"/>
            <a:ext cx="3200400" cy="18288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14B8A6"/>
                </a:solidFill>
                <a:latin typeface="Arial"/>
              </a:defRPr>
            </a:pPr>
            <a:r>
              <a:t>HARD TRUTH</a:t>
            </a:r>
          </a:p>
        </p:txBody>
      </p:sp>
      <p:sp>
        <p:nvSpPr>
          <p:cNvPr id="7" name="TextBox 6"/>
          <p:cNvSpPr txBox="1"/>
          <p:nvPr/>
        </p:nvSpPr>
        <p:spPr>
          <a:xfrm>
            <a:off x="1005840" y="3246120"/>
            <a:ext cx="3200400" cy="457200"/>
          </a:xfrm>
          <a:prstGeom prst="rect">
            <a:avLst/>
          </a:prstGeom>
          <a:noFill/>
        </p:spPr>
        <p:txBody>
          <a:bodyPr wrap="square" anchor="t" tIns="0" bIns="0" lIns="0" rIns="0">
            <a:spAutoFit/>
          </a:bodyPr>
          <a:lstStyle/>
          <a:p>
            <a:pPr algn="l">
              <a:lnSpc>
                <a:spcPct val="120000"/>
              </a:lnSpc>
              <a:spcBef>
                <a:spcPts val="0"/>
              </a:spcBef>
              <a:spcAft>
                <a:spcPts val="0"/>
              </a:spcAft>
              <a:defRPr sz="1400" b="1">
                <a:solidFill>
                  <a:srgbClr val="FFFFFF"/>
                </a:solidFill>
                <a:latin typeface="Arial"/>
              </a:defRPr>
            </a:pPr>
            <a:r>
              <a:t>Rental households represent one-third of US households, but rental-specific content coverage is modest across all brands.</a:t>
            </a:r>
          </a:p>
        </p:txBody>
      </p:sp>
      <p:sp>
        <p:nvSpPr>
          <p:cNvPr id="8" name="Rounded Rectangle 7"/>
          <p:cNvSpPr/>
          <p:nvPr/>
        </p:nvSpPr>
        <p:spPr>
          <a:xfrm>
            <a:off x="4846320" y="1645920"/>
            <a:ext cx="137160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83480" y="1719072"/>
            <a:ext cx="11887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FFFFFF"/>
                </a:solidFill>
                <a:latin typeface="Arial"/>
              </a:defRPr>
            </a:pPr>
            <a:r>
              <a:t>Command</a:t>
            </a:r>
          </a:p>
        </p:txBody>
      </p:sp>
      <p:sp>
        <p:nvSpPr>
          <p:cNvPr id="10" name="Rounded Rectangle 9"/>
          <p:cNvSpPr/>
          <p:nvPr/>
        </p:nvSpPr>
        <p:spPr>
          <a:xfrm>
            <a:off x="6217920" y="1645920"/>
            <a:ext cx="2194560" cy="3200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19072"/>
            <a:ext cx="2011680" cy="18288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Rental-friendly • Temporary installation</a:t>
            </a:r>
          </a:p>
        </p:txBody>
      </p:sp>
      <p:sp>
        <p:nvSpPr>
          <p:cNvPr id="12" name="Rounded Rectangle 11"/>
          <p:cNvSpPr/>
          <p:nvPr/>
        </p:nvSpPr>
        <p:spPr>
          <a:xfrm>
            <a:off x="4846320" y="2011680"/>
            <a:ext cx="137160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2084832"/>
            <a:ext cx="11887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FFFFFF"/>
                </a:solidFill>
                <a:latin typeface="Arial"/>
              </a:defRPr>
            </a:pPr>
            <a:r>
              <a:t>Scotch</a:t>
            </a:r>
          </a:p>
        </p:txBody>
      </p:sp>
      <p:sp>
        <p:nvSpPr>
          <p:cNvPr id="14" name="Rounded Rectangle 13"/>
          <p:cNvSpPr/>
          <p:nvPr/>
        </p:nvSpPr>
        <p:spPr>
          <a:xfrm>
            <a:off x="6217920" y="2011680"/>
            <a:ext cx="2194560" cy="3200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084832"/>
            <a:ext cx="2011680" cy="18288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DIY projects • Permanent mounting</a:t>
            </a:r>
          </a:p>
        </p:txBody>
      </p:sp>
      <p:sp>
        <p:nvSpPr>
          <p:cNvPr id="16" name="Rounded Rectangle 15"/>
          <p:cNvSpPr/>
          <p:nvPr/>
        </p:nvSpPr>
        <p:spPr>
          <a:xfrm>
            <a:off x="4846320" y="2377440"/>
            <a:ext cx="137160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80" y="2450592"/>
            <a:ext cx="11887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FFFFFF"/>
                </a:solidFill>
                <a:latin typeface="Arial"/>
              </a:defRPr>
            </a:pPr>
            <a:r>
              <a:t>3M Claw</a:t>
            </a:r>
          </a:p>
        </p:txBody>
      </p:sp>
      <p:sp>
        <p:nvSpPr>
          <p:cNvPr id="18" name="Rounded Rectangle 17"/>
          <p:cNvSpPr/>
          <p:nvPr/>
        </p:nvSpPr>
        <p:spPr>
          <a:xfrm>
            <a:off x="6217920" y="2377440"/>
            <a:ext cx="2194560" cy="3200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450592"/>
            <a:ext cx="2011680" cy="18288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Heavy-duty • Weight-focused applications</a:t>
            </a:r>
          </a:p>
        </p:txBody>
      </p:sp>
      <p:sp>
        <p:nvSpPr>
          <p:cNvPr id="20" name="TextBox 19"/>
          <p:cNvSpPr txBox="1"/>
          <p:nvPr/>
        </p:nvSpPr>
        <p:spPr>
          <a:xfrm>
            <a:off x="4846320" y="3017520"/>
            <a:ext cx="25603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Picture Hanging (all brands)</a:t>
            </a:r>
          </a:p>
        </p:txBody>
      </p:sp>
      <p:sp>
        <p:nvSpPr>
          <p:cNvPr id="21" name="TextBox 20"/>
          <p:cNvSpPr txBox="1"/>
          <p:nvPr/>
        </p:nvSpPr>
        <p:spPr>
          <a:xfrm>
            <a:off x="7498080" y="3017520"/>
            <a:ext cx="914400" cy="27432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14B8A6"/>
                </a:solidFill>
                <a:latin typeface="Arial"/>
              </a:defRPr>
            </a:pPr>
            <a:r>
              <a:t>76%</a:t>
            </a:r>
          </a:p>
        </p:txBody>
      </p:sp>
      <p:sp>
        <p:nvSpPr>
          <p:cNvPr id="22" name="TextBox 21"/>
          <p:cNvSpPr txBox="1"/>
          <p:nvPr/>
        </p:nvSpPr>
        <p:spPr>
          <a:xfrm>
            <a:off x="4846320" y="3337560"/>
            <a:ext cx="25603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Kitchen/Bathroom Coverage</a:t>
            </a:r>
          </a:p>
        </p:txBody>
      </p:sp>
      <p:sp>
        <p:nvSpPr>
          <p:cNvPr id="23" name="TextBox 22"/>
          <p:cNvSpPr txBox="1"/>
          <p:nvPr/>
        </p:nvSpPr>
        <p:spPr>
          <a:xfrm>
            <a:off x="7498080" y="3337560"/>
            <a:ext cx="914400" cy="27432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14B8A6"/>
                </a:solidFill>
                <a:latin typeface="Arial"/>
              </a:defRPr>
            </a:pPr>
            <a:r>
              <a:t>&lt;10%</a:t>
            </a:r>
          </a:p>
        </p:txBody>
      </p:sp>
      <p:sp>
        <p:nvSpPr>
          <p:cNvPr id="24" name="TextBox 23"/>
          <p:cNvSpPr txBox="1"/>
          <p:nvPr/>
        </p:nvSpPr>
        <p:spPr>
          <a:xfrm>
            <a:off x="4846320" y="3657600"/>
            <a:ext cx="25603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Rental Market (US households)</a:t>
            </a:r>
          </a:p>
        </p:txBody>
      </p:sp>
      <p:sp>
        <p:nvSpPr>
          <p:cNvPr id="25" name="TextBox 24"/>
          <p:cNvSpPr txBox="1"/>
          <p:nvPr/>
        </p:nvSpPr>
        <p:spPr>
          <a:xfrm>
            <a:off x="7498080" y="3657600"/>
            <a:ext cx="914400" cy="27432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14B8A6"/>
                </a:solidFill>
                <a:latin typeface="Arial"/>
              </a:defRPr>
            </a:pPr>
            <a:r>
              <a:t>36%</a:t>
            </a:r>
          </a:p>
        </p:txBody>
      </p:sp>
      <p:sp>
        <p:nvSpPr>
          <p:cNvPr id="26" name="Rounded Rectangle 25"/>
          <p:cNvSpPr/>
          <p:nvPr/>
        </p:nvSpPr>
        <p:spPr>
          <a:xfrm>
            <a:off x="4846320" y="4160520"/>
            <a:ext cx="3566160" cy="914400"/>
          </a:xfrm>
          <a:prstGeom prst="roundRect">
            <a:avLst/>
          </a:prstGeom>
          <a:solidFill>
            <a:srgbClr val="ECFDF5"/>
          </a:solidFill>
          <a:ln w="381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270248"/>
            <a:ext cx="320040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2D3748"/>
                </a:solidFill>
                <a:latin typeface="Arial"/>
              </a:defRPr>
            </a:pPr>
            <a:r>
              <a:t>WHITE SPACE OPPORTUNITIES</a:t>
            </a:r>
          </a:p>
        </p:txBody>
      </p:sp>
      <p:sp>
        <p:nvSpPr>
          <p:cNvPr id="28" name="TextBox 27"/>
          <p:cNvSpPr txBox="1"/>
          <p:nvPr/>
        </p:nvSpPr>
        <p:spPr>
          <a:xfrm>
            <a:off x="5166360" y="4434840"/>
            <a:ext cx="3108960" cy="128016"/>
          </a:xfrm>
          <a:prstGeom prst="rect">
            <a:avLst/>
          </a:prstGeom>
          <a:noFill/>
        </p:spPr>
        <p:txBody>
          <a:bodyPr wrap="none">
            <a:spAutoFit/>
          </a:bodyPr>
          <a:lstStyle/>
          <a:p>
            <a:pPr>
              <a:defRPr sz="900"/>
            </a:pPr>
            <a:r>
              <a:t>● Kitchen organization (high need, minimal coverage)</a:t>
            </a:r>
          </a:p>
        </p:txBody>
      </p:sp>
      <p:sp>
        <p:nvSpPr>
          <p:cNvPr id="29" name="TextBox 28"/>
          <p:cNvSpPr txBox="1"/>
          <p:nvPr/>
        </p:nvSpPr>
        <p:spPr>
          <a:xfrm>
            <a:off x="5166360" y="4562856"/>
            <a:ext cx="3108960" cy="128016"/>
          </a:xfrm>
          <a:prstGeom prst="rect">
            <a:avLst/>
          </a:prstGeom>
          <a:noFill/>
        </p:spPr>
        <p:txBody>
          <a:bodyPr wrap="none">
            <a:spAutoFit/>
          </a:bodyPr>
          <a:lstStyle/>
          <a:p>
            <a:pPr>
              <a:defRPr sz="900"/>
            </a:pPr>
            <a:r>
              <a:t>● Bathroom storage (moisture + no-drill ideal)</a:t>
            </a:r>
          </a:p>
        </p:txBody>
      </p:sp>
      <p:sp>
        <p:nvSpPr>
          <p:cNvPr id="30" name="TextBox 29"/>
          <p:cNvSpPr txBox="1"/>
          <p:nvPr/>
        </p:nvSpPr>
        <p:spPr>
          <a:xfrm>
            <a:off x="5166360" y="4690872"/>
            <a:ext cx="3108960" cy="128016"/>
          </a:xfrm>
          <a:prstGeom prst="rect">
            <a:avLst/>
          </a:prstGeom>
          <a:noFill/>
        </p:spPr>
        <p:txBody>
          <a:bodyPr wrap="none">
            <a:spAutoFit/>
          </a:bodyPr>
          <a:lstStyle/>
          <a:p>
            <a:pPr>
              <a:defRPr sz="900"/>
            </a:pPr>
            <a:r>
              <a:t>● Outdoor/extreme weather (market demand exists)</a:t>
            </a:r>
          </a:p>
        </p:txBody>
      </p:sp>
      <p:sp>
        <p:nvSpPr>
          <p:cNvPr id="31" name="TextBox 30"/>
          <p:cNvSpPr txBox="1"/>
          <p:nvPr/>
        </p:nvSpPr>
        <p:spPr>
          <a:xfrm>
            <a:off x="5166360" y="4818888"/>
            <a:ext cx="3108960" cy="128016"/>
          </a:xfrm>
          <a:prstGeom prst="rect">
            <a:avLst/>
          </a:prstGeom>
          <a:noFill/>
        </p:spPr>
        <p:txBody>
          <a:bodyPr wrap="none">
            <a:spAutoFit/>
          </a:bodyPr>
          <a:lstStyle/>
          <a:p>
            <a:pPr>
              <a:defRPr sz="900"/>
            </a:pPr>
            <a:r>
              <a:t>● Budget-accessible segment (price sensitivity evident)</a:t>
            </a:r>
          </a:p>
        </p:txBody>
      </p:sp>
      <p:sp>
        <p:nvSpPr>
          <p:cNvPr id="32" name="Rectangle 31"/>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193 videos across 3 brands</a:t>
            </a:r>
          </a:p>
        </p:txBody>
      </p:sp>
      <p:sp>
        <p:nvSpPr>
          <p:cNvPr id="34" name="TextBox 33"/>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4 of 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64008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Natural Specialization is Emerging, But Significant White Space Remains Unaddressed</a:t>
            </a:r>
          </a:p>
        </p:txBody>
      </p:sp>
      <p:sp>
        <p:nvSpPr>
          <p:cNvPr id="3" name="TextBox 2"/>
          <p:cNvSpPr txBox="1"/>
          <p:nvPr/>
        </p:nvSpPr>
        <p:spPr>
          <a:xfrm>
            <a:off x="731520" y="1645920"/>
            <a:ext cx="3657600" cy="22860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 THE PATTERN</a:t>
            </a:r>
          </a:p>
        </p:txBody>
      </p:sp>
      <p:sp>
        <p:nvSpPr>
          <p:cNvPr id="4" name="TextBox 3"/>
          <p:cNvSpPr txBox="1"/>
          <p:nvPr/>
        </p:nvSpPr>
        <p:spPr>
          <a:xfrm>
            <a:off x="731520" y="1965960"/>
            <a:ext cx="3657600" cy="73152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1A202C"/>
                </a:solidFill>
                <a:latin typeface="Arial"/>
              </a:defRPr>
            </a:pPr>
            <a:r>
              <a:t>Content analysis reveals each brand gravitating toward distinct application territories: Command shows strength in rental-friendly contexts, Scotch dominates DIY projects, and 3M Claw is creators' go-to for heavy-duty applications.</a:t>
            </a:r>
          </a:p>
        </p:txBody>
      </p:sp>
      <p:sp>
        <p:nvSpPr>
          <p:cNvPr id="5" name="Rounded Rectangle 4"/>
          <p:cNvSpPr/>
          <p:nvPr/>
        </p:nvSpPr>
        <p:spPr>
          <a:xfrm>
            <a:off x="731520" y="2880360"/>
            <a:ext cx="3657600" cy="9144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017520"/>
            <a:ext cx="3200400" cy="18288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14B8A6"/>
                </a:solidFill>
                <a:latin typeface="Arial"/>
              </a:defRPr>
            </a:pPr>
            <a:r>
              <a:t>HARD TRUTH</a:t>
            </a:r>
          </a:p>
        </p:txBody>
      </p:sp>
      <p:sp>
        <p:nvSpPr>
          <p:cNvPr id="7" name="TextBox 6"/>
          <p:cNvSpPr txBox="1"/>
          <p:nvPr/>
        </p:nvSpPr>
        <p:spPr>
          <a:xfrm>
            <a:off x="1005840" y="3246120"/>
            <a:ext cx="3200400" cy="457200"/>
          </a:xfrm>
          <a:prstGeom prst="rect">
            <a:avLst/>
          </a:prstGeom>
          <a:noFill/>
        </p:spPr>
        <p:txBody>
          <a:bodyPr wrap="square" anchor="t" tIns="0" bIns="0" lIns="0" rIns="0">
            <a:spAutoFit/>
          </a:bodyPr>
          <a:lstStyle/>
          <a:p>
            <a:pPr algn="l">
              <a:lnSpc>
                <a:spcPct val="120000"/>
              </a:lnSpc>
              <a:spcBef>
                <a:spcPts val="0"/>
              </a:spcBef>
              <a:spcAft>
                <a:spcPts val="0"/>
              </a:spcAft>
              <a:defRPr sz="1400" b="1">
                <a:solidFill>
                  <a:srgbClr val="FFFFFF"/>
                </a:solidFill>
                <a:latin typeface="Arial"/>
              </a:defRPr>
            </a:pPr>
            <a:r>
              <a:t>Rental households represent one-third of US households, but rental-specific content coverage is modest across all brands.</a:t>
            </a:r>
          </a:p>
        </p:txBody>
      </p:sp>
      <p:sp>
        <p:nvSpPr>
          <p:cNvPr id="8" name="Rounded Rectangle 7"/>
          <p:cNvSpPr/>
          <p:nvPr/>
        </p:nvSpPr>
        <p:spPr>
          <a:xfrm>
            <a:off x="4846320" y="1645920"/>
            <a:ext cx="137160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83480" y="1719072"/>
            <a:ext cx="11887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FFFFFF"/>
                </a:solidFill>
                <a:latin typeface="Arial"/>
              </a:defRPr>
            </a:pPr>
            <a:r>
              <a:t>Command</a:t>
            </a:r>
          </a:p>
        </p:txBody>
      </p:sp>
      <p:sp>
        <p:nvSpPr>
          <p:cNvPr id="10" name="Rounded Rectangle 9"/>
          <p:cNvSpPr/>
          <p:nvPr/>
        </p:nvSpPr>
        <p:spPr>
          <a:xfrm>
            <a:off x="6217920" y="1645920"/>
            <a:ext cx="2194560" cy="3200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719072"/>
            <a:ext cx="2011680" cy="18288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Rental-friendly • Temporary installation</a:t>
            </a:r>
          </a:p>
        </p:txBody>
      </p:sp>
      <p:sp>
        <p:nvSpPr>
          <p:cNvPr id="12" name="Rounded Rectangle 11"/>
          <p:cNvSpPr/>
          <p:nvPr/>
        </p:nvSpPr>
        <p:spPr>
          <a:xfrm>
            <a:off x="4846320" y="2011680"/>
            <a:ext cx="137160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3480" y="2084832"/>
            <a:ext cx="11887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FFFFFF"/>
                </a:solidFill>
                <a:latin typeface="Arial"/>
              </a:defRPr>
            </a:pPr>
            <a:r>
              <a:t>Scotch</a:t>
            </a:r>
          </a:p>
        </p:txBody>
      </p:sp>
      <p:sp>
        <p:nvSpPr>
          <p:cNvPr id="14" name="Rounded Rectangle 13"/>
          <p:cNvSpPr/>
          <p:nvPr/>
        </p:nvSpPr>
        <p:spPr>
          <a:xfrm>
            <a:off x="6217920" y="2011680"/>
            <a:ext cx="2194560" cy="3200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2084832"/>
            <a:ext cx="2011680" cy="18288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DIY projects • Permanent mounting</a:t>
            </a:r>
          </a:p>
        </p:txBody>
      </p:sp>
      <p:sp>
        <p:nvSpPr>
          <p:cNvPr id="16" name="Rounded Rectangle 15"/>
          <p:cNvSpPr/>
          <p:nvPr/>
        </p:nvSpPr>
        <p:spPr>
          <a:xfrm>
            <a:off x="4846320" y="2377440"/>
            <a:ext cx="137160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83480" y="2450592"/>
            <a:ext cx="11887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FFFFFF"/>
                </a:solidFill>
                <a:latin typeface="Arial"/>
              </a:defRPr>
            </a:pPr>
            <a:r>
              <a:t>3M Claw</a:t>
            </a:r>
          </a:p>
        </p:txBody>
      </p:sp>
      <p:sp>
        <p:nvSpPr>
          <p:cNvPr id="18" name="Rounded Rectangle 17"/>
          <p:cNvSpPr/>
          <p:nvPr/>
        </p:nvSpPr>
        <p:spPr>
          <a:xfrm>
            <a:off x="6217920" y="2377440"/>
            <a:ext cx="2194560" cy="3200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2450592"/>
            <a:ext cx="2011680" cy="18288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Heavy-duty • Weight-focused applications</a:t>
            </a:r>
          </a:p>
        </p:txBody>
      </p:sp>
      <p:sp>
        <p:nvSpPr>
          <p:cNvPr id="20" name="TextBox 19"/>
          <p:cNvSpPr txBox="1"/>
          <p:nvPr/>
        </p:nvSpPr>
        <p:spPr>
          <a:xfrm>
            <a:off x="4846320" y="3017520"/>
            <a:ext cx="25603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Picture Hanging (all brands)</a:t>
            </a:r>
          </a:p>
        </p:txBody>
      </p:sp>
      <p:sp>
        <p:nvSpPr>
          <p:cNvPr id="21" name="TextBox 20"/>
          <p:cNvSpPr txBox="1"/>
          <p:nvPr/>
        </p:nvSpPr>
        <p:spPr>
          <a:xfrm>
            <a:off x="7498080" y="3017520"/>
            <a:ext cx="914400" cy="27432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14B8A6"/>
                </a:solidFill>
                <a:latin typeface="Arial"/>
              </a:defRPr>
            </a:pPr>
            <a:r>
              <a:t>76%</a:t>
            </a:r>
          </a:p>
        </p:txBody>
      </p:sp>
      <p:sp>
        <p:nvSpPr>
          <p:cNvPr id="22" name="TextBox 21"/>
          <p:cNvSpPr txBox="1"/>
          <p:nvPr/>
        </p:nvSpPr>
        <p:spPr>
          <a:xfrm>
            <a:off x="4846320" y="3337560"/>
            <a:ext cx="25603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Kitchen/Bathroom Coverage</a:t>
            </a:r>
          </a:p>
        </p:txBody>
      </p:sp>
      <p:sp>
        <p:nvSpPr>
          <p:cNvPr id="23" name="TextBox 22"/>
          <p:cNvSpPr txBox="1"/>
          <p:nvPr/>
        </p:nvSpPr>
        <p:spPr>
          <a:xfrm>
            <a:off x="7498080" y="3337560"/>
            <a:ext cx="914400" cy="27432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14B8A6"/>
                </a:solidFill>
                <a:latin typeface="Arial"/>
              </a:defRPr>
            </a:pPr>
            <a:r>
              <a:t>&lt;10%</a:t>
            </a:r>
          </a:p>
        </p:txBody>
      </p:sp>
      <p:sp>
        <p:nvSpPr>
          <p:cNvPr id="24" name="TextBox 23"/>
          <p:cNvSpPr txBox="1"/>
          <p:nvPr/>
        </p:nvSpPr>
        <p:spPr>
          <a:xfrm>
            <a:off x="4846320" y="3657600"/>
            <a:ext cx="256032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A202C"/>
                </a:solidFill>
                <a:latin typeface="Arial"/>
              </a:defRPr>
            </a:pPr>
            <a:r>
              <a:t>Rental Market (US households)</a:t>
            </a:r>
          </a:p>
        </p:txBody>
      </p:sp>
      <p:sp>
        <p:nvSpPr>
          <p:cNvPr id="25" name="TextBox 24"/>
          <p:cNvSpPr txBox="1"/>
          <p:nvPr/>
        </p:nvSpPr>
        <p:spPr>
          <a:xfrm>
            <a:off x="7498080" y="3657600"/>
            <a:ext cx="914400" cy="274320"/>
          </a:xfrm>
          <a:prstGeom prst="rect">
            <a:avLst/>
          </a:prstGeom>
          <a:noFill/>
        </p:spPr>
        <p:txBody>
          <a:bodyPr wrap="square" anchor="t" tIns="0" bIns="0" lIns="0" rIns="0">
            <a:spAutoFit/>
          </a:bodyPr>
          <a:lstStyle/>
          <a:p>
            <a:pPr algn="l">
              <a:lnSpc>
                <a:spcPct val="120000"/>
              </a:lnSpc>
              <a:spcBef>
                <a:spcPts val="0"/>
              </a:spcBef>
              <a:spcAft>
                <a:spcPts val="0"/>
              </a:spcAft>
              <a:defRPr sz="2800" b="1">
                <a:solidFill>
                  <a:srgbClr val="14B8A6"/>
                </a:solidFill>
                <a:latin typeface="Arial"/>
              </a:defRPr>
            </a:pPr>
            <a:r>
              <a:t>36%</a:t>
            </a:r>
          </a:p>
        </p:txBody>
      </p:sp>
      <p:sp>
        <p:nvSpPr>
          <p:cNvPr id="26" name="Rounded Rectangle 25"/>
          <p:cNvSpPr/>
          <p:nvPr/>
        </p:nvSpPr>
        <p:spPr>
          <a:xfrm>
            <a:off x="4846320" y="4160520"/>
            <a:ext cx="3566160" cy="914400"/>
          </a:xfrm>
          <a:prstGeom prst="roundRect">
            <a:avLst/>
          </a:prstGeom>
          <a:solidFill>
            <a:srgbClr val="ECFDF5"/>
          </a:solidFill>
          <a:ln w="381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270248"/>
            <a:ext cx="320040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2D3748"/>
                </a:solidFill>
                <a:latin typeface="Arial"/>
              </a:defRPr>
            </a:pPr>
            <a:r>
              <a:t>WHITE SPACE OPPORTUNITIES</a:t>
            </a:r>
          </a:p>
        </p:txBody>
      </p:sp>
      <p:sp>
        <p:nvSpPr>
          <p:cNvPr id="28" name="TextBox 27"/>
          <p:cNvSpPr txBox="1"/>
          <p:nvPr/>
        </p:nvSpPr>
        <p:spPr>
          <a:xfrm>
            <a:off x="5166360" y="4434840"/>
            <a:ext cx="3108960" cy="128016"/>
          </a:xfrm>
          <a:prstGeom prst="rect">
            <a:avLst/>
          </a:prstGeom>
          <a:noFill/>
        </p:spPr>
        <p:txBody>
          <a:bodyPr wrap="none">
            <a:spAutoFit/>
          </a:bodyPr>
          <a:lstStyle/>
          <a:p>
            <a:pPr>
              <a:defRPr sz="900"/>
            </a:pPr>
            <a:r>
              <a:t>● Kitchen organization (high need, minimal coverage)</a:t>
            </a:r>
          </a:p>
        </p:txBody>
      </p:sp>
      <p:sp>
        <p:nvSpPr>
          <p:cNvPr id="29" name="TextBox 28"/>
          <p:cNvSpPr txBox="1"/>
          <p:nvPr/>
        </p:nvSpPr>
        <p:spPr>
          <a:xfrm>
            <a:off x="5166360" y="4562856"/>
            <a:ext cx="3108960" cy="128016"/>
          </a:xfrm>
          <a:prstGeom prst="rect">
            <a:avLst/>
          </a:prstGeom>
          <a:noFill/>
        </p:spPr>
        <p:txBody>
          <a:bodyPr wrap="none">
            <a:spAutoFit/>
          </a:bodyPr>
          <a:lstStyle/>
          <a:p>
            <a:pPr>
              <a:defRPr sz="900"/>
            </a:pPr>
            <a:r>
              <a:t>● Bathroom storage (moisture + no-drill ideal)</a:t>
            </a:r>
          </a:p>
        </p:txBody>
      </p:sp>
      <p:sp>
        <p:nvSpPr>
          <p:cNvPr id="30" name="TextBox 29"/>
          <p:cNvSpPr txBox="1"/>
          <p:nvPr/>
        </p:nvSpPr>
        <p:spPr>
          <a:xfrm>
            <a:off x="5166360" y="4690872"/>
            <a:ext cx="3108960" cy="128016"/>
          </a:xfrm>
          <a:prstGeom prst="rect">
            <a:avLst/>
          </a:prstGeom>
          <a:noFill/>
        </p:spPr>
        <p:txBody>
          <a:bodyPr wrap="none">
            <a:spAutoFit/>
          </a:bodyPr>
          <a:lstStyle/>
          <a:p>
            <a:pPr>
              <a:defRPr sz="900"/>
            </a:pPr>
            <a:r>
              <a:t>● Outdoor/extreme weather (market demand exists)</a:t>
            </a:r>
          </a:p>
        </p:txBody>
      </p:sp>
      <p:sp>
        <p:nvSpPr>
          <p:cNvPr id="31" name="TextBox 30"/>
          <p:cNvSpPr txBox="1"/>
          <p:nvPr/>
        </p:nvSpPr>
        <p:spPr>
          <a:xfrm>
            <a:off x="5166360" y="4818888"/>
            <a:ext cx="3108960" cy="128016"/>
          </a:xfrm>
          <a:prstGeom prst="rect">
            <a:avLst/>
          </a:prstGeom>
          <a:noFill/>
        </p:spPr>
        <p:txBody>
          <a:bodyPr wrap="none">
            <a:spAutoFit/>
          </a:bodyPr>
          <a:lstStyle/>
          <a:p>
            <a:pPr>
              <a:defRPr sz="900"/>
            </a:pPr>
            <a:r>
              <a:t>● Budget-accessible segment (price sensitivity evident)</a:t>
            </a:r>
          </a:p>
        </p:txBody>
      </p:sp>
      <p:sp>
        <p:nvSpPr>
          <p:cNvPr id="32" name="Rectangle 31"/>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193 videos across 3 brands</a:t>
            </a:r>
          </a:p>
        </p:txBody>
      </p:sp>
      <p:sp>
        <p:nvSpPr>
          <p:cNvPr id="34" name="TextBox 33"/>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4 of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64008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Garage Organizer Market Reveals Strategic Positioning Gaps—Where the Real Opportunity Lies</a:t>
            </a:r>
          </a:p>
        </p:txBody>
      </p:sp>
      <p:sp>
        <p:nvSpPr>
          <p:cNvPr id="3" name="TextBox 2"/>
          <p:cNvSpPr txBox="1"/>
          <p:nvPr/>
        </p:nvSpPr>
        <p:spPr>
          <a:xfrm>
            <a:off x="731520" y="164592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THE PATTERN</a:t>
            </a:r>
          </a:p>
        </p:txBody>
      </p:sp>
      <p:sp>
        <p:nvSpPr>
          <p:cNvPr id="4" name="TextBox 3"/>
          <p:cNvSpPr txBox="1"/>
          <p:nvPr/>
        </p:nvSpPr>
        <p:spPr>
          <a:xfrm>
            <a:off x="731520" y="187452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1A202C"/>
                </a:solidFill>
                <a:latin typeface="Arial"/>
              </a:defRPr>
            </a:pPr>
            <a:r>
              <a:t>Three distinct market positions have emerged. Command dominates rental/temporary applications with mainstream presence. Scotch owns the DIY permanent mounting segment with strong creator advocacy.</a:t>
            </a:r>
          </a:p>
        </p:txBody>
      </p:sp>
      <p:sp>
        <p:nvSpPr>
          <p:cNvPr id="5" name="TextBox 4"/>
          <p:cNvSpPr txBox="1"/>
          <p:nvPr/>
        </p:nvSpPr>
        <p:spPr>
          <a:xfrm>
            <a:off x="731520" y="246888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INSIGHT</a:t>
            </a:r>
          </a:p>
        </p:txBody>
      </p:sp>
      <p:sp>
        <p:nvSpPr>
          <p:cNvPr id="6" name="TextBox 5"/>
          <p:cNvSpPr txBox="1"/>
          <p:nvPr/>
        </p:nvSpPr>
        <p:spPr>
          <a:xfrm>
            <a:off x="731520" y="269748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1A202C"/>
                </a:solidFill>
                <a:latin typeface="Arial"/>
              </a:defRPr>
            </a:pPr>
            <a:r>
              <a:t>The market has naturally segmented by use case rather than price. Brands succeed by owning clear specialization, not by competing on cost.</a:t>
            </a:r>
          </a:p>
        </p:txBody>
      </p:sp>
      <p:sp>
        <p:nvSpPr>
          <p:cNvPr id="7" name="Rounded Rectangle 6"/>
          <p:cNvSpPr/>
          <p:nvPr/>
        </p:nvSpPr>
        <p:spPr>
          <a:xfrm>
            <a:off x="731520" y="3291840"/>
            <a:ext cx="36576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01568"/>
            <a:ext cx="329184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HARD TRUTH</a:t>
            </a:r>
          </a:p>
        </p:txBody>
      </p:sp>
      <p:sp>
        <p:nvSpPr>
          <p:cNvPr id="9" name="TextBox 8"/>
          <p:cNvSpPr txBox="1"/>
          <p:nvPr/>
        </p:nvSpPr>
        <p:spPr>
          <a:xfrm>
            <a:off x="914400" y="3566160"/>
            <a:ext cx="3291840" cy="36576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FFFFFF"/>
                </a:solidFill>
                <a:latin typeface="Arial"/>
              </a:defRPr>
            </a:pPr>
            <a:r>
              <a:t>Two positioning gaps exist: (1) Premium all-purpose organizer for DIY enthusiasts, (2) Mass-market accessibility. First-mover advantage available.</a:t>
            </a:r>
          </a:p>
        </p:txBody>
      </p:sp>
      <p:sp>
        <p:nvSpPr>
          <p:cNvPr id="10" name="Rounded Rectangle 9"/>
          <p:cNvSpPr/>
          <p:nvPr/>
        </p:nvSpPr>
        <p:spPr>
          <a:xfrm>
            <a:off x="4846320" y="1645920"/>
            <a:ext cx="3566160" cy="3566160"/>
          </a:xfrm>
          <a:prstGeom prst="roundRect">
            <a:avLst/>
          </a:prstGeom>
          <a:solidFill>
            <a:srgbClr val="F8F9FA"/>
          </a:solidFill>
          <a:ln w="381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29400" y="1645920"/>
            <a:ext cx="25400" cy="35661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46320" y="3429000"/>
            <a:ext cx="356616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17373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Budget</a:t>
            </a:r>
            <a:br/>
            <a:r>
              <a:t>Niche</a:t>
            </a:r>
          </a:p>
        </p:txBody>
      </p:sp>
      <p:sp>
        <p:nvSpPr>
          <p:cNvPr id="14" name="Oval 13"/>
          <p:cNvSpPr/>
          <p:nvPr/>
        </p:nvSpPr>
        <p:spPr>
          <a:xfrm>
            <a:off x="5554980" y="2446020"/>
            <a:ext cx="365760" cy="36576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54980" y="2446020"/>
            <a:ext cx="365760" cy="365760"/>
          </a:xfrm>
          <a:prstGeom prst="rect">
            <a:avLst/>
          </a:prstGeom>
          <a:noFill/>
        </p:spPr>
        <p:txBody>
          <a:bodyPr wrap="square" anchor="t" tIns="0" bIns="0" lIns="0" rIns="0">
            <a:spAutoFit/>
          </a:bodyPr>
          <a:lstStyle/>
          <a:p>
            <a:pPr algn="ctr">
              <a:lnSpc>
                <a:spcPct val="120000"/>
              </a:lnSpc>
              <a:spcBef>
                <a:spcPts val="0"/>
              </a:spcBef>
              <a:spcAft>
                <a:spcPts val="0"/>
              </a:spcAft>
              <a:defRPr sz="1600" b="0">
                <a:solidFill>
                  <a:srgbClr val="1A202C"/>
                </a:solidFill>
                <a:latin typeface="Arial"/>
              </a:defRPr>
            </a:pPr>
            <a:r>
              <a:t>🏷</a:t>
            </a:r>
          </a:p>
        </p:txBody>
      </p:sp>
      <p:sp>
        <p:nvSpPr>
          <p:cNvPr id="16" name="TextBox 15"/>
          <p:cNvSpPr txBox="1"/>
          <p:nvPr/>
        </p:nvSpPr>
        <p:spPr>
          <a:xfrm>
            <a:off x="4937760" y="31089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Generic</a:t>
            </a:r>
          </a:p>
        </p:txBody>
      </p:sp>
      <p:sp>
        <p:nvSpPr>
          <p:cNvPr id="17" name="TextBox 16"/>
          <p:cNvSpPr txBox="1"/>
          <p:nvPr/>
        </p:nvSpPr>
        <p:spPr>
          <a:xfrm>
            <a:off x="6720840" y="17373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Premium</a:t>
            </a:r>
            <a:br/>
            <a:r>
              <a:t>Mainstream</a:t>
            </a:r>
          </a:p>
        </p:txBody>
      </p:sp>
      <p:sp>
        <p:nvSpPr>
          <p:cNvPr id="18" name="Oval 17"/>
          <p:cNvSpPr/>
          <p:nvPr/>
        </p:nvSpPr>
        <p:spPr>
          <a:xfrm>
            <a:off x="7292340" y="2400300"/>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92340" y="2400300"/>
            <a:ext cx="457200" cy="457200"/>
          </a:xfrm>
          <a:prstGeom prst="rect">
            <a:avLst/>
          </a:prstGeom>
          <a:noFill/>
        </p:spPr>
        <p:txBody>
          <a:bodyPr wrap="square" anchor="t" tIns="0" bIns="0" lIns="0" rIns="0">
            <a:spAutoFit/>
          </a:bodyPr>
          <a:lstStyle/>
          <a:p>
            <a:pPr algn="ctr">
              <a:lnSpc>
                <a:spcPct val="120000"/>
              </a:lnSpc>
              <a:spcBef>
                <a:spcPts val="0"/>
              </a:spcBef>
              <a:spcAft>
                <a:spcPts val="0"/>
              </a:spcAft>
              <a:defRPr sz="2000" b="1">
                <a:solidFill>
                  <a:srgbClr val="FFFFFF"/>
                </a:solidFill>
                <a:latin typeface="Arial"/>
              </a:defRPr>
            </a:pPr>
            <a:r>
              <a:t>S</a:t>
            </a:r>
          </a:p>
        </p:txBody>
      </p:sp>
      <p:sp>
        <p:nvSpPr>
          <p:cNvPr id="20" name="TextBox 19"/>
          <p:cNvSpPr txBox="1"/>
          <p:nvPr/>
        </p:nvSpPr>
        <p:spPr>
          <a:xfrm>
            <a:off x="6720840" y="31089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Scotch</a:t>
            </a:r>
          </a:p>
        </p:txBody>
      </p:sp>
      <p:sp>
        <p:nvSpPr>
          <p:cNvPr id="21" name="TextBox 20"/>
          <p:cNvSpPr txBox="1"/>
          <p:nvPr/>
        </p:nvSpPr>
        <p:spPr>
          <a:xfrm>
            <a:off x="4937760" y="35204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Budget</a:t>
            </a:r>
            <a:br/>
            <a:r>
              <a:t>Mainstream</a:t>
            </a:r>
          </a:p>
        </p:txBody>
      </p:sp>
      <p:sp>
        <p:nvSpPr>
          <p:cNvPr id="22" name="Oval 21"/>
          <p:cNvSpPr/>
          <p:nvPr/>
        </p:nvSpPr>
        <p:spPr>
          <a:xfrm>
            <a:off x="5509260" y="418338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9260" y="4183380"/>
            <a:ext cx="457200" cy="457200"/>
          </a:xfrm>
          <a:prstGeom prst="rect">
            <a:avLst/>
          </a:prstGeom>
          <a:noFill/>
        </p:spPr>
        <p:txBody>
          <a:bodyPr wrap="square" anchor="t" tIns="0" bIns="0" lIns="0" rIns="0">
            <a:spAutoFit/>
          </a:bodyPr>
          <a:lstStyle/>
          <a:p>
            <a:pPr algn="ctr">
              <a:lnSpc>
                <a:spcPct val="120000"/>
              </a:lnSpc>
              <a:spcBef>
                <a:spcPts val="0"/>
              </a:spcBef>
              <a:spcAft>
                <a:spcPts val="0"/>
              </a:spcAft>
              <a:defRPr sz="2000" b="1">
                <a:solidFill>
                  <a:srgbClr val="FFFFFF"/>
                </a:solidFill>
                <a:latin typeface="Arial"/>
              </a:defRPr>
            </a:pPr>
            <a:r>
              <a:t>C</a:t>
            </a:r>
          </a:p>
        </p:txBody>
      </p:sp>
      <p:sp>
        <p:nvSpPr>
          <p:cNvPr id="24" name="TextBox 23"/>
          <p:cNvSpPr txBox="1"/>
          <p:nvPr/>
        </p:nvSpPr>
        <p:spPr>
          <a:xfrm>
            <a:off x="4937760" y="48920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Command</a:t>
            </a:r>
          </a:p>
        </p:txBody>
      </p:sp>
      <p:sp>
        <p:nvSpPr>
          <p:cNvPr id="25" name="TextBox 24"/>
          <p:cNvSpPr txBox="1"/>
          <p:nvPr/>
        </p:nvSpPr>
        <p:spPr>
          <a:xfrm>
            <a:off x="6720840" y="35204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Premium</a:t>
            </a:r>
            <a:br/>
            <a:r>
              <a:t>Niche</a:t>
            </a:r>
          </a:p>
        </p:txBody>
      </p:sp>
      <p:sp>
        <p:nvSpPr>
          <p:cNvPr id="26" name="Oval 25"/>
          <p:cNvSpPr/>
          <p:nvPr/>
        </p:nvSpPr>
        <p:spPr>
          <a:xfrm>
            <a:off x="7292340" y="4183380"/>
            <a:ext cx="457200" cy="4572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2340" y="4183380"/>
            <a:ext cx="457200" cy="457200"/>
          </a:xfrm>
          <a:prstGeom prst="rect">
            <a:avLst/>
          </a:prstGeom>
          <a:noFill/>
        </p:spPr>
        <p:txBody>
          <a:bodyPr wrap="square" anchor="t" tIns="0" bIns="0" lIns="0" rIns="0">
            <a:spAutoFit/>
          </a:bodyPr>
          <a:lstStyle/>
          <a:p>
            <a:pPr algn="ctr">
              <a:lnSpc>
                <a:spcPct val="120000"/>
              </a:lnSpc>
              <a:spcBef>
                <a:spcPts val="0"/>
              </a:spcBef>
              <a:spcAft>
                <a:spcPts val="0"/>
              </a:spcAft>
              <a:defRPr sz="2000" b="1">
                <a:solidFill>
                  <a:srgbClr val="FFFFFF"/>
                </a:solidFill>
                <a:latin typeface="Arial"/>
              </a:defRPr>
            </a:pPr>
            <a:r>
              <a:t>3C</a:t>
            </a:r>
          </a:p>
        </p:txBody>
      </p:sp>
      <p:sp>
        <p:nvSpPr>
          <p:cNvPr id="28" name="TextBox 27"/>
          <p:cNvSpPr txBox="1"/>
          <p:nvPr/>
        </p:nvSpPr>
        <p:spPr>
          <a:xfrm>
            <a:off x="6720840" y="48920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3M Claw</a:t>
            </a:r>
          </a:p>
        </p:txBody>
      </p:sp>
      <p:sp>
        <p:nvSpPr>
          <p:cNvPr id="29" name="Rectangle 28"/>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Competitive positioning matrix from 193 creator videos</a:t>
            </a:r>
          </a:p>
        </p:txBody>
      </p:sp>
      <p:sp>
        <p:nvSpPr>
          <p:cNvPr id="31" name="TextBox 30"/>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6 of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64008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Garage Organizer Market Reveals Strategic Positioning Gaps—Where the Real Opportunity Lies</a:t>
            </a:r>
          </a:p>
        </p:txBody>
      </p:sp>
      <p:sp>
        <p:nvSpPr>
          <p:cNvPr id="3" name="TextBox 2"/>
          <p:cNvSpPr txBox="1"/>
          <p:nvPr/>
        </p:nvSpPr>
        <p:spPr>
          <a:xfrm>
            <a:off x="731520" y="164592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THE PATTERN</a:t>
            </a:r>
          </a:p>
        </p:txBody>
      </p:sp>
      <p:sp>
        <p:nvSpPr>
          <p:cNvPr id="4" name="TextBox 3"/>
          <p:cNvSpPr txBox="1"/>
          <p:nvPr/>
        </p:nvSpPr>
        <p:spPr>
          <a:xfrm>
            <a:off x="731520" y="187452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1A202C"/>
                </a:solidFill>
                <a:latin typeface="Arial"/>
              </a:defRPr>
            </a:pPr>
            <a:r>
              <a:t>Three distinct market positions have emerged. Command dominates rental/temporary applications with mainstream presence. Scotch owns the DIY permanent mounting segment with strong creator advocacy.</a:t>
            </a:r>
          </a:p>
        </p:txBody>
      </p:sp>
      <p:sp>
        <p:nvSpPr>
          <p:cNvPr id="5" name="TextBox 4"/>
          <p:cNvSpPr txBox="1"/>
          <p:nvPr/>
        </p:nvSpPr>
        <p:spPr>
          <a:xfrm>
            <a:off x="731520" y="246888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INSIGHT</a:t>
            </a:r>
          </a:p>
        </p:txBody>
      </p:sp>
      <p:sp>
        <p:nvSpPr>
          <p:cNvPr id="6" name="TextBox 5"/>
          <p:cNvSpPr txBox="1"/>
          <p:nvPr/>
        </p:nvSpPr>
        <p:spPr>
          <a:xfrm>
            <a:off x="731520" y="269748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1A202C"/>
                </a:solidFill>
                <a:latin typeface="Arial"/>
              </a:defRPr>
            </a:pPr>
            <a:r>
              <a:t>The market has naturally segmented by use case rather than price. Brands succeed by owning clear specialization, not by competing on cost.</a:t>
            </a:r>
          </a:p>
        </p:txBody>
      </p:sp>
      <p:sp>
        <p:nvSpPr>
          <p:cNvPr id="7" name="Rounded Rectangle 6"/>
          <p:cNvSpPr/>
          <p:nvPr/>
        </p:nvSpPr>
        <p:spPr>
          <a:xfrm>
            <a:off x="731520" y="3291840"/>
            <a:ext cx="36576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01568"/>
            <a:ext cx="329184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HARD TRUTH</a:t>
            </a:r>
          </a:p>
        </p:txBody>
      </p:sp>
      <p:sp>
        <p:nvSpPr>
          <p:cNvPr id="9" name="TextBox 8"/>
          <p:cNvSpPr txBox="1"/>
          <p:nvPr/>
        </p:nvSpPr>
        <p:spPr>
          <a:xfrm>
            <a:off x="914400" y="3566160"/>
            <a:ext cx="3291840" cy="36576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FFFFFF"/>
                </a:solidFill>
                <a:latin typeface="Arial"/>
              </a:defRPr>
            </a:pPr>
            <a:r>
              <a:t>Two positioning gaps exist: (1) Premium all-purpose organizer for DIY enthusiasts, (2) Mass-market accessibility. First-mover advantage available.</a:t>
            </a:r>
          </a:p>
        </p:txBody>
      </p:sp>
      <p:sp>
        <p:nvSpPr>
          <p:cNvPr id="10" name="Rounded Rectangle 9"/>
          <p:cNvSpPr/>
          <p:nvPr/>
        </p:nvSpPr>
        <p:spPr>
          <a:xfrm>
            <a:off x="4846320" y="1645920"/>
            <a:ext cx="3566160" cy="3566160"/>
          </a:xfrm>
          <a:prstGeom prst="roundRect">
            <a:avLst/>
          </a:prstGeom>
          <a:solidFill>
            <a:srgbClr val="F8F9FA"/>
          </a:solidFill>
          <a:ln w="381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29400" y="1645920"/>
            <a:ext cx="25400" cy="35661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46320" y="3429000"/>
            <a:ext cx="3566160" cy="2540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17373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Budget</a:t>
            </a:r>
            <a:br/>
            <a:r>
              <a:t>Niche</a:t>
            </a:r>
          </a:p>
        </p:txBody>
      </p:sp>
      <p:sp>
        <p:nvSpPr>
          <p:cNvPr id="14" name="Oval 13"/>
          <p:cNvSpPr/>
          <p:nvPr/>
        </p:nvSpPr>
        <p:spPr>
          <a:xfrm>
            <a:off x="5554980" y="2446020"/>
            <a:ext cx="365760" cy="365760"/>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54980" y="2446020"/>
            <a:ext cx="365760" cy="365760"/>
          </a:xfrm>
          <a:prstGeom prst="rect">
            <a:avLst/>
          </a:prstGeom>
          <a:noFill/>
        </p:spPr>
        <p:txBody>
          <a:bodyPr wrap="square" anchor="t" tIns="0" bIns="0" lIns="0" rIns="0">
            <a:spAutoFit/>
          </a:bodyPr>
          <a:lstStyle/>
          <a:p>
            <a:pPr algn="ctr">
              <a:lnSpc>
                <a:spcPct val="120000"/>
              </a:lnSpc>
              <a:spcBef>
                <a:spcPts val="0"/>
              </a:spcBef>
              <a:spcAft>
                <a:spcPts val="0"/>
              </a:spcAft>
              <a:defRPr sz="1600" b="0">
                <a:solidFill>
                  <a:srgbClr val="1A202C"/>
                </a:solidFill>
                <a:latin typeface="Arial"/>
              </a:defRPr>
            </a:pPr>
            <a:r>
              <a:t>🏷</a:t>
            </a:r>
          </a:p>
        </p:txBody>
      </p:sp>
      <p:sp>
        <p:nvSpPr>
          <p:cNvPr id="16" name="TextBox 15"/>
          <p:cNvSpPr txBox="1"/>
          <p:nvPr/>
        </p:nvSpPr>
        <p:spPr>
          <a:xfrm>
            <a:off x="4937760" y="31089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Generic</a:t>
            </a:r>
          </a:p>
        </p:txBody>
      </p:sp>
      <p:sp>
        <p:nvSpPr>
          <p:cNvPr id="17" name="TextBox 16"/>
          <p:cNvSpPr txBox="1"/>
          <p:nvPr/>
        </p:nvSpPr>
        <p:spPr>
          <a:xfrm>
            <a:off x="6720840" y="17373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Premium</a:t>
            </a:r>
            <a:br/>
            <a:r>
              <a:t>Mainstream</a:t>
            </a:r>
          </a:p>
        </p:txBody>
      </p:sp>
      <p:sp>
        <p:nvSpPr>
          <p:cNvPr id="18" name="Oval 17"/>
          <p:cNvSpPr/>
          <p:nvPr/>
        </p:nvSpPr>
        <p:spPr>
          <a:xfrm>
            <a:off x="7292340" y="2400300"/>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92340" y="2400300"/>
            <a:ext cx="457200" cy="457200"/>
          </a:xfrm>
          <a:prstGeom prst="rect">
            <a:avLst/>
          </a:prstGeom>
          <a:noFill/>
        </p:spPr>
        <p:txBody>
          <a:bodyPr wrap="square" anchor="t" tIns="0" bIns="0" lIns="0" rIns="0">
            <a:spAutoFit/>
          </a:bodyPr>
          <a:lstStyle/>
          <a:p>
            <a:pPr algn="ctr">
              <a:lnSpc>
                <a:spcPct val="120000"/>
              </a:lnSpc>
              <a:spcBef>
                <a:spcPts val="0"/>
              </a:spcBef>
              <a:spcAft>
                <a:spcPts val="0"/>
              </a:spcAft>
              <a:defRPr sz="2000" b="1">
                <a:solidFill>
                  <a:srgbClr val="FFFFFF"/>
                </a:solidFill>
                <a:latin typeface="Arial"/>
              </a:defRPr>
            </a:pPr>
            <a:r>
              <a:t>S</a:t>
            </a:r>
          </a:p>
        </p:txBody>
      </p:sp>
      <p:sp>
        <p:nvSpPr>
          <p:cNvPr id="20" name="TextBox 19"/>
          <p:cNvSpPr txBox="1"/>
          <p:nvPr/>
        </p:nvSpPr>
        <p:spPr>
          <a:xfrm>
            <a:off x="6720840" y="310896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Scotch</a:t>
            </a:r>
          </a:p>
        </p:txBody>
      </p:sp>
      <p:sp>
        <p:nvSpPr>
          <p:cNvPr id="21" name="TextBox 20"/>
          <p:cNvSpPr txBox="1"/>
          <p:nvPr/>
        </p:nvSpPr>
        <p:spPr>
          <a:xfrm>
            <a:off x="4937760" y="35204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Budget</a:t>
            </a:r>
            <a:br/>
            <a:r>
              <a:t>Mainstream</a:t>
            </a:r>
          </a:p>
        </p:txBody>
      </p:sp>
      <p:sp>
        <p:nvSpPr>
          <p:cNvPr id="22" name="Oval 21"/>
          <p:cNvSpPr/>
          <p:nvPr/>
        </p:nvSpPr>
        <p:spPr>
          <a:xfrm>
            <a:off x="5509260" y="418338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09260" y="4183380"/>
            <a:ext cx="457200" cy="457200"/>
          </a:xfrm>
          <a:prstGeom prst="rect">
            <a:avLst/>
          </a:prstGeom>
          <a:noFill/>
        </p:spPr>
        <p:txBody>
          <a:bodyPr wrap="square" anchor="t" tIns="0" bIns="0" lIns="0" rIns="0">
            <a:spAutoFit/>
          </a:bodyPr>
          <a:lstStyle/>
          <a:p>
            <a:pPr algn="ctr">
              <a:lnSpc>
                <a:spcPct val="120000"/>
              </a:lnSpc>
              <a:spcBef>
                <a:spcPts val="0"/>
              </a:spcBef>
              <a:spcAft>
                <a:spcPts val="0"/>
              </a:spcAft>
              <a:defRPr sz="2000" b="1">
                <a:solidFill>
                  <a:srgbClr val="FFFFFF"/>
                </a:solidFill>
                <a:latin typeface="Arial"/>
              </a:defRPr>
            </a:pPr>
            <a:r>
              <a:t>C</a:t>
            </a:r>
          </a:p>
        </p:txBody>
      </p:sp>
      <p:sp>
        <p:nvSpPr>
          <p:cNvPr id="24" name="TextBox 23"/>
          <p:cNvSpPr txBox="1"/>
          <p:nvPr/>
        </p:nvSpPr>
        <p:spPr>
          <a:xfrm>
            <a:off x="4937760" y="48920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Command</a:t>
            </a:r>
          </a:p>
        </p:txBody>
      </p:sp>
      <p:sp>
        <p:nvSpPr>
          <p:cNvPr id="25" name="TextBox 24"/>
          <p:cNvSpPr txBox="1"/>
          <p:nvPr/>
        </p:nvSpPr>
        <p:spPr>
          <a:xfrm>
            <a:off x="6720840" y="35204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999999"/>
                </a:solidFill>
                <a:latin typeface="Arial"/>
              </a:defRPr>
            </a:pPr>
            <a:r>
              <a:t>Premium</a:t>
            </a:r>
            <a:br/>
            <a:r>
              <a:t>Niche</a:t>
            </a:r>
          </a:p>
        </p:txBody>
      </p:sp>
      <p:sp>
        <p:nvSpPr>
          <p:cNvPr id="26" name="Oval 25"/>
          <p:cNvSpPr/>
          <p:nvPr/>
        </p:nvSpPr>
        <p:spPr>
          <a:xfrm>
            <a:off x="7292340" y="4183380"/>
            <a:ext cx="457200" cy="45720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2340" y="4183380"/>
            <a:ext cx="457200" cy="457200"/>
          </a:xfrm>
          <a:prstGeom prst="rect">
            <a:avLst/>
          </a:prstGeom>
          <a:noFill/>
        </p:spPr>
        <p:txBody>
          <a:bodyPr wrap="square" anchor="t" tIns="0" bIns="0" lIns="0" rIns="0">
            <a:spAutoFit/>
          </a:bodyPr>
          <a:lstStyle/>
          <a:p>
            <a:pPr algn="ctr">
              <a:lnSpc>
                <a:spcPct val="120000"/>
              </a:lnSpc>
              <a:spcBef>
                <a:spcPts val="0"/>
              </a:spcBef>
              <a:spcAft>
                <a:spcPts val="0"/>
              </a:spcAft>
              <a:defRPr sz="2000" b="1">
                <a:solidFill>
                  <a:srgbClr val="FFFFFF"/>
                </a:solidFill>
                <a:latin typeface="Arial"/>
              </a:defRPr>
            </a:pPr>
            <a:r>
              <a:t>3C</a:t>
            </a:r>
          </a:p>
        </p:txBody>
      </p:sp>
      <p:sp>
        <p:nvSpPr>
          <p:cNvPr id="28" name="TextBox 27"/>
          <p:cNvSpPr txBox="1"/>
          <p:nvPr/>
        </p:nvSpPr>
        <p:spPr>
          <a:xfrm>
            <a:off x="6720840" y="4892040"/>
            <a:ext cx="1600200" cy="228600"/>
          </a:xfrm>
          <a:prstGeom prst="rect">
            <a:avLst/>
          </a:prstGeom>
          <a:noFill/>
        </p:spPr>
        <p:txBody>
          <a:bodyPr wrap="square" anchor="t" tIns="0" bIns="0" lIns="0" rIns="0">
            <a:spAutoFit/>
          </a:bodyPr>
          <a:lstStyle/>
          <a:p>
            <a:pPr algn="ctr">
              <a:lnSpc>
                <a:spcPct val="120000"/>
              </a:lnSpc>
              <a:spcBef>
                <a:spcPts val="0"/>
              </a:spcBef>
              <a:spcAft>
                <a:spcPts val="0"/>
              </a:spcAft>
              <a:defRPr sz="1000" b="1">
                <a:solidFill>
                  <a:srgbClr val="1A202C"/>
                </a:solidFill>
                <a:latin typeface="Arial"/>
              </a:defRPr>
            </a:pPr>
            <a:r>
              <a:t>3M Claw</a:t>
            </a:r>
          </a:p>
        </p:txBody>
      </p:sp>
      <p:sp>
        <p:nvSpPr>
          <p:cNvPr id="29" name="Rectangle 28"/>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Analysis, Competitive positioning matrix from 193 creator videos</a:t>
            </a:r>
          </a:p>
        </p:txBody>
      </p:sp>
      <p:sp>
        <p:nvSpPr>
          <p:cNvPr id="31" name="TextBox 30"/>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6 of 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54864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Executive Summary: 3M Garage Organization Brand Perceptions Analysis</a:t>
            </a:r>
          </a:p>
        </p:txBody>
      </p:sp>
      <p:sp>
        <p:nvSpPr>
          <p:cNvPr id="3" name="Rounded Rectangle 2"/>
          <p:cNvSpPr/>
          <p:nvPr/>
        </p:nvSpPr>
        <p:spPr>
          <a:xfrm>
            <a:off x="731520" y="1554480"/>
            <a:ext cx="3657600" cy="9144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193</a:t>
            </a:r>
          </a:p>
        </p:txBody>
      </p:sp>
      <p:sp>
        <p:nvSpPr>
          <p:cNvPr id="5" name="TextBox 4"/>
          <p:cNvSpPr txBox="1"/>
          <p:nvPr/>
        </p:nvSpPr>
        <p:spPr>
          <a:xfrm>
            <a:off x="1005840" y="199339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Videos Analyzed</a:t>
            </a:r>
          </a:p>
        </p:txBody>
      </p:sp>
      <p:sp>
        <p:nvSpPr>
          <p:cNvPr id="6" name="TextBox 5"/>
          <p:cNvSpPr txBox="1"/>
          <p:nvPr/>
        </p:nvSpPr>
        <p:spPr>
          <a:xfrm>
            <a:off x="2834640" y="173736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47.9M</a:t>
            </a:r>
          </a:p>
        </p:txBody>
      </p:sp>
      <p:sp>
        <p:nvSpPr>
          <p:cNvPr id="7" name="TextBox 6"/>
          <p:cNvSpPr txBox="1"/>
          <p:nvPr/>
        </p:nvSpPr>
        <p:spPr>
          <a:xfrm>
            <a:off x="2834640" y="199339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Total Views</a:t>
            </a:r>
          </a:p>
        </p:txBody>
      </p:sp>
      <p:sp>
        <p:nvSpPr>
          <p:cNvPr id="8" name="TextBox 7"/>
          <p:cNvSpPr txBox="1"/>
          <p:nvPr/>
        </p:nvSpPr>
        <p:spPr>
          <a:xfrm>
            <a:off x="1005840" y="214884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3</a:t>
            </a:r>
          </a:p>
        </p:txBody>
      </p:sp>
      <p:sp>
        <p:nvSpPr>
          <p:cNvPr id="9" name="TextBox 8"/>
          <p:cNvSpPr txBox="1"/>
          <p:nvPr/>
        </p:nvSpPr>
        <p:spPr>
          <a:xfrm>
            <a:off x="1005840" y="240487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Brands Tracked</a:t>
            </a:r>
          </a:p>
        </p:txBody>
      </p:sp>
      <p:sp>
        <p:nvSpPr>
          <p:cNvPr id="10" name="TextBox 9"/>
          <p:cNvSpPr txBox="1"/>
          <p:nvPr/>
        </p:nvSpPr>
        <p:spPr>
          <a:xfrm>
            <a:off x="2834640" y="214884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248K</a:t>
            </a:r>
          </a:p>
        </p:txBody>
      </p:sp>
      <p:sp>
        <p:nvSpPr>
          <p:cNvPr id="11" name="TextBox 10"/>
          <p:cNvSpPr txBox="1"/>
          <p:nvPr/>
        </p:nvSpPr>
        <p:spPr>
          <a:xfrm>
            <a:off x="2834640" y="240487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Avg Views/Video</a:t>
            </a:r>
          </a:p>
        </p:txBody>
      </p:sp>
      <p:sp>
        <p:nvSpPr>
          <p:cNvPr id="12" name="TextBox 11"/>
          <p:cNvSpPr txBox="1"/>
          <p:nvPr/>
        </p:nvSpPr>
        <p:spPr>
          <a:xfrm>
            <a:off x="731520" y="265176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KEY INSIGHTS</a:t>
            </a:r>
          </a:p>
        </p:txBody>
      </p:sp>
      <p:sp>
        <p:nvSpPr>
          <p:cNvPr id="13" name="Rounded Rectangle 12"/>
          <p:cNvSpPr/>
          <p:nvPr/>
        </p:nvSpPr>
        <p:spPr>
          <a:xfrm>
            <a:off x="731520" y="2971800"/>
            <a:ext cx="3657600" cy="5486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3081528"/>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081528"/>
            <a:ext cx="228600" cy="228600"/>
          </a:xfrm>
          <a:prstGeom prst="rect">
            <a:avLst/>
          </a:prstGeom>
          <a:noFill/>
        </p:spPr>
        <p:txBody>
          <a:bodyPr wrap="square" anchor="t" tIns="0" bIns="0" lIns="0" rIns="0">
            <a:spAutoFit/>
          </a:bodyPr>
          <a:lstStyle/>
          <a:p>
            <a:pPr algn="ctr">
              <a:lnSpc>
                <a:spcPct val="120000"/>
              </a:lnSpc>
              <a:spcBef>
                <a:spcPts val="0"/>
              </a:spcBef>
              <a:spcAft>
                <a:spcPts val="0"/>
              </a:spcAft>
              <a:defRPr sz="1400" b="1">
                <a:solidFill>
                  <a:srgbClr val="FFFFFF"/>
                </a:solidFill>
                <a:latin typeface="Arial"/>
              </a:defRPr>
            </a:pPr>
            <a:r>
              <a:t>1</a:t>
            </a:r>
          </a:p>
        </p:txBody>
      </p:sp>
      <p:sp>
        <p:nvSpPr>
          <p:cNvPr id="16" name="TextBox 15"/>
          <p:cNvSpPr txBox="1"/>
          <p:nvPr/>
        </p:nvSpPr>
        <p:spPr>
          <a:xfrm>
            <a:off x="1188720" y="3081528"/>
            <a:ext cx="3017520" cy="164592"/>
          </a:xfrm>
          <a:prstGeom prst="rect">
            <a:avLst/>
          </a:prstGeom>
          <a:noFill/>
        </p:spPr>
        <p:txBody>
          <a:bodyPr wrap="square" anchor="t" tIns="0" bIns="0" lIns="0" rIns="0">
            <a:spAutoFit/>
          </a:bodyPr>
          <a:lstStyle/>
          <a:p>
            <a:pPr algn="l">
              <a:lnSpc>
                <a:spcPct val="120000"/>
              </a:lnSpc>
              <a:spcBef>
                <a:spcPts val="0"/>
              </a:spcBef>
              <a:spcAft>
                <a:spcPts val="0"/>
              </a:spcAft>
              <a:defRPr sz="1300" b="1">
                <a:solidFill>
                  <a:srgbClr val="2D3748"/>
                </a:solidFill>
                <a:latin typeface="Arial"/>
              </a:defRPr>
            </a:pPr>
            <a:r>
              <a:t>Command Brand Crisis</a:t>
            </a:r>
          </a:p>
        </p:txBody>
      </p:sp>
      <p:sp>
        <p:nvSpPr>
          <p:cNvPr id="17" name="TextBox 16"/>
          <p:cNvSpPr txBox="1"/>
          <p:nvPr/>
        </p:nvSpPr>
        <p:spPr>
          <a:xfrm>
            <a:off x="1188720" y="3264408"/>
            <a:ext cx="3017520" cy="201168"/>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1A202C"/>
                </a:solidFill>
                <a:latin typeface="Arial"/>
              </a:defRPr>
            </a:pPr>
            <a:r>
              <a:t>Surface damage complaints exceed damage-free claims by 2.4:1</a:t>
            </a:r>
          </a:p>
        </p:txBody>
      </p:sp>
      <p:sp>
        <p:nvSpPr>
          <p:cNvPr id="18" name="Rounded Rectangle 17"/>
          <p:cNvSpPr/>
          <p:nvPr/>
        </p:nvSpPr>
        <p:spPr>
          <a:xfrm>
            <a:off x="731520" y="3611880"/>
            <a:ext cx="3657600" cy="5486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3721608"/>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721608"/>
            <a:ext cx="228600" cy="228600"/>
          </a:xfrm>
          <a:prstGeom prst="rect">
            <a:avLst/>
          </a:prstGeom>
          <a:noFill/>
        </p:spPr>
        <p:txBody>
          <a:bodyPr wrap="square" anchor="t" tIns="0" bIns="0" lIns="0" rIns="0">
            <a:spAutoFit/>
          </a:bodyPr>
          <a:lstStyle/>
          <a:p>
            <a:pPr algn="ctr">
              <a:lnSpc>
                <a:spcPct val="120000"/>
              </a:lnSpc>
              <a:spcBef>
                <a:spcPts val="0"/>
              </a:spcBef>
              <a:spcAft>
                <a:spcPts val="0"/>
              </a:spcAft>
              <a:defRPr sz="1400" b="1">
                <a:solidFill>
                  <a:srgbClr val="FFFFFF"/>
                </a:solidFill>
                <a:latin typeface="Arial"/>
              </a:defRPr>
            </a:pPr>
            <a:r>
              <a:t>2</a:t>
            </a:r>
          </a:p>
        </p:txBody>
      </p:sp>
      <p:sp>
        <p:nvSpPr>
          <p:cNvPr id="21" name="TextBox 20"/>
          <p:cNvSpPr txBox="1"/>
          <p:nvPr/>
        </p:nvSpPr>
        <p:spPr>
          <a:xfrm>
            <a:off x="1188720" y="3721608"/>
            <a:ext cx="3017520" cy="164592"/>
          </a:xfrm>
          <a:prstGeom prst="rect">
            <a:avLst/>
          </a:prstGeom>
          <a:noFill/>
        </p:spPr>
        <p:txBody>
          <a:bodyPr wrap="square" anchor="t" tIns="0" bIns="0" lIns="0" rIns="0">
            <a:spAutoFit/>
          </a:bodyPr>
          <a:lstStyle/>
          <a:p>
            <a:pPr algn="l">
              <a:lnSpc>
                <a:spcPct val="120000"/>
              </a:lnSpc>
              <a:spcBef>
                <a:spcPts val="0"/>
              </a:spcBef>
              <a:spcAft>
                <a:spcPts val="0"/>
              </a:spcAft>
              <a:defRPr sz="1300" b="1">
                <a:solidFill>
                  <a:srgbClr val="2D3748"/>
                </a:solidFill>
                <a:latin typeface="Arial"/>
              </a:defRPr>
            </a:pPr>
            <a:r>
              <a:t>Scotch Sentiment Advantage</a:t>
            </a:r>
          </a:p>
        </p:txBody>
      </p:sp>
      <p:sp>
        <p:nvSpPr>
          <p:cNvPr id="22" name="TextBox 21"/>
          <p:cNvSpPr txBox="1"/>
          <p:nvPr/>
        </p:nvSpPr>
        <p:spPr>
          <a:xfrm>
            <a:off x="1188720" y="3904488"/>
            <a:ext cx="3017520" cy="201168"/>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1A202C"/>
                </a:solidFill>
                <a:latin typeface="Arial"/>
              </a:defRPr>
            </a:pPr>
            <a:r>
              <a:t>Best positive sentiment (20.6%), creating 14:1 advocacy ratio</a:t>
            </a:r>
          </a:p>
        </p:txBody>
      </p:sp>
      <p:sp>
        <p:nvSpPr>
          <p:cNvPr id="23" name="Rounded Rectangle 22"/>
          <p:cNvSpPr/>
          <p:nvPr/>
        </p:nvSpPr>
        <p:spPr>
          <a:xfrm>
            <a:off x="4846320" y="1554480"/>
            <a:ext cx="3566160" cy="4114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1737360"/>
            <a:ext cx="3017520" cy="182880"/>
          </a:xfrm>
          <a:prstGeom prst="rect">
            <a:avLst/>
          </a:prstGeom>
          <a:noFill/>
        </p:spPr>
        <p:txBody>
          <a:bodyPr wrap="square" anchor="t" tIns="0" bIns="0" lIns="0" rIns="0">
            <a:spAutoFit/>
          </a:bodyPr>
          <a:lstStyle/>
          <a:p>
            <a:pPr algn="l">
              <a:lnSpc>
                <a:spcPct val="120000"/>
              </a:lnSpc>
              <a:spcBef>
                <a:spcPts val="0"/>
              </a:spcBef>
              <a:spcAft>
                <a:spcPts val="0"/>
              </a:spcAft>
              <a:defRPr sz="1400" b="1">
                <a:solidFill>
                  <a:srgbClr val="FFFFFF"/>
                </a:solidFill>
                <a:latin typeface="Arial"/>
              </a:defRPr>
            </a:pPr>
            <a:r>
              <a:t>STRATEGIC PRIORITY ACTIONS</a:t>
            </a:r>
          </a:p>
        </p:txBody>
      </p:sp>
      <p:sp>
        <p:nvSpPr>
          <p:cNvPr id="25" name="TextBox 24"/>
          <p:cNvSpPr txBox="1"/>
          <p:nvPr/>
        </p:nvSpPr>
        <p:spPr>
          <a:xfrm>
            <a:off x="5120640" y="2011680"/>
            <a:ext cx="3017520" cy="365760"/>
          </a:xfrm>
          <a:prstGeom prst="rect">
            <a:avLst/>
          </a:prstGeom>
          <a:noFill/>
        </p:spPr>
        <p:txBody>
          <a:bodyPr wrap="square" anchor="t" tIns="0" bIns="0" lIns="0" rIns="0">
            <a:spAutoFit/>
          </a:bodyPr>
          <a:lstStyle/>
          <a:p>
            <a:pPr algn="l">
              <a:lnSpc>
                <a:spcPct val="120000"/>
              </a:lnSpc>
              <a:spcBef>
                <a:spcPts val="0"/>
              </a:spcBef>
              <a:spcAft>
                <a:spcPts val="0"/>
              </a:spcAft>
              <a:defRPr sz="1300" b="1">
                <a:solidFill>
                  <a:srgbClr val="FFFFFF"/>
                </a:solidFill>
                <a:latin typeface="Arial"/>
              </a:defRPr>
            </a:pPr>
            <a:r>
              <a:t>Based on comprehensive analysis of 193 YouTube videos representing 47.9M views, three urgent priorities emerge:</a:t>
            </a:r>
          </a:p>
        </p:txBody>
      </p:sp>
      <p:sp>
        <p:nvSpPr>
          <p:cNvPr id="26" name="TextBox 25"/>
          <p:cNvSpPr txBox="1"/>
          <p:nvPr/>
        </p:nvSpPr>
        <p:spPr>
          <a:xfrm>
            <a:off x="5257800" y="2468880"/>
            <a:ext cx="2926080" cy="365760"/>
          </a:xfrm>
          <a:prstGeom prst="rect">
            <a:avLst/>
          </a:prstGeom>
          <a:noFill/>
        </p:spPr>
        <p:txBody>
          <a:bodyPr wrap="none">
            <a:spAutoFit/>
          </a:bodyPr>
          <a:lstStyle/>
          <a:p>
            <a:r>
              <a:rPr sz="1400" b="1">
                <a:solidFill>
                  <a:srgbClr val="FFFFFF"/>
                </a:solidFill>
              </a:rPr>
              <a:t>→ </a:t>
            </a:r>
            <a:r>
              <a:rPr sz="1100">
                <a:solidFill>
                  <a:srgbClr val="F0F0F0"/>
                </a:solidFill>
              </a:rPr>
              <a:t>Command Crisis Management: Launch quality investigation + installation education (30 days)</a:t>
            </a:r>
          </a:p>
        </p:txBody>
      </p:sp>
      <p:sp>
        <p:nvSpPr>
          <p:cNvPr id="27" name="TextBox 26"/>
          <p:cNvSpPr txBox="1"/>
          <p:nvPr/>
        </p:nvSpPr>
        <p:spPr>
          <a:xfrm>
            <a:off x="5257800" y="3063240"/>
            <a:ext cx="2926080" cy="365760"/>
          </a:xfrm>
          <a:prstGeom prst="rect">
            <a:avLst/>
          </a:prstGeom>
          <a:noFill/>
        </p:spPr>
        <p:txBody>
          <a:bodyPr wrap="none">
            <a:spAutoFit/>
          </a:bodyPr>
          <a:lstStyle/>
          <a:p>
            <a:r>
              <a:rPr sz="1400" b="1">
                <a:solidFill>
                  <a:srgbClr val="FFFFFF"/>
                </a:solidFill>
              </a:rPr>
              <a:t>→ </a:t>
            </a:r>
            <a:r>
              <a:rPr sz="1100">
                <a:solidFill>
                  <a:srgbClr val="F0F0F0"/>
                </a:solidFill>
              </a:rPr>
              <a:t>Scotch Advocacy Amplification: User testimonials + influencer partnerships</a:t>
            </a:r>
          </a:p>
        </p:txBody>
      </p:sp>
      <p:sp>
        <p:nvSpPr>
          <p:cNvPr id="28" name="TextBox 27"/>
          <p:cNvSpPr txBox="1"/>
          <p:nvPr/>
        </p:nvSpPr>
        <p:spPr>
          <a:xfrm>
            <a:off x="5257800" y="3657600"/>
            <a:ext cx="2926080" cy="365760"/>
          </a:xfrm>
          <a:prstGeom prst="rect">
            <a:avLst/>
          </a:prstGeom>
          <a:noFill/>
        </p:spPr>
        <p:txBody>
          <a:bodyPr wrap="none">
            <a:spAutoFit/>
          </a:bodyPr>
          <a:lstStyle/>
          <a:p>
            <a:r>
              <a:rPr sz="1400" b="1">
                <a:solidFill>
                  <a:srgbClr val="FFFFFF"/>
                </a:solidFill>
              </a:rPr>
              <a:t>→ </a:t>
            </a:r>
            <a:r>
              <a:rPr sz="1100">
                <a:solidFill>
                  <a:srgbClr val="F0F0F0"/>
                </a:solidFill>
              </a:rPr>
              <a:t>Renter Market Expansion: Increase content from 17.6% to 50%+</a:t>
            </a:r>
          </a:p>
        </p:txBody>
      </p:sp>
      <p:sp>
        <p:nvSpPr>
          <p:cNvPr id="29" name="TextBox 28"/>
          <p:cNvSpPr txBox="1"/>
          <p:nvPr/>
        </p:nvSpPr>
        <p:spPr>
          <a:xfrm>
            <a:off x="5257800" y="4251960"/>
            <a:ext cx="2926080" cy="365760"/>
          </a:xfrm>
          <a:prstGeom prst="rect">
            <a:avLst/>
          </a:prstGeom>
          <a:noFill/>
        </p:spPr>
        <p:txBody>
          <a:bodyPr wrap="none">
            <a:spAutoFit/>
          </a:bodyPr>
          <a:lstStyle/>
          <a:p>
            <a:r>
              <a:rPr sz="1400" b="1">
                <a:solidFill>
                  <a:srgbClr val="FFFFFF"/>
                </a:solidFill>
              </a:rPr>
              <a:t>→ </a:t>
            </a:r>
            <a:r>
              <a:rPr sz="1100">
                <a:solidFill>
                  <a:srgbClr val="F0F0F0"/>
                </a:solidFill>
              </a:rPr>
              <a:t>Temperature Innovation: All-weather product line or transparent boundaries</a:t>
            </a:r>
          </a:p>
        </p:txBody>
      </p:sp>
      <p:sp>
        <p:nvSpPr>
          <p:cNvPr id="30" name="TextBox 29"/>
          <p:cNvSpPr txBox="1"/>
          <p:nvPr/>
        </p:nvSpPr>
        <p:spPr>
          <a:xfrm>
            <a:off x="5257800" y="4846320"/>
            <a:ext cx="2926080" cy="365760"/>
          </a:xfrm>
          <a:prstGeom prst="rect">
            <a:avLst/>
          </a:prstGeom>
          <a:noFill/>
        </p:spPr>
        <p:txBody>
          <a:bodyPr wrap="none">
            <a:spAutoFit/>
          </a:bodyPr>
          <a:lstStyle/>
          <a:p>
            <a:r>
              <a:rPr sz="1400" b="1">
                <a:solidFill>
                  <a:srgbClr val="FFFFFF"/>
                </a:solidFill>
              </a:rPr>
              <a:t>→ </a:t>
            </a:r>
            <a:r>
              <a:rPr sz="1100">
                <a:solidFill>
                  <a:srgbClr val="F0F0F0"/>
                </a:solidFill>
              </a:rPr>
              <a:t>3M Claw Specialization: Heavy-duty positioning + tutorial partnerships</a:t>
            </a:r>
          </a:p>
        </p:txBody>
      </p:sp>
      <p:sp>
        <p:nvSpPr>
          <p:cNvPr id="31" name="Rectangle 30"/>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Comprehensive Analysis | 193 YouTube Videos | Dataset Views: 47,916,814</a:t>
            </a:r>
          </a:p>
        </p:txBody>
      </p:sp>
      <p:sp>
        <p:nvSpPr>
          <p:cNvPr id="33" name="TextBox 32"/>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8 of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54864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Executive Summary: 3M Garage Organization Brand Perceptions Analysis</a:t>
            </a:r>
          </a:p>
        </p:txBody>
      </p:sp>
      <p:sp>
        <p:nvSpPr>
          <p:cNvPr id="3" name="Rounded Rectangle 2"/>
          <p:cNvSpPr/>
          <p:nvPr/>
        </p:nvSpPr>
        <p:spPr>
          <a:xfrm>
            <a:off x="731520" y="1554480"/>
            <a:ext cx="3657600" cy="9144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193</a:t>
            </a:r>
          </a:p>
        </p:txBody>
      </p:sp>
      <p:sp>
        <p:nvSpPr>
          <p:cNvPr id="5" name="TextBox 4"/>
          <p:cNvSpPr txBox="1"/>
          <p:nvPr/>
        </p:nvSpPr>
        <p:spPr>
          <a:xfrm>
            <a:off x="1005840" y="199339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Videos Analyzed</a:t>
            </a:r>
          </a:p>
        </p:txBody>
      </p:sp>
      <p:sp>
        <p:nvSpPr>
          <p:cNvPr id="6" name="TextBox 5"/>
          <p:cNvSpPr txBox="1"/>
          <p:nvPr/>
        </p:nvSpPr>
        <p:spPr>
          <a:xfrm>
            <a:off x="2834640" y="173736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47.9M</a:t>
            </a:r>
          </a:p>
        </p:txBody>
      </p:sp>
      <p:sp>
        <p:nvSpPr>
          <p:cNvPr id="7" name="TextBox 6"/>
          <p:cNvSpPr txBox="1"/>
          <p:nvPr/>
        </p:nvSpPr>
        <p:spPr>
          <a:xfrm>
            <a:off x="2834640" y="199339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Total Views</a:t>
            </a:r>
          </a:p>
        </p:txBody>
      </p:sp>
      <p:sp>
        <p:nvSpPr>
          <p:cNvPr id="8" name="TextBox 7"/>
          <p:cNvSpPr txBox="1"/>
          <p:nvPr/>
        </p:nvSpPr>
        <p:spPr>
          <a:xfrm>
            <a:off x="1005840" y="214884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3</a:t>
            </a:r>
          </a:p>
        </p:txBody>
      </p:sp>
      <p:sp>
        <p:nvSpPr>
          <p:cNvPr id="9" name="TextBox 8"/>
          <p:cNvSpPr txBox="1"/>
          <p:nvPr/>
        </p:nvSpPr>
        <p:spPr>
          <a:xfrm>
            <a:off x="1005840" y="240487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Brands Tracked</a:t>
            </a:r>
          </a:p>
        </p:txBody>
      </p:sp>
      <p:sp>
        <p:nvSpPr>
          <p:cNvPr id="10" name="TextBox 9"/>
          <p:cNvSpPr txBox="1"/>
          <p:nvPr/>
        </p:nvSpPr>
        <p:spPr>
          <a:xfrm>
            <a:off x="2834640" y="2148840"/>
            <a:ext cx="1554480" cy="274320"/>
          </a:xfrm>
          <a:prstGeom prst="rect">
            <a:avLst/>
          </a:prstGeom>
          <a:noFill/>
        </p:spPr>
        <p:txBody>
          <a:bodyPr wrap="square" anchor="t" tIns="0" bIns="0" lIns="0" rIns="0">
            <a:spAutoFit/>
          </a:bodyPr>
          <a:lstStyle/>
          <a:p>
            <a:pPr algn="l">
              <a:lnSpc>
                <a:spcPct val="120000"/>
              </a:lnSpc>
              <a:spcBef>
                <a:spcPts val="0"/>
              </a:spcBef>
              <a:spcAft>
                <a:spcPts val="0"/>
              </a:spcAft>
              <a:defRPr sz="3200" b="1">
                <a:solidFill>
                  <a:srgbClr val="14B8A6"/>
                </a:solidFill>
                <a:latin typeface="Arial"/>
              </a:defRPr>
            </a:pPr>
            <a:r>
              <a:t>248K</a:t>
            </a:r>
          </a:p>
        </p:txBody>
      </p:sp>
      <p:sp>
        <p:nvSpPr>
          <p:cNvPr id="11" name="TextBox 10"/>
          <p:cNvSpPr txBox="1"/>
          <p:nvPr/>
        </p:nvSpPr>
        <p:spPr>
          <a:xfrm>
            <a:off x="2834640" y="2404872"/>
            <a:ext cx="1554480" cy="13716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C8C8C8"/>
                </a:solidFill>
                <a:latin typeface="Arial"/>
              </a:defRPr>
            </a:pPr>
            <a:r>
              <a:t>Avg Views/Video</a:t>
            </a:r>
          </a:p>
        </p:txBody>
      </p:sp>
      <p:sp>
        <p:nvSpPr>
          <p:cNvPr id="12" name="TextBox 11"/>
          <p:cNvSpPr txBox="1"/>
          <p:nvPr/>
        </p:nvSpPr>
        <p:spPr>
          <a:xfrm>
            <a:off x="731520" y="265176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2D3748"/>
                </a:solidFill>
                <a:latin typeface="Arial"/>
              </a:defRPr>
            </a:pPr>
            <a:r>
              <a:t>KEY INSIGHTS</a:t>
            </a:r>
          </a:p>
        </p:txBody>
      </p:sp>
      <p:sp>
        <p:nvSpPr>
          <p:cNvPr id="13" name="Rounded Rectangle 12"/>
          <p:cNvSpPr/>
          <p:nvPr/>
        </p:nvSpPr>
        <p:spPr>
          <a:xfrm>
            <a:off x="731520" y="2971800"/>
            <a:ext cx="3657600" cy="5486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8680" y="3081528"/>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081528"/>
            <a:ext cx="228600" cy="228600"/>
          </a:xfrm>
          <a:prstGeom prst="rect">
            <a:avLst/>
          </a:prstGeom>
          <a:noFill/>
        </p:spPr>
        <p:txBody>
          <a:bodyPr wrap="square" anchor="t" tIns="0" bIns="0" lIns="0" rIns="0">
            <a:spAutoFit/>
          </a:bodyPr>
          <a:lstStyle/>
          <a:p>
            <a:pPr algn="ctr">
              <a:lnSpc>
                <a:spcPct val="120000"/>
              </a:lnSpc>
              <a:spcBef>
                <a:spcPts val="0"/>
              </a:spcBef>
              <a:spcAft>
                <a:spcPts val="0"/>
              </a:spcAft>
              <a:defRPr sz="1400" b="1">
                <a:solidFill>
                  <a:srgbClr val="FFFFFF"/>
                </a:solidFill>
                <a:latin typeface="Arial"/>
              </a:defRPr>
            </a:pPr>
            <a:r>
              <a:t>1</a:t>
            </a:r>
          </a:p>
        </p:txBody>
      </p:sp>
      <p:sp>
        <p:nvSpPr>
          <p:cNvPr id="16" name="TextBox 15"/>
          <p:cNvSpPr txBox="1"/>
          <p:nvPr/>
        </p:nvSpPr>
        <p:spPr>
          <a:xfrm>
            <a:off x="1188720" y="3081528"/>
            <a:ext cx="3017520" cy="164592"/>
          </a:xfrm>
          <a:prstGeom prst="rect">
            <a:avLst/>
          </a:prstGeom>
          <a:noFill/>
        </p:spPr>
        <p:txBody>
          <a:bodyPr wrap="square" anchor="t" tIns="0" bIns="0" lIns="0" rIns="0">
            <a:spAutoFit/>
          </a:bodyPr>
          <a:lstStyle/>
          <a:p>
            <a:pPr algn="l">
              <a:lnSpc>
                <a:spcPct val="120000"/>
              </a:lnSpc>
              <a:spcBef>
                <a:spcPts val="0"/>
              </a:spcBef>
              <a:spcAft>
                <a:spcPts val="0"/>
              </a:spcAft>
              <a:defRPr sz="1300" b="1">
                <a:solidFill>
                  <a:srgbClr val="2D3748"/>
                </a:solidFill>
                <a:latin typeface="Arial"/>
              </a:defRPr>
            </a:pPr>
            <a:r>
              <a:t>Command Brand Crisis</a:t>
            </a:r>
          </a:p>
        </p:txBody>
      </p:sp>
      <p:sp>
        <p:nvSpPr>
          <p:cNvPr id="17" name="TextBox 16"/>
          <p:cNvSpPr txBox="1"/>
          <p:nvPr/>
        </p:nvSpPr>
        <p:spPr>
          <a:xfrm>
            <a:off x="1188720" y="3264408"/>
            <a:ext cx="3017520" cy="201168"/>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1A202C"/>
                </a:solidFill>
                <a:latin typeface="Arial"/>
              </a:defRPr>
            </a:pPr>
            <a:r>
              <a:t>Surface damage complaints exceed damage-free claims by 2.4:1</a:t>
            </a:r>
          </a:p>
        </p:txBody>
      </p:sp>
      <p:sp>
        <p:nvSpPr>
          <p:cNvPr id="18" name="Rounded Rectangle 17"/>
          <p:cNvSpPr/>
          <p:nvPr/>
        </p:nvSpPr>
        <p:spPr>
          <a:xfrm>
            <a:off x="731520" y="3611880"/>
            <a:ext cx="3657600" cy="54864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3721608"/>
            <a:ext cx="228600" cy="2286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721608"/>
            <a:ext cx="228600" cy="228600"/>
          </a:xfrm>
          <a:prstGeom prst="rect">
            <a:avLst/>
          </a:prstGeom>
          <a:noFill/>
        </p:spPr>
        <p:txBody>
          <a:bodyPr wrap="square" anchor="t" tIns="0" bIns="0" lIns="0" rIns="0">
            <a:spAutoFit/>
          </a:bodyPr>
          <a:lstStyle/>
          <a:p>
            <a:pPr algn="ctr">
              <a:lnSpc>
                <a:spcPct val="120000"/>
              </a:lnSpc>
              <a:spcBef>
                <a:spcPts val="0"/>
              </a:spcBef>
              <a:spcAft>
                <a:spcPts val="0"/>
              </a:spcAft>
              <a:defRPr sz="1400" b="1">
                <a:solidFill>
                  <a:srgbClr val="FFFFFF"/>
                </a:solidFill>
                <a:latin typeface="Arial"/>
              </a:defRPr>
            </a:pPr>
            <a:r>
              <a:t>2</a:t>
            </a:r>
          </a:p>
        </p:txBody>
      </p:sp>
      <p:sp>
        <p:nvSpPr>
          <p:cNvPr id="21" name="TextBox 20"/>
          <p:cNvSpPr txBox="1"/>
          <p:nvPr/>
        </p:nvSpPr>
        <p:spPr>
          <a:xfrm>
            <a:off x="1188720" y="3721608"/>
            <a:ext cx="3017520" cy="164592"/>
          </a:xfrm>
          <a:prstGeom prst="rect">
            <a:avLst/>
          </a:prstGeom>
          <a:noFill/>
        </p:spPr>
        <p:txBody>
          <a:bodyPr wrap="square" anchor="t" tIns="0" bIns="0" lIns="0" rIns="0">
            <a:spAutoFit/>
          </a:bodyPr>
          <a:lstStyle/>
          <a:p>
            <a:pPr algn="l">
              <a:lnSpc>
                <a:spcPct val="120000"/>
              </a:lnSpc>
              <a:spcBef>
                <a:spcPts val="0"/>
              </a:spcBef>
              <a:spcAft>
                <a:spcPts val="0"/>
              </a:spcAft>
              <a:defRPr sz="1300" b="1">
                <a:solidFill>
                  <a:srgbClr val="2D3748"/>
                </a:solidFill>
                <a:latin typeface="Arial"/>
              </a:defRPr>
            </a:pPr>
            <a:r>
              <a:t>Scotch Sentiment Advantage</a:t>
            </a:r>
          </a:p>
        </p:txBody>
      </p:sp>
      <p:sp>
        <p:nvSpPr>
          <p:cNvPr id="22" name="TextBox 21"/>
          <p:cNvSpPr txBox="1"/>
          <p:nvPr/>
        </p:nvSpPr>
        <p:spPr>
          <a:xfrm>
            <a:off x="1188720" y="3904488"/>
            <a:ext cx="3017520" cy="201168"/>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1A202C"/>
                </a:solidFill>
                <a:latin typeface="Arial"/>
              </a:defRPr>
            </a:pPr>
            <a:r>
              <a:t>Best positive sentiment (20.6%), creating 14:1 advocacy ratio</a:t>
            </a:r>
          </a:p>
        </p:txBody>
      </p:sp>
      <p:sp>
        <p:nvSpPr>
          <p:cNvPr id="23" name="Rounded Rectangle 22"/>
          <p:cNvSpPr/>
          <p:nvPr/>
        </p:nvSpPr>
        <p:spPr>
          <a:xfrm>
            <a:off x="4846320" y="1554480"/>
            <a:ext cx="3566160" cy="4114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1737360"/>
            <a:ext cx="3017520" cy="182880"/>
          </a:xfrm>
          <a:prstGeom prst="rect">
            <a:avLst/>
          </a:prstGeom>
          <a:noFill/>
        </p:spPr>
        <p:txBody>
          <a:bodyPr wrap="square" anchor="t" tIns="0" bIns="0" lIns="0" rIns="0">
            <a:spAutoFit/>
          </a:bodyPr>
          <a:lstStyle/>
          <a:p>
            <a:pPr algn="l">
              <a:lnSpc>
                <a:spcPct val="120000"/>
              </a:lnSpc>
              <a:spcBef>
                <a:spcPts val="0"/>
              </a:spcBef>
              <a:spcAft>
                <a:spcPts val="0"/>
              </a:spcAft>
              <a:defRPr sz="1400" b="1">
                <a:solidFill>
                  <a:srgbClr val="FFFFFF"/>
                </a:solidFill>
                <a:latin typeface="Arial"/>
              </a:defRPr>
            </a:pPr>
            <a:r>
              <a:t>STRATEGIC PRIORITY ACTIONS</a:t>
            </a:r>
          </a:p>
        </p:txBody>
      </p:sp>
      <p:sp>
        <p:nvSpPr>
          <p:cNvPr id="25" name="TextBox 24"/>
          <p:cNvSpPr txBox="1"/>
          <p:nvPr/>
        </p:nvSpPr>
        <p:spPr>
          <a:xfrm>
            <a:off x="5120640" y="2011680"/>
            <a:ext cx="3017520" cy="365760"/>
          </a:xfrm>
          <a:prstGeom prst="rect">
            <a:avLst/>
          </a:prstGeom>
          <a:noFill/>
        </p:spPr>
        <p:txBody>
          <a:bodyPr wrap="square" anchor="t" tIns="0" bIns="0" lIns="0" rIns="0">
            <a:spAutoFit/>
          </a:bodyPr>
          <a:lstStyle/>
          <a:p>
            <a:pPr algn="l">
              <a:lnSpc>
                <a:spcPct val="120000"/>
              </a:lnSpc>
              <a:spcBef>
                <a:spcPts val="0"/>
              </a:spcBef>
              <a:spcAft>
                <a:spcPts val="0"/>
              </a:spcAft>
              <a:defRPr sz="1300" b="1">
                <a:solidFill>
                  <a:srgbClr val="FFFFFF"/>
                </a:solidFill>
                <a:latin typeface="Arial"/>
              </a:defRPr>
            </a:pPr>
            <a:r>
              <a:t>Based on comprehensive analysis of 193 YouTube videos representing 47.9M views, three urgent priorities emerge:</a:t>
            </a:r>
          </a:p>
        </p:txBody>
      </p:sp>
      <p:sp>
        <p:nvSpPr>
          <p:cNvPr id="26" name="TextBox 25"/>
          <p:cNvSpPr txBox="1"/>
          <p:nvPr/>
        </p:nvSpPr>
        <p:spPr>
          <a:xfrm>
            <a:off x="5257800" y="2468880"/>
            <a:ext cx="2926080" cy="365760"/>
          </a:xfrm>
          <a:prstGeom prst="rect">
            <a:avLst/>
          </a:prstGeom>
          <a:noFill/>
        </p:spPr>
        <p:txBody>
          <a:bodyPr wrap="none">
            <a:spAutoFit/>
          </a:bodyPr>
          <a:lstStyle/>
          <a:p>
            <a:r>
              <a:rPr sz="1400" b="1">
                <a:solidFill>
                  <a:srgbClr val="FFFFFF"/>
                </a:solidFill>
              </a:rPr>
              <a:t>→ </a:t>
            </a:r>
            <a:r>
              <a:rPr sz="1100">
                <a:solidFill>
                  <a:srgbClr val="F0F0F0"/>
                </a:solidFill>
              </a:rPr>
              <a:t>Command Crisis Management: Launch quality investigation + installation education (30 days)</a:t>
            </a:r>
          </a:p>
        </p:txBody>
      </p:sp>
      <p:sp>
        <p:nvSpPr>
          <p:cNvPr id="27" name="TextBox 26"/>
          <p:cNvSpPr txBox="1"/>
          <p:nvPr/>
        </p:nvSpPr>
        <p:spPr>
          <a:xfrm>
            <a:off x="5257800" y="3063240"/>
            <a:ext cx="2926080" cy="365760"/>
          </a:xfrm>
          <a:prstGeom prst="rect">
            <a:avLst/>
          </a:prstGeom>
          <a:noFill/>
        </p:spPr>
        <p:txBody>
          <a:bodyPr wrap="none">
            <a:spAutoFit/>
          </a:bodyPr>
          <a:lstStyle/>
          <a:p>
            <a:r>
              <a:rPr sz="1400" b="1">
                <a:solidFill>
                  <a:srgbClr val="FFFFFF"/>
                </a:solidFill>
              </a:rPr>
              <a:t>→ </a:t>
            </a:r>
            <a:r>
              <a:rPr sz="1100">
                <a:solidFill>
                  <a:srgbClr val="F0F0F0"/>
                </a:solidFill>
              </a:rPr>
              <a:t>Scotch Advocacy Amplification: User testimonials + influencer partnerships</a:t>
            </a:r>
          </a:p>
        </p:txBody>
      </p:sp>
      <p:sp>
        <p:nvSpPr>
          <p:cNvPr id="28" name="TextBox 27"/>
          <p:cNvSpPr txBox="1"/>
          <p:nvPr/>
        </p:nvSpPr>
        <p:spPr>
          <a:xfrm>
            <a:off x="5257800" y="3657600"/>
            <a:ext cx="2926080" cy="365760"/>
          </a:xfrm>
          <a:prstGeom prst="rect">
            <a:avLst/>
          </a:prstGeom>
          <a:noFill/>
        </p:spPr>
        <p:txBody>
          <a:bodyPr wrap="none">
            <a:spAutoFit/>
          </a:bodyPr>
          <a:lstStyle/>
          <a:p>
            <a:r>
              <a:rPr sz="1400" b="1">
                <a:solidFill>
                  <a:srgbClr val="FFFFFF"/>
                </a:solidFill>
              </a:rPr>
              <a:t>→ </a:t>
            </a:r>
            <a:r>
              <a:rPr sz="1100">
                <a:solidFill>
                  <a:srgbClr val="F0F0F0"/>
                </a:solidFill>
              </a:rPr>
              <a:t>Renter Market Expansion: Increase content from 17.6% to 50%+</a:t>
            </a:r>
          </a:p>
        </p:txBody>
      </p:sp>
      <p:sp>
        <p:nvSpPr>
          <p:cNvPr id="29" name="TextBox 28"/>
          <p:cNvSpPr txBox="1"/>
          <p:nvPr/>
        </p:nvSpPr>
        <p:spPr>
          <a:xfrm>
            <a:off x="5257800" y="4251960"/>
            <a:ext cx="2926080" cy="365760"/>
          </a:xfrm>
          <a:prstGeom prst="rect">
            <a:avLst/>
          </a:prstGeom>
          <a:noFill/>
        </p:spPr>
        <p:txBody>
          <a:bodyPr wrap="none">
            <a:spAutoFit/>
          </a:bodyPr>
          <a:lstStyle/>
          <a:p>
            <a:r>
              <a:rPr sz="1400" b="1">
                <a:solidFill>
                  <a:srgbClr val="FFFFFF"/>
                </a:solidFill>
              </a:rPr>
              <a:t>→ </a:t>
            </a:r>
            <a:r>
              <a:rPr sz="1100">
                <a:solidFill>
                  <a:srgbClr val="F0F0F0"/>
                </a:solidFill>
              </a:rPr>
              <a:t>Temperature Innovation: All-weather product line or transparent boundaries</a:t>
            </a:r>
          </a:p>
        </p:txBody>
      </p:sp>
      <p:sp>
        <p:nvSpPr>
          <p:cNvPr id="30" name="TextBox 29"/>
          <p:cNvSpPr txBox="1"/>
          <p:nvPr/>
        </p:nvSpPr>
        <p:spPr>
          <a:xfrm>
            <a:off x="5257800" y="4846320"/>
            <a:ext cx="2926080" cy="365760"/>
          </a:xfrm>
          <a:prstGeom prst="rect">
            <a:avLst/>
          </a:prstGeom>
          <a:noFill/>
        </p:spPr>
        <p:txBody>
          <a:bodyPr wrap="none">
            <a:spAutoFit/>
          </a:bodyPr>
          <a:lstStyle/>
          <a:p>
            <a:r>
              <a:rPr sz="1400" b="1">
                <a:solidFill>
                  <a:srgbClr val="FFFFFF"/>
                </a:solidFill>
              </a:rPr>
              <a:t>→ </a:t>
            </a:r>
            <a:r>
              <a:rPr sz="1100">
                <a:solidFill>
                  <a:srgbClr val="F0F0F0"/>
                </a:solidFill>
              </a:rPr>
              <a:t>3M Claw Specialization: Heavy-duty positioning + tutorial partnerships</a:t>
            </a:r>
          </a:p>
        </p:txBody>
      </p:sp>
      <p:sp>
        <p:nvSpPr>
          <p:cNvPr id="31" name="Rectangle 30"/>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Comprehensive Analysis | 193 YouTube Videos | Dataset Views: 47,916,814</a:t>
            </a:r>
          </a:p>
        </p:txBody>
      </p:sp>
      <p:sp>
        <p:nvSpPr>
          <p:cNvPr id="33" name="TextBox 32"/>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8 of 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54864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Pain Point Analysis Across Brands—Command Surface Damage Crisis Revealed</a:t>
            </a:r>
          </a:p>
        </p:txBody>
      </p:sp>
      <p:sp>
        <p:nvSpPr>
          <p:cNvPr id="3" name="TextBox 2"/>
          <p:cNvSpPr txBox="1"/>
          <p:nvPr/>
        </p:nvSpPr>
        <p:spPr>
          <a:xfrm>
            <a:off x="731520" y="155448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THE PATTERN</a:t>
            </a:r>
          </a:p>
        </p:txBody>
      </p:sp>
      <p:sp>
        <p:nvSpPr>
          <p:cNvPr id="4" name="TextBox 3"/>
          <p:cNvSpPr txBox="1"/>
          <p:nvPr/>
        </p:nvSpPr>
        <p:spPr>
          <a:xfrm>
            <a:off x="731520" y="178308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Surface damage is the #1 pain point across all brands (severity 50), appearing in 37 videos. Command shows highest severity (22) despite 'damage-free' positioning.</a:t>
            </a:r>
          </a:p>
        </p:txBody>
      </p:sp>
      <p:sp>
        <p:nvSpPr>
          <p:cNvPr id="5" name="TextBox 4"/>
          <p:cNvSpPr txBox="1"/>
          <p:nvPr/>
        </p:nvSpPr>
        <p:spPr>
          <a:xfrm>
            <a:off x="731520" y="233172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INSIGHT</a:t>
            </a:r>
          </a:p>
        </p:txBody>
      </p:sp>
      <p:sp>
        <p:nvSpPr>
          <p:cNvPr id="6" name="TextBox 5"/>
          <p:cNvSpPr txBox="1"/>
          <p:nvPr/>
        </p:nvSpPr>
        <p:spPr>
          <a:xfrm>
            <a:off x="731520" y="256032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Command's damage severity creates brand crisis—users specifically choose Command to avoid damage, so failures feel like product betrayal. 2.4:1 damage-to-benefit ratio inverts marketing promise.</a:t>
            </a:r>
          </a:p>
        </p:txBody>
      </p:sp>
      <p:sp>
        <p:nvSpPr>
          <p:cNvPr id="7" name="Rounded Rectangle 6"/>
          <p:cNvSpPr/>
          <p:nvPr/>
        </p:nvSpPr>
        <p:spPr>
          <a:xfrm>
            <a:off x="731520" y="3108960"/>
            <a:ext cx="36576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18688"/>
            <a:ext cx="329184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HARD TRUTH</a:t>
            </a:r>
          </a:p>
        </p:txBody>
      </p:sp>
      <p:sp>
        <p:nvSpPr>
          <p:cNvPr id="9" name="TextBox 8"/>
          <p:cNvSpPr txBox="1"/>
          <p:nvPr/>
        </p:nvSpPr>
        <p:spPr>
          <a:xfrm>
            <a:off x="914400" y="3383280"/>
            <a:ext cx="3291840" cy="36576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FFFFFF"/>
                </a:solidFill>
                <a:latin typeface="Arial"/>
              </a:defRPr>
            </a:pPr>
            <a:r>
              <a:t>Command cannot sustain premium pricing while damage complaints exceed benefits by 2.4:1. Either fix product quality or transparently communicate surface limitations.</a:t>
            </a:r>
          </a:p>
        </p:txBody>
      </p:sp>
      <p:sp>
        <p:nvSpPr>
          <p:cNvPr id="10" name="Rounded Rectangle 9"/>
          <p:cNvSpPr/>
          <p:nvPr/>
        </p:nvSpPr>
        <p:spPr>
          <a:xfrm>
            <a:off x="731520" y="3886200"/>
            <a:ext cx="3657600" cy="640080"/>
          </a:xfrm>
          <a:prstGeom prst="roundRect">
            <a:avLst/>
          </a:prstGeom>
          <a:solidFill>
            <a:srgbClr val="FEF3C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95928"/>
            <a:ext cx="329184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92400E"/>
                </a:solidFill>
                <a:latin typeface="Arial"/>
              </a:defRPr>
            </a:pPr>
            <a:r>
              <a:t>CRITICAL FINDING</a:t>
            </a:r>
          </a:p>
        </p:txBody>
      </p:sp>
      <p:sp>
        <p:nvSpPr>
          <p:cNvPr id="12" name="TextBox 11"/>
          <p:cNvSpPr txBox="1"/>
          <p:nvPr/>
        </p:nvSpPr>
        <p:spPr>
          <a:xfrm>
            <a:off x="914400" y="4160520"/>
            <a:ext cx="3291840" cy="32004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78350F"/>
                </a:solidFill>
                <a:latin typeface="Arial"/>
              </a:defRPr>
            </a:pPr>
            <a:r>
              <a:t>Command's surface damage severity (22) is 38% higher than Scotch (16) and 83% higher than 3M Claw (12). This performance gap is unacceptable for a premium-priced product.</a:t>
            </a:r>
          </a:p>
        </p:txBody>
      </p:sp>
      <p:sp>
        <p:nvSpPr>
          <p:cNvPr id="13" name="Rounded Rectangle 12"/>
          <p:cNvSpPr/>
          <p:nvPr/>
        </p:nvSpPr>
        <p:spPr>
          <a:xfrm>
            <a:off x="4846320" y="1554480"/>
            <a:ext cx="3566160" cy="320040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6320" y="1554480"/>
            <a:ext cx="356616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627632"/>
            <a:ext cx="3200400" cy="18288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FFFFFF"/>
                </a:solidFill>
                <a:latin typeface="Arial"/>
              </a:defRPr>
            </a:pPr>
            <a:r>
              <a:t>COMPLETE PAIN POINT SUMMARY</a:t>
            </a:r>
          </a:p>
        </p:txBody>
      </p:sp>
      <p:sp>
        <p:nvSpPr>
          <p:cNvPr id="16" name="TextBox 15"/>
          <p:cNvSpPr txBox="1"/>
          <p:nvPr/>
        </p:nvSpPr>
        <p:spPr>
          <a:xfrm>
            <a:off x="5029200" y="1920240"/>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800" b="1">
                <a:solidFill>
                  <a:srgbClr val="2D3748"/>
                </a:solidFill>
                <a:latin typeface="Arial"/>
              </a:defRPr>
            </a:pPr>
            <a:r>
              <a:t>PAIN POINT</a:t>
            </a:r>
          </a:p>
        </p:txBody>
      </p:sp>
      <p:sp>
        <p:nvSpPr>
          <p:cNvPr id="17" name="TextBox 16"/>
          <p:cNvSpPr txBox="1"/>
          <p:nvPr/>
        </p:nvSpPr>
        <p:spPr>
          <a:xfrm>
            <a:off x="6309360" y="19202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VIDEOS</a:t>
            </a:r>
          </a:p>
        </p:txBody>
      </p:sp>
      <p:sp>
        <p:nvSpPr>
          <p:cNvPr id="18" name="TextBox 17"/>
          <p:cNvSpPr txBox="1"/>
          <p:nvPr/>
        </p:nvSpPr>
        <p:spPr>
          <a:xfrm>
            <a:off x="6858000" y="19202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SEVERITY</a:t>
            </a:r>
          </a:p>
        </p:txBody>
      </p:sp>
      <p:sp>
        <p:nvSpPr>
          <p:cNvPr id="19" name="TextBox 18"/>
          <p:cNvSpPr txBox="1"/>
          <p:nvPr/>
        </p:nvSpPr>
        <p:spPr>
          <a:xfrm>
            <a:off x="7406640" y="19202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COMMAND</a:t>
            </a:r>
          </a:p>
        </p:txBody>
      </p:sp>
      <p:sp>
        <p:nvSpPr>
          <p:cNvPr id="20" name="TextBox 19"/>
          <p:cNvSpPr txBox="1"/>
          <p:nvPr/>
        </p:nvSpPr>
        <p:spPr>
          <a:xfrm>
            <a:off x="7863840" y="1920240"/>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SCOTCH</a:t>
            </a:r>
          </a:p>
        </p:txBody>
      </p:sp>
      <p:sp>
        <p:nvSpPr>
          <p:cNvPr id="21" name="TextBox 20"/>
          <p:cNvSpPr txBox="1"/>
          <p:nvPr/>
        </p:nvSpPr>
        <p:spPr>
          <a:xfrm>
            <a:off x="8183880" y="1920240"/>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CLAW</a:t>
            </a:r>
          </a:p>
        </p:txBody>
      </p:sp>
      <p:sp>
        <p:nvSpPr>
          <p:cNvPr id="22" name="TextBox 21"/>
          <p:cNvSpPr txBox="1"/>
          <p:nvPr/>
        </p:nvSpPr>
        <p:spPr>
          <a:xfrm>
            <a:off x="5029200" y="2148840"/>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Surface Damage</a:t>
            </a:r>
          </a:p>
        </p:txBody>
      </p:sp>
      <p:sp>
        <p:nvSpPr>
          <p:cNvPr id="23" name="TextBox 22"/>
          <p:cNvSpPr txBox="1"/>
          <p:nvPr/>
        </p:nvSpPr>
        <p:spPr>
          <a:xfrm>
            <a:off x="6309360" y="21488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37</a:t>
            </a:r>
          </a:p>
        </p:txBody>
      </p:sp>
      <p:sp>
        <p:nvSpPr>
          <p:cNvPr id="24" name="TextBox 23"/>
          <p:cNvSpPr txBox="1"/>
          <p:nvPr/>
        </p:nvSpPr>
        <p:spPr>
          <a:xfrm>
            <a:off x="6858000" y="21488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50</a:t>
            </a:r>
          </a:p>
        </p:txBody>
      </p:sp>
      <p:sp>
        <p:nvSpPr>
          <p:cNvPr id="25" name="TextBox 24"/>
          <p:cNvSpPr txBox="1"/>
          <p:nvPr/>
        </p:nvSpPr>
        <p:spPr>
          <a:xfrm>
            <a:off x="7406640" y="21488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22</a:t>
            </a:r>
          </a:p>
        </p:txBody>
      </p:sp>
      <p:sp>
        <p:nvSpPr>
          <p:cNvPr id="26" name="TextBox 25"/>
          <p:cNvSpPr txBox="1"/>
          <p:nvPr/>
        </p:nvSpPr>
        <p:spPr>
          <a:xfrm>
            <a:off x="7863840" y="2148840"/>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16</a:t>
            </a:r>
          </a:p>
        </p:txBody>
      </p:sp>
      <p:sp>
        <p:nvSpPr>
          <p:cNvPr id="27" name="TextBox 26"/>
          <p:cNvSpPr txBox="1"/>
          <p:nvPr/>
        </p:nvSpPr>
        <p:spPr>
          <a:xfrm>
            <a:off x="8183880" y="2148840"/>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12</a:t>
            </a:r>
          </a:p>
        </p:txBody>
      </p:sp>
      <p:sp>
        <p:nvSpPr>
          <p:cNvPr id="28" name="TextBox 27"/>
          <p:cNvSpPr txBox="1"/>
          <p:nvPr/>
        </p:nvSpPr>
        <p:spPr>
          <a:xfrm>
            <a:off x="5029200" y="2359152"/>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Durability Issues</a:t>
            </a:r>
          </a:p>
        </p:txBody>
      </p:sp>
      <p:sp>
        <p:nvSpPr>
          <p:cNvPr id="29" name="TextBox 28"/>
          <p:cNvSpPr txBox="1"/>
          <p:nvPr/>
        </p:nvSpPr>
        <p:spPr>
          <a:xfrm>
            <a:off x="6309360" y="2359152"/>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26</a:t>
            </a:r>
          </a:p>
        </p:txBody>
      </p:sp>
      <p:sp>
        <p:nvSpPr>
          <p:cNvPr id="30" name="TextBox 29"/>
          <p:cNvSpPr txBox="1"/>
          <p:nvPr/>
        </p:nvSpPr>
        <p:spPr>
          <a:xfrm>
            <a:off x="6858000" y="2359152"/>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34</a:t>
            </a:r>
          </a:p>
        </p:txBody>
      </p:sp>
      <p:sp>
        <p:nvSpPr>
          <p:cNvPr id="31" name="TextBox 30"/>
          <p:cNvSpPr txBox="1"/>
          <p:nvPr/>
        </p:nvSpPr>
        <p:spPr>
          <a:xfrm>
            <a:off x="7406640" y="2359152"/>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10</a:t>
            </a:r>
          </a:p>
        </p:txBody>
      </p:sp>
      <p:sp>
        <p:nvSpPr>
          <p:cNvPr id="32" name="TextBox 31"/>
          <p:cNvSpPr txBox="1"/>
          <p:nvPr/>
        </p:nvSpPr>
        <p:spPr>
          <a:xfrm>
            <a:off x="7863840" y="2359152"/>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14</a:t>
            </a:r>
          </a:p>
        </p:txBody>
      </p:sp>
      <p:sp>
        <p:nvSpPr>
          <p:cNvPr id="33" name="TextBox 32"/>
          <p:cNvSpPr txBox="1"/>
          <p:nvPr/>
        </p:nvSpPr>
        <p:spPr>
          <a:xfrm>
            <a:off x="8183880" y="2359152"/>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10</a:t>
            </a:r>
          </a:p>
        </p:txBody>
      </p:sp>
      <p:sp>
        <p:nvSpPr>
          <p:cNvPr id="34" name="TextBox 33"/>
          <p:cNvSpPr txBox="1"/>
          <p:nvPr/>
        </p:nvSpPr>
        <p:spPr>
          <a:xfrm>
            <a:off x="5029200" y="2569464"/>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Temperature Sensitive</a:t>
            </a:r>
          </a:p>
        </p:txBody>
      </p:sp>
      <p:sp>
        <p:nvSpPr>
          <p:cNvPr id="35" name="TextBox 34"/>
          <p:cNvSpPr txBox="1"/>
          <p:nvPr/>
        </p:nvSpPr>
        <p:spPr>
          <a:xfrm>
            <a:off x="6309360" y="2569464"/>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13</a:t>
            </a:r>
          </a:p>
        </p:txBody>
      </p:sp>
      <p:sp>
        <p:nvSpPr>
          <p:cNvPr id="36" name="TextBox 35"/>
          <p:cNvSpPr txBox="1"/>
          <p:nvPr/>
        </p:nvSpPr>
        <p:spPr>
          <a:xfrm>
            <a:off x="6858000" y="2569464"/>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15</a:t>
            </a:r>
          </a:p>
        </p:txBody>
      </p:sp>
      <p:sp>
        <p:nvSpPr>
          <p:cNvPr id="37" name="TextBox 36"/>
          <p:cNvSpPr txBox="1"/>
          <p:nvPr/>
        </p:nvSpPr>
        <p:spPr>
          <a:xfrm>
            <a:off x="7406640" y="2569464"/>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a:t>
            </a:r>
          </a:p>
        </p:txBody>
      </p:sp>
      <p:sp>
        <p:nvSpPr>
          <p:cNvPr id="38" name="TextBox 37"/>
          <p:cNvSpPr txBox="1"/>
          <p:nvPr/>
        </p:nvSpPr>
        <p:spPr>
          <a:xfrm>
            <a:off x="7863840" y="2569464"/>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13</a:t>
            </a:r>
          </a:p>
        </p:txBody>
      </p:sp>
      <p:sp>
        <p:nvSpPr>
          <p:cNvPr id="39" name="TextBox 38"/>
          <p:cNvSpPr txBox="1"/>
          <p:nvPr/>
        </p:nvSpPr>
        <p:spPr>
          <a:xfrm>
            <a:off x="8183880" y="2569464"/>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a:t>
            </a:r>
          </a:p>
        </p:txBody>
      </p:sp>
      <p:sp>
        <p:nvSpPr>
          <p:cNvPr id="40" name="TextBox 39"/>
          <p:cNvSpPr txBox="1"/>
          <p:nvPr/>
        </p:nvSpPr>
        <p:spPr>
          <a:xfrm>
            <a:off x="5029200" y="2779776"/>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Price Too High</a:t>
            </a:r>
          </a:p>
        </p:txBody>
      </p:sp>
      <p:sp>
        <p:nvSpPr>
          <p:cNvPr id="41" name="TextBox 40"/>
          <p:cNvSpPr txBox="1"/>
          <p:nvPr/>
        </p:nvSpPr>
        <p:spPr>
          <a:xfrm>
            <a:off x="6309360" y="2779776"/>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10</a:t>
            </a:r>
          </a:p>
        </p:txBody>
      </p:sp>
      <p:sp>
        <p:nvSpPr>
          <p:cNvPr id="42" name="TextBox 41"/>
          <p:cNvSpPr txBox="1"/>
          <p:nvPr/>
        </p:nvSpPr>
        <p:spPr>
          <a:xfrm>
            <a:off x="6858000" y="2779776"/>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10</a:t>
            </a:r>
          </a:p>
        </p:txBody>
      </p:sp>
      <p:sp>
        <p:nvSpPr>
          <p:cNvPr id="43" name="TextBox 42"/>
          <p:cNvSpPr txBox="1"/>
          <p:nvPr/>
        </p:nvSpPr>
        <p:spPr>
          <a:xfrm>
            <a:off x="7406640" y="2779776"/>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2</a:t>
            </a:r>
          </a:p>
        </p:txBody>
      </p:sp>
      <p:sp>
        <p:nvSpPr>
          <p:cNvPr id="44" name="TextBox 43"/>
          <p:cNvSpPr txBox="1"/>
          <p:nvPr/>
        </p:nvSpPr>
        <p:spPr>
          <a:xfrm>
            <a:off x="7863840" y="2779776"/>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5</a:t>
            </a:r>
          </a:p>
        </p:txBody>
      </p:sp>
      <p:sp>
        <p:nvSpPr>
          <p:cNvPr id="45" name="TextBox 44"/>
          <p:cNvSpPr txBox="1"/>
          <p:nvPr/>
        </p:nvSpPr>
        <p:spPr>
          <a:xfrm>
            <a:off x="8183880" y="2779776"/>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3</a:t>
            </a:r>
          </a:p>
        </p:txBody>
      </p:sp>
      <p:sp>
        <p:nvSpPr>
          <p:cNvPr id="46" name="TextBox 45"/>
          <p:cNvSpPr txBox="1"/>
          <p:nvPr/>
        </p:nvSpPr>
        <p:spPr>
          <a:xfrm>
            <a:off x="5029200" y="2990088"/>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Installation Difficulty</a:t>
            </a:r>
          </a:p>
        </p:txBody>
      </p:sp>
      <p:sp>
        <p:nvSpPr>
          <p:cNvPr id="47" name="TextBox 46"/>
          <p:cNvSpPr txBox="1"/>
          <p:nvPr/>
        </p:nvSpPr>
        <p:spPr>
          <a:xfrm>
            <a:off x="6309360" y="2990088"/>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8</a:t>
            </a:r>
          </a:p>
        </p:txBody>
      </p:sp>
      <p:sp>
        <p:nvSpPr>
          <p:cNvPr id="48" name="TextBox 47"/>
          <p:cNvSpPr txBox="1"/>
          <p:nvPr/>
        </p:nvSpPr>
        <p:spPr>
          <a:xfrm>
            <a:off x="6858000" y="2990088"/>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8</a:t>
            </a:r>
          </a:p>
        </p:txBody>
      </p:sp>
      <p:sp>
        <p:nvSpPr>
          <p:cNvPr id="49" name="TextBox 48"/>
          <p:cNvSpPr txBox="1"/>
          <p:nvPr/>
        </p:nvSpPr>
        <p:spPr>
          <a:xfrm>
            <a:off x="7406640" y="2990088"/>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2</a:t>
            </a:r>
          </a:p>
        </p:txBody>
      </p:sp>
      <p:sp>
        <p:nvSpPr>
          <p:cNvPr id="50" name="TextBox 49"/>
          <p:cNvSpPr txBox="1"/>
          <p:nvPr/>
        </p:nvSpPr>
        <p:spPr>
          <a:xfrm>
            <a:off x="7863840" y="2990088"/>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2</a:t>
            </a:r>
          </a:p>
        </p:txBody>
      </p:sp>
      <p:sp>
        <p:nvSpPr>
          <p:cNvPr id="51" name="TextBox 50"/>
          <p:cNvSpPr txBox="1"/>
          <p:nvPr/>
        </p:nvSpPr>
        <p:spPr>
          <a:xfrm>
            <a:off x="8183880" y="2990088"/>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4</a:t>
            </a:r>
          </a:p>
        </p:txBody>
      </p:sp>
      <p:sp>
        <p:nvSpPr>
          <p:cNvPr id="52" name="Rectangle 51"/>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Comprehensive Analysis, Pain Point Detection across 193 videos</a:t>
            </a:r>
          </a:p>
        </p:txBody>
      </p:sp>
      <p:sp>
        <p:nvSpPr>
          <p:cNvPr id="54" name="TextBox 53"/>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10 of 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731520"/>
            <a:ext cx="7680960" cy="548640"/>
          </a:xfrm>
          <a:prstGeom prst="rect">
            <a:avLst/>
          </a:prstGeom>
          <a:noFill/>
        </p:spPr>
        <p:txBody>
          <a:bodyPr wrap="square" anchor="t" tIns="0" bIns="0" lIns="0" rIns="0">
            <a:spAutoFit/>
          </a:bodyPr>
          <a:lstStyle/>
          <a:p>
            <a:pPr algn="l">
              <a:lnSpc>
                <a:spcPct val="120000"/>
              </a:lnSpc>
              <a:spcBef>
                <a:spcPts val="0"/>
              </a:spcBef>
              <a:spcAft>
                <a:spcPts val="0"/>
              </a:spcAft>
              <a:defRPr sz="3300" b="1">
                <a:solidFill>
                  <a:srgbClr val="1A202C"/>
                </a:solidFill>
                <a:latin typeface="Arial"/>
              </a:defRPr>
            </a:pPr>
            <a:r>
              <a:t>Pain Point Analysis Across Brands—Command Surface Damage Crisis Revealed</a:t>
            </a:r>
          </a:p>
        </p:txBody>
      </p:sp>
      <p:sp>
        <p:nvSpPr>
          <p:cNvPr id="3" name="TextBox 2"/>
          <p:cNvSpPr txBox="1"/>
          <p:nvPr/>
        </p:nvSpPr>
        <p:spPr>
          <a:xfrm>
            <a:off x="731520" y="155448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THE PATTERN</a:t>
            </a:r>
          </a:p>
        </p:txBody>
      </p:sp>
      <p:sp>
        <p:nvSpPr>
          <p:cNvPr id="4" name="TextBox 3"/>
          <p:cNvSpPr txBox="1"/>
          <p:nvPr/>
        </p:nvSpPr>
        <p:spPr>
          <a:xfrm>
            <a:off x="731520" y="178308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Surface damage is the #1 pain point across all brands (severity 50), appearing in 37 videos. Command shows highest severity (22) despite 'damage-free' positioning.</a:t>
            </a:r>
          </a:p>
        </p:txBody>
      </p:sp>
      <p:sp>
        <p:nvSpPr>
          <p:cNvPr id="5" name="TextBox 4"/>
          <p:cNvSpPr txBox="1"/>
          <p:nvPr/>
        </p:nvSpPr>
        <p:spPr>
          <a:xfrm>
            <a:off x="731520" y="2331720"/>
            <a:ext cx="3657600" cy="18288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2D3748"/>
                </a:solidFill>
                <a:latin typeface="Arial"/>
              </a:defRPr>
            </a:pPr>
            <a:r>
              <a:t>INSIGHT</a:t>
            </a:r>
          </a:p>
        </p:txBody>
      </p:sp>
      <p:sp>
        <p:nvSpPr>
          <p:cNvPr id="6" name="TextBox 5"/>
          <p:cNvSpPr txBox="1"/>
          <p:nvPr/>
        </p:nvSpPr>
        <p:spPr>
          <a:xfrm>
            <a:off x="731520" y="2560320"/>
            <a:ext cx="3657600" cy="457200"/>
          </a:xfrm>
          <a:prstGeom prst="rect">
            <a:avLst/>
          </a:prstGeom>
          <a:noFill/>
        </p:spPr>
        <p:txBody>
          <a:bodyPr wrap="square" anchor="t" tIns="0" bIns="0" lIns="0" rIns="0">
            <a:spAutoFit/>
          </a:bodyPr>
          <a:lstStyle/>
          <a:p>
            <a:pPr algn="l">
              <a:lnSpc>
                <a:spcPct val="120000"/>
              </a:lnSpc>
              <a:spcBef>
                <a:spcPts val="0"/>
              </a:spcBef>
              <a:spcAft>
                <a:spcPts val="0"/>
              </a:spcAft>
              <a:defRPr sz="1100" b="0">
                <a:solidFill>
                  <a:srgbClr val="1A202C"/>
                </a:solidFill>
                <a:latin typeface="Arial"/>
              </a:defRPr>
            </a:pPr>
            <a:r>
              <a:t>Command's damage severity creates brand crisis—users specifically choose Command to avoid damage, so failures feel like product betrayal. 2.4:1 damage-to-benefit ratio inverts marketing promise.</a:t>
            </a:r>
          </a:p>
        </p:txBody>
      </p:sp>
      <p:sp>
        <p:nvSpPr>
          <p:cNvPr id="7" name="Rounded Rectangle 6"/>
          <p:cNvSpPr/>
          <p:nvPr/>
        </p:nvSpPr>
        <p:spPr>
          <a:xfrm>
            <a:off x="731520" y="3108960"/>
            <a:ext cx="3657600" cy="68580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18688"/>
            <a:ext cx="329184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14B8A6"/>
                </a:solidFill>
                <a:latin typeface="Arial"/>
              </a:defRPr>
            </a:pPr>
            <a:r>
              <a:t>HARD TRUTH</a:t>
            </a:r>
          </a:p>
        </p:txBody>
      </p:sp>
      <p:sp>
        <p:nvSpPr>
          <p:cNvPr id="9" name="TextBox 8"/>
          <p:cNvSpPr txBox="1"/>
          <p:nvPr/>
        </p:nvSpPr>
        <p:spPr>
          <a:xfrm>
            <a:off x="914400" y="3383280"/>
            <a:ext cx="3291840" cy="365760"/>
          </a:xfrm>
          <a:prstGeom prst="rect">
            <a:avLst/>
          </a:prstGeom>
          <a:noFill/>
        </p:spPr>
        <p:txBody>
          <a:bodyPr wrap="square" anchor="t" tIns="0" bIns="0" lIns="0" rIns="0">
            <a:spAutoFit/>
          </a:bodyPr>
          <a:lstStyle/>
          <a:p>
            <a:pPr algn="l">
              <a:lnSpc>
                <a:spcPct val="120000"/>
              </a:lnSpc>
              <a:spcBef>
                <a:spcPts val="0"/>
              </a:spcBef>
              <a:spcAft>
                <a:spcPts val="0"/>
              </a:spcAft>
              <a:defRPr sz="1200" b="0">
                <a:solidFill>
                  <a:srgbClr val="FFFFFF"/>
                </a:solidFill>
                <a:latin typeface="Arial"/>
              </a:defRPr>
            </a:pPr>
            <a:r>
              <a:t>Command cannot sustain premium pricing while damage complaints exceed benefits by 2.4:1. Either fix product quality or transparently communicate surface limitations.</a:t>
            </a:r>
          </a:p>
        </p:txBody>
      </p:sp>
      <p:sp>
        <p:nvSpPr>
          <p:cNvPr id="10" name="Rounded Rectangle 9"/>
          <p:cNvSpPr/>
          <p:nvPr/>
        </p:nvSpPr>
        <p:spPr>
          <a:xfrm>
            <a:off x="731520" y="3886200"/>
            <a:ext cx="3657600" cy="640080"/>
          </a:xfrm>
          <a:prstGeom prst="roundRect">
            <a:avLst/>
          </a:prstGeom>
          <a:solidFill>
            <a:srgbClr val="FEF3C7"/>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95928"/>
            <a:ext cx="3291840" cy="137160"/>
          </a:xfrm>
          <a:prstGeom prst="rect">
            <a:avLst/>
          </a:prstGeom>
          <a:noFill/>
        </p:spPr>
        <p:txBody>
          <a:bodyPr wrap="square" anchor="t" tIns="0" bIns="0" lIns="0" rIns="0">
            <a:spAutoFit/>
          </a:bodyPr>
          <a:lstStyle/>
          <a:p>
            <a:pPr algn="l">
              <a:lnSpc>
                <a:spcPct val="120000"/>
              </a:lnSpc>
              <a:spcBef>
                <a:spcPts val="0"/>
              </a:spcBef>
              <a:spcAft>
                <a:spcPts val="0"/>
              </a:spcAft>
              <a:defRPr sz="1100" b="1">
                <a:solidFill>
                  <a:srgbClr val="92400E"/>
                </a:solidFill>
                <a:latin typeface="Arial"/>
              </a:defRPr>
            </a:pPr>
            <a:r>
              <a:t>CRITICAL FINDING</a:t>
            </a:r>
          </a:p>
        </p:txBody>
      </p:sp>
      <p:sp>
        <p:nvSpPr>
          <p:cNvPr id="12" name="TextBox 11"/>
          <p:cNvSpPr txBox="1"/>
          <p:nvPr/>
        </p:nvSpPr>
        <p:spPr>
          <a:xfrm>
            <a:off x="914400" y="4160520"/>
            <a:ext cx="3291840" cy="320040"/>
          </a:xfrm>
          <a:prstGeom prst="rect">
            <a:avLst/>
          </a:prstGeom>
          <a:noFill/>
        </p:spPr>
        <p:txBody>
          <a:bodyPr wrap="square" anchor="t" tIns="0" bIns="0" lIns="0" rIns="0">
            <a:spAutoFit/>
          </a:bodyPr>
          <a:lstStyle/>
          <a:p>
            <a:pPr algn="l">
              <a:lnSpc>
                <a:spcPct val="120000"/>
              </a:lnSpc>
              <a:spcBef>
                <a:spcPts val="0"/>
              </a:spcBef>
              <a:spcAft>
                <a:spcPts val="0"/>
              </a:spcAft>
              <a:defRPr sz="1000" b="1">
                <a:solidFill>
                  <a:srgbClr val="78350F"/>
                </a:solidFill>
                <a:latin typeface="Arial"/>
              </a:defRPr>
            </a:pPr>
            <a:r>
              <a:t>Command's surface damage severity (22) is 38% higher than Scotch (16) and 83% higher than 3M Claw (12). This performance gap is unacceptable for a premium-priced product.</a:t>
            </a:r>
          </a:p>
        </p:txBody>
      </p:sp>
      <p:sp>
        <p:nvSpPr>
          <p:cNvPr id="13" name="Rounded Rectangle 12"/>
          <p:cNvSpPr/>
          <p:nvPr/>
        </p:nvSpPr>
        <p:spPr>
          <a:xfrm>
            <a:off x="4846320" y="1554480"/>
            <a:ext cx="3566160" cy="320040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6320" y="1554480"/>
            <a:ext cx="3566160" cy="32004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627632"/>
            <a:ext cx="3200400" cy="182880"/>
          </a:xfrm>
          <a:prstGeom prst="rect">
            <a:avLst/>
          </a:prstGeom>
          <a:noFill/>
        </p:spPr>
        <p:txBody>
          <a:bodyPr wrap="square" anchor="t" tIns="0" bIns="0" lIns="0" rIns="0">
            <a:spAutoFit/>
          </a:bodyPr>
          <a:lstStyle/>
          <a:p>
            <a:pPr algn="l">
              <a:lnSpc>
                <a:spcPct val="120000"/>
              </a:lnSpc>
              <a:spcBef>
                <a:spcPts val="0"/>
              </a:spcBef>
              <a:spcAft>
                <a:spcPts val="0"/>
              </a:spcAft>
              <a:defRPr sz="1200" b="1">
                <a:solidFill>
                  <a:srgbClr val="FFFFFF"/>
                </a:solidFill>
                <a:latin typeface="Arial"/>
              </a:defRPr>
            </a:pPr>
            <a:r>
              <a:t>COMPLETE PAIN POINT SUMMARY</a:t>
            </a:r>
          </a:p>
        </p:txBody>
      </p:sp>
      <p:sp>
        <p:nvSpPr>
          <p:cNvPr id="16" name="TextBox 15"/>
          <p:cNvSpPr txBox="1"/>
          <p:nvPr/>
        </p:nvSpPr>
        <p:spPr>
          <a:xfrm>
            <a:off x="5029200" y="1920240"/>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800" b="1">
                <a:solidFill>
                  <a:srgbClr val="2D3748"/>
                </a:solidFill>
                <a:latin typeface="Arial"/>
              </a:defRPr>
            </a:pPr>
            <a:r>
              <a:t>PAIN POINT</a:t>
            </a:r>
          </a:p>
        </p:txBody>
      </p:sp>
      <p:sp>
        <p:nvSpPr>
          <p:cNvPr id="17" name="TextBox 16"/>
          <p:cNvSpPr txBox="1"/>
          <p:nvPr/>
        </p:nvSpPr>
        <p:spPr>
          <a:xfrm>
            <a:off x="6309360" y="19202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VIDEOS</a:t>
            </a:r>
          </a:p>
        </p:txBody>
      </p:sp>
      <p:sp>
        <p:nvSpPr>
          <p:cNvPr id="18" name="TextBox 17"/>
          <p:cNvSpPr txBox="1"/>
          <p:nvPr/>
        </p:nvSpPr>
        <p:spPr>
          <a:xfrm>
            <a:off x="6858000" y="19202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SEVERITY</a:t>
            </a:r>
          </a:p>
        </p:txBody>
      </p:sp>
      <p:sp>
        <p:nvSpPr>
          <p:cNvPr id="19" name="TextBox 18"/>
          <p:cNvSpPr txBox="1"/>
          <p:nvPr/>
        </p:nvSpPr>
        <p:spPr>
          <a:xfrm>
            <a:off x="7406640" y="19202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COMMAND</a:t>
            </a:r>
          </a:p>
        </p:txBody>
      </p:sp>
      <p:sp>
        <p:nvSpPr>
          <p:cNvPr id="20" name="TextBox 19"/>
          <p:cNvSpPr txBox="1"/>
          <p:nvPr/>
        </p:nvSpPr>
        <p:spPr>
          <a:xfrm>
            <a:off x="7863840" y="1920240"/>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SCOTCH</a:t>
            </a:r>
          </a:p>
        </p:txBody>
      </p:sp>
      <p:sp>
        <p:nvSpPr>
          <p:cNvPr id="21" name="TextBox 20"/>
          <p:cNvSpPr txBox="1"/>
          <p:nvPr/>
        </p:nvSpPr>
        <p:spPr>
          <a:xfrm>
            <a:off x="8183880" y="1920240"/>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800" b="1">
                <a:solidFill>
                  <a:srgbClr val="2D3748"/>
                </a:solidFill>
                <a:latin typeface="Arial"/>
              </a:defRPr>
            </a:pPr>
            <a:r>
              <a:t>CLAW</a:t>
            </a:r>
          </a:p>
        </p:txBody>
      </p:sp>
      <p:sp>
        <p:nvSpPr>
          <p:cNvPr id="22" name="TextBox 21"/>
          <p:cNvSpPr txBox="1"/>
          <p:nvPr/>
        </p:nvSpPr>
        <p:spPr>
          <a:xfrm>
            <a:off x="5029200" y="2148840"/>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Surface Damage</a:t>
            </a:r>
          </a:p>
        </p:txBody>
      </p:sp>
      <p:sp>
        <p:nvSpPr>
          <p:cNvPr id="23" name="TextBox 22"/>
          <p:cNvSpPr txBox="1"/>
          <p:nvPr/>
        </p:nvSpPr>
        <p:spPr>
          <a:xfrm>
            <a:off x="6309360" y="21488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37</a:t>
            </a:r>
          </a:p>
        </p:txBody>
      </p:sp>
      <p:sp>
        <p:nvSpPr>
          <p:cNvPr id="24" name="TextBox 23"/>
          <p:cNvSpPr txBox="1"/>
          <p:nvPr/>
        </p:nvSpPr>
        <p:spPr>
          <a:xfrm>
            <a:off x="6858000" y="21488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50</a:t>
            </a:r>
          </a:p>
        </p:txBody>
      </p:sp>
      <p:sp>
        <p:nvSpPr>
          <p:cNvPr id="25" name="TextBox 24"/>
          <p:cNvSpPr txBox="1"/>
          <p:nvPr/>
        </p:nvSpPr>
        <p:spPr>
          <a:xfrm>
            <a:off x="7406640" y="2148840"/>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22</a:t>
            </a:r>
          </a:p>
        </p:txBody>
      </p:sp>
      <p:sp>
        <p:nvSpPr>
          <p:cNvPr id="26" name="TextBox 25"/>
          <p:cNvSpPr txBox="1"/>
          <p:nvPr/>
        </p:nvSpPr>
        <p:spPr>
          <a:xfrm>
            <a:off x="7863840" y="2148840"/>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16</a:t>
            </a:r>
          </a:p>
        </p:txBody>
      </p:sp>
      <p:sp>
        <p:nvSpPr>
          <p:cNvPr id="27" name="TextBox 26"/>
          <p:cNvSpPr txBox="1"/>
          <p:nvPr/>
        </p:nvSpPr>
        <p:spPr>
          <a:xfrm>
            <a:off x="8183880" y="2148840"/>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12</a:t>
            </a:r>
          </a:p>
        </p:txBody>
      </p:sp>
      <p:sp>
        <p:nvSpPr>
          <p:cNvPr id="28" name="TextBox 27"/>
          <p:cNvSpPr txBox="1"/>
          <p:nvPr/>
        </p:nvSpPr>
        <p:spPr>
          <a:xfrm>
            <a:off x="5029200" y="2359152"/>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Durability Issues</a:t>
            </a:r>
          </a:p>
        </p:txBody>
      </p:sp>
      <p:sp>
        <p:nvSpPr>
          <p:cNvPr id="29" name="TextBox 28"/>
          <p:cNvSpPr txBox="1"/>
          <p:nvPr/>
        </p:nvSpPr>
        <p:spPr>
          <a:xfrm>
            <a:off x="6309360" y="2359152"/>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26</a:t>
            </a:r>
          </a:p>
        </p:txBody>
      </p:sp>
      <p:sp>
        <p:nvSpPr>
          <p:cNvPr id="30" name="TextBox 29"/>
          <p:cNvSpPr txBox="1"/>
          <p:nvPr/>
        </p:nvSpPr>
        <p:spPr>
          <a:xfrm>
            <a:off x="6858000" y="2359152"/>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34</a:t>
            </a:r>
          </a:p>
        </p:txBody>
      </p:sp>
      <p:sp>
        <p:nvSpPr>
          <p:cNvPr id="31" name="TextBox 30"/>
          <p:cNvSpPr txBox="1"/>
          <p:nvPr/>
        </p:nvSpPr>
        <p:spPr>
          <a:xfrm>
            <a:off x="7406640" y="2359152"/>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10</a:t>
            </a:r>
          </a:p>
        </p:txBody>
      </p:sp>
      <p:sp>
        <p:nvSpPr>
          <p:cNvPr id="32" name="TextBox 31"/>
          <p:cNvSpPr txBox="1"/>
          <p:nvPr/>
        </p:nvSpPr>
        <p:spPr>
          <a:xfrm>
            <a:off x="7863840" y="2359152"/>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14</a:t>
            </a:r>
          </a:p>
        </p:txBody>
      </p:sp>
      <p:sp>
        <p:nvSpPr>
          <p:cNvPr id="33" name="TextBox 32"/>
          <p:cNvSpPr txBox="1"/>
          <p:nvPr/>
        </p:nvSpPr>
        <p:spPr>
          <a:xfrm>
            <a:off x="8183880" y="2359152"/>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10</a:t>
            </a:r>
          </a:p>
        </p:txBody>
      </p:sp>
      <p:sp>
        <p:nvSpPr>
          <p:cNvPr id="34" name="TextBox 33"/>
          <p:cNvSpPr txBox="1"/>
          <p:nvPr/>
        </p:nvSpPr>
        <p:spPr>
          <a:xfrm>
            <a:off x="5029200" y="2569464"/>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Temperature Sensitive</a:t>
            </a:r>
          </a:p>
        </p:txBody>
      </p:sp>
      <p:sp>
        <p:nvSpPr>
          <p:cNvPr id="35" name="TextBox 34"/>
          <p:cNvSpPr txBox="1"/>
          <p:nvPr/>
        </p:nvSpPr>
        <p:spPr>
          <a:xfrm>
            <a:off x="6309360" y="2569464"/>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13</a:t>
            </a:r>
          </a:p>
        </p:txBody>
      </p:sp>
      <p:sp>
        <p:nvSpPr>
          <p:cNvPr id="36" name="TextBox 35"/>
          <p:cNvSpPr txBox="1"/>
          <p:nvPr/>
        </p:nvSpPr>
        <p:spPr>
          <a:xfrm>
            <a:off x="6858000" y="2569464"/>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15</a:t>
            </a:r>
          </a:p>
        </p:txBody>
      </p:sp>
      <p:sp>
        <p:nvSpPr>
          <p:cNvPr id="37" name="TextBox 36"/>
          <p:cNvSpPr txBox="1"/>
          <p:nvPr/>
        </p:nvSpPr>
        <p:spPr>
          <a:xfrm>
            <a:off x="7406640" y="2569464"/>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a:t>
            </a:r>
          </a:p>
        </p:txBody>
      </p:sp>
      <p:sp>
        <p:nvSpPr>
          <p:cNvPr id="38" name="TextBox 37"/>
          <p:cNvSpPr txBox="1"/>
          <p:nvPr/>
        </p:nvSpPr>
        <p:spPr>
          <a:xfrm>
            <a:off x="7863840" y="2569464"/>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DC2626"/>
                </a:solidFill>
                <a:latin typeface="Arial"/>
              </a:defRPr>
            </a:pPr>
            <a:r>
              <a:t>13</a:t>
            </a:r>
          </a:p>
        </p:txBody>
      </p:sp>
      <p:sp>
        <p:nvSpPr>
          <p:cNvPr id="39" name="TextBox 38"/>
          <p:cNvSpPr txBox="1"/>
          <p:nvPr/>
        </p:nvSpPr>
        <p:spPr>
          <a:xfrm>
            <a:off x="8183880" y="2569464"/>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a:t>
            </a:r>
          </a:p>
        </p:txBody>
      </p:sp>
      <p:sp>
        <p:nvSpPr>
          <p:cNvPr id="40" name="TextBox 39"/>
          <p:cNvSpPr txBox="1"/>
          <p:nvPr/>
        </p:nvSpPr>
        <p:spPr>
          <a:xfrm>
            <a:off x="5029200" y="2779776"/>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Price Too High</a:t>
            </a:r>
          </a:p>
        </p:txBody>
      </p:sp>
      <p:sp>
        <p:nvSpPr>
          <p:cNvPr id="41" name="TextBox 40"/>
          <p:cNvSpPr txBox="1"/>
          <p:nvPr/>
        </p:nvSpPr>
        <p:spPr>
          <a:xfrm>
            <a:off x="6309360" y="2779776"/>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10</a:t>
            </a:r>
          </a:p>
        </p:txBody>
      </p:sp>
      <p:sp>
        <p:nvSpPr>
          <p:cNvPr id="42" name="TextBox 41"/>
          <p:cNvSpPr txBox="1"/>
          <p:nvPr/>
        </p:nvSpPr>
        <p:spPr>
          <a:xfrm>
            <a:off x="6858000" y="2779776"/>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10</a:t>
            </a:r>
          </a:p>
        </p:txBody>
      </p:sp>
      <p:sp>
        <p:nvSpPr>
          <p:cNvPr id="43" name="TextBox 42"/>
          <p:cNvSpPr txBox="1"/>
          <p:nvPr/>
        </p:nvSpPr>
        <p:spPr>
          <a:xfrm>
            <a:off x="7406640" y="2779776"/>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2</a:t>
            </a:r>
          </a:p>
        </p:txBody>
      </p:sp>
      <p:sp>
        <p:nvSpPr>
          <p:cNvPr id="44" name="TextBox 43"/>
          <p:cNvSpPr txBox="1"/>
          <p:nvPr/>
        </p:nvSpPr>
        <p:spPr>
          <a:xfrm>
            <a:off x="7863840" y="2779776"/>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5</a:t>
            </a:r>
          </a:p>
        </p:txBody>
      </p:sp>
      <p:sp>
        <p:nvSpPr>
          <p:cNvPr id="45" name="TextBox 44"/>
          <p:cNvSpPr txBox="1"/>
          <p:nvPr/>
        </p:nvSpPr>
        <p:spPr>
          <a:xfrm>
            <a:off x="8183880" y="2779776"/>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3</a:t>
            </a:r>
          </a:p>
        </p:txBody>
      </p:sp>
      <p:sp>
        <p:nvSpPr>
          <p:cNvPr id="46" name="TextBox 45"/>
          <p:cNvSpPr txBox="1"/>
          <p:nvPr/>
        </p:nvSpPr>
        <p:spPr>
          <a:xfrm>
            <a:off x="5029200" y="2990088"/>
            <a:ext cx="1188720" cy="164592"/>
          </a:xfrm>
          <a:prstGeom prst="rect">
            <a:avLst/>
          </a:prstGeom>
          <a:noFill/>
        </p:spPr>
        <p:txBody>
          <a:bodyPr wrap="square" anchor="t" tIns="0" bIns="0" lIns="0" rIns="0">
            <a:spAutoFit/>
          </a:bodyPr>
          <a:lstStyle/>
          <a:p>
            <a:pPr algn="l">
              <a:lnSpc>
                <a:spcPct val="120000"/>
              </a:lnSpc>
              <a:spcBef>
                <a:spcPts val="0"/>
              </a:spcBef>
              <a:spcAft>
                <a:spcPts val="0"/>
              </a:spcAft>
              <a:defRPr sz="900" b="1">
                <a:solidFill>
                  <a:srgbClr val="1A202C"/>
                </a:solidFill>
                <a:latin typeface="Arial"/>
              </a:defRPr>
            </a:pPr>
            <a:r>
              <a:t>Installation Difficulty</a:t>
            </a:r>
          </a:p>
        </p:txBody>
      </p:sp>
      <p:sp>
        <p:nvSpPr>
          <p:cNvPr id="47" name="TextBox 46"/>
          <p:cNvSpPr txBox="1"/>
          <p:nvPr/>
        </p:nvSpPr>
        <p:spPr>
          <a:xfrm>
            <a:off x="6309360" y="2990088"/>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0">
                <a:solidFill>
                  <a:srgbClr val="1A202C"/>
                </a:solidFill>
                <a:latin typeface="Arial"/>
              </a:defRPr>
            </a:pPr>
            <a:r>
              <a:t>8</a:t>
            </a:r>
          </a:p>
        </p:txBody>
      </p:sp>
      <p:sp>
        <p:nvSpPr>
          <p:cNvPr id="48" name="TextBox 47"/>
          <p:cNvSpPr txBox="1"/>
          <p:nvPr/>
        </p:nvSpPr>
        <p:spPr>
          <a:xfrm>
            <a:off x="6858000" y="2990088"/>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8</a:t>
            </a:r>
          </a:p>
        </p:txBody>
      </p:sp>
      <p:sp>
        <p:nvSpPr>
          <p:cNvPr id="49" name="TextBox 48"/>
          <p:cNvSpPr txBox="1"/>
          <p:nvPr/>
        </p:nvSpPr>
        <p:spPr>
          <a:xfrm>
            <a:off x="7406640" y="2990088"/>
            <a:ext cx="4572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2</a:t>
            </a:r>
          </a:p>
        </p:txBody>
      </p:sp>
      <p:sp>
        <p:nvSpPr>
          <p:cNvPr id="50" name="TextBox 49"/>
          <p:cNvSpPr txBox="1"/>
          <p:nvPr/>
        </p:nvSpPr>
        <p:spPr>
          <a:xfrm>
            <a:off x="7863840" y="2990088"/>
            <a:ext cx="27432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6B7280"/>
                </a:solidFill>
                <a:latin typeface="Arial"/>
              </a:defRPr>
            </a:pPr>
            <a:r>
              <a:t>2</a:t>
            </a:r>
          </a:p>
        </p:txBody>
      </p:sp>
      <p:sp>
        <p:nvSpPr>
          <p:cNvPr id="51" name="TextBox 50"/>
          <p:cNvSpPr txBox="1"/>
          <p:nvPr/>
        </p:nvSpPr>
        <p:spPr>
          <a:xfrm>
            <a:off x="8183880" y="2990088"/>
            <a:ext cx="228600" cy="164592"/>
          </a:xfrm>
          <a:prstGeom prst="rect">
            <a:avLst/>
          </a:prstGeom>
          <a:noFill/>
        </p:spPr>
        <p:txBody>
          <a:bodyPr wrap="square" anchor="t" tIns="0" bIns="0" lIns="0" rIns="0">
            <a:spAutoFit/>
          </a:bodyPr>
          <a:lstStyle/>
          <a:p>
            <a:pPr algn="ctr">
              <a:lnSpc>
                <a:spcPct val="120000"/>
              </a:lnSpc>
              <a:spcBef>
                <a:spcPts val="0"/>
              </a:spcBef>
              <a:spcAft>
                <a:spcPts val="0"/>
              </a:spcAft>
              <a:defRPr sz="900" b="1">
                <a:solidFill>
                  <a:srgbClr val="F59E0B"/>
                </a:solidFill>
                <a:latin typeface="Arial"/>
              </a:defRPr>
            </a:pPr>
            <a:r>
              <a:t>4</a:t>
            </a:r>
          </a:p>
        </p:txBody>
      </p:sp>
      <p:sp>
        <p:nvSpPr>
          <p:cNvPr id="52" name="Rectangle 51"/>
          <p:cNvSpPr/>
          <p:nvPr/>
        </p:nvSpPr>
        <p:spPr>
          <a:xfrm>
            <a:off x="731520" y="6492240"/>
            <a:ext cx="7680960" cy="25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6583680"/>
            <a:ext cx="5486400" cy="274320"/>
          </a:xfrm>
          <a:prstGeom prst="rect">
            <a:avLst/>
          </a:prstGeom>
          <a:noFill/>
        </p:spPr>
        <p:txBody>
          <a:bodyPr wrap="square" anchor="t" tIns="0" bIns="0" lIns="0" rIns="0">
            <a:spAutoFit/>
          </a:bodyPr>
          <a:lstStyle/>
          <a:p>
            <a:pPr algn="l">
              <a:lnSpc>
                <a:spcPct val="120000"/>
              </a:lnSpc>
              <a:spcBef>
                <a:spcPts val="0"/>
              </a:spcBef>
              <a:spcAft>
                <a:spcPts val="0"/>
              </a:spcAft>
              <a:defRPr sz="1000" b="0">
                <a:solidFill>
                  <a:srgbClr val="6B7280"/>
                </a:solidFill>
                <a:latin typeface="Arial"/>
              </a:defRPr>
            </a:pPr>
            <a:r>
              <a:t>Source: Phase 2 Comprehensive Analysis, Pain Point Detection across 193 videos</a:t>
            </a:r>
          </a:p>
        </p:txBody>
      </p:sp>
      <p:sp>
        <p:nvSpPr>
          <p:cNvPr id="54" name="TextBox 53"/>
          <p:cNvSpPr txBox="1"/>
          <p:nvPr/>
        </p:nvSpPr>
        <p:spPr>
          <a:xfrm>
            <a:off x="6858000" y="6583680"/>
            <a:ext cx="1554480" cy="274320"/>
          </a:xfrm>
          <a:prstGeom prst="rect">
            <a:avLst/>
          </a:prstGeom>
          <a:noFill/>
        </p:spPr>
        <p:txBody>
          <a:bodyPr wrap="square" anchor="t" tIns="0" bIns="0" lIns="0" rIns="0">
            <a:spAutoFit/>
          </a:bodyPr>
          <a:lstStyle/>
          <a:p>
            <a:pPr algn="r">
              <a:lnSpc>
                <a:spcPct val="120000"/>
              </a:lnSpc>
              <a:spcBef>
                <a:spcPts val="0"/>
              </a:spcBef>
              <a:spcAft>
                <a:spcPts val="0"/>
              </a:spcAft>
              <a:defRPr sz="1000" b="0">
                <a:solidFill>
                  <a:srgbClr val="6B7280"/>
                </a:solidFill>
                <a:latin typeface="Arial"/>
              </a:defRPr>
            </a:pPr>
            <a:r>
              <a:t>Slide 10 of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