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Lst>
  <p:sldSz cy="6858000" cx="12192000"/>
  <p:notesSz cx="6858000" cy="12192000"/>
  <p:embeddedFontLst>
    <p:embeddedFont>
      <p:font typeface="Inter"/>
      <p:regular r:id="rId65"/>
      <p:bold r:id="rId66"/>
      <p:italic r:id="rId67"/>
      <p:boldItalic r:id="rId68"/>
    </p:embeddedFont>
    <p:embeddedFont>
      <p:font typeface="Montserrat"/>
      <p:regular r:id="rId69"/>
      <p:bold r:id="rId70"/>
      <p:italic r:id="rId71"/>
      <p:boldItalic r:id="rId72"/>
    </p:embeddedFont>
    <p:embeddedFont>
      <p:font typeface="Open Sans"/>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OpenSans-regular.fntdata"/><Relationship Id="rId72" Type="http://schemas.openxmlformats.org/officeDocument/2006/relationships/font" Target="fonts/Montserrat-boldItalic.fntdata"/><Relationship Id="rId31" Type="http://schemas.openxmlformats.org/officeDocument/2006/relationships/slide" Target="slides/slide27.xml"/><Relationship Id="rId75" Type="http://schemas.openxmlformats.org/officeDocument/2006/relationships/font" Target="fonts/OpenSans-italic.fntdata"/><Relationship Id="rId30" Type="http://schemas.openxmlformats.org/officeDocument/2006/relationships/slide" Target="slides/slide26.xml"/><Relationship Id="rId74" Type="http://schemas.openxmlformats.org/officeDocument/2006/relationships/font" Target="fonts/OpenSans-bold.fntdata"/><Relationship Id="rId33" Type="http://schemas.openxmlformats.org/officeDocument/2006/relationships/slide" Target="slides/slide29.xml"/><Relationship Id="rId32" Type="http://schemas.openxmlformats.org/officeDocument/2006/relationships/slide" Target="slides/slide28.xml"/><Relationship Id="rId76" Type="http://schemas.openxmlformats.org/officeDocument/2006/relationships/font" Target="fonts/OpenSans-boldItalic.fntdata"/><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Montserrat-italic.fntdata"/><Relationship Id="rId70" Type="http://schemas.openxmlformats.org/officeDocument/2006/relationships/font" Target="fonts/Montserrat-bold.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font" Target="fonts/Inter-bold.fntdata"/><Relationship Id="rId21" Type="http://schemas.openxmlformats.org/officeDocument/2006/relationships/slide" Target="slides/slide17.xml"/><Relationship Id="rId65" Type="http://schemas.openxmlformats.org/officeDocument/2006/relationships/font" Target="fonts/Inter-regular.fntdata"/><Relationship Id="rId24" Type="http://schemas.openxmlformats.org/officeDocument/2006/relationships/slide" Target="slides/slide20.xml"/><Relationship Id="rId68" Type="http://schemas.openxmlformats.org/officeDocument/2006/relationships/font" Target="fonts/Inter-boldItalic.fntdata"/><Relationship Id="rId23" Type="http://schemas.openxmlformats.org/officeDocument/2006/relationships/slide" Target="slides/slide19.xml"/><Relationship Id="rId67" Type="http://schemas.openxmlformats.org/officeDocument/2006/relationships/font" Target="fonts/Inter-italic.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Montserrat-regular.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 name="Google Shape;83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7" name="Google Shape;87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8" name="Google Shape;91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9" name="Google Shape;94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0" name="Google Shape;95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9" name="Google Shape;103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0" name="Google Shape;104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7" name="Google Shape;110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8" name="Google Shape;110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2" name="Google Shape;121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3" name="Google Shape;121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9" name="Google Shape;125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0" name="Google Shape;126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1" name="Google Shape;130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2" name="Google Shape;130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2" name="Google Shape;133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3" name="Google Shape;133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5" name="Google Shape;142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6" name="Google Shape;142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1" name="Google Shape;147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2" name="Google Shape;147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8" name="Google Shape;150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9" name="Google Shape;150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8" name="Google Shape;155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9" name="Google Shape;155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2" name="Google Shape;162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3" name="Google Shape;162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5" name="Google Shape;167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6" name="Google Shape;1676;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6" name="Google Shape;174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7" name="Google Shape;174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0" name="Google Shape;178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1" name="Google Shape;178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5" name="Google Shape;186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6" name="Google Shape;186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2" name="Google Shape;190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3" name="Google Shape;190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6" name="Shape 1956"/>
        <p:cNvGrpSpPr/>
        <p:nvPr/>
      </p:nvGrpSpPr>
      <p:grpSpPr>
        <a:xfrm>
          <a:off x="0" y="0"/>
          <a:ext cx="0" cy="0"/>
          <a:chOff x="0" y="0"/>
          <a:chExt cx="0" cy="0"/>
        </a:xfrm>
      </p:grpSpPr>
      <p:sp>
        <p:nvSpPr>
          <p:cNvPr id="1957" name="Google Shape;195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8" name="Google Shape;1958;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9" name="Google Shape;1959;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9" name="Shape 1989"/>
        <p:cNvGrpSpPr/>
        <p:nvPr/>
      </p:nvGrpSpPr>
      <p:grpSpPr>
        <a:xfrm>
          <a:off x="0" y="0"/>
          <a:ext cx="0" cy="0"/>
          <a:chOff x="0" y="0"/>
          <a:chExt cx="0" cy="0"/>
        </a:xfrm>
      </p:grpSpPr>
      <p:sp>
        <p:nvSpPr>
          <p:cNvPr id="1990" name="Google Shape;199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1" name="Google Shape;199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2" name="Google Shape;199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4" name="Google Shape;203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5" name="Google Shape;2035;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3" name="Google Shape;206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4" name="Google Shape;2064;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1" name="Google Shape;211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2" name="Google Shape;211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2" name="Shape 2142"/>
        <p:cNvGrpSpPr/>
        <p:nvPr/>
      </p:nvGrpSpPr>
      <p:grpSpPr>
        <a:xfrm>
          <a:off x="0" y="0"/>
          <a:ext cx="0" cy="0"/>
          <a:chOff x="0" y="0"/>
          <a:chExt cx="0" cy="0"/>
        </a:xfrm>
      </p:grpSpPr>
      <p:sp>
        <p:nvSpPr>
          <p:cNvPr id="2143" name="Google Shape;214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4" name="Google Shape;214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5" name="Google Shape;214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9" name="Shape 2189"/>
        <p:cNvGrpSpPr/>
        <p:nvPr/>
      </p:nvGrpSpPr>
      <p:grpSpPr>
        <a:xfrm>
          <a:off x="0" y="0"/>
          <a:ext cx="0" cy="0"/>
          <a:chOff x="0" y="0"/>
          <a:chExt cx="0" cy="0"/>
        </a:xfrm>
      </p:grpSpPr>
      <p:sp>
        <p:nvSpPr>
          <p:cNvPr id="2190" name="Google Shape;219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1" name="Google Shape;219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2" name="Google Shape;2192;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7" name="Shape 2217"/>
        <p:cNvGrpSpPr/>
        <p:nvPr/>
      </p:nvGrpSpPr>
      <p:grpSpPr>
        <a:xfrm>
          <a:off x="0" y="0"/>
          <a:ext cx="0" cy="0"/>
          <a:chOff x="0" y="0"/>
          <a:chExt cx="0" cy="0"/>
        </a:xfrm>
      </p:grpSpPr>
      <p:sp>
        <p:nvSpPr>
          <p:cNvPr id="2218" name="Google Shape;221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9" name="Google Shape;221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0" name="Google Shape;2220;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0" name="Google Shape;228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1" name="Google Shape;228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1" name="Shape 2321"/>
        <p:cNvGrpSpPr/>
        <p:nvPr/>
      </p:nvGrpSpPr>
      <p:grpSpPr>
        <a:xfrm>
          <a:off x="0" y="0"/>
          <a:ext cx="0" cy="0"/>
          <a:chOff x="0" y="0"/>
          <a:chExt cx="0" cy="0"/>
        </a:xfrm>
      </p:grpSpPr>
      <p:sp>
        <p:nvSpPr>
          <p:cNvPr id="2322" name="Google Shape;232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3" name="Google Shape;232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4" name="Google Shape;232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2" name="Shape 2342"/>
        <p:cNvGrpSpPr/>
        <p:nvPr/>
      </p:nvGrpSpPr>
      <p:grpSpPr>
        <a:xfrm>
          <a:off x="0" y="0"/>
          <a:ext cx="0" cy="0"/>
          <a:chOff x="0" y="0"/>
          <a:chExt cx="0" cy="0"/>
        </a:xfrm>
      </p:grpSpPr>
      <p:sp>
        <p:nvSpPr>
          <p:cNvPr id="2343" name="Google Shape;234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4" name="Google Shape;234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5" name="Google Shape;2345;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9" name="Shape 2389"/>
        <p:cNvGrpSpPr/>
        <p:nvPr/>
      </p:nvGrpSpPr>
      <p:grpSpPr>
        <a:xfrm>
          <a:off x="0" y="0"/>
          <a:ext cx="0" cy="0"/>
          <a:chOff x="0" y="0"/>
          <a:chExt cx="0" cy="0"/>
        </a:xfrm>
      </p:grpSpPr>
      <p:sp>
        <p:nvSpPr>
          <p:cNvPr id="2390" name="Google Shape;239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1" name="Google Shape;239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2" name="Google Shape;239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3" name="Shape 2433"/>
        <p:cNvGrpSpPr/>
        <p:nvPr/>
      </p:nvGrpSpPr>
      <p:grpSpPr>
        <a:xfrm>
          <a:off x="0" y="0"/>
          <a:ext cx="0" cy="0"/>
          <a:chOff x="0" y="0"/>
          <a:chExt cx="0" cy="0"/>
        </a:xfrm>
      </p:grpSpPr>
      <p:sp>
        <p:nvSpPr>
          <p:cNvPr id="2434" name="Google Shape;243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5" name="Google Shape;2435;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6" name="Google Shape;2436;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8" name="Shape 2458"/>
        <p:cNvGrpSpPr/>
        <p:nvPr/>
      </p:nvGrpSpPr>
      <p:grpSpPr>
        <a:xfrm>
          <a:off x="0" y="0"/>
          <a:ext cx="0" cy="0"/>
          <a:chOff x="0" y="0"/>
          <a:chExt cx="0" cy="0"/>
        </a:xfrm>
      </p:grpSpPr>
      <p:sp>
        <p:nvSpPr>
          <p:cNvPr id="2459" name="Google Shape;2459;g3a344d6e325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0" name="Google Shape;2460;g3a344d6e325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1" name="Google Shape;2461;g3a344d6e325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9" name="Shape 2479"/>
        <p:cNvGrpSpPr/>
        <p:nvPr/>
      </p:nvGrpSpPr>
      <p:grpSpPr>
        <a:xfrm>
          <a:off x="0" y="0"/>
          <a:ext cx="0" cy="0"/>
          <a:chOff x="0" y="0"/>
          <a:chExt cx="0" cy="0"/>
        </a:xfrm>
      </p:grpSpPr>
      <p:sp>
        <p:nvSpPr>
          <p:cNvPr id="2480" name="Google Shape;248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1" name="Google Shape;2481;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2" name="Google Shape;248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3" name="Shape 2643"/>
        <p:cNvGrpSpPr/>
        <p:nvPr/>
      </p:nvGrpSpPr>
      <p:grpSpPr>
        <a:xfrm>
          <a:off x="0" y="0"/>
          <a:ext cx="0" cy="0"/>
          <a:chOff x="0" y="0"/>
          <a:chExt cx="0" cy="0"/>
        </a:xfrm>
      </p:grpSpPr>
      <p:sp>
        <p:nvSpPr>
          <p:cNvPr id="2644" name="Google Shape;264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5" name="Google Shape;2645;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6" name="Google Shape;2646;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8" name="Shape 2708"/>
        <p:cNvGrpSpPr/>
        <p:nvPr/>
      </p:nvGrpSpPr>
      <p:grpSpPr>
        <a:xfrm>
          <a:off x="0" y="0"/>
          <a:ext cx="0" cy="0"/>
          <a:chOff x="0" y="0"/>
          <a:chExt cx="0" cy="0"/>
        </a:xfrm>
      </p:grpSpPr>
      <p:sp>
        <p:nvSpPr>
          <p:cNvPr id="2709" name="Google Shape;2709;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0" name="Google Shape;2710;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1" name="Google Shape;2711;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8" name="Shape 2778"/>
        <p:cNvGrpSpPr/>
        <p:nvPr/>
      </p:nvGrpSpPr>
      <p:grpSpPr>
        <a:xfrm>
          <a:off x="0" y="0"/>
          <a:ext cx="0" cy="0"/>
          <a:chOff x="0" y="0"/>
          <a:chExt cx="0" cy="0"/>
        </a:xfrm>
      </p:grpSpPr>
      <p:sp>
        <p:nvSpPr>
          <p:cNvPr id="2779" name="Google Shape;2779;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0" name="Google Shape;2780;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1" name="Google Shape;2781;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3" name="Shape 2873"/>
        <p:cNvGrpSpPr/>
        <p:nvPr/>
      </p:nvGrpSpPr>
      <p:grpSpPr>
        <a:xfrm>
          <a:off x="0" y="0"/>
          <a:ext cx="0" cy="0"/>
          <a:chOff x="0" y="0"/>
          <a:chExt cx="0" cy="0"/>
        </a:xfrm>
      </p:grpSpPr>
      <p:sp>
        <p:nvSpPr>
          <p:cNvPr id="2874" name="Google Shape;287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5" name="Google Shape;287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6" name="Google Shape;287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0" name="Shape 2930"/>
        <p:cNvGrpSpPr/>
        <p:nvPr/>
      </p:nvGrpSpPr>
      <p:grpSpPr>
        <a:xfrm>
          <a:off x="0" y="0"/>
          <a:ext cx="0" cy="0"/>
          <a:chOff x="0" y="0"/>
          <a:chExt cx="0" cy="0"/>
        </a:xfrm>
      </p:grpSpPr>
      <p:sp>
        <p:nvSpPr>
          <p:cNvPr id="2931" name="Google Shape;293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2" name="Google Shape;2932;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3" name="Google Shape;2933;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5.png"/><Relationship Id="rId10" Type="http://schemas.openxmlformats.org/officeDocument/2006/relationships/image" Target="../media/image9.png"/><Relationship Id="rId9"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43.png"/><Relationship Id="rId6" Type="http://schemas.openxmlformats.org/officeDocument/2006/relationships/image" Target="../media/image47.png"/><Relationship Id="rId7" Type="http://schemas.openxmlformats.org/officeDocument/2006/relationships/image" Target="../media/image4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42.png"/><Relationship Id="rId5" Type="http://schemas.openxmlformats.org/officeDocument/2006/relationships/image" Target="../media/image28.png"/><Relationship Id="rId6" Type="http://schemas.openxmlformats.org/officeDocument/2006/relationships/image" Target="../media/image49.png"/><Relationship Id="rId7"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35.png"/><Relationship Id="rId5" Type="http://schemas.openxmlformats.org/officeDocument/2006/relationships/image" Target="../media/image45.png"/><Relationship Id="rId6" Type="http://schemas.openxmlformats.org/officeDocument/2006/relationships/image" Target="../media/image29.png"/><Relationship Id="rId7"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0.png"/><Relationship Id="rId4" Type="http://schemas.openxmlformats.org/officeDocument/2006/relationships/image" Target="../media/image27.png"/><Relationship Id="rId5" Type="http://schemas.openxmlformats.org/officeDocument/2006/relationships/image" Target="../media/image33.png"/><Relationship Id="rId6" Type="http://schemas.openxmlformats.org/officeDocument/2006/relationships/image" Target="../media/image38.png"/><Relationship Id="rId7"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4.png"/><Relationship Id="rId4" Type="http://schemas.openxmlformats.org/officeDocument/2006/relationships/image" Target="../media/image32.png"/><Relationship Id="rId5"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41.png"/><Relationship Id="rId5" Type="http://schemas.openxmlformats.org/officeDocument/2006/relationships/image" Target="../media/image46.png"/><Relationship Id="rId6"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4.png"/><Relationship Id="rId4" Type="http://schemas.openxmlformats.org/officeDocument/2006/relationships/image" Target="../media/image59.png"/><Relationship Id="rId5" Type="http://schemas.openxmlformats.org/officeDocument/2006/relationships/image" Target="../media/image57.png"/><Relationship Id="rId6"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6.png"/><Relationship Id="rId4" Type="http://schemas.openxmlformats.org/officeDocument/2006/relationships/image" Target="../media/image73.png"/><Relationship Id="rId5" Type="http://schemas.openxmlformats.org/officeDocument/2006/relationships/image" Target="../media/image6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2.png"/><Relationship Id="rId4" Type="http://schemas.openxmlformats.org/officeDocument/2006/relationships/image" Target="../media/image60.png"/><Relationship Id="rId5" Type="http://schemas.openxmlformats.org/officeDocument/2006/relationships/image" Target="../media/image7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6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74.png"/><Relationship Id="rId4" Type="http://schemas.openxmlformats.org/officeDocument/2006/relationships/image" Target="../media/image65.png"/><Relationship Id="rId5" Type="http://schemas.openxmlformats.org/officeDocument/2006/relationships/image" Target="../media/image6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6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6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64.png"/><Relationship Id="rId4" Type="http://schemas.openxmlformats.org/officeDocument/2006/relationships/image" Target="../media/image71.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6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3"/>
          <p:cNvSpPr/>
          <p:nvPr/>
        </p:nvSpPr>
        <p:spPr>
          <a:xfrm>
            <a:off x="0" y="0"/>
            <a:ext cx="12191695" cy="6858000"/>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668305" y="381305"/>
            <a:ext cx="1143000" cy="1143000"/>
          </a:xfrm>
          <a:prstGeom prst="rect">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952805" y="5333695"/>
            <a:ext cx="2286000" cy="2286000"/>
          </a:xfrm>
          <a:prstGeom prst="ellipse">
            <a:avLst/>
          </a:prstGeom>
          <a:solidFill>
            <a:srgbClr val="16A085">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525305" y="1333195"/>
            <a:ext cx="761695" cy="761695"/>
          </a:xfrm>
          <a:prstGeom prst="ellipse">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nvSpPr>
        <p:spPr>
          <a:xfrm>
            <a:off x="533095" y="418795"/>
            <a:ext cx="70500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2400"/>
              <a:buFont typeface="Inter"/>
              <a:buNone/>
            </a:pPr>
            <a:r>
              <a:rPr b="1" i="0" lang="en-US" sz="2400" u="none" cap="none" strike="noStrike">
                <a:solidFill>
                  <a:srgbClr val="16A085"/>
                </a:solidFill>
                <a:latin typeface="Inter"/>
                <a:ea typeface="Inter"/>
                <a:cs typeface="Inter"/>
                <a:sym typeface="Inter"/>
              </a:rPr>
              <a:t>3M</a:t>
            </a:r>
            <a:endParaRPr b="0" i="0" sz="2400" u="none" cap="none" strike="noStrike">
              <a:solidFill>
                <a:schemeClr val="dk1"/>
              </a:solidFill>
              <a:latin typeface="Calibri"/>
              <a:ea typeface="Calibri"/>
              <a:cs typeface="Calibri"/>
              <a:sym typeface="Calibri"/>
            </a:endParaRPr>
          </a:p>
        </p:txBody>
      </p:sp>
      <p:sp>
        <p:nvSpPr>
          <p:cNvPr id="21" name="Google Shape;21;p3"/>
          <p:cNvSpPr/>
          <p:nvPr/>
        </p:nvSpPr>
        <p:spPr>
          <a:xfrm>
            <a:off x="5238598" y="533095"/>
            <a:ext cx="1714500" cy="75895"/>
          </a:xfrm>
          <a:prstGeom prst="roundRect">
            <a:avLst>
              <a:gd fmla="val 60241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nvSpPr>
        <p:spPr>
          <a:xfrm>
            <a:off x="2892247" y="1285646"/>
            <a:ext cx="6796735" cy="6291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Montserrat"/>
              <a:buNone/>
            </a:pPr>
            <a:r>
              <a:rPr b="1" i="0" lang="en-US" sz="4000" u="none" cap="none" strike="noStrike">
                <a:solidFill>
                  <a:srgbClr val="FFFFFF"/>
                </a:solidFill>
                <a:latin typeface="Montserrat"/>
                <a:ea typeface="Montserrat"/>
                <a:cs typeface="Montserrat"/>
                <a:sym typeface="Montserrat"/>
              </a:rPr>
              <a:t>3M Garage Organization</a:t>
            </a:r>
            <a:endParaRPr b="0" i="0" sz="4000" u="none" cap="none" strike="noStrike">
              <a:solidFill>
                <a:schemeClr val="dk1"/>
              </a:solidFill>
              <a:latin typeface="Calibri"/>
              <a:ea typeface="Calibri"/>
              <a:cs typeface="Calibri"/>
              <a:sym typeface="Calibri"/>
            </a:endParaRPr>
          </a:p>
        </p:txBody>
      </p:sp>
      <p:sp>
        <p:nvSpPr>
          <p:cNvPr id="23" name="Google Shape;23;p3"/>
          <p:cNvSpPr txBox="1"/>
          <p:nvPr/>
        </p:nvSpPr>
        <p:spPr>
          <a:xfrm>
            <a:off x="1730045" y="2208276"/>
            <a:ext cx="9120226" cy="12481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Montserrat"/>
              <a:buNone/>
            </a:pPr>
            <a:r>
              <a:rPr b="1" i="0" lang="en-US" sz="4000" u="none" cap="none" strike="noStrike">
                <a:solidFill>
                  <a:srgbClr val="FFFFFF"/>
                </a:solidFill>
                <a:latin typeface="Montserrat"/>
                <a:ea typeface="Montserrat"/>
                <a:cs typeface="Montserrat"/>
                <a:sym typeface="Montserrat"/>
              </a:rPr>
              <a:t>Category Intelligence &amp; Strategic Framework</a:t>
            </a:r>
            <a:endParaRPr b="0" i="0" sz="4000" u="none" cap="none" strike="noStrike">
              <a:solidFill>
                <a:schemeClr val="dk1"/>
              </a:solidFill>
              <a:latin typeface="Calibri"/>
              <a:ea typeface="Calibri"/>
              <a:cs typeface="Calibri"/>
              <a:sym typeface="Calibri"/>
            </a:endParaRPr>
          </a:p>
        </p:txBody>
      </p:sp>
      <p:sp>
        <p:nvSpPr>
          <p:cNvPr id="24" name="Google Shape;24;p3"/>
          <p:cNvSpPr txBox="1"/>
          <p:nvPr/>
        </p:nvSpPr>
        <p:spPr>
          <a:xfrm>
            <a:off x="1208837" y="3947465"/>
            <a:ext cx="9968789" cy="2953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5E7EB"/>
              </a:buClr>
              <a:buSzPts val="1900"/>
              <a:buFont typeface="Inter"/>
              <a:buNone/>
            </a:pPr>
            <a:r>
              <a:rPr b="0" i="0" lang="en-US" sz="1900" u="none" cap="none" strike="noStrike">
                <a:solidFill>
                  <a:srgbClr val="E5E7EB"/>
                </a:solidFill>
                <a:latin typeface="Inter"/>
                <a:ea typeface="Inter"/>
                <a:cs typeface="Inter"/>
                <a:sym typeface="Inter"/>
              </a:rPr>
              <a:t>Market Entry Strategy | November 2025 | Prepared for: 3M Innovation Leadership</a:t>
            </a:r>
            <a:endParaRPr b="0" i="0" sz="1900" u="none" cap="none" strike="noStrike">
              <a:solidFill>
                <a:schemeClr val="dk1"/>
              </a:solidFill>
              <a:latin typeface="Calibri"/>
              <a:ea typeface="Calibri"/>
              <a:cs typeface="Calibri"/>
              <a:sym typeface="Calibri"/>
            </a:endParaRPr>
          </a:p>
        </p:txBody>
      </p:sp>
      <p:sp>
        <p:nvSpPr>
          <p:cNvPr id="25" name="Google Shape;25;p3"/>
          <p:cNvSpPr txBox="1"/>
          <p:nvPr/>
        </p:nvSpPr>
        <p:spPr>
          <a:xfrm>
            <a:off x="533095" y="6267298"/>
            <a:ext cx="33531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200"/>
              <a:buFont typeface="Inter"/>
              <a:buNone/>
            </a:pPr>
            <a:r>
              <a:rPr b="0" i="0" lang="en-US" sz="1200" u="none" cap="none" strike="noStrike">
                <a:solidFill>
                  <a:srgbClr val="9CA3AF"/>
                </a:solidFill>
                <a:latin typeface="Inter"/>
                <a:ea typeface="Inter"/>
                <a:cs typeface="Inter"/>
                <a:sym typeface="Inter"/>
              </a:rPr>
              <a:t>3M Internal - Strategic Category Intelligence</a:t>
            </a:r>
            <a:endParaRPr b="0" i="0" sz="1200" u="none" cap="none" strike="noStrike">
              <a:solidFill>
                <a:schemeClr val="dk1"/>
              </a:solidFill>
              <a:latin typeface="Calibri"/>
              <a:ea typeface="Calibri"/>
              <a:cs typeface="Calibri"/>
              <a:sym typeface="Calibri"/>
            </a:endParaRPr>
          </a:p>
        </p:txBody>
      </p:sp>
      <p:sp>
        <p:nvSpPr>
          <p:cNvPr id="26" name="Google Shape;26;p3"/>
          <p:cNvSpPr txBox="1"/>
          <p:nvPr/>
        </p:nvSpPr>
        <p:spPr>
          <a:xfrm>
            <a:off x="11595506" y="6267298"/>
            <a:ext cx="1810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200"/>
              <a:buFont typeface="Inter"/>
              <a:buNone/>
            </a:pPr>
            <a:r>
              <a:rPr b="0" i="0" lang="en-US" sz="1200" u="none" cap="none" strike="noStrike">
                <a:solidFill>
                  <a:srgbClr val="9CA3A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4"/>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txBox="1"/>
          <p:nvPr/>
        </p:nvSpPr>
        <p:spPr>
          <a:xfrm>
            <a:off x="533095" y="780898"/>
            <a:ext cx="65727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Executive Summary: 4 Critical Findings</a:t>
            </a:r>
            <a:endParaRPr b="0" i="0" sz="2700" u="none" cap="none" strike="noStrike">
              <a:solidFill>
                <a:schemeClr val="dk1"/>
              </a:solidFill>
              <a:latin typeface="Calibri"/>
              <a:ea typeface="Calibri"/>
              <a:cs typeface="Calibri"/>
              <a:sym typeface="Calibri"/>
            </a:endParaRPr>
          </a:p>
        </p:txBody>
      </p:sp>
      <p:sp>
        <p:nvSpPr>
          <p:cNvPr id="36" name="Google Shape;36;p4"/>
          <p:cNvSpPr txBox="1"/>
          <p:nvPr/>
        </p:nvSpPr>
        <p:spPr>
          <a:xfrm>
            <a:off x="533095" y="1638605"/>
            <a:ext cx="13908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MARKET STRUCTURE</a:t>
            </a:r>
            <a:endParaRPr b="0" i="0" sz="900" u="none" cap="none" strike="noStrike">
              <a:solidFill>
                <a:schemeClr val="dk1"/>
              </a:solidFill>
              <a:latin typeface="Calibri"/>
              <a:ea typeface="Calibri"/>
              <a:cs typeface="Calibri"/>
              <a:sym typeface="Calibri"/>
            </a:endParaRPr>
          </a:p>
        </p:txBody>
      </p:sp>
      <p:sp>
        <p:nvSpPr>
          <p:cNvPr id="37" name="Google Shape;37;p4"/>
          <p:cNvSpPr txBox="1"/>
          <p:nvPr/>
        </p:nvSpPr>
        <p:spPr>
          <a:xfrm>
            <a:off x="5330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38" name="Google Shape;38;p4"/>
          <p:cNvSpPr txBox="1"/>
          <p:nvPr/>
        </p:nvSpPr>
        <p:spPr>
          <a:xfrm>
            <a:off x="747065" y="1904695"/>
            <a:ext cx="5043830"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Channel bifurcation is structural: Premium (HD/Lowe's) ~65% revenue at $80–$120 vs Mass (Walmart/Target) ~35% at $15–$25</a:t>
            </a:r>
            <a:endParaRPr b="0" i="0" sz="1300" u="none" cap="none" strike="noStrike">
              <a:solidFill>
                <a:schemeClr val="dk1"/>
              </a:solidFill>
              <a:latin typeface="Calibri"/>
              <a:ea typeface="Calibri"/>
              <a:cs typeface="Calibri"/>
              <a:sym typeface="Calibri"/>
            </a:endParaRPr>
          </a:p>
        </p:txBody>
      </p:sp>
      <p:sp>
        <p:nvSpPr>
          <p:cNvPr id="39" name="Google Shape;39;p4"/>
          <p:cNvSpPr txBox="1"/>
          <p:nvPr/>
        </p:nvSpPr>
        <p:spPr>
          <a:xfrm>
            <a:off x="5330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0" name="Google Shape;40;p4"/>
          <p:cNvSpPr txBox="1"/>
          <p:nvPr/>
        </p:nvSpPr>
        <p:spPr>
          <a:xfrm>
            <a:off x="747065" y="3033065"/>
            <a:ext cx="2205533"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Top Consumer Concerns:</a:t>
            </a:r>
            <a:endParaRPr b="0" i="0" sz="1300" u="none" cap="none" strike="noStrike">
              <a:solidFill>
                <a:schemeClr val="dk1"/>
              </a:solidFill>
              <a:latin typeface="Calibri"/>
              <a:ea typeface="Calibri"/>
              <a:cs typeface="Calibri"/>
              <a:sym typeface="Calibri"/>
            </a:endParaRPr>
          </a:p>
        </p:txBody>
      </p:sp>
      <p:sp>
        <p:nvSpPr>
          <p:cNvPr id="41" name="Google Shape;41;p4"/>
          <p:cNvSpPr txBox="1"/>
          <p:nvPr/>
        </p:nvSpPr>
        <p:spPr>
          <a:xfrm>
            <a:off x="761695" y="3469234"/>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2" name="Google Shape;42;p4"/>
          <p:cNvSpPr txBox="1"/>
          <p:nvPr/>
        </p:nvSpPr>
        <p:spPr>
          <a:xfrm>
            <a:off x="970178" y="3421685"/>
            <a:ext cx="433882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Paint &amp; surface damage: 32% - most common issue</a:t>
            </a:r>
            <a:endParaRPr b="0" i="0" sz="1300" u="none" cap="none" strike="noStrike">
              <a:solidFill>
                <a:schemeClr val="dk1"/>
              </a:solidFill>
              <a:latin typeface="Calibri"/>
              <a:ea typeface="Calibri"/>
              <a:cs typeface="Calibri"/>
              <a:sym typeface="Calibri"/>
            </a:endParaRPr>
          </a:p>
        </p:txBody>
      </p:sp>
      <p:sp>
        <p:nvSpPr>
          <p:cNvPr id="43" name="Google Shape;43;p4"/>
          <p:cNvSpPr txBox="1"/>
          <p:nvPr/>
        </p:nvSpPr>
        <p:spPr>
          <a:xfrm>
            <a:off x="761695" y="3857854"/>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4" name="Google Shape;44;p4"/>
          <p:cNvSpPr txBox="1"/>
          <p:nvPr/>
        </p:nvSpPr>
        <p:spPr>
          <a:xfrm>
            <a:off x="970178" y="3810305"/>
            <a:ext cx="43196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Removal difficulties: 23% - often damages surfaces</a:t>
            </a:r>
            <a:endParaRPr b="0" i="0" sz="1300" u="none" cap="none" strike="noStrike">
              <a:solidFill>
                <a:schemeClr val="dk1"/>
              </a:solidFill>
              <a:latin typeface="Calibri"/>
              <a:ea typeface="Calibri"/>
              <a:cs typeface="Calibri"/>
              <a:sym typeface="Calibri"/>
            </a:endParaRPr>
          </a:p>
        </p:txBody>
      </p:sp>
      <p:sp>
        <p:nvSpPr>
          <p:cNvPr id="45" name="Google Shape;45;p4"/>
          <p:cNvSpPr txBox="1"/>
          <p:nvPr/>
        </p:nvSpPr>
        <p:spPr>
          <a:xfrm>
            <a:off x="6476695" y="1638605"/>
            <a:ext cx="146761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CONSUMER BEHAVIOR</a:t>
            </a:r>
            <a:endParaRPr b="0" i="0" sz="900" u="none" cap="none" strike="noStrike">
              <a:solidFill>
                <a:schemeClr val="dk1"/>
              </a:solidFill>
              <a:latin typeface="Calibri"/>
              <a:ea typeface="Calibri"/>
              <a:cs typeface="Calibri"/>
              <a:sym typeface="Calibri"/>
            </a:endParaRPr>
          </a:p>
        </p:txBody>
      </p:sp>
      <p:sp>
        <p:nvSpPr>
          <p:cNvPr id="46" name="Google Shape;46;p4"/>
          <p:cNvSpPr txBox="1"/>
          <p:nvPr/>
        </p:nvSpPr>
        <p:spPr>
          <a:xfrm>
            <a:off x="64766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7" name="Google Shape;47;p4"/>
          <p:cNvSpPr txBox="1"/>
          <p:nvPr/>
        </p:nvSpPr>
        <p:spPr>
          <a:xfrm>
            <a:off x="6690665" y="1904695"/>
            <a:ext cx="39675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Installation challenges: 20% - setup complexity</a:t>
            </a:r>
            <a:endParaRPr b="0" i="0" sz="1300" u="none" cap="none" strike="noStrike">
              <a:solidFill>
                <a:schemeClr val="dk1"/>
              </a:solidFill>
              <a:latin typeface="Calibri"/>
              <a:ea typeface="Calibri"/>
              <a:cs typeface="Calibri"/>
              <a:sym typeface="Calibri"/>
            </a:endParaRPr>
          </a:p>
        </p:txBody>
      </p:sp>
      <p:sp>
        <p:nvSpPr>
          <p:cNvPr id="48" name="Google Shape;48;p4"/>
          <p:cNvSpPr txBox="1"/>
          <p:nvPr/>
        </p:nvSpPr>
        <p:spPr>
          <a:xfrm>
            <a:off x="6476695" y="253197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9" name="Google Shape;49;p4"/>
          <p:cNvSpPr txBox="1"/>
          <p:nvPr/>
        </p:nvSpPr>
        <p:spPr>
          <a:xfrm>
            <a:off x="6690665" y="2484425"/>
            <a:ext cx="456742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Rental property considerations: 14% - landlord policies</a:t>
            </a:r>
            <a:endParaRPr b="0" i="0" sz="1300" u="none" cap="none" strike="noStrike">
              <a:solidFill>
                <a:schemeClr val="dk1"/>
              </a:solidFill>
              <a:latin typeface="Calibri"/>
              <a:ea typeface="Calibri"/>
              <a:cs typeface="Calibri"/>
              <a:sym typeface="Calibri"/>
            </a:endParaRPr>
          </a:p>
        </p:txBody>
      </p:sp>
      <p:sp>
        <p:nvSpPr>
          <p:cNvPr id="50" name="Google Shape;50;p4"/>
          <p:cNvSpPr txBox="1"/>
          <p:nvPr/>
        </p:nvSpPr>
        <p:spPr>
          <a:xfrm>
            <a:off x="6476695" y="311078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51" name="Google Shape;51;p4"/>
          <p:cNvSpPr txBox="1"/>
          <p:nvPr/>
        </p:nvSpPr>
        <p:spPr>
          <a:xfrm>
            <a:off x="6690665" y="3063240"/>
            <a:ext cx="38724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Weight capacity issues: 12% - products falling</a:t>
            </a:r>
            <a:endParaRPr b="0" i="0" sz="1300" u="none" cap="none" strike="noStrike">
              <a:solidFill>
                <a:schemeClr val="dk1"/>
              </a:solidFill>
              <a:latin typeface="Calibri"/>
              <a:ea typeface="Calibri"/>
              <a:cs typeface="Calibri"/>
              <a:sym typeface="Calibri"/>
            </a:endParaRPr>
          </a:p>
        </p:txBody>
      </p:sp>
      <p:sp>
        <p:nvSpPr>
          <p:cNvPr id="52" name="Google Shape;52;p4"/>
          <p:cNvSpPr/>
          <p:nvPr/>
        </p:nvSpPr>
        <p:spPr>
          <a:xfrm>
            <a:off x="6476695" y="3613709"/>
            <a:ext cx="5181905" cy="914400"/>
          </a:xfrm>
          <a:prstGeom prst="roundRect">
            <a:avLst>
              <a:gd fmla="val 6250"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6476695" y="3613709"/>
            <a:ext cx="47549" cy="9144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txBox="1"/>
          <p:nvPr/>
        </p:nvSpPr>
        <p:spPr>
          <a:xfrm>
            <a:off x="6752844" y="3833165"/>
            <a:ext cx="4729277" cy="4672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The middle ($30–$50) price segment is a trap; choose premium or mass positioning, not both.</a:t>
            </a:r>
            <a:endParaRPr b="0" i="0" sz="1300" u="none" cap="none" strike="noStrike">
              <a:solidFill>
                <a:schemeClr val="dk1"/>
              </a:solidFill>
              <a:latin typeface="Calibri"/>
              <a:ea typeface="Calibri"/>
              <a:cs typeface="Calibri"/>
              <a:sym typeface="Calibri"/>
            </a:endParaRPr>
          </a:p>
        </p:txBody>
      </p:sp>
      <p:sp>
        <p:nvSpPr>
          <p:cNvPr id="55" name="Google Shape;55;p4"/>
          <p:cNvSpPr txBox="1"/>
          <p:nvPr/>
        </p:nvSpPr>
        <p:spPr>
          <a:xfrm>
            <a:off x="533095" y="6038698"/>
            <a:ext cx="347472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Based on analysis of 1,129 consumer problem discussions</a:t>
            </a:r>
            <a:endParaRPr b="0" i="0" sz="900" u="none" cap="none" strike="noStrike">
              <a:solidFill>
                <a:schemeClr val="dk1"/>
              </a:solidFill>
              <a:latin typeface="Calibri"/>
              <a:ea typeface="Calibri"/>
              <a:cs typeface="Calibri"/>
              <a:sym typeface="Calibri"/>
            </a:endParaRPr>
          </a:p>
        </p:txBody>
      </p:sp>
      <p:sp>
        <p:nvSpPr>
          <p:cNvPr id="56" name="Google Shape;56;p4"/>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57" name="Google Shape;57;p4"/>
          <p:cNvSpPr txBox="1"/>
          <p:nvPr/>
        </p:nvSpPr>
        <p:spPr>
          <a:xfrm>
            <a:off x="11582705" y="6452921"/>
            <a:ext cx="16916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609905" y="381305"/>
            <a:ext cx="76169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txBox="1"/>
          <p:nvPr/>
        </p:nvSpPr>
        <p:spPr>
          <a:xfrm>
            <a:off x="609905" y="647395"/>
            <a:ext cx="3553358"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Research Data Sources</a:t>
            </a:r>
            <a:endParaRPr b="0" i="0" sz="2400" u="none" cap="none" strike="noStrike">
              <a:solidFill>
                <a:schemeClr val="dk1"/>
              </a:solidFill>
              <a:latin typeface="Calibri"/>
              <a:ea typeface="Calibri"/>
              <a:cs typeface="Calibri"/>
              <a:sym typeface="Calibri"/>
            </a:endParaRPr>
          </a:p>
        </p:txBody>
      </p:sp>
      <p:sp>
        <p:nvSpPr>
          <p:cNvPr id="67" name="Google Shape;67;p5"/>
          <p:cNvSpPr/>
          <p:nvPr/>
        </p:nvSpPr>
        <p:spPr>
          <a:xfrm>
            <a:off x="609905" y="1933956"/>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txBox="1"/>
          <p:nvPr/>
        </p:nvSpPr>
        <p:spPr>
          <a:xfrm>
            <a:off x="609905" y="159105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69" name="Google Shape;69;p5"/>
          <p:cNvSpPr txBox="1"/>
          <p:nvPr/>
        </p:nvSpPr>
        <p:spPr>
          <a:xfrm>
            <a:off x="897941" y="1604772"/>
            <a:ext cx="21625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Primary Data Sources</a:t>
            </a:r>
            <a:endParaRPr b="0" i="0" sz="1500" u="none" cap="none" strike="noStrike">
              <a:solidFill>
                <a:schemeClr val="dk1"/>
              </a:solidFill>
              <a:latin typeface="Calibri"/>
              <a:ea typeface="Calibri"/>
              <a:cs typeface="Calibri"/>
              <a:sym typeface="Calibri"/>
            </a:endParaRPr>
          </a:p>
        </p:txBody>
      </p:sp>
      <p:sp>
        <p:nvSpPr>
          <p:cNvPr id="70" name="Google Shape;70;p5"/>
          <p:cNvSpPr/>
          <p:nvPr/>
        </p:nvSpPr>
        <p:spPr>
          <a:xfrm>
            <a:off x="609905" y="2095805"/>
            <a:ext cx="5419649" cy="1657807"/>
          </a:xfrm>
          <a:prstGeom prst="roundRect">
            <a:avLst>
              <a:gd fmla="val 190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609905" y="2095805"/>
            <a:ext cx="28346" cy="16578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6163056" y="2095805"/>
            <a:ext cx="5419649" cy="1657807"/>
          </a:xfrm>
          <a:prstGeom prst="roundRect">
            <a:avLst>
              <a:gd fmla="val 1902"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6163056" y="2095805"/>
            <a:ext cx="28346" cy="16578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609905" y="3884371"/>
            <a:ext cx="5419649" cy="1419149"/>
          </a:xfrm>
          <a:prstGeom prst="roundRect">
            <a:avLst>
              <a:gd fmla="val 2595"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609905" y="3884371"/>
            <a:ext cx="28346" cy="14191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6163056" y="3884371"/>
            <a:ext cx="5419649" cy="1419149"/>
          </a:xfrm>
          <a:prstGeom prst="roundRect">
            <a:avLst>
              <a:gd fmla="val 2595"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6163056" y="3884371"/>
            <a:ext cx="28346" cy="14191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txBox="1"/>
          <p:nvPr/>
        </p:nvSpPr>
        <p:spPr>
          <a:xfrm>
            <a:off x="752551" y="2276856"/>
            <a:ext cx="16002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1. Product Database:</a:t>
            </a:r>
            <a:endParaRPr b="0" i="0" sz="1200" u="none" cap="none" strike="noStrike">
              <a:solidFill>
                <a:schemeClr val="dk1"/>
              </a:solidFill>
              <a:latin typeface="Calibri"/>
              <a:ea typeface="Calibri"/>
              <a:cs typeface="Calibri"/>
              <a:sym typeface="Calibri"/>
            </a:endParaRPr>
          </a:p>
        </p:txBody>
      </p:sp>
      <p:sp>
        <p:nvSpPr>
          <p:cNvPr id="79" name="Google Shape;79;p5"/>
          <p:cNvSpPr txBox="1"/>
          <p:nvPr/>
        </p:nvSpPr>
        <p:spPr>
          <a:xfrm>
            <a:off x="752551" y="2567635"/>
            <a:ext cx="4743907"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9,555 unique products across 5 retailers (Walmart, Home Depot, Lowe's, Amazon, Target)</a:t>
            </a:r>
            <a:endParaRPr b="0" i="0" sz="1200" u="none" cap="none" strike="noStrike">
              <a:solidFill>
                <a:schemeClr val="dk1"/>
              </a:solidFill>
              <a:latin typeface="Calibri"/>
              <a:ea typeface="Calibri"/>
              <a:cs typeface="Calibri"/>
              <a:sym typeface="Calibri"/>
            </a:endParaRPr>
          </a:p>
        </p:txBody>
      </p:sp>
      <p:sp>
        <p:nvSpPr>
          <p:cNvPr id="80" name="Google Shape;80;p5"/>
          <p:cNvSpPr txBox="1"/>
          <p:nvPr/>
        </p:nvSpPr>
        <p:spPr>
          <a:xfrm>
            <a:off x="752551" y="3103474"/>
            <a:ext cx="38386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Fields: price, brand, category, SKU, ratings, reviews</a:t>
            </a:r>
            <a:endParaRPr b="0" i="0" sz="1200" u="none" cap="none" strike="noStrike">
              <a:solidFill>
                <a:schemeClr val="dk1"/>
              </a:solidFill>
              <a:latin typeface="Calibri"/>
              <a:ea typeface="Calibri"/>
              <a:cs typeface="Calibri"/>
              <a:sym typeface="Calibri"/>
            </a:endParaRPr>
          </a:p>
        </p:txBody>
      </p:sp>
      <p:sp>
        <p:nvSpPr>
          <p:cNvPr id="81" name="Google Shape;81;p5"/>
          <p:cNvSpPr txBox="1"/>
          <p:nvPr/>
        </p:nvSpPr>
        <p:spPr>
          <a:xfrm>
            <a:off x="6305702" y="2276856"/>
            <a:ext cx="16578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2. Ratings &amp; Reviews:</a:t>
            </a:r>
            <a:endParaRPr b="0" i="0" sz="1200" u="none" cap="none" strike="noStrike">
              <a:solidFill>
                <a:schemeClr val="dk1"/>
              </a:solidFill>
              <a:latin typeface="Calibri"/>
              <a:ea typeface="Calibri"/>
              <a:cs typeface="Calibri"/>
              <a:sym typeface="Calibri"/>
            </a:endParaRPr>
          </a:p>
        </p:txBody>
      </p:sp>
      <p:sp>
        <p:nvSpPr>
          <p:cNvPr id="82" name="Google Shape;82;p5"/>
          <p:cNvSpPr txBox="1"/>
          <p:nvPr/>
        </p:nvSpPr>
        <p:spPr>
          <a:xfrm>
            <a:off x="6305702" y="2567635"/>
            <a:ext cx="36868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1,826 products with star ratings (18.3% coverage)</a:t>
            </a:r>
            <a:endParaRPr b="0" i="0" sz="1200" u="none" cap="none" strike="noStrike">
              <a:solidFill>
                <a:schemeClr val="dk1"/>
              </a:solidFill>
              <a:latin typeface="Calibri"/>
              <a:ea typeface="Calibri"/>
              <a:cs typeface="Calibri"/>
              <a:sym typeface="Calibri"/>
            </a:endParaRPr>
          </a:p>
        </p:txBody>
      </p:sp>
      <p:sp>
        <p:nvSpPr>
          <p:cNvPr id="83" name="Google Shape;83;p5"/>
          <p:cNvSpPr txBox="1"/>
          <p:nvPr/>
        </p:nvSpPr>
        <p:spPr>
          <a:xfrm>
            <a:off x="6305702" y="2859329"/>
            <a:ext cx="46296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2,847 negative reviews (1-2 stars) analyzed for failure patterns</a:t>
            </a:r>
            <a:endParaRPr b="0" i="0" sz="1200" u="none" cap="none" strike="noStrike">
              <a:solidFill>
                <a:schemeClr val="dk1"/>
              </a:solidFill>
              <a:latin typeface="Calibri"/>
              <a:ea typeface="Calibri"/>
              <a:cs typeface="Calibri"/>
              <a:sym typeface="Calibri"/>
            </a:endParaRPr>
          </a:p>
        </p:txBody>
      </p:sp>
      <p:sp>
        <p:nvSpPr>
          <p:cNvPr id="84" name="Google Shape;84;p5"/>
          <p:cNvSpPr txBox="1"/>
          <p:nvPr/>
        </p:nvSpPr>
        <p:spPr>
          <a:xfrm>
            <a:off x="752551" y="4065422"/>
            <a:ext cx="16194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3. Consumer Videos:</a:t>
            </a:r>
            <a:endParaRPr b="0" i="0" sz="1200" u="none" cap="none" strike="noStrike">
              <a:solidFill>
                <a:schemeClr val="dk1"/>
              </a:solidFill>
              <a:latin typeface="Calibri"/>
              <a:ea typeface="Calibri"/>
              <a:cs typeface="Calibri"/>
              <a:sym typeface="Calibri"/>
            </a:endParaRPr>
          </a:p>
        </p:txBody>
      </p:sp>
      <p:sp>
        <p:nvSpPr>
          <p:cNvPr id="85" name="Google Shape;85;p5"/>
          <p:cNvSpPr txBox="1"/>
          <p:nvPr/>
        </p:nvSpPr>
        <p:spPr>
          <a:xfrm>
            <a:off x="752551" y="4356202"/>
            <a:ext cx="35433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571 YouTube creators (47.9M cumulative views)</a:t>
            </a:r>
            <a:endParaRPr b="0" i="0" sz="1200" u="none" cap="none" strike="noStrike">
              <a:solidFill>
                <a:schemeClr val="dk1"/>
              </a:solidFill>
              <a:latin typeface="Calibri"/>
              <a:ea typeface="Calibri"/>
              <a:cs typeface="Calibri"/>
              <a:sym typeface="Calibri"/>
            </a:endParaRPr>
          </a:p>
        </p:txBody>
      </p:sp>
      <p:sp>
        <p:nvSpPr>
          <p:cNvPr id="86" name="Google Shape;86;p5"/>
          <p:cNvSpPr txBox="1"/>
          <p:nvPr/>
        </p:nvSpPr>
        <p:spPr>
          <a:xfrm>
            <a:off x="752551" y="4647895"/>
            <a:ext cx="1953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Inter-rater reliability: 87%</a:t>
            </a:r>
            <a:endParaRPr b="0" i="0" sz="1200" u="none" cap="none" strike="noStrike">
              <a:solidFill>
                <a:schemeClr val="dk1"/>
              </a:solidFill>
              <a:latin typeface="Calibri"/>
              <a:ea typeface="Calibri"/>
              <a:cs typeface="Calibri"/>
              <a:sym typeface="Calibri"/>
            </a:endParaRPr>
          </a:p>
        </p:txBody>
      </p:sp>
      <p:sp>
        <p:nvSpPr>
          <p:cNvPr id="87" name="Google Shape;87;p5"/>
          <p:cNvSpPr txBox="1"/>
          <p:nvPr/>
        </p:nvSpPr>
        <p:spPr>
          <a:xfrm>
            <a:off x="6305702" y="4065422"/>
            <a:ext cx="20199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4. Market Sales Estimates:</a:t>
            </a:r>
            <a:endParaRPr b="0" i="0" sz="1200" u="none" cap="none" strike="noStrike">
              <a:solidFill>
                <a:schemeClr val="dk1"/>
              </a:solidFill>
              <a:latin typeface="Calibri"/>
              <a:ea typeface="Calibri"/>
              <a:cs typeface="Calibri"/>
              <a:sym typeface="Calibri"/>
            </a:endParaRPr>
          </a:p>
        </p:txBody>
      </p:sp>
      <p:sp>
        <p:nvSpPr>
          <p:cNvPr id="88" name="Google Shape;88;p5"/>
          <p:cNvSpPr txBox="1"/>
          <p:nvPr/>
        </p:nvSpPr>
        <p:spPr>
          <a:xfrm>
            <a:off x="6305702" y="4356202"/>
            <a:ext cx="49441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BSR-to-sales conversion for top 20 products (~$500K/month total)</a:t>
            </a:r>
            <a:endParaRPr b="0" i="0" sz="1200" u="none" cap="none" strike="noStrike">
              <a:solidFill>
                <a:schemeClr val="dk1"/>
              </a:solidFill>
              <a:latin typeface="Calibri"/>
              <a:ea typeface="Calibri"/>
              <a:cs typeface="Calibri"/>
              <a:sym typeface="Calibri"/>
            </a:endParaRPr>
          </a:p>
        </p:txBody>
      </p:sp>
      <p:sp>
        <p:nvSpPr>
          <p:cNvPr id="89" name="Google Shape;89;p5"/>
          <p:cNvSpPr txBox="1"/>
          <p:nvPr/>
        </p:nvSpPr>
        <p:spPr>
          <a:xfrm>
            <a:off x="6305702" y="4647895"/>
            <a:ext cx="40489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Market weighting applied for channel-specific revenue</a:t>
            </a:r>
            <a:endParaRPr b="0" i="0" sz="1200" u="none" cap="none" strike="noStrike">
              <a:solidFill>
                <a:schemeClr val="dk1"/>
              </a:solidFill>
              <a:latin typeface="Calibri"/>
              <a:ea typeface="Calibri"/>
              <a:cs typeface="Calibri"/>
              <a:sym typeface="Calibri"/>
            </a:endParaRPr>
          </a:p>
        </p:txBody>
      </p:sp>
      <p:sp>
        <p:nvSpPr>
          <p:cNvPr id="90" name="Google Shape;90;p5"/>
          <p:cNvSpPr/>
          <p:nvPr/>
        </p:nvSpPr>
        <p:spPr>
          <a:xfrm>
            <a:off x="752551" y="3375050"/>
            <a:ext cx="28346" cy="2194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6305702" y="3131820"/>
            <a:ext cx="28346" cy="2194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752551" y="4920386"/>
            <a:ext cx="28346" cy="2194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6305702" y="4920386"/>
            <a:ext cx="28346" cy="2194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txBox="1"/>
          <p:nvPr/>
        </p:nvSpPr>
        <p:spPr>
          <a:xfrm>
            <a:off x="895198" y="3394253"/>
            <a:ext cx="32909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all_products_final_with_lowes.json (1.9MB)</a:t>
            </a:r>
            <a:endParaRPr b="0" i="0" sz="1000" u="none" cap="none" strike="noStrike">
              <a:solidFill>
                <a:schemeClr val="dk1"/>
              </a:solidFill>
              <a:latin typeface="Calibri"/>
              <a:ea typeface="Calibri"/>
              <a:cs typeface="Calibri"/>
              <a:sym typeface="Calibri"/>
            </a:endParaRPr>
          </a:p>
        </p:txBody>
      </p:sp>
      <p:sp>
        <p:nvSpPr>
          <p:cNvPr id="95" name="Google Shape;95;p5"/>
          <p:cNvSpPr txBox="1"/>
          <p:nvPr/>
        </p:nvSpPr>
        <p:spPr>
          <a:xfrm>
            <a:off x="6448349" y="3151022"/>
            <a:ext cx="33009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Embedded in product database JSON files</a:t>
            </a:r>
            <a:endParaRPr b="0" i="0" sz="1000" u="none" cap="none" strike="noStrike">
              <a:solidFill>
                <a:schemeClr val="dk1"/>
              </a:solidFill>
              <a:latin typeface="Calibri"/>
              <a:ea typeface="Calibri"/>
              <a:cs typeface="Calibri"/>
              <a:sym typeface="Calibri"/>
            </a:endParaRPr>
          </a:p>
        </p:txBody>
      </p:sp>
      <p:sp>
        <p:nvSpPr>
          <p:cNvPr id="96" name="Google Shape;96;p5"/>
          <p:cNvSpPr txBox="1"/>
          <p:nvPr/>
        </p:nvSpPr>
        <p:spPr>
          <a:xfrm>
            <a:off x="895198" y="4939589"/>
            <a:ext cx="27486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full_garage_organizer_videos.json</a:t>
            </a:r>
            <a:endParaRPr b="0" i="0" sz="1000" u="none" cap="none" strike="noStrike">
              <a:solidFill>
                <a:schemeClr val="dk1"/>
              </a:solidFill>
              <a:latin typeface="Calibri"/>
              <a:ea typeface="Calibri"/>
              <a:cs typeface="Calibri"/>
              <a:sym typeface="Calibri"/>
            </a:endParaRPr>
          </a:p>
        </p:txBody>
      </p:sp>
      <p:sp>
        <p:nvSpPr>
          <p:cNvPr id="97" name="Google Shape;97;p5"/>
          <p:cNvSpPr txBox="1"/>
          <p:nvPr/>
        </p:nvSpPr>
        <p:spPr>
          <a:xfrm>
            <a:off x="6448349" y="4939589"/>
            <a:ext cx="25100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Amazon Best Seller Rank data</a:t>
            </a:r>
            <a:endParaRPr b="0" i="0" sz="1000" u="none" cap="none" strike="noStrike">
              <a:solidFill>
                <a:schemeClr val="dk1"/>
              </a:solidFill>
              <a:latin typeface="Calibri"/>
              <a:ea typeface="Calibri"/>
              <a:cs typeface="Calibri"/>
              <a:sym typeface="Calibri"/>
            </a:endParaRPr>
          </a:p>
        </p:txBody>
      </p:sp>
      <p:sp>
        <p:nvSpPr>
          <p:cNvPr id="98" name="Google Shape;98;p5"/>
          <p:cNvSpPr/>
          <p:nvPr/>
        </p:nvSpPr>
        <p:spPr>
          <a:xfrm>
            <a:off x="609905" y="5486400"/>
            <a:ext cx="10972800" cy="9144"/>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txBox="1"/>
          <p:nvPr/>
        </p:nvSpPr>
        <p:spPr>
          <a:xfrm>
            <a:off x="609905" y="5648249"/>
            <a:ext cx="103775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All data sources include complete audit trail. Product database contains embedded ratings &amp; reviews. Market sales estimates derived from BSR conversion metrics.</a:t>
            </a:r>
            <a:endParaRPr b="0" i="0" sz="1000" u="none" cap="none" strike="noStrike">
              <a:solidFill>
                <a:schemeClr val="dk1"/>
              </a:solidFill>
              <a:latin typeface="Calibri"/>
              <a:ea typeface="Calibri"/>
              <a:cs typeface="Calibri"/>
              <a:sym typeface="Calibri"/>
            </a:endParaRPr>
          </a:p>
        </p:txBody>
      </p:sp>
      <p:sp>
        <p:nvSpPr>
          <p:cNvPr id="100" name="Google Shape;100;p5"/>
          <p:cNvSpPr txBox="1"/>
          <p:nvPr/>
        </p:nvSpPr>
        <p:spPr>
          <a:xfrm>
            <a:off x="609905" y="6448349"/>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01" name="Google Shape;101;p5"/>
          <p:cNvSpPr txBox="1"/>
          <p:nvPr/>
        </p:nvSpPr>
        <p:spPr>
          <a:xfrm>
            <a:off x="11499494" y="644834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6"/>
          <p:cNvSpPr/>
          <p:nvPr/>
        </p:nvSpPr>
        <p:spPr>
          <a:xfrm>
            <a:off x="0" y="0"/>
            <a:ext cx="12191695" cy="73344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0" y="0"/>
            <a:ext cx="12191695" cy="73344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609905" y="381305"/>
            <a:ext cx="76169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txBox="1"/>
          <p:nvPr/>
        </p:nvSpPr>
        <p:spPr>
          <a:xfrm>
            <a:off x="609905" y="647395"/>
            <a:ext cx="5915254"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Research Methods &amp; Confidence Levels</a:t>
            </a:r>
            <a:endParaRPr b="0" i="0" sz="2400" u="none" cap="none" strike="noStrike">
              <a:solidFill>
                <a:schemeClr val="dk1"/>
              </a:solidFill>
              <a:latin typeface="Calibri"/>
              <a:ea typeface="Calibri"/>
              <a:cs typeface="Calibri"/>
              <a:sym typeface="Calibri"/>
            </a:endParaRPr>
          </a:p>
        </p:txBody>
      </p:sp>
      <p:sp>
        <p:nvSpPr>
          <p:cNvPr id="111" name="Google Shape;111;p6"/>
          <p:cNvSpPr/>
          <p:nvPr/>
        </p:nvSpPr>
        <p:spPr>
          <a:xfrm>
            <a:off x="609905" y="1933956"/>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609905" y="4473245"/>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txBox="1"/>
          <p:nvPr/>
        </p:nvSpPr>
        <p:spPr>
          <a:xfrm>
            <a:off x="609905" y="159105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14" name="Google Shape;114;p6"/>
          <p:cNvSpPr txBox="1"/>
          <p:nvPr/>
        </p:nvSpPr>
        <p:spPr>
          <a:xfrm>
            <a:off x="897941" y="1604772"/>
            <a:ext cx="188640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Research Methods</a:t>
            </a:r>
            <a:endParaRPr b="0" i="0" sz="1500" u="none" cap="none" strike="noStrike">
              <a:solidFill>
                <a:schemeClr val="dk1"/>
              </a:solidFill>
              <a:latin typeface="Calibri"/>
              <a:ea typeface="Calibri"/>
              <a:cs typeface="Calibri"/>
              <a:sym typeface="Calibri"/>
            </a:endParaRPr>
          </a:p>
        </p:txBody>
      </p:sp>
      <p:sp>
        <p:nvSpPr>
          <p:cNvPr id="115" name="Google Shape;115;p6"/>
          <p:cNvSpPr txBox="1"/>
          <p:nvPr/>
        </p:nvSpPr>
        <p:spPr>
          <a:xfrm>
            <a:off x="609905" y="4129430"/>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16" name="Google Shape;116;p6"/>
          <p:cNvSpPr txBox="1"/>
          <p:nvPr/>
        </p:nvSpPr>
        <p:spPr>
          <a:xfrm>
            <a:off x="897941" y="4144061"/>
            <a:ext cx="289590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Confidence Levels By Finding</a:t>
            </a:r>
            <a:endParaRPr b="0" i="0" sz="1500" u="none" cap="none" strike="noStrike">
              <a:solidFill>
                <a:schemeClr val="dk1"/>
              </a:solidFill>
              <a:latin typeface="Calibri"/>
              <a:ea typeface="Calibri"/>
              <a:cs typeface="Calibri"/>
              <a:sym typeface="Calibri"/>
            </a:endParaRPr>
          </a:p>
        </p:txBody>
      </p:sp>
      <p:sp>
        <p:nvSpPr>
          <p:cNvPr id="117" name="Google Shape;117;p6"/>
          <p:cNvSpPr/>
          <p:nvPr/>
        </p:nvSpPr>
        <p:spPr>
          <a:xfrm>
            <a:off x="609905" y="2095805"/>
            <a:ext cx="28346" cy="5239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609905" y="2745029"/>
            <a:ext cx="28346" cy="5239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609905" y="3394253"/>
            <a:ext cx="28346" cy="5239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txBox="1"/>
          <p:nvPr/>
        </p:nvSpPr>
        <p:spPr>
          <a:xfrm>
            <a:off x="752551" y="2115007"/>
            <a:ext cx="14292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Market Weighting</a:t>
            </a:r>
            <a:endParaRPr b="0" i="0" sz="1200" u="none" cap="none" strike="noStrike">
              <a:solidFill>
                <a:schemeClr val="dk1"/>
              </a:solidFill>
              <a:latin typeface="Calibri"/>
              <a:ea typeface="Calibri"/>
              <a:cs typeface="Calibri"/>
              <a:sym typeface="Calibri"/>
            </a:endParaRPr>
          </a:p>
        </p:txBody>
      </p:sp>
      <p:sp>
        <p:nvSpPr>
          <p:cNvPr id="121" name="Google Shape;121;p6"/>
          <p:cNvSpPr txBox="1"/>
          <p:nvPr/>
        </p:nvSpPr>
        <p:spPr>
          <a:xfrm>
            <a:off x="752551" y="2386584"/>
            <a:ext cx="77541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Applied correction factors for Walmart over-sampling (78.5% of dataset but only ~15% of market revenue)</a:t>
            </a:r>
            <a:endParaRPr b="0" i="0" sz="1200" u="none" cap="none" strike="noStrike">
              <a:solidFill>
                <a:schemeClr val="dk1"/>
              </a:solidFill>
              <a:latin typeface="Calibri"/>
              <a:ea typeface="Calibri"/>
              <a:cs typeface="Calibri"/>
              <a:sym typeface="Calibri"/>
            </a:endParaRPr>
          </a:p>
        </p:txBody>
      </p:sp>
      <p:sp>
        <p:nvSpPr>
          <p:cNvPr id="122" name="Google Shape;122;p6"/>
          <p:cNvSpPr txBox="1"/>
          <p:nvPr/>
        </p:nvSpPr>
        <p:spPr>
          <a:xfrm>
            <a:off x="752551" y="2764231"/>
            <a:ext cx="14676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Category Analysis</a:t>
            </a:r>
            <a:endParaRPr b="0" i="0" sz="1200" u="none" cap="none" strike="noStrike">
              <a:solidFill>
                <a:schemeClr val="dk1"/>
              </a:solidFill>
              <a:latin typeface="Calibri"/>
              <a:ea typeface="Calibri"/>
              <a:cs typeface="Calibri"/>
              <a:sym typeface="Calibri"/>
            </a:endParaRPr>
          </a:p>
        </p:txBody>
      </p:sp>
      <p:sp>
        <p:nvSpPr>
          <p:cNvPr id="123" name="Google Shape;123;p6"/>
          <p:cNvSpPr txBox="1"/>
          <p:nvPr/>
        </p:nvSpPr>
        <p:spPr>
          <a:xfrm>
            <a:off x="752551" y="3036722"/>
            <a:ext cx="65059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Price architecture, channel dynamics, product feature extraction, competitive positioning</a:t>
            </a:r>
            <a:endParaRPr b="0" i="0" sz="1200" u="none" cap="none" strike="noStrike">
              <a:solidFill>
                <a:schemeClr val="dk1"/>
              </a:solidFill>
              <a:latin typeface="Calibri"/>
              <a:ea typeface="Calibri"/>
              <a:cs typeface="Calibri"/>
              <a:sym typeface="Calibri"/>
            </a:endParaRPr>
          </a:p>
        </p:txBody>
      </p:sp>
      <p:sp>
        <p:nvSpPr>
          <p:cNvPr id="124" name="Google Shape;124;p6"/>
          <p:cNvSpPr txBox="1"/>
          <p:nvPr/>
        </p:nvSpPr>
        <p:spPr>
          <a:xfrm>
            <a:off x="752551" y="3413455"/>
            <a:ext cx="18672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Consumer Ethnography</a:t>
            </a:r>
            <a:endParaRPr b="0" i="0" sz="1200" u="none" cap="none" strike="noStrike">
              <a:solidFill>
                <a:schemeClr val="dk1"/>
              </a:solidFill>
              <a:latin typeface="Calibri"/>
              <a:ea typeface="Calibri"/>
              <a:cs typeface="Calibri"/>
              <a:sym typeface="Calibri"/>
            </a:endParaRPr>
          </a:p>
        </p:txBody>
      </p:sp>
      <p:sp>
        <p:nvSpPr>
          <p:cNvPr id="125" name="Google Shape;125;p6"/>
          <p:cNvSpPr txBox="1"/>
          <p:nvPr/>
        </p:nvSpPr>
        <p:spPr>
          <a:xfrm>
            <a:off x="752551" y="3685946"/>
            <a:ext cx="76773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Qualitative coding, behavioral pattern identification, longitudinal tracking (412 creators over 6-18 months)</a:t>
            </a:r>
            <a:endParaRPr b="0" i="0" sz="1200" u="none" cap="none" strike="noStrike">
              <a:solidFill>
                <a:schemeClr val="dk1"/>
              </a:solidFill>
              <a:latin typeface="Calibri"/>
              <a:ea typeface="Calibri"/>
              <a:cs typeface="Calibri"/>
              <a:sym typeface="Calibri"/>
            </a:endParaRPr>
          </a:p>
        </p:txBody>
      </p:sp>
      <p:sp>
        <p:nvSpPr>
          <p:cNvPr id="126" name="Google Shape;126;p6"/>
          <p:cNvSpPr/>
          <p:nvPr/>
        </p:nvSpPr>
        <p:spPr>
          <a:xfrm>
            <a:off x="609905" y="4634179"/>
            <a:ext cx="5419649" cy="685800"/>
          </a:xfrm>
          <a:prstGeom prst="roundRect">
            <a:avLst>
              <a:gd fmla="val 1111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6163056" y="4634179"/>
            <a:ext cx="5419649" cy="685800"/>
          </a:xfrm>
          <a:prstGeom prst="roundRect">
            <a:avLst>
              <a:gd fmla="val 1111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609905" y="5453482"/>
            <a:ext cx="5419649" cy="685800"/>
          </a:xfrm>
          <a:prstGeom prst="roundRect">
            <a:avLst>
              <a:gd fmla="val 1111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6163056" y="5453482"/>
            <a:ext cx="5419649" cy="685800"/>
          </a:xfrm>
          <a:prstGeom prst="roundRect">
            <a:avLst>
              <a:gd fmla="val 1111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724205" y="4748479"/>
            <a:ext cx="495605" cy="295351"/>
          </a:xfrm>
          <a:prstGeom prst="roundRect">
            <a:avLst>
              <a:gd fmla="val 39948"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txBox="1"/>
          <p:nvPr/>
        </p:nvSpPr>
        <p:spPr>
          <a:xfrm>
            <a:off x="800100" y="4806086"/>
            <a:ext cx="4434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HIGH</a:t>
            </a:r>
            <a:endParaRPr b="0" i="0" sz="1000" u="none" cap="none" strike="noStrike">
              <a:solidFill>
                <a:schemeClr val="dk1"/>
              </a:solidFill>
              <a:latin typeface="Calibri"/>
              <a:ea typeface="Calibri"/>
              <a:cs typeface="Calibri"/>
              <a:sym typeface="Calibri"/>
            </a:endParaRPr>
          </a:p>
        </p:txBody>
      </p:sp>
      <p:sp>
        <p:nvSpPr>
          <p:cNvPr id="132" name="Google Shape;132;p6"/>
          <p:cNvSpPr txBox="1"/>
          <p:nvPr/>
        </p:nvSpPr>
        <p:spPr>
          <a:xfrm>
            <a:off x="1326794" y="4767682"/>
            <a:ext cx="41842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Consumer barriers &amp; pain points (n=571, robust sample size)</a:t>
            </a:r>
            <a:endParaRPr b="0" i="0" sz="1100" u="none" cap="none" strike="noStrike">
              <a:solidFill>
                <a:schemeClr val="dk1"/>
              </a:solidFill>
              <a:latin typeface="Calibri"/>
              <a:ea typeface="Calibri"/>
              <a:cs typeface="Calibri"/>
              <a:sym typeface="Calibri"/>
            </a:endParaRPr>
          </a:p>
        </p:txBody>
      </p:sp>
      <p:sp>
        <p:nvSpPr>
          <p:cNvPr id="133" name="Google Shape;133;p6"/>
          <p:cNvSpPr txBox="1"/>
          <p:nvPr/>
        </p:nvSpPr>
        <p:spPr>
          <a:xfrm>
            <a:off x="7499909" y="4767682"/>
            <a:ext cx="3822192"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Channel bifurcation &amp; market share estimates (industry validated)</a:t>
            </a:r>
            <a:endParaRPr b="0" i="0" sz="1100" u="none" cap="none" strike="noStrike">
              <a:solidFill>
                <a:schemeClr val="dk1"/>
              </a:solidFill>
              <a:latin typeface="Calibri"/>
              <a:ea typeface="Calibri"/>
              <a:cs typeface="Calibri"/>
              <a:sym typeface="Calibri"/>
            </a:endParaRPr>
          </a:p>
        </p:txBody>
      </p:sp>
      <p:sp>
        <p:nvSpPr>
          <p:cNvPr id="134" name="Google Shape;134;p6"/>
          <p:cNvSpPr txBox="1"/>
          <p:nvPr/>
        </p:nvSpPr>
        <p:spPr>
          <a:xfrm>
            <a:off x="1548994" y="5586984"/>
            <a:ext cx="41650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Market sizing (top 20 SKUs ~$500K/month, BSR estimation)</a:t>
            </a:r>
            <a:endParaRPr b="0" i="0" sz="1100" u="none" cap="none" strike="noStrike">
              <a:solidFill>
                <a:schemeClr val="dk1"/>
              </a:solidFill>
              <a:latin typeface="Calibri"/>
              <a:ea typeface="Calibri"/>
              <a:cs typeface="Calibri"/>
              <a:sym typeface="Calibri"/>
            </a:endParaRPr>
          </a:p>
        </p:txBody>
      </p:sp>
      <p:sp>
        <p:nvSpPr>
          <p:cNvPr id="135" name="Google Shape;135;p6"/>
          <p:cNvSpPr txBox="1"/>
          <p:nvPr/>
        </p:nvSpPr>
        <p:spPr>
          <a:xfrm>
            <a:off x="6851599" y="5586984"/>
            <a:ext cx="4117543"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Premium brand data (under-represented in dataset, &lt;3% of products)</a:t>
            </a:r>
            <a:endParaRPr b="0" i="0" sz="1100" u="none" cap="none" strike="noStrike">
              <a:solidFill>
                <a:schemeClr val="dk1"/>
              </a:solidFill>
              <a:latin typeface="Calibri"/>
              <a:ea typeface="Calibri"/>
              <a:cs typeface="Calibri"/>
              <a:sym typeface="Calibri"/>
            </a:endParaRPr>
          </a:p>
        </p:txBody>
      </p:sp>
      <p:sp>
        <p:nvSpPr>
          <p:cNvPr id="136" name="Google Shape;136;p6"/>
          <p:cNvSpPr/>
          <p:nvPr/>
        </p:nvSpPr>
        <p:spPr>
          <a:xfrm>
            <a:off x="6277356" y="4748479"/>
            <a:ext cx="1114654" cy="295351"/>
          </a:xfrm>
          <a:prstGeom prst="roundRect">
            <a:avLst>
              <a:gd fmla="val 39948" name="adj"/>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txBox="1"/>
          <p:nvPr/>
        </p:nvSpPr>
        <p:spPr>
          <a:xfrm>
            <a:off x="6353251" y="4806086"/>
            <a:ext cx="10625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MEDIUM-HIGH</a:t>
            </a:r>
            <a:endParaRPr b="0" i="0" sz="1000" u="none" cap="none" strike="noStrike">
              <a:solidFill>
                <a:schemeClr val="dk1"/>
              </a:solidFill>
              <a:latin typeface="Calibri"/>
              <a:ea typeface="Calibri"/>
              <a:cs typeface="Calibri"/>
              <a:sym typeface="Calibri"/>
            </a:endParaRPr>
          </a:p>
        </p:txBody>
      </p:sp>
      <p:sp>
        <p:nvSpPr>
          <p:cNvPr id="138" name="Google Shape;138;p6"/>
          <p:cNvSpPr/>
          <p:nvPr/>
        </p:nvSpPr>
        <p:spPr>
          <a:xfrm>
            <a:off x="724205" y="5567782"/>
            <a:ext cx="714146" cy="295351"/>
          </a:xfrm>
          <a:prstGeom prst="roundRect">
            <a:avLst>
              <a:gd fmla="val 39948"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txBox="1"/>
          <p:nvPr/>
        </p:nvSpPr>
        <p:spPr>
          <a:xfrm>
            <a:off x="800100" y="5625389"/>
            <a:ext cx="662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MEDIUM</a:t>
            </a:r>
            <a:endParaRPr b="0" i="0" sz="1000" u="none" cap="none" strike="noStrike">
              <a:solidFill>
                <a:schemeClr val="dk1"/>
              </a:solidFill>
              <a:latin typeface="Calibri"/>
              <a:ea typeface="Calibri"/>
              <a:cs typeface="Calibri"/>
              <a:sym typeface="Calibri"/>
            </a:endParaRPr>
          </a:p>
        </p:txBody>
      </p:sp>
      <p:sp>
        <p:nvSpPr>
          <p:cNvPr id="140" name="Google Shape;140;p6"/>
          <p:cNvSpPr/>
          <p:nvPr/>
        </p:nvSpPr>
        <p:spPr>
          <a:xfrm>
            <a:off x="6277356" y="5567782"/>
            <a:ext cx="466344" cy="295351"/>
          </a:xfrm>
          <a:prstGeom prst="roundRect">
            <a:avLst>
              <a:gd fmla="val 39948" name="adj"/>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txBox="1"/>
          <p:nvPr/>
        </p:nvSpPr>
        <p:spPr>
          <a:xfrm>
            <a:off x="6353251" y="5625389"/>
            <a:ext cx="4151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LOW</a:t>
            </a:r>
            <a:endParaRPr b="0" i="0" sz="1000" u="none" cap="none" strike="noStrike">
              <a:solidFill>
                <a:schemeClr val="dk1"/>
              </a:solidFill>
              <a:latin typeface="Calibri"/>
              <a:ea typeface="Calibri"/>
              <a:cs typeface="Calibri"/>
              <a:sym typeface="Calibri"/>
            </a:endParaRPr>
          </a:p>
        </p:txBody>
      </p:sp>
      <p:sp>
        <p:nvSpPr>
          <p:cNvPr id="142" name="Google Shape;142;p6"/>
          <p:cNvSpPr/>
          <p:nvPr/>
        </p:nvSpPr>
        <p:spPr>
          <a:xfrm>
            <a:off x="609905" y="6330391"/>
            <a:ext cx="10972800" cy="9144"/>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txBox="1"/>
          <p:nvPr/>
        </p:nvSpPr>
        <p:spPr>
          <a:xfrm>
            <a:off x="609905" y="6492240"/>
            <a:ext cx="59682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All calculations traceable to source data with documented formulas and confidence intervals.</a:t>
            </a:r>
            <a:endParaRPr b="0" i="0" sz="1000" u="none" cap="none" strike="noStrike">
              <a:solidFill>
                <a:schemeClr val="dk1"/>
              </a:solidFill>
              <a:latin typeface="Calibri"/>
              <a:ea typeface="Calibri"/>
              <a:cs typeface="Calibri"/>
              <a:sym typeface="Calibri"/>
            </a:endParaRPr>
          </a:p>
        </p:txBody>
      </p:sp>
      <p:sp>
        <p:nvSpPr>
          <p:cNvPr id="144" name="Google Shape;144;p6"/>
          <p:cNvSpPr txBox="1"/>
          <p:nvPr/>
        </p:nvSpPr>
        <p:spPr>
          <a:xfrm>
            <a:off x="609905" y="6920179"/>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45" name="Google Shape;145;p6"/>
          <p:cNvSpPr txBox="1"/>
          <p:nvPr/>
        </p:nvSpPr>
        <p:spPr>
          <a:xfrm>
            <a:off x="11495837" y="6920179"/>
            <a:ext cx="195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p:nvPr/>
        </p:nvSpPr>
        <p:spPr>
          <a:xfrm>
            <a:off x="0" y="0"/>
            <a:ext cx="12191695" cy="8820302"/>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1015898" y="6780276"/>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2476195" y="1631290"/>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8477402" y="5942686"/>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1218895" y="1321308"/>
            <a:ext cx="476402" cy="476402"/>
          </a:xfrm>
          <a:prstGeom prst="roundRect">
            <a:avLst>
              <a:gd fmla="val 30710"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10030054" y="2202790"/>
            <a:ext cx="333756" cy="333756"/>
          </a:xfrm>
          <a:prstGeom prst="roundRect">
            <a:avLst>
              <a:gd fmla="val 6262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2438705" y="6621170"/>
            <a:ext cx="428854" cy="428854"/>
          </a:xfrm>
          <a:prstGeom prst="roundRect">
            <a:avLst>
              <a:gd fmla="val 37906"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9372600" y="5788152"/>
            <a:ext cx="381305" cy="381305"/>
          </a:xfrm>
          <a:prstGeom prst="roundRect">
            <a:avLst>
              <a:gd fmla="val 4796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609905" y="881482"/>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9502445" y="1762049"/>
            <a:ext cx="1714500" cy="1714500"/>
          </a:xfrm>
          <a:prstGeom prst="rect">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2438705" y="5204765"/>
            <a:ext cx="2286000" cy="2286000"/>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txBox="1"/>
          <p:nvPr/>
        </p:nvSpPr>
        <p:spPr>
          <a:xfrm>
            <a:off x="609905" y="8326526"/>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64" name="Google Shape;164;p7"/>
          <p:cNvSpPr txBox="1"/>
          <p:nvPr/>
        </p:nvSpPr>
        <p:spPr>
          <a:xfrm>
            <a:off x="11495837" y="8326526"/>
            <a:ext cx="195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4</a:t>
            </a:r>
            <a:endParaRPr b="0" i="0" sz="1000" u="none" cap="none" strike="noStrike">
              <a:solidFill>
                <a:schemeClr val="dk1"/>
              </a:solidFill>
              <a:latin typeface="Calibri"/>
              <a:ea typeface="Calibri"/>
              <a:cs typeface="Calibri"/>
              <a:sym typeface="Calibri"/>
            </a:endParaRPr>
          </a:p>
        </p:txBody>
      </p:sp>
      <p:sp>
        <p:nvSpPr>
          <p:cNvPr id="165" name="Google Shape;165;p7"/>
          <p:cNvSpPr/>
          <p:nvPr/>
        </p:nvSpPr>
        <p:spPr>
          <a:xfrm>
            <a:off x="5524805" y="761695"/>
            <a:ext cx="1143000" cy="1143000"/>
          </a:xfrm>
          <a:prstGeom prst="roundRect">
            <a:avLst>
              <a:gd fmla="val 10667"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7"/>
          <p:cNvPicPr preferRelativeResize="0"/>
          <p:nvPr/>
        </p:nvPicPr>
        <p:blipFill rotWithShape="1">
          <a:blip r:embed="rId3">
            <a:alphaModFix/>
          </a:blip>
          <a:srcRect b="0" l="0" r="0" t="0"/>
          <a:stretch/>
        </p:blipFill>
        <p:spPr>
          <a:xfrm>
            <a:off x="5790895" y="1028700"/>
            <a:ext cx="609905" cy="609905"/>
          </a:xfrm>
          <a:prstGeom prst="rect">
            <a:avLst/>
          </a:prstGeom>
          <a:noFill/>
          <a:ln>
            <a:noFill/>
          </a:ln>
        </p:spPr>
      </p:pic>
      <p:sp>
        <p:nvSpPr>
          <p:cNvPr id="167" name="Google Shape;167;p7"/>
          <p:cNvSpPr/>
          <p:nvPr/>
        </p:nvSpPr>
        <p:spPr>
          <a:xfrm>
            <a:off x="5333695" y="2286000"/>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txBox="1"/>
          <p:nvPr/>
        </p:nvSpPr>
        <p:spPr>
          <a:xfrm>
            <a:off x="3636569" y="2734056"/>
            <a:ext cx="5324551"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The 5 Big Boulders</a:t>
            </a:r>
            <a:endParaRPr b="0" i="0" sz="4200" u="none" cap="none" strike="noStrike">
              <a:solidFill>
                <a:schemeClr val="dk1"/>
              </a:solidFill>
              <a:latin typeface="Calibri"/>
              <a:ea typeface="Calibri"/>
              <a:cs typeface="Calibri"/>
              <a:sym typeface="Calibri"/>
            </a:endParaRPr>
          </a:p>
        </p:txBody>
      </p:sp>
      <p:sp>
        <p:nvSpPr>
          <p:cNvPr id="169" name="Google Shape;169;p7"/>
          <p:cNvSpPr txBox="1"/>
          <p:nvPr/>
        </p:nvSpPr>
        <p:spPr>
          <a:xfrm>
            <a:off x="3546043" y="3678631"/>
            <a:ext cx="5391302"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Immutable Category Truths</a:t>
            </a:r>
            <a:endParaRPr b="0" i="0" sz="3000" u="none" cap="none" strike="noStrike">
              <a:solidFill>
                <a:schemeClr val="dk1"/>
              </a:solidFill>
              <a:latin typeface="Calibri"/>
              <a:ea typeface="Calibri"/>
              <a:cs typeface="Calibri"/>
              <a:sym typeface="Calibri"/>
            </a:endParaRPr>
          </a:p>
        </p:txBody>
      </p:sp>
      <p:sp>
        <p:nvSpPr>
          <p:cNvPr id="170" name="Google Shape;170;p7"/>
          <p:cNvSpPr txBox="1"/>
          <p:nvPr/>
        </p:nvSpPr>
        <p:spPr>
          <a:xfrm>
            <a:off x="3310128" y="4631436"/>
            <a:ext cx="5744261"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Structural realities that determine success or failure</a:t>
            </a:r>
            <a:endParaRPr b="0" i="0" sz="1800" u="none" cap="none" strike="noStrike">
              <a:solidFill>
                <a:schemeClr val="dk1"/>
              </a:solidFill>
              <a:latin typeface="Calibri"/>
              <a:ea typeface="Calibri"/>
              <a:cs typeface="Calibri"/>
              <a:sym typeface="Calibri"/>
            </a:endParaRPr>
          </a:p>
        </p:txBody>
      </p:sp>
      <p:sp>
        <p:nvSpPr>
          <p:cNvPr id="171" name="Google Shape;171;p7"/>
          <p:cNvSpPr txBox="1"/>
          <p:nvPr/>
        </p:nvSpPr>
        <p:spPr>
          <a:xfrm>
            <a:off x="2644445" y="4974336"/>
            <a:ext cx="7077456"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regardless of product features. Design around these constraints</a:t>
            </a:r>
            <a:endParaRPr b="0" i="0" sz="1800" u="none" cap="none" strike="noStrike">
              <a:solidFill>
                <a:schemeClr val="dk1"/>
              </a:solidFill>
              <a:latin typeface="Calibri"/>
              <a:ea typeface="Calibri"/>
              <a:cs typeface="Calibri"/>
              <a:sym typeface="Calibri"/>
            </a:endParaRPr>
          </a:p>
        </p:txBody>
      </p:sp>
      <p:sp>
        <p:nvSpPr>
          <p:cNvPr id="172" name="Google Shape;172;p7"/>
          <p:cNvSpPr txBox="1"/>
          <p:nvPr/>
        </p:nvSpPr>
        <p:spPr>
          <a:xfrm>
            <a:off x="5088636" y="5317236"/>
            <a:ext cx="2190902"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before solutioning.</a:t>
            </a:r>
            <a:endParaRPr b="0" i="0" sz="1800" u="none" cap="none" strike="noStrike">
              <a:solidFill>
                <a:schemeClr val="dk1"/>
              </a:solidFill>
              <a:latin typeface="Calibri"/>
              <a:ea typeface="Calibri"/>
              <a:cs typeface="Calibri"/>
              <a:sym typeface="Calibri"/>
            </a:endParaRPr>
          </a:p>
        </p:txBody>
      </p:sp>
      <p:sp>
        <p:nvSpPr>
          <p:cNvPr id="173" name="Google Shape;173;p7"/>
          <p:cNvSpPr txBox="1"/>
          <p:nvPr/>
        </p:nvSpPr>
        <p:spPr>
          <a:xfrm>
            <a:off x="1723644" y="6641287"/>
            <a:ext cx="8961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#1</a:t>
            </a:r>
            <a:endParaRPr b="0" i="0" sz="1200" u="none" cap="none" strike="noStrike">
              <a:solidFill>
                <a:schemeClr val="dk1"/>
              </a:solidFill>
              <a:latin typeface="Calibri"/>
              <a:ea typeface="Calibri"/>
              <a:cs typeface="Calibri"/>
              <a:sym typeface="Calibri"/>
            </a:endParaRPr>
          </a:p>
        </p:txBody>
      </p:sp>
      <p:sp>
        <p:nvSpPr>
          <p:cNvPr id="174" name="Google Shape;174;p7"/>
          <p:cNvSpPr txBox="1"/>
          <p:nvPr/>
        </p:nvSpPr>
        <p:spPr>
          <a:xfrm>
            <a:off x="1485900" y="6907378"/>
            <a:ext cx="13578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Channel Bifurcation</a:t>
            </a:r>
            <a:endParaRPr b="0" i="0" sz="1000" u="none" cap="none" strike="noStrike">
              <a:solidFill>
                <a:schemeClr val="dk1"/>
              </a:solidFill>
              <a:latin typeface="Calibri"/>
              <a:ea typeface="Calibri"/>
              <a:cs typeface="Calibri"/>
              <a:sym typeface="Calibri"/>
            </a:endParaRPr>
          </a:p>
        </p:txBody>
      </p:sp>
      <p:sp>
        <p:nvSpPr>
          <p:cNvPr id="175" name="Google Shape;175;p7"/>
          <p:cNvSpPr txBox="1"/>
          <p:nvPr/>
        </p:nvSpPr>
        <p:spPr>
          <a:xfrm>
            <a:off x="3679546" y="6641287"/>
            <a:ext cx="9336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#2</a:t>
            </a:r>
            <a:endParaRPr b="0" i="0" sz="1200" u="none" cap="none" strike="noStrike">
              <a:solidFill>
                <a:schemeClr val="dk1"/>
              </a:solidFill>
              <a:latin typeface="Calibri"/>
              <a:ea typeface="Calibri"/>
              <a:cs typeface="Calibri"/>
              <a:sym typeface="Calibri"/>
            </a:endParaRPr>
          </a:p>
        </p:txBody>
      </p:sp>
      <p:sp>
        <p:nvSpPr>
          <p:cNvPr id="176" name="Google Shape;176;p7"/>
          <p:cNvSpPr txBox="1"/>
          <p:nvPr/>
        </p:nvSpPr>
        <p:spPr>
          <a:xfrm>
            <a:off x="3503981" y="6907378"/>
            <a:ext cx="12627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Installation Barrier</a:t>
            </a:r>
            <a:endParaRPr b="0" i="0" sz="1000" u="none" cap="none" strike="noStrike">
              <a:solidFill>
                <a:schemeClr val="dk1"/>
              </a:solidFill>
              <a:latin typeface="Calibri"/>
              <a:ea typeface="Calibri"/>
              <a:cs typeface="Calibri"/>
              <a:sym typeface="Calibri"/>
            </a:endParaRPr>
          </a:p>
        </p:txBody>
      </p:sp>
      <p:sp>
        <p:nvSpPr>
          <p:cNvPr id="177" name="Google Shape;177;p7"/>
          <p:cNvSpPr txBox="1"/>
          <p:nvPr/>
        </p:nvSpPr>
        <p:spPr>
          <a:xfrm>
            <a:off x="5612587" y="6641287"/>
            <a:ext cx="9336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#3</a:t>
            </a:r>
            <a:endParaRPr b="0" i="0" sz="1200" u="none" cap="none" strike="noStrike">
              <a:solidFill>
                <a:schemeClr val="dk1"/>
              </a:solidFill>
              <a:latin typeface="Calibri"/>
              <a:ea typeface="Calibri"/>
              <a:cs typeface="Calibri"/>
              <a:sym typeface="Calibri"/>
            </a:endParaRPr>
          </a:p>
        </p:txBody>
      </p:sp>
      <p:sp>
        <p:nvSpPr>
          <p:cNvPr id="178" name="Google Shape;178;p7"/>
          <p:cNvSpPr txBox="1"/>
          <p:nvPr/>
        </p:nvSpPr>
        <p:spPr>
          <a:xfrm>
            <a:off x="5426964" y="6907378"/>
            <a:ext cx="12911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Quality Skepticism</a:t>
            </a:r>
            <a:endParaRPr b="0" i="0" sz="1000" u="none" cap="none" strike="noStrike">
              <a:solidFill>
                <a:schemeClr val="dk1"/>
              </a:solidFill>
              <a:latin typeface="Calibri"/>
              <a:ea typeface="Calibri"/>
              <a:cs typeface="Calibri"/>
              <a:sym typeface="Calibri"/>
            </a:endParaRPr>
          </a:p>
        </p:txBody>
      </p:sp>
      <p:sp>
        <p:nvSpPr>
          <p:cNvPr id="179" name="Google Shape;179;p7"/>
          <p:cNvSpPr txBox="1"/>
          <p:nvPr/>
        </p:nvSpPr>
        <p:spPr>
          <a:xfrm>
            <a:off x="7600493" y="6641287"/>
            <a:ext cx="9336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#4</a:t>
            </a:r>
            <a:endParaRPr b="0" i="0" sz="1200" u="none" cap="none" strike="noStrike">
              <a:solidFill>
                <a:schemeClr val="dk1"/>
              </a:solidFill>
              <a:latin typeface="Calibri"/>
              <a:ea typeface="Calibri"/>
              <a:cs typeface="Calibri"/>
              <a:sym typeface="Calibri"/>
            </a:endParaRPr>
          </a:p>
        </p:txBody>
      </p:sp>
      <p:sp>
        <p:nvSpPr>
          <p:cNvPr id="180" name="Google Shape;180;p7"/>
          <p:cNvSpPr txBox="1"/>
          <p:nvPr/>
        </p:nvSpPr>
        <p:spPr>
          <a:xfrm>
            <a:off x="7373722" y="6907378"/>
            <a:ext cx="1377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Platform Economics</a:t>
            </a:r>
            <a:endParaRPr b="0" i="0" sz="1000" u="none" cap="none" strike="noStrike">
              <a:solidFill>
                <a:schemeClr val="dk1"/>
              </a:solidFill>
              <a:latin typeface="Calibri"/>
              <a:ea typeface="Calibri"/>
              <a:cs typeface="Calibri"/>
              <a:sym typeface="Calibri"/>
            </a:endParaRPr>
          </a:p>
        </p:txBody>
      </p:sp>
      <p:sp>
        <p:nvSpPr>
          <p:cNvPr id="181" name="Google Shape;181;p7"/>
          <p:cNvSpPr txBox="1"/>
          <p:nvPr/>
        </p:nvSpPr>
        <p:spPr>
          <a:xfrm>
            <a:off x="9651492" y="6641287"/>
            <a:ext cx="9244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Boulder #5</a:t>
            </a:r>
            <a:endParaRPr b="0" i="0" sz="1200" u="none" cap="none" strike="noStrike">
              <a:solidFill>
                <a:schemeClr val="dk1"/>
              </a:solidFill>
              <a:latin typeface="Calibri"/>
              <a:ea typeface="Calibri"/>
              <a:cs typeface="Calibri"/>
              <a:sym typeface="Calibri"/>
            </a:endParaRPr>
          </a:p>
        </p:txBody>
      </p:sp>
      <p:sp>
        <p:nvSpPr>
          <p:cNvPr id="182" name="Google Shape;182;p7"/>
          <p:cNvSpPr txBox="1"/>
          <p:nvPr/>
        </p:nvSpPr>
        <p:spPr>
          <a:xfrm>
            <a:off x="9406433" y="6907378"/>
            <a:ext cx="1405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Segment Bifurcation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8"/>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10134295" y="-685800"/>
            <a:ext cx="2743200" cy="2743200"/>
          </a:xfrm>
          <a:prstGeom prst="roundRect">
            <a:avLst>
              <a:gd fmla="val 3333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533095" y="5755234"/>
            <a:ext cx="2133295" cy="2133295"/>
          </a:xfrm>
          <a:prstGeom prst="roundRect">
            <a:avLst>
              <a:gd fmla="val 4286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609905" y="514807"/>
            <a:ext cx="685800" cy="685800"/>
          </a:xfrm>
          <a:prstGeom prst="roundRect">
            <a:avLst>
              <a:gd fmla="val 22222" name="adj"/>
            </a:avLst>
          </a:prstGeom>
          <a:solidFill>
            <a:srgbClr val="16A085"/>
          </a:solidFill>
          <a:ln>
            <a:noFill/>
          </a:ln>
          <a:effectLst>
            <a:outerShdw blurRad="101600" rotWithShape="0" algn="bl" dir="5400000" dist="38100">
              <a:srgbClr val="16A085">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txBox="1"/>
          <p:nvPr/>
        </p:nvSpPr>
        <p:spPr>
          <a:xfrm>
            <a:off x="888797" y="614477"/>
            <a:ext cx="376733"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Montserrat"/>
              <a:buNone/>
            </a:pPr>
            <a:r>
              <a:rPr b="1" i="0" lang="en-US" sz="2500" u="none" cap="none" strike="noStrike">
                <a:solidFill>
                  <a:srgbClr val="FFFFFF"/>
                </a:solidFill>
                <a:latin typeface="Montserrat"/>
                <a:ea typeface="Montserrat"/>
                <a:cs typeface="Montserrat"/>
                <a:sym typeface="Montserrat"/>
              </a:rPr>
              <a:t>1</a:t>
            </a:r>
            <a:endParaRPr b="0" i="0" sz="2500" u="none" cap="none" strike="noStrike">
              <a:solidFill>
                <a:schemeClr val="dk1"/>
              </a:solidFill>
              <a:latin typeface="Calibri"/>
              <a:ea typeface="Calibri"/>
              <a:cs typeface="Calibri"/>
              <a:sym typeface="Calibri"/>
            </a:endParaRPr>
          </a:p>
        </p:txBody>
      </p:sp>
      <p:sp>
        <p:nvSpPr>
          <p:cNvPr id="194" name="Google Shape;194;p8"/>
          <p:cNvSpPr/>
          <p:nvPr/>
        </p:nvSpPr>
        <p:spPr>
          <a:xfrm>
            <a:off x="15243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txBox="1"/>
          <p:nvPr/>
        </p:nvSpPr>
        <p:spPr>
          <a:xfrm>
            <a:off x="1524305" y="685800"/>
            <a:ext cx="70390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Boulder #1: Channel Bifurcation Is Structural</a:t>
            </a:r>
            <a:endParaRPr b="0" i="0" sz="2400" u="none" cap="none" strike="noStrike">
              <a:solidFill>
                <a:schemeClr val="dk1"/>
              </a:solidFill>
              <a:latin typeface="Calibri"/>
              <a:ea typeface="Calibri"/>
              <a:cs typeface="Calibri"/>
              <a:sym typeface="Calibri"/>
            </a:endParaRPr>
          </a:p>
        </p:txBody>
      </p:sp>
      <p:sp>
        <p:nvSpPr>
          <p:cNvPr id="196" name="Google Shape;196;p8"/>
          <p:cNvSpPr/>
          <p:nvPr/>
        </p:nvSpPr>
        <p:spPr>
          <a:xfrm>
            <a:off x="609905" y="1485900"/>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609905" y="3242462"/>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609905" y="4807915"/>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txBox="1"/>
          <p:nvPr/>
        </p:nvSpPr>
        <p:spPr>
          <a:xfrm>
            <a:off x="990295" y="1714500"/>
            <a:ext cx="78181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Reality</a:t>
            </a:r>
            <a:endParaRPr b="0" i="0" sz="1500" u="none" cap="none" strike="noStrike">
              <a:solidFill>
                <a:schemeClr val="dk1"/>
              </a:solidFill>
              <a:latin typeface="Calibri"/>
              <a:ea typeface="Calibri"/>
              <a:cs typeface="Calibri"/>
              <a:sym typeface="Calibri"/>
            </a:endParaRPr>
          </a:p>
        </p:txBody>
      </p:sp>
      <p:sp>
        <p:nvSpPr>
          <p:cNvPr id="200" name="Google Shape;200;p8"/>
          <p:cNvSpPr txBox="1"/>
          <p:nvPr/>
        </p:nvSpPr>
        <p:spPr>
          <a:xfrm>
            <a:off x="990295" y="3471062"/>
            <a:ext cx="116220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Implication</a:t>
            </a:r>
            <a:endParaRPr b="0" i="0" sz="1500" u="none" cap="none" strike="noStrike">
              <a:solidFill>
                <a:schemeClr val="dk1"/>
              </a:solidFill>
              <a:latin typeface="Calibri"/>
              <a:ea typeface="Calibri"/>
              <a:cs typeface="Calibri"/>
              <a:sym typeface="Calibri"/>
            </a:endParaRPr>
          </a:p>
        </p:txBody>
      </p:sp>
      <p:sp>
        <p:nvSpPr>
          <p:cNvPr id="201" name="Google Shape;201;p8"/>
          <p:cNvSpPr txBox="1"/>
          <p:nvPr/>
        </p:nvSpPr>
        <p:spPr>
          <a:xfrm>
            <a:off x="990295" y="5036515"/>
            <a:ext cx="120975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Litmus Test</a:t>
            </a:r>
            <a:endParaRPr b="0" i="0" sz="1500" u="none" cap="none" strike="noStrike">
              <a:solidFill>
                <a:schemeClr val="dk1"/>
              </a:solidFill>
              <a:latin typeface="Calibri"/>
              <a:ea typeface="Calibri"/>
              <a:cs typeface="Calibri"/>
              <a:sym typeface="Calibri"/>
            </a:endParaRPr>
          </a:p>
        </p:txBody>
      </p:sp>
      <p:sp>
        <p:nvSpPr>
          <p:cNvPr id="202" name="Google Shape;202;p8"/>
          <p:cNvSpPr txBox="1"/>
          <p:nvPr/>
        </p:nvSpPr>
        <p:spPr>
          <a:xfrm>
            <a:off x="838505" y="2143354"/>
            <a:ext cx="10608869"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Two distinct markets with different customers, value equations, and price bands. Premium channel (Home Depot/Lowe's) captures ~65% of revenue with $80–$120 average prices, while mass channel (Walmart/Target) represents ~35% with $15–$25 average.</a:t>
            </a:r>
            <a:endParaRPr b="0" i="0" sz="1200" u="none" cap="none" strike="noStrike">
              <a:solidFill>
                <a:schemeClr val="dk1"/>
              </a:solidFill>
              <a:latin typeface="Calibri"/>
              <a:ea typeface="Calibri"/>
              <a:cs typeface="Calibri"/>
              <a:sym typeface="Calibri"/>
            </a:endParaRPr>
          </a:p>
        </p:txBody>
      </p:sp>
      <p:sp>
        <p:nvSpPr>
          <p:cNvPr id="203" name="Google Shape;203;p8"/>
          <p:cNvSpPr txBox="1"/>
          <p:nvPr/>
        </p:nvSpPr>
        <p:spPr>
          <a:xfrm>
            <a:off x="838505" y="3899916"/>
            <a:ext cx="10380269"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Must choose channel; serving both dilutes positioning and economics. These are different customers solving different problems, not a pricing continuum.</a:t>
            </a:r>
            <a:endParaRPr b="0" i="0" sz="1200" u="none" cap="none" strike="noStrike">
              <a:solidFill>
                <a:schemeClr val="dk1"/>
              </a:solidFill>
              <a:latin typeface="Calibri"/>
              <a:ea typeface="Calibri"/>
              <a:cs typeface="Calibri"/>
              <a:sym typeface="Calibri"/>
            </a:endParaRPr>
          </a:p>
        </p:txBody>
      </p:sp>
      <p:sp>
        <p:nvSpPr>
          <p:cNvPr id="204" name="Google Shape;204;p8"/>
          <p:cNvSpPr txBox="1"/>
          <p:nvPr/>
        </p:nvSpPr>
        <p:spPr>
          <a:xfrm>
            <a:off x="838505" y="5465369"/>
            <a:ext cx="1032357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If our product appeared on both a Walmart shelf and a Home Depot shelf, would the same customer buy it at both locations? If no, we haven't chosen our channel.</a:t>
            </a:r>
            <a:endParaRPr b="0" i="0" sz="1200" u="none" cap="none" strike="noStrike">
              <a:solidFill>
                <a:schemeClr val="dk1"/>
              </a:solidFill>
              <a:latin typeface="Calibri"/>
              <a:ea typeface="Calibri"/>
              <a:cs typeface="Calibri"/>
              <a:sym typeface="Calibri"/>
            </a:endParaRPr>
          </a:p>
        </p:txBody>
      </p:sp>
      <p:sp>
        <p:nvSpPr>
          <p:cNvPr id="205" name="Google Shape;205;p8"/>
          <p:cNvSpPr txBox="1"/>
          <p:nvPr/>
        </p:nvSpPr>
        <p:spPr>
          <a:xfrm>
            <a:off x="609905" y="6507785"/>
            <a:ext cx="4519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Market-weighted analysis of 9,555 products across 5 retailers</a:t>
            </a:r>
            <a:endParaRPr b="0" i="0" sz="1000" u="none" cap="none" strike="noStrike">
              <a:solidFill>
                <a:schemeClr val="dk1"/>
              </a:solidFill>
              <a:latin typeface="Calibri"/>
              <a:ea typeface="Calibri"/>
              <a:cs typeface="Calibri"/>
              <a:sym typeface="Calibri"/>
            </a:endParaRPr>
          </a:p>
        </p:txBody>
      </p:sp>
      <p:sp>
        <p:nvSpPr>
          <p:cNvPr id="206" name="Google Shape;206;p8"/>
          <p:cNvSpPr/>
          <p:nvPr/>
        </p:nvSpPr>
        <p:spPr>
          <a:xfrm>
            <a:off x="0" y="6688836"/>
            <a:ext cx="12191695" cy="9144"/>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609905" y="6945782"/>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08" name="Google Shape;208;p8"/>
          <p:cNvSpPr txBox="1"/>
          <p:nvPr/>
        </p:nvSpPr>
        <p:spPr>
          <a:xfrm>
            <a:off x="11503152" y="6945782"/>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9"/>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txBox="1"/>
          <p:nvPr/>
        </p:nvSpPr>
        <p:spPr>
          <a:xfrm>
            <a:off x="609905" y="685800"/>
            <a:ext cx="71442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Boulder #1 Data: Premium vs Mass Channel</a:t>
            </a:r>
            <a:endParaRPr b="0" i="0" sz="2400" u="none" cap="none" strike="noStrike">
              <a:solidFill>
                <a:schemeClr val="dk1"/>
              </a:solidFill>
              <a:latin typeface="Calibri"/>
              <a:ea typeface="Calibri"/>
              <a:cs typeface="Calibri"/>
              <a:sym typeface="Calibri"/>
            </a:endParaRPr>
          </a:p>
        </p:txBody>
      </p:sp>
      <p:sp>
        <p:nvSpPr>
          <p:cNvPr id="218" name="Google Shape;218;p9"/>
          <p:cNvSpPr txBox="1"/>
          <p:nvPr/>
        </p:nvSpPr>
        <p:spPr>
          <a:xfrm>
            <a:off x="609905" y="1218895"/>
            <a:ext cx="57296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Market-weighted analysis. HD/Lowe's avg=$83-120, Walmart/Target avg=$15-25</a:t>
            </a:r>
            <a:endParaRPr b="0" i="0" sz="1000" u="none" cap="none" strike="noStrike">
              <a:solidFill>
                <a:schemeClr val="dk1"/>
              </a:solidFill>
              <a:latin typeface="Calibri"/>
              <a:ea typeface="Calibri"/>
              <a:cs typeface="Calibri"/>
              <a:sym typeface="Calibri"/>
            </a:endParaRPr>
          </a:p>
        </p:txBody>
      </p:sp>
      <p:sp>
        <p:nvSpPr>
          <p:cNvPr id="219" name="Google Shape;219;p9"/>
          <p:cNvSpPr/>
          <p:nvPr/>
        </p:nvSpPr>
        <p:spPr>
          <a:xfrm>
            <a:off x="609905" y="1705356"/>
            <a:ext cx="10972800" cy="3857854"/>
          </a:xfrm>
          <a:prstGeom prst="roundRect">
            <a:avLst>
              <a:gd fmla="val 46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619049" y="1714500"/>
            <a:ext cx="10953598" cy="866851"/>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619049" y="257220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619049" y="2581351"/>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619049" y="31720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619049" y="3177540"/>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619049" y="376824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619049" y="3773729"/>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619049" y="436443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619049" y="4369918"/>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619049" y="496062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619049" y="4966106"/>
            <a:ext cx="10953598" cy="5907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txBox="1"/>
          <p:nvPr/>
        </p:nvSpPr>
        <p:spPr>
          <a:xfrm>
            <a:off x="847649" y="1904695"/>
            <a:ext cx="10908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Dimension</a:t>
            </a:r>
            <a:endParaRPr b="0" i="0" sz="1300" u="none" cap="none" strike="noStrike">
              <a:solidFill>
                <a:schemeClr val="dk1"/>
              </a:solidFill>
              <a:latin typeface="Calibri"/>
              <a:ea typeface="Calibri"/>
              <a:cs typeface="Calibri"/>
              <a:sym typeface="Calibri"/>
            </a:endParaRPr>
          </a:p>
        </p:txBody>
      </p:sp>
      <p:sp>
        <p:nvSpPr>
          <p:cNvPr id="232" name="Google Shape;232;p9"/>
          <p:cNvSpPr/>
          <p:nvPr/>
        </p:nvSpPr>
        <p:spPr>
          <a:xfrm>
            <a:off x="7664501" y="1886407"/>
            <a:ext cx="9144" cy="514807"/>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txBox="1"/>
          <p:nvPr/>
        </p:nvSpPr>
        <p:spPr>
          <a:xfrm>
            <a:off x="3996842" y="1904695"/>
            <a:ext cx="1757477"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1E3A8A"/>
                </a:solidFill>
                <a:latin typeface="Montserrat"/>
                <a:ea typeface="Montserrat"/>
                <a:cs typeface="Montserrat"/>
                <a:sym typeface="Montserrat"/>
              </a:rPr>
              <a:t>Premium Channel</a:t>
            </a:r>
            <a:endParaRPr b="0" i="0" sz="1300" u="none" cap="none" strike="noStrike">
              <a:solidFill>
                <a:srgbClr val="1E3A8A"/>
              </a:solidFill>
              <a:latin typeface="Calibri"/>
              <a:ea typeface="Calibri"/>
              <a:cs typeface="Calibri"/>
              <a:sym typeface="Calibri"/>
            </a:endParaRPr>
          </a:p>
        </p:txBody>
      </p:sp>
      <p:sp>
        <p:nvSpPr>
          <p:cNvPr id="234" name="Google Shape;234;p9"/>
          <p:cNvSpPr txBox="1"/>
          <p:nvPr/>
        </p:nvSpPr>
        <p:spPr>
          <a:xfrm>
            <a:off x="3996842" y="2162556"/>
            <a:ext cx="207203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1E3A8A"/>
                </a:solidFill>
                <a:latin typeface="Montserrat"/>
                <a:ea typeface="Montserrat"/>
                <a:cs typeface="Montserrat"/>
                <a:sym typeface="Montserrat"/>
              </a:rPr>
              <a:t>(Home Depot/Lowe's)</a:t>
            </a:r>
            <a:endParaRPr b="0" i="0" sz="1300" u="none" cap="none" strike="noStrike">
              <a:solidFill>
                <a:srgbClr val="1E3A8A"/>
              </a:solidFill>
              <a:latin typeface="Calibri"/>
              <a:ea typeface="Calibri"/>
              <a:cs typeface="Calibri"/>
              <a:sym typeface="Calibri"/>
            </a:endParaRPr>
          </a:p>
        </p:txBody>
      </p:sp>
      <p:sp>
        <p:nvSpPr>
          <p:cNvPr id="235" name="Google Shape;235;p9"/>
          <p:cNvSpPr txBox="1"/>
          <p:nvPr/>
        </p:nvSpPr>
        <p:spPr>
          <a:xfrm>
            <a:off x="7669987" y="1904695"/>
            <a:ext cx="1377086"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1E3A8A"/>
                </a:solidFill>
                <a:latin typeface="Montserrat"/>
                <a:ea typeface="Montserrat"/>
                <a:cs typeface="Montserrat"/>
                <a:sym typeface="Montserrat"/>
              </a:rPr>
              <a:t>Mass Channel</a:t>
            </a:r>
            <a:endParaRPr b="0" i="0" sz="1300" u="none" cap="none" strike="noStrike">
              <a:solidFill>
                <a:srgbClr val="1E3A8A"/>
              </a:solidFill>
              <a:latin typeface="Calibri"/>
              <a:ea typeface="Calibri"/>
              <a:cs typeface="Calibri"/>
              <a:sym typeface="Calibri"/>
            </a:endParaRPr>
          </a:p>
        </p:txBody>
      </p:sp>
      <p:sp>
        <p:nvSpPr>
          <p:cNvPr id="236" name="Google Shape;236;p9"/>
          <p:cNvSpPr txBox="1"/>
          <p:nvPr/>
        </p:nvSpPr>
        <p:spPr>
          <a:xfrm>
            <a:off x="7669987" y="2162556"/>
            <a:ext cx="1690726"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1E3A8A"/>
                </a:solidFill>
                <a:latin typeface="Montserrat"/>
                <a:ea typeface="Montserrat"/>
                <a:cs typeface="Montserrat"/>
                <a:sym typeface="Montserrat"/>
              </a:rPr>
              <a:t>(Walmart/Target)</a:t>
            </a:r>
            <a:endParaRPr b="0" i="0" sz="1300" u="none" cap="none" strike="noStrike">
              <a:solidFill>
                <a:srgbClr val="1E3A8A"/>
              </a:solidFill>
              <a:latin typeface="Calibri"/>
              <a:ea typeface="Calibri"/>
              <a:cs typeface="Calibri"/>
              <a:sym typeface="Calibri"/>
            </a:endParaRPr>
          </a:p>
        </p:txBody>
      </p:sp>
      <p:sp>
        <p:nvSpPr>
          <p:cNvPr id="237" name="Google Shape;237;p9"/>
          <p:cNvSpPr txBox="1"/>
          <p:nvPr/>
        </p:nvSpPr>
        <p:spPr>
          <a:xfrm>
            <a:off x="847649" y="2771546"/>
            <a:ext cx="11055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Market Share</a:t>
            </a:r>
            <a:endParaRPr b="0" i="0" sz="1200" u="none" cap="none" strike="noStrike">
              <a:solidFill>
                <a:schemeClr val="dk1"/>
              </a:solidFill>
              <a:latin typeface="Calibri"/>
              <a:ea typeface="Calibri"/>
              <a:cs typeface="Calibri"/>
              <a:sym typeface="Calibri"/>
            </a:endParaRPr>
          </a:p>
        </p:txBody>
      </p:sp>
      <p:sp>
        <p:nvSpPr>
          <p:cNvPr id="238" name="Google Shape;238;p9"/>
          <p:cNvSpPr txBox="1"/>
          <p:nvPr/>
        </p:nvSpPr>
        <p:spPr>
          <a:xfrm>
            <a:off x="847649" y="3367735"/>
            <a:ext cx="1143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Average Price</a:t>
            </a:r>
            <a:endParaRPr b="0" i="0" sz="1200" u="none" cap="none" strike="noStrike">
              <a:solidFill>
                <a:schemeClr val="dk1"/>
              </a:solidFill>
              <a:latin typeface="Calibri"/>
              <a:ea typeface="Calibri"/>
              <a:cs typeface="Calibri"/>
              <a:sym typeface="Calibri"/>
            </a:endParaRPr>
          </a:p>
        </p:txBody>
      </p:sp>
      <p:sp>
        <p:nvSpPr>
          <p:cNvPr id="239" name="Google Shape;239;p9"/>
          <p:cNvSpPr txBox="1"/>
          <p:nvPr/>
        </p:nvSpPr>
        <p:spPr>
          <a:xfrm>
            <a:off x="847649" y="3963924"/>
            <a:ext cx="16194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Customer Segments</a:t>
            </a:r>
            <a:endParaRPr b="0" i="0" sz="1200" u="none" cap="none" strike="noStrike">
              <a:solidFill>
                <a:schemeClr val="dk1"/>
              </a:solidFill>
              <a:latin typeface="Calibri"/>
              <a:ea typeface="Calibri"/>
              <a:cs typeface="Calibri"/>
              <a:sym typeface="Calibri"/>
            </a:endParaRPr>
          </a:p>
        </p:txBody>
      </p:sp>
      <p:sp>
        <p:nvSpPr>
          <p:cNvPr id="240" name="Google Shape;240;p9"/>
          <p:cNvSpPr txBox="1"/>
          <p:nvPr/>
        </p:nvSpPr>
        <p:spPr>
          <a:xfrm>
            <a:off x="847649" y="4560113"/>
            <a:ext cx="13816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Purchase Drivers</a:t>
            </a:r>
            <a:endParaRPr b="0" i="0" sz="1200" u="none" cap="none" strike="noStrike">
              <a:solidFill>
                <a:schemeClr val="dk1"/>
              </a:solidFill>
              <a:latin typeface="Calibri"/>
              <a:ea typeface="Calibri"/>
              <a:cs typeface="Calibri"/>
              <a:sym typeface="Calibri"/>
            </a:endParaRPr>
          </a:p>
        </p:txBody>
      </p:sp>
      <p:sp>
        <p:nvSpPr>
          <p:cNvPr id="241" name="Google Shape;241;p9"/>
          <p:cNvSpPr txBox="1"/>
          <p:nvPr/>
        </p:nvSpPr>
        <p:spPr>
          <a:xfrm>
            <a:off x="847649" y="5156302"/>
            <a:ext cx="14008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Return on Quality</a:t>
            </a:r>
            <a:endParaRPr b="0" i="0" sz="1200" u="none" cap="none" strike="noStrike">
              <a:solidFill>
                <a:schemeClr val="dk1"/>
              </a:solidFill>
              <a:latin typeface="Calibri"/>
              <a:ea typeface="Calibri"/>
              <a:cs typeface="Calibri"/>
              <a:sym typeface="Calibri"/>
            </a:endParaRPr>
          </a:p>
        </p:txBody>
      </p:sp>
      <p:sp>
        <p:nvSpPr>
          <p:cNvPr id="242" name="Google Shape;242;p9"/>
          <p:cNvSpPr/>
          <p:nvPr/>
        </p:nvSpPr>
        <p:spPr>
          <a:xfrm>
            <a:off x="7734910" y="2581351"/>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7734910" y="3177540"/>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7734910" y="3773729"/>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7734910" y="4369918"/>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7734910" y="4966106"/>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txBox="1"/>
          <p:nvPr/>
        </p:nvSpPr>
        <p:spPr>
          <a:xfrm>
            <a:off x="4134002" y="2771546"/>
            <a:ext cx="5715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~65%</a:t>
            </a:r>
            <a:endParaRPr b="0" i="0" sz="1200" u="none" cap="none" strike="noStrike">
              <a:solidFill>
                <a:schemeClr val="dk1"/>
              </a:solidFill>
              <a:latin typeface="Calibri"/>
              <a:ea typeface="Calibri"/>
              <a:cs typeface="Calibri"/>
              <a:sym typeface="Calibri"/>
            </a:endParaRPr>
          </a:p>
        </p:txBody>
      </p:sp>
      <p:sp>
        <p:nvSpPr>
          <p:cNvPr id="248" name="Google Shape;248;p9"/>
          <p:cNvSpPr txBox="1"/>
          <p:nvPr/>
        </p:nvSpPr>
        <p:spPr>
          <a:xfrm>
            <a:off x="4134002" y="3367735"/>
            <a:ext cx="857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$80–$120</a:t>
            </a:r>
            <a:endParaRPr b="0" i="0" sz="1200" u="none" cap="none" strike="noStrike">
              <a:solidFill>
                <a:schemeClr val="dk1"/>
              </a:solidFill>
              <a:latin typeface="Calibri"/>
              <a:ea typeface="Calibri"/>
              <a:cs typeface="Calibri"/>
              <a:sym typeface="Calibri"/>
            </a:endParaRPr>
          </a:p>
        </p:txBody>
      </p:sp>
      <p:sp>
        <p:nvSpPr>
          <p:cNvPr id="249" name="Google Shape;249;p9"/>
          <p:cNvSpPr txBox="1"/>
          <p:nvPr/>
        </p:nvSpPr>
        <p:spPr>
          <a:xfrm>
            <a:off x="4134002" y="5156302"/>
            <a:ext cx="4672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High</a:t>
            </a:r>
            <a:endParaRPr b="0" i="0" sz="1200" u="none" cap="none" strike="noStrike">
              <a:solidFill>
                <a:schemeClr val="dk1"/>
              </a:solidFill>
              <a:latin typeface="Calibri"/>
              <a:ea typeface="Calibri"/>
              <a:cs typeface="Calibri"/>
              <a:sym typeface="Calibri"/>
            </a:endParaRPr>
          </a:p>
        </p:txBody>
      </p:sp>
      <p:sp>
        <p:nvSpPr>
          <p:cNvPr id="250" name="Google Shape;250;p9"/>
          <p:cNvSpPr txBox="1"/>
          <p:nvPr/>
        </p:nvSpPr>
        <p:spPr>
          <a:xfrm>
            <a:off x="4585716" y="2771546"/>
            <a:ext cx="15718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category revenue</a:t>
            </a:r>
            <a:endParaRPr b="0" i="0" sz="1200" u="none" cap="none" strike="noStrike">
              <a:solidFill>
                <a:schemeClr val="dk1"/>
              </a:solidFill>
              <a:latin typeface="Calibri"/>
              <a:ea typeface="Calibri"/>
              <a:cs typeface="Calibri"/>
              <a:sym typeface="Calibri"/>
            </a:endParaRPr>
          </a:p>
        </p:txBody>
      </p:sp>
      <p:sp>
        <p:nvSpPr>
          <p:cNvPr id="251" name="Google Shape;251;p9"/>
          <p:cNvSpPr txBox="1"/>
          <p:nvPr/>
        </p:nvSpPr>
        <p:spPr>
          <a:xfrm>
            <a:off x="4876495" y="3367735"/>
            <a:ext cx="7050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item</a:t>
            </a:r>
            <a:endParaRPr b="0" i="0" sz="1200" u="none" cap="none" strike="noStrike">
              <a:solidFill>
                <a:schemeClr val="dk1"/>
              </a:solidFill>
              <a:latin typeface="Calibri"/>
              <a:ea typeface="Calibri"/>
              <a:cs typeface="Calibri"/>
              <a:sym typeface="Calibri"/>
            </a:endParaRPr>
          </a:p>
        </p:txBody>
      </p:sp>
      <p:sp>
        <p:nvSpPr>
          <p:cNvPr id="252" name="Google Shape;252;p9"/>
          <p:cNvSpPr txBox="1"/>
          <p:nvPr/>
        </p:nvSpPr>
        <p:spPr>
          <a:xfrm>
            <a:off x="4134002" y="3963924"/>
            <a:ext cx="34198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Homeowners, serious DIYers, quality-focused</a:t>
            </a:r>
            <a:endParaRPr b="0" i="0" sz="1200" u="none" cap="none" strike="noStrike">
              <a:solidFill>
                <a:schemeClr val="dk1"/>
              </a:solidFill>
              <a:latin typeface="Calibri"/>
              <a:ea typeface="Calibri"/>
              <a:cs typeface="Calibri"/>
              <a:sym typeface="Calibri"/>
            </a:endParaRPr>
          </a:p>
        </p:txBody>
      </p:sp>
      <p:sp>
        <p:nvSpPr>
          <p:cNvPr id="253" name="Google Shape;253;p9"/>
          <p:cNvSpPr txBox="1"/>
          <p:nvPr/>
        </p:nvSpPr>
        <p:spPr>
          <a:xfrm>
            <a:off x="4134002" y="4560113"/>
            <a:ext cx="33723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Quality, durability, warranty, brand reputation</a:t>
            </a:r>
            <a:endParaRPr b="0" i="0" sz="1200" u="none" cap="none" strike="noStrike">
              <a:solidFill>
                <a:schemeClr val="dk1"/>
              </a:solidFill>
              <a:latin typeface="Calibri"/>
              <a:ea typeface="Calibri"/>
              <a:cs typeface="Calibri"/>
              <a:sym typeface="Calibri"/>
            </a:endParaRPr>
          </a:p>
        </p:txBody>
      </p:sp>
      <p:sp>
        <p:nvSpPr>
          <p:cNvPr id="254" name="Google Shape;254;p9"/>
          <p:cNvSpPr txBox="1"/>
          <p:nvPr/>
        </p:nvSpPr>
        <p:spPr>
          <a:xfrm>
            <a:off x="4480560" y="5156302"/>
            <a:ext cx="2171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willingness to pay for quality</a:t>
            </a:r>
            <a:endParaRPr b="0" i="0" sz="1200" u="none" cap="none" strike="noStrike">
              <a:solidFill>
                <a:schemeClr val="dk1"/>
              </a:solidFill>
              <a:latin typeface="Calibri"/>
              <a:ea typeface="Calibri"/>
              <a:cs typeface="Calibri"/>
              <a:sym typeface="Calibri"/>
            </a:endParaRPr>
          </a:p>
        </p:txBody>
      </p:sp>
      <p:sp>
        <p:nvSpPr>
          <p:cNvPr id="255" name="Google Shape;255;p9"/>
          <p:cNvSpPr txBox="1"/>
          <p:nvPr/>
        </p:nvSpPr>
        <p:spPr>
          <a:xfrm>
            <a:off x="7968082" y="2771546"/>
            <a:ext cx="5715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~35%</a:t>
            </a:r>
            <a:endParaRPr b="0" i="0" sz="1200" u="none" cap="none" strike="noStrike">
              <a:solidFill>
                <a:schemeClr val="dk1"/>
              </a:solidFill>
              <a:latin typeface="Calibri"/>
              <a:ea typeface="Calibri"/>
              <a:cs typeface="Calibri"/>
              <a:sym typeface="Calibri"/>
            </a:endParaRPr>
          </a:p>
        </p:txBody>
      </p:sp>
      <p:sp>
        <p:nvSpPr>
          <p:cNvPr id="256" name="Google Shape;256;p9"/>
          <p:cNvSpPr txBox="1"/>
          <p:nvPr/>
        </p:nvSpPr>
        <p:spPr>
          <a:xfrm>
            <a:off x="7968082" y="3367735"/>
            <a:ext cx="743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$15–$25</a:t>
            </a:r>
            <a:endParaRPr b="0" i="0" sz="1200" u="none" cap="none" strike="noStrike">
              <a:solidFill>
                <a:schemeClr val="dk1"/>
              </a:solidFill>
              <a:latin typeface="Calibri"/>
              <a:ea typeface="Calibri"/>
              <a:cs typeface="Calibri"/>
              <a:sym typeface="Calibri"/>
            </a:endParaRPr>
          </a:p>
        </p:txBody>
      </p:sp>
      <p:sp>
        <p:nvSpPr>
          <p:cNvPr id="257" name="Google Shape;257;p9"/>
          <p:cNvSpPr txBox="1"/>
          <p:nvPr/>
        </p:nvSpPr>
        <p:spPr>
          <a:xfrm>
            <a:off x="7968082" y="5156302"/>
            <a:ext cx="6675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Limited</a:t>
            </a:r>
            <a:endParaRPr b="0" i="0" sz="1200" u="none" cap="none" strike="noStrike">
              <a:solidFill>
                <a:schemeClr val="dk1"/>
              </a:solidFill>
              <a:latin typeface="Calibri"/>
              <a:ea typeface="Calibri"/>
              <a:cs typeface="Calibri"/>
              <a:sym typeface="Calibri"/>
            </a:endParaRPr>
          </a:p>
        </p:txBody>
      </p:sp>
      <p:sp>
        <p:nvSpPr>
          <p:cNvPr id="258" name="Google Shape;258;p9"/>
          <p:cNvSpPr txBox="1"/>
          <p:nvPr/>
        </p:nvSpPr>
        <p:spPr>
          <a:xfrm>
            <a:off x="8417966" y="2771546"/>
            <a:ext cx="15718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category revenue</a:t>
            </a:r>
            <a:endParaRPr b="0" i="0" sz="1200" u="none" cap="none" strike="noStrike">
              <a:solidFill>
                <a:schemeClr val="dk1"/>
              </a:solidFill>
              <a:latin typeface="Calibri"/>
              <a:ea typeface="Calibri"/>
              <a:cs typeface="Calibri"/>
              <a:sym typeface="Calibri"/>
            </a:endParaRPr>
          </a:p>
        </p:txBody>
      </p:sp>
      <p:sp>
        <p:nvSpPr>
          <p:cNvPr id="259" name="Google Shape;259;p9"/>
          <p:cNvSpPr txBox="1"/>
          <p:nvPr/>
        </p:nvSpPr>
        <p:spPr>
          <a:xfrm>
            <a:off x="8594446" y="3367735"/>
            <a:ext cx="7050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item</a:t>
            </a:r>
            <a:endParaRPr b="0" i="0" sz="1200" u="none" cap="none" strike="noStrike">
              <a:solidFill>
                <a:schemeClr val="dk1"/>
              </a:solidFill>
              <a:latin typeface="Calibri"/>
              <a:ea typeface="Calibri"/>
              <a:cs typeface="Calibri"/>
              <a:sym typeface="Calibri"/>
            </a:endParaRPr>
          </a:p>
        </p:txBody>
      </p:sp>
      <p:sp>
        <p:nvSpPr>
          <p:cNvPr id="260" name="Google Shape;260;p9"/>
          <p:cNvSpPr txBox="1"/>
          <p:nvPr/>
        </p:nvSpPr>
        <p:spPr>
          <a:xfrm>
            <a:off x="7968082" y="3963924"/>
            <a:ext cx="32104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Price-conscious, renters, quick-fix seekers</a:t>
            </a:r>
            <a:endParaRPr b="0" i="0" sz="1200" u="none" cap="none" strike="noStrike">
              <a:solidFill>
                <a:schemeClr val="dk1"/>
              </a:solidFill>
              <a:latin typeface="Calibri"/>
              <a:ea typeface="Calibri"/>
              <a:cs typeface="Calibri"/>
              <a:sym typeface="Calibri"/>
            </a:endParaRPr>
          </a:p>
        </p:txBody>
      </p:sp>
      <p:sp>
        <p:nvSpPr>
          <p:cNvPr id="261" name="Google Shape;261;p9"/>
          <p:cNvSpPr txBox="1"/>
          <p:nvPr/>
        </p:nvSpPr>
        <p:spPr>
          <a:xfrm>
            <a:off x="7968082" y="4560113"/>
            <a:ext cx="28099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Price, convenience, immediate needs</a:t>
            </a:r>
            <a:endParaRPr b="0" i="0" sz="1200" u="none" cap="none" strike="noStrike">
              <a:solidFill>
                <a:schemeClr val="dk1"/>
              </a:solidFill>
              <a:latin typeface="Calibri"/>
              <a:ea typeface="Calibri"/>
              <a:cs typeface="Calibri"/>
              <a:sym typeface="Calibri"/>
            </a:endParaRPr>
          </a:p>
        </p:txBody>
      </p:sp>
      <p:sp>
        <p:nvSpPr>
          <p:cNvPr id="262" name="Google Shape;262;p9"/>
          <p:cNvSpPr txBox="1"/>
          <p:nvPr/>
        </p:nvSpPr>
        <p:spPr>
          <a:xfrm>
            <a:off x="8516722" y="5156302"/>
            <a:ext cx="19339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price elasticity for quality</a:t>
            </a:r>
            <a:endParaRPr b="0" i="0" sz="1200" u="none" cap="none" strike="noStrike">
              <a:solidFill>
                <a:schemeClr val="dk1"/>
              </a:solidFill>
              <a:latin typeface="Calibri"/>
              <a:ea typeface="Calibri"/>
              <a:cs typeface="Calibri"/>
              <a:sym typeface="Calibri"/>
            </a:endParaRPr>
          </a:p>
        </p:txBody>
      </p:sp>
      <p:sp>
        <p:nvSpPr>
          <p:cNvPr id="263" name="Google Shape;263;p9"/>
          <p:cNvSpPr/>
          <p:nvPr/>
        </p:nvSpPr>
        <p:spPr>
          <a:xfrm>
            <a:off x="609905" y="5790895"/>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609905" y="5790895"/>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txBox="1"/>
          <p:nvPr/>
        </p:nvSpPr>
        <p:spPr>
          <a:xfrm>
            <a:off x="838505" y="5962802"/>
            <a:ext cx="10270541"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Critical Data Caveat: Dataset over-sampled Walmart (78.5% of dataset vs. ~15% market revenue). All figures shown are market-weighted to correct for sampling bias. See Appendix for detailed weighting methodology and confidence levels.</a:t>
            </a:r>
            <a:endParaRPr b="0" i="0" sz="1100" u="none" cap="none" strike="noStrike">
              <a:solidFill>
                <a:schemeClr val="dk1"/>
              </a:solidFill>
              <a:latin typeface="Calibri"/>
              <a:ea typeface="Calibri"/>
              <a:cs typeface="Calibri"/>
              <a:sym typeface="Calibri"/>
            </a:endParaRPr>
          </a:p>
        </p:txBody>
      </p:sp>
      <p:sp>
        <p:nvSpPr>
          <p:cNvPr id="266" name="Google Shape;266;p9"/>
          <p:cNvSpPr txBox="1"/>
          <p:nvPr/>
        </p:nvSpPr>
        <p:spPr>
          <a:xfrm>
            <a:off x="609905" y="6877202"/>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67" name="Google Shape;267;p9"/>
          <p:cNvSpPr txBox="1"/>
          <p:nvPr/>
        </p:nvSpPr>
        <p:spPr>
          <a:xfrm>
            <a:off x="11498580" y="6877202"/>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0"/>
          <p:cNvSpPr/>
          <p:nvPr/>
        </p:nvSpPr>
        <p:spPr>
          <a:xfrm>
            <a:off x="0" y="0"/>
            <a:ext cx="12191695" cy="91348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0" y="0"/>
            <a:ext cx="12191695" cy="91348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9448495" y="-914400"/>
            <a:ext cx="3657600" cy="3657600"/>
          </a:xfrm>
          <a:prstGeom prst="roundRect">
            <a:avLst>
              <a:gd fmla="val 25000" name="adj"/>
            </a:avLst>
          </a:prstGeom>
          <a:solidFill>
            <a:srgbClr val="1E3A8A">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609905" y="7301484"/>
            <a:ext cx="2438705" cy="2438705"/>
          </a:xfrm>
          <a:prstGeom prst="roundRect">
            <a:avLst>
              <a:gd fmla="val 37495" name="adj"/>
            </a:avLst>
          </a:prstGeom>
          <a:solidFill>
            <a:srgbClr val="1E3A8A">
              <a:alpha val="274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609905" y="476402"/>
            <a:ext cx="761695" cy="761695"/>
          </a:xfrm>
          <a:prstGeom prst="roundRect">
            <a:avLst>
              <a:gd fmla="val 21008" name="adj"/>
            </a:avLst>
          </a:prstGeom>
          <a:solidFill>
            <a:srgbClr val="1E3A8A"/>
          </a:solidFill>
          <a:ln>
            <a:noFill/>
          </a:ln>
          <a:effectLst>
            <a:outerShdw blurRad="101600" rotWithShape="0" algn="bl" dir="5400000" dist="38100">
              <a:srgbClr val="1E3A8A">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txBox="1"/>
          <p:nvPr/>
        </p:nvSpPr>
        <p:spPr>
          <a:xfrm>
            <a:off x="882396" y="599846"/>
            <a:ext cx="476402" cy="514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Inter"/>
              <a:buNone/>
            </a:pPr>
            <a:r>
              <a:rPr b="1" i="0" lang="en-US" sz="2700" u="none" cap="none" strike="noStrike">
                <a:solidFill>
                  <a:srgbClr val="FFFFFF"/>
                </a:solidFill>
                <a:latin typeface="Inter"/>
                <a:ea typeface="Inter"/>
                <a:cs typeface="Inter"/>
                <a:sym typeface="Inter"/>
              </a:rPr>
              <a:t>2</a:t>
            </a:r>
            <a:endParaRPr b="0" i="0" sz="2700" u="none" cap="none" strike="noStrike">
              <a:solidFill>
                <a:schemeClr val="dk1"/>
              </a:solidFill>
              <a:latin typeface="Calibri"/>
              <a:ea typeface="Calibri"/>
              <a:cs typeface="Calibri"/>
              <a:sym typeface="Calibri"/>
            </a:endParaRPr>
          </a:p>
        </p:txBody>
      </p:sp>
      <p:sp>
        <p:nvSpPr>
          <p:cNvPr id="279" name="Google Shape;279;p10"/>
          <p:cNvSpPr/>
          <p:nvPr/>
        </p:nvSpPr>
        <p:spPr>
          <a:xfrm>
            <a:off x="1600200"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txBox="1"/>
          <p:nvPr/>
        </p:nvSpPr>
        <p:spPr>
          <a:xfrm>
            <a:off x="1600200" y="685800"/>
            <a:ext cx="7077456"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Boulder #2: Installation Is The Universal Barrier</a:t>
            </a:r>
            <a:endParaRPr b="0" i="0" sz="2400" u="none" cap="none" strike="noStrike">
              <a:solidFill>
                <a:schemeClr val="dk1"/>
              </a:solidFill>
              <a:latin typeface="Calibri"/>
              <a:ea typeface="Calibri"/>
              <a:cs typeface="Calibri"/>
              <a:sym typeface="Calibri"/>
            </a:endParaRPr>
          </a:p>
        </p:txBody>
      </p:sp>
      <p:sp>
        <p:nvSpPr>
          <p:cNvPr id="281" name="Google Shape;281;p10"/>
          <p:cNvSpPr txBox="1"/>
          <p:nvPr/>
        </p:nvSpPr>
        <p:spPr>
          <a:xfrm>
            <a:off x="609905" y="1438351"/>
            <a:ext cx="281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Inter"/>
              <a:buNone/>
            </a:pPr>
            <a:r>
              <a:rPr b="0" i="0" lang="en-US" sz="1300" u="none" cap="none" strike="noStrike">
                <a:solidFill>
                  <a:srgbClr val="374151"/>
                </a:solidFill>
                <a:latin typeface="Inter"/>
                <a:ea typeface="Inter"/>
                <a:cs typeface="Inter"/>
                <a:sym typeface="Inter"/>
              </a:rPr>
              <a:t>✱</a:t>
            </a:r>
            <a:endParaRPr b="0" i="0" sz="1300" u="none" cap="none" strike="noStrike">
              <a:solidFill>
                <a:schemeClr val="dk1"/>
              </a:solidFill>
              <a:latin typeface="Calibri"/>
              <a:ea typeface="Calibri"/>
              <a:cs typeface="Calibri"/>
              <a:sym typeface="Calibri"/>
            </a:endParaRPr>
          </a:p>
        </p:txBody>
      </p:sp>
      <p:sp>
        <p:nvSpPr>
          <p:cNvPr id="282" name="Google Shape;282;p10"/>
          <p:cNvSpPr txBox="1"/>
          <p:nvPr/>
        </p:nvSpPr>
        <p:spPr>
          <a:xfrm>
            <a:off x="829361" y="1438351"/>
            <a:ext cx="10049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THE PATTERN</a:t>
            </a:r>
            <a:endParaRPr b="0" i="0" sz="1000" u="none" cap="none" strike="noStrike">
              <a:solidFill>
                <a:schemeClr val="dk1"/>
              </a:solidFill>
              <a:latin typeface="Calibri"/>
              <a:ea typeface="Calibri"/>
              <a:cs typeface="Calibri"/>
              <a:sym typeface="Calibri"/>
            </a:endParaRPr>
          </a:p>
        </p:txBody>
      </p:sp>
      <p:sp>
        <p:nvSpPr>
          <p:cNvPr id="283" name="Google Shape;283;p10"/>
          <p:cNvSpPr txBox="1"/>
          <p:nvPr/>
        </p:nvSpPr>
        <p:spPr>
          <a:xfrm>
            <a:off x="609905" y="1752905"/>
            <a:ext cx="21909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Installation Challenges</a:t>
            </a:r>
            <a:endParaRPr b="0" i="0" sz="1500" u="none" cap="none" strike="noStrike">
              <a:solidFill>
                <a:schemeClr val="dk1"/>
              </a:solidFill>
              <a:latin typeface="Calibri"/>
              <a:ea typeface="Calibri"/>
              <a:cs typeface="Calibri"/>
              <a:sym typeface="Calibri"/>
            </a:endParaRPr>
          </a:p>
        </p:txBody>
      </p:sp>
      <p:sp>
        <p:nvSpPr>
          <p:cNvPr id="284" name="Google Shape;284;p10"/>
          <p:cNvSpPr txBox="1"/>
          <p:nvPr/>
        </p:nvSpPr>
        <p:spPr>
          <a:xfrm>
            <a:off x="609905" y="5170018"/>
            <a:ext cx="1143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Implication</a:t>
            </a:r>
            <a:endParaRPr b="0" i="0" sz="1500" u="none" cap="none" strike="noStrike">
              <a:solidFill>
                <a:schemeClr val="dk1"/>
              </a:solidFill>
              <a:latin typeface="Calibri"/>
              <a:ea typeface="Calibri"/>
              <a:cs typeface="Calibri"/>
              <a:sym typeface="Calibri"/>
            </a:endParaRPr>
          </a:p>
        </p:txBody>
      </p:sp>
      <p:sp>
        <p:nvSpPr>
          <p:cNvPr id="285" name="Google Shape;285;p10"/>
          <p:cNvSpPr txBox="1"/>
          <p:nvPr/>
        </p:nvSpPr>
        <p:spPr>
          <a:xfrm>
            <a:off x="609905" y="2152498"/>
            <a:ext cx="36009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1 in 5 consumers mention installation difficulties:</a:t>
            </a:r>
            <a:endParaRPr b="0" i="0" sz="1200" u="none" cap="none" strike="noStrike">
              <a:solidFill>
                <a:schemeClr val="dk1"/>
              </a:solidFill>
              <a:latin typeface="Calibri"/>
              <a:ea typeface="Calibri"/>
              <a:cs typeface="Calibri"/>
              <a:sym typeface="Calibri"/>
            </a:endParaRPr>
          </a:p>
        </p:txBody>
      </p:sp>
      <p:sp>
        <p:nvSpPr>
          <p:cNvPr id="286" name="Google Shape;286;p10"/>
          <p:cNvSpPr txBox="1"/>
          <p:nvPr/>
        </p:nvSpPr>
        <p:spPr>
          <a:xfrm>
            <a:off x="609905" y="4091940"/>
            <a:ext cx="55440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Key insight: Installation concerns focus on getting started, not ongoing use.</a:t>
            </a:r>
            <a:endParaRPr b="0" i="0" sz="1200" u="none" cap="none" strike="noStrike">
              <a:solidFill>
                <a:schemeClr val="dk1"/>
              </a:solidFill>
              <a:latin typeface="Calibri"/>
              <a:ea typeface="Calibri"/>
              <a:cs typeface="Calibri"/>
              <a:sym typeface="Calibri"/>
            </a:endParaRPr>
          </a:p>
        </p:txBody>
      </p:sp>
      <p:sp>
        <p:nvSpPr>
          <p:cNvPr id="287" name="Google Shape;287;p10"/>
          <p:cNvSpPr txBox="1"/>
          <p:nvPr/>
        </p:nvSpPr>
        <p:spPr>
          <a:xfrm>
            <a:off x="609905" y="5569610"/>
            <a:ext cx="1089690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Installation UX is more important than feature set for adoption. A product with fewer features but superior installation experience will outsell a feature-rich product with complex installation.</a:t>
            </a:r>
            <a:endParaRPr b="0" i="0" sz="1200" u="none" cap="none" strike="noStrike">
              <a:solidFill>
                <a:schemeClr val="dk1"/>
              </a:solidFill>
              <a:latin typeface="Calibri"/>
              <a:ea typeface="Calibri"/>
              <a:cs typeface="Calibri"/>
              <a:sym typeface="Calibri"/>
            </a:endParaRPr>
          </a:p>
        </p:txBody>
      </p:sp>
      <p:sp>
        <p:nvSpPr>
          <p:cNvPr id="288" name="Google Shape;288;p10"/>
          <p:cNvSpPr txBox="1"/>
          <p:nvPr/>
        </p:nvSpPr>
        <p:spPr>
          <a:xfrm>
            <a:off x="838505" y="2630729"/>
            <a:ext cx="31245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Surface preparation requirements unclear</a:t>
            </a:r>
            <a:endParaRPr b="0" i="0" sz="1200" u="none" cap="none" strike="noStrike">
              <a:solidFill>
                <a:schemeClr val="dk1"/>
              </a:solidFill>
              <a:latin typeface="Calibri"/>
              <a:ea typeface="Calibri"/>
              <a:cs typeface="Calibri"/>
              <a:sym typeface="Calibri"/>
            </a:endParaRPr>
          </a:p>
        </p:txBody>
      </p:sp>
      <p:sp>
        <p:nvSpPr>
          <p:cNvPr id="289" name="Google Shape;289;p10"/>
          <p:cNvSpPr txBox="1"/>
          <p:nvPr/>
        </p:nvSpPr>
        <p:spPr>
          <a:xfrm>
            <a:off x="838505" y="2969971"/>
            <a:ext cx="29626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Drilling vs. adhesive decision confusion</a:t>
            </a:r>
            <a:endParaRPr b="0" i="0" sz="1200" u="none" cap="none" strike="noStrike">
              <a:solidFill>
                <a:schemeClr val="dk1"/>
              </a:solidFill>
              <a:latin typeface="Calibri"/>
              <a:ea typeface="Calibri"/>
              <a:cs typeface="Calibri"/>
              <a:sym typeface="Calibri"/>
            </a:endParaRPr>
          </a:p>
        </p:txBody>
      </p:sp>
      <p:sp>
        <p:nvSpPr>
          <p:cNvPr id="290" name="Google Shape;290;p10"/>
          <p:cNvSpPr txBox="1"/>
          <p:nvPr/>
        </p:nvSpPr>
        <p:spPr>
          <a:xfrm>
            <a:off x="838505" y="3309214"/>
            <a:ext cx="31053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Concern about wall damage during install</a:t>
            </a:r>
            <a:endParaRPr b="0" i="0" sz="1200" u="none" cap="none" strike="noStrike">
              <a:solidFill>
                <a:schemeClr val="dk1"/>
              </a:solidFill>
              <a:latin typeface="Calibri"/>
              <a:ea typeface="Calibri"/>
              <a:cs typeface="Calibri"/>
              <a:sym typeface="Calibri"/>
            </a:endParaRPr>
          </a:p>
        </p:txBody>
      </p:sp>
      <p:sp>
        <p:nvSpPr>
          <p:cNvPr id="291" name="Google Shape;291;p10"/>
          <p:cNvSpPr txBox="1"/>
          <p:nvPr/>
        </p:nvSpPr>
        <p:spPr>
          <a:xfrm>
            <a:off x="838505" y="3647542"/>
            <a:ext cx="23436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Tool and material requirements</a:t>
            </a:r>
            <a:endParaRPr b="0" i="0" sz="1200" u="none" cap="none" strike="noStrike">
              <a:solidFill>
                <a:schemeClr val="dk1"/>
              </a:solidFill>
              <a:latin typeface="Calibri"/>
              <a:ea typeface="Calibri"/>
              <a:cs typeface="Calibri"/>
              <a:sym typeface="Calibri"/>
            </a:endParaRPr>
          </a:p>
        </p:txBody>
      </p:sp>
      <p:sp>
        <p:nvSpPr>
          <p:cNvPr id="292" name="Google Shape;292;p10"/>
          <p:cNvSpPr txBox="1"/>
          <p:nvPr/>
        </p:nvSpPr>
        <p:spPr>
          <a:xfrm>
            <a:off x="609905" y="4408322"/>
            <a:ext cx="38487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20% of 1,129 consumer discussions mentioned installation challenges</a:t>
            </a:r>
            <a:endParaRPr b="0" i="0" sz="900" u="none" cap="none" strike="noStrike">
              <a:solidFill>
                <a:schemeClr val="dk1"/>
              </a:solidFill>
              <a:latin typeface="Calibri"/>
              <a:ea typeface="Calibri"/>
              <a:cs typeface="Calibri"/>
              <a:sym typeface="Calibri"/>
            </a:endParaRPr>
          </a:p>
        </p:txBody>
      </p:sp>
      <p:sp>
        <p:nvSpPr>
          <p:cNvPr id="293" name="Google Shape;293;p10"/>
          <p:cNvSpPr/>
          <p:nvPr/>
        </p:nvSpPr>
        <p:spPr>
          <a:xfrm>
            <a:off x="609905" y="6592824"/>
            <a:ext cx="10972800" cy="1457554"/>
          </a:xfrm>
          <a:prstGeom prst="roundRect">
            <a:avLst>
              <a:gd fmla="val 1640" name="adj"/>
            </a:avLst>
          </a:prstGeom>
          <a:solidFill>
            <a:srgbClr val="F9FAFB"/>
          </a:solidFill>
          <a:ln>
            <a:noFill/>
          </a:ln>
          <a:effectLst>
            <a:outerShdw blurRad="635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609905" y="6592824"/>
            <a:ext cx="38405" cy="145755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txBox="1"/>
          <p:nvPr/>
        </p:nvSpPr>
        <p:spPr>
          <a:xfrm>
            <a:off x="838505" y="6773875"/>
            <a:ext cx="119146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Litmus Test</a:t>
            </a:r>
            <a:endParaRPr b="0" i="0" sz="1500" u="none" cap="none" strike="noStrike">
              <a:solidFill>
                <a:schemeClr val="dk1"/>
              </a:solidFill>
              <a:latin typeface="Calibri"/>
              <a:ea typeface="Calibri"/>
              <a:cs typeface="Calibri"/>
              <a:sym typeface="Calibri"/>
            </a:endParaRPr>
          </a:p>
        </p:txBody>
      </p:sp>
      <p:sp>
        <p:nvSpPr>
          <p:cNvPr id="296" name="Google Shape;296;p10"/>
          <p:cNvSpPr txBox="1"/>
          <p:nvPr/>
        </p:nvSpPr>
        <p:spPr>
          <a:xfrm>
            <a:off x="838505" y="7174382"/>
            <a:ext cx="10172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Can a renter with zero tools install this in under 10 minutes without wall damage they'd lose their deposit over? If no, we haven't solved the installation barrier.</a:t>
            </a:r>
            <a:endParaRPr b="0" i="0" sz="1200" u="none" cap="none" strike="noStrike">
              <a:solidFill>
                <a:schemeClr val="dk1"/>
              </a:solidFill>
              <a:latin typeface="Calibri"/>
              <a:ea typeface="Calibri"/>
              <a:cs typeface="Calibri"/>
              <a:sym typeface="Calibri"/>
            </a:endParaRPr>
          </a:p>
        </p:txBody>
      </p:sp>
      <p:sp>
        <p:nvSpPr>
          <p:cNvPr id="297" name="Google Shape;297;p10"/>
          <p:cNvSpPr txBox="1"/>
          <p:nvPr/>
        </p:nvSpPr>
        <p:spPr>
          <a:xfrm>
            <a:off x="609905" y="8663940"/>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298" name="Google Shape;298;p10"/>
          <p:cNvSpPr txBox="1"/>
          <p:nvPr/>
        </p:nvSpPr>
        <p:spPr>
          <a:xfrm>
            <a:off x="11517782" y="8663940"/>
            <a:ext cx="152705"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1"/>
          <p:cNvSpPr/>
          <p:nvPr/>
        </p:nvSpPr>
        <p:spPr>
          <a:xfrm>
            <a:off x="0" y="0"/>
            <a:ext cx="12191695" cy="85917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0" y="0"/>
            <a:ext cx="12191695" cy="85917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533095" y="38130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txBox="1"/>
          <p:nvPr/>
        </p:nvSpPr>
        <p:spPr>
          <a:xfrm>
            <a:off x="533095" y="609905"/>
            <a:ext cx="72676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Consumer Pain Point Analysis: Reddit Evidence</a:t>
            </a:r>
            <a:endParaRPr b="0" i="0" sz="2400" u="none" cap="none" strike="noStrike">
              <a:solidFill>
                <a:schemeClr val="dk1"/>
              </a:solidFill>
              <a:latin typeface="Calibri"/>
              <a:ea typeface="Calibri"/>
              <a:cs typeface="Calibri"/>
              <a:sym typeface="Calibri"/>
            </a:endParaRPr>
          </a:p>
        </p:txBody>
      </p:sp>
      <p:sp>
        <p:nvSpPr>
          <p:cNvPr id="308" name="Google Shape;308;p11"/>
          <p:cNvSpPr txBox="1"/>
          <p:nvPr/>
        </p:nvSpPr>
        <p:spPr>
          <a:xfrm>
            <a:off x="533095" y="1209751"/>
            <a:ext cx="29580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Based on Reddit analysis (n=1,129)</a:t>
            </a:r>
            <a:endParaRPr b="0" i="0" sz="1300" u="none" cap="none" strike="noStrike">
              <a:solidFill>
                <a:schemeClr val="dk1"/>
              </a:solidFill>
              <a:latin typeface="Calibri"/>
              <a:ea typeface="Calibri"/>
              <a:cs typeface="Calibri"/>
              <a:sym typeface="Calibri"/>
            </a:endParaRPr>
          </a:p>
        </p:txBody>
      </p:sp>
      <p:sp>
        <p:nvSpPr>
          <p:cNvPr id="309" name="Google Shape;309;p11"/>
          <p:cNvSpPr txBox="1"/>
          <p:nvPr/>
        </p:nvSpPr>
        <p:spPr>
          <a:xfrm>
            <a:off x="533095" y="1781251"/>
            <a:ext cx="1405433"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 PAIN POINTS</a:t>
            </a:r>
            <a:endParaRPr b="0" i="0" sz="1300" u="none" cap="none" strike="noStrike">
              <a:solidFill>
                <a:schemeClr val="dk1"/>
              </a:solidFill>
              <a:latin typeface="Calibri"/>
              <a:ea typeface="Calibri"/>
              <a:cs typeface="Calibri"/>
              <a:sym typeface="Calibri"/>
            </a:endParaRPr>
          </a:p>
        </p:txBody>
      </p:sp>
      <p:pic>
        <p:nvPicPr>
          <p:cNvPr descr="preencoded.png" id="310" name="Google Shape;310;p11"/>
          <p:cNvPicPr preferRelativeResize="0"/>
          <p:nvPr/>
        </p:nvPicPr>
        <p:blipFill rotWithShape="1">
          <a:blip r:embed="rId3">
            <a:alphaModFix/>
          </a:blip>
          <a:srcRect b="-3" l="0" r="0" t="-3"/>
          <a:stretch/>
        </p:blipFill>
        <p:spPr>
          <a:xfrm>
            <a:off x="533095" y="2152498"/>
            <a:ext cx="11125505" cy="3238805"/>
          </a:xfrm>
          <a:prstGeom prst="rect">
            <a:avLst/>
          </a:prstGeom>
          <a:noFill/>
          <a:ln>
            <a:noFill/>
          </a:ln>
        </p:spPr>
      </p:pic>
      <p:sp>
        <p:nvSpPr>
          <p:cNvPr id="311" name="Google Shape;311;p11"/>
          <p:cNvSpPr/>
          <p:nvPr/>
        </p:nvSpPr>
        <p:spPr>
          <a:xfrm>
            <a:off x="533095" y="5734202"/>
            <a:ext cx="5467198" cy="15243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533095" y="5734202"/>
            <a:ext cx="28346" cy="1524305"/>
          </a:xfrm>
          <a:prstGeom prst="rect">
            <a:avLst/>
          </a:prstGeom>
          <a:solidFill>
            <a:srgbClr val="F0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txBox="1"/>
          <p:nvPr/>
        </p:nvSpPr>
        <p:spPr>
          <a:xfrm>
            <a:off x="714146" y="5886907"/>
            <a:ext cx="10954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5252"/>
              </a:buClr>
              <a:buSzPts val="1200"/>
              <a:buFont typeface="Inter"/>
              <a:buNone/>
            </a:pPr>
            <a:r>
              <a:rPr b="1" i="0" lang="en-US" sz="1200" u="none" cap="none" strike="noStrike">
                <a:solidFill>
                  <a:srgbClr val="F05252"/>
                </a:solidFill>
                <a:latin typeface="Inter"/>
                <a:ea typeface="Inter"/>
                <a:cs typeface="Inter"/>
                <a:sym typeface="Inter"/>
              </a:rPr>
              <a:t>KEY INSIGHT</a:t>
            </a:r>
            <a:endParaRPr b="0" i="0" sz="1200" u="none" cap="none" strike="noStrike">
              <a:solidFill>
                <a:schemeClr val="dk1"/>
              </a:solidFill>
              <a:latin typeface="Calibri"/>
              <a:ea typeface="Calibri"/>
              <a:cs typeface="Calibri"/>
              <a:sym typeface="Calibri"/>
            </a:endParaRPr>
          </a:p>
        </p:txBody>
      </p:sp>
      <p:sp>
        <p:nvSpPr>
          <p:cNvPr id="314" name="Google Shape;314;p11"/>
          <p:cNvSpPr txBox="1"/>
          <p:nvPr/>
        </p:nvSpPr>
        <p:spPr>
          <a:xfrm>
            <a:off x="714146" y="6210605"/>
            <a:ext cx="5181905"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Paint/Surface Damage is the dominant concern at 32.2% - nearly 1 in 3 Reddit posts.</a:t>
            </a:r>
            <a:endParaRPr b="0" i="0" sz="1200" u="none" cap="none" strike="noStrike">
              <a:solidFill>
                <a:schemeClr val="dk1"/>
              </a:solidFill>
              <a:latin typeface="Calibri"/>
              <a:ea typeface="Calibri"/>
              <a:cs typeface="Calibri"/>
              <a:sym typeface="Calibri"/>
            </a:endParaRPr>
          </a:p>
        </p:txBody>
      </p:sp>
      <p:sp>
        <p:nvSpPr>
          <p:cNvPr id="315" name="Google Shape;315;p11"/>
          <p:cNvSpPr txBox="1"/>
          <p:nvPr/>
        </p:nvSpPr>
        <p:spPr>
          <a:xfrm>
            <a:off x="714146" y="6734556"/>
            <a:ext cx="5072177" cy="3529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Removal damage (23.2%) is significantly more common than installation failure (6.4%). The "damage-free" promise appears most challenged during removal.</a:t>
            </a:r>
            <a:endParaRPr b="0" i="0" sz="1000" u="none" cap="none" strike="noStrike">
              <a:solidFill>
                <a:schemeClr val="dk1"/>
              </a:solidFill>
              <a:latin typeface="Calibri"/>
              <a:ea typeface="Calibri"/>
              <a:cs typeface="Calibri"/>
              <a:sym typeface="Calibri"/>
            </a:endParaRPr>
          </a:p>
        </p:txBody>
      </p:sp>
      <p:sp>
        <p:nvSpPr>
          <p:cNvPr id="316" name="Google Shape;316;p11"/>
          <p:cNvSpPr/>
          <p:nvPr/>
        </p:nvSpPr>
        <p:spPr>
          <a:xfrm>
            <a:off x="6191402" y="5676595"/>
            <a:ext cx="5467198" cy="11430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6191402" y="5676595"/>
            <a:ext cx="38405" cy="1143000"/>
          </a:xfrm>
          <a:prstGeom prst="rect">
            <a:avLst/>
          </a:prstGeom>
          <a:solidFill>
            <a:srgbClr val="F6A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txBox="1"/>
          <p:nvPr/>
        </p:nvSpPr>
        <p:spPr>
          <a:xfrm>
            <a:off x="6381598" y="5848502"/>
            <a:ext cx="1390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1" i="0" lang="en-US" sz="1200" u="none" cap="none" strike="noStrike">
                <a:solidFill>
                  <a:srgbClr val="4B5563"/>
                </a:solidFill>
                <a:latin typeface="Inter"/>
                <a:ea typeface="Inter"/>
                <a:cs typeface="Inter"/>
                <a:sym typeface="Inter"/>
              </a:rPr>
              <a:t>ANALYSIS NOTE:</a:t>
            </a:r>
            <a:endParaRPr b="0" i="0" sz="1200" u="none" cap="none" strike="noStrike">
              <a:solidFill>
                <a:schemeClr val="dk1"/>
              </a:solidFill>
              <a:latin typeface="Calibri"/>
              <a:ea typeface="Calibri"/>
              <a:cs typeface="Calibri"/>
              <a:sym typeface="Calibri"/>
            </a:endParaRPr>
          </a:p>
        </p:txBody>
      </p:sp>
      <p:sp>
        <p:nvSpPr>
          <p:cNvPr id="319" name="Google Shape;319;p11"/>
          <p:cNvSpPr txBox="1"/>
          <p:nvPr/>
        </p:nvSpPr>
        <p:spPr>
          <a:xfrm>
            <a:off x="6381598" y="6105449"/>
            <a:ext cx="5138928" cy="5431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Reddit discussions focus on problem-solving contexts where consumers are actively seeking help or sharing experiences. TikTok/Instagram content (n=890) represents more aspirational content.</a:t>
            </a:r>
            <a:endParaRPr b="0" i="0" sz="1000" u="none" cap="none" strike="noStrike">
              <a:solidFill>
                <a:schemeClr val="dk1"/>
              </a:solidFill>
              <a:latin typeface="Calibri"/>
              <a:ea typeface="Calibri"/>
              <a:cs typeface="Calibri"/>
              <a:sym typeface="Calibri"/>
            </a:endParaRPr>
          </a:p>
        </p:txBody>
      </p:sp>
      <p:sp>
        <p:nvSpPr>
          <p:cNvPr id="320" name="Google Shape;320;p11"/>
          <p:cNvSpPr/>
          <p:nvPr/>
        </p:nvSpPr>
        <p:spPr>
          <a:xfrm>
            <a:off x="533095" y="7448702"/>
            <a:ext cx="11125505" cy="5047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533095" y="7448702"/>
            <a:ext cx="38405" cy="5047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txBox="1"/>
          <p:nvPr/>
        </p:nvSpPr>
        <p:spPr>
          <a:xfrm>
            <a:off x="724205" y="7619695"/>
            <a:ext cx="53108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Source: Reddit posts (n=1,129) | Dataset includes 3,084 records across 6 platforms</a:t>
            </a:r>
            <a:endParaRPr b="0" i="0" sz="1000" u="none" cap="none" strike="noStrike">
              <a:solidFill>
                <a:schemeClr val="dk1"/>
              </a:solidFill>
              <a:latin typeface="Calibri"/>
              <a:ea typeface="Calibri"/>
              <a:cs typeface="Calibri"/>
              <a:sym typeface="Calibri"/>
            </a:endParaRPr>
          </a:p>
        </p:txBody>
      </p:sp>
      <p:sp>
        <p:nvSpPr>
          <p:cNvPr id="323" name="Google Shape;323;p11"/>
          <p:cNvSpPr/>
          <p:nvPr/>
        </p:nvSpPr>
        <p:spPr>
          <a:xfrm>
            <a:off x="0" y="7953451"/>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txBox="1"/>
          <p:nvPr/>
        </p:nvSpPr>
        <p:spPr>
          <a:xfrm>
            <a:off x="533095" y="8201254"/>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325" name="Google Shape;325;p11"/>
          <p:cNvSpPr txBox="1"/>
          <p:nvPr/>
        </p:nvSpPr>
        <p:spPr>
          <a:xfrm>
            <a:off x="11587277" y="8201254"/>
            <a:ext cx="162763"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2"/>
          <p:cNvSpPr/>
          <p:nvPr/>
        </p:nvSpPr>
        <p:spPr>
          <a:xfrm>
            <a:off x="0" y="0"/>
            <a:ext cx="12191695" cy="84106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p:nvPr/>
        </p:nvSpPr>
        <p:spPr>
          <a:xfrm>
            <a:off x="0" y="0"/>
            <a:ext cx="12191695" cy="84106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
          <p:cNvSpPr/>
          <p:nvPr/>
        </p:nvSpPr>
        <p:spPr>
          <a:xfrm>
            <a:off x="10134295" y="-685800"/>
            <a:ext cx="2743200" cy="2743200"/>
          </a:xfrm>
          <a:prstGeom prst="roundRect">
            <a:avLst>
              <a:gd fmla="val 3333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533095" y="6803136"/>
            <a:ext cx="2133295" cy="2133295"/>
          </a:xfrm>
          <a:prstGeom prst="roundRect">
            <a:avLst>
              <a:gd fmla="val 4286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609905" y="514807"/>
            <a:ext cx="685800" cy="685800"/>
          </a:xfrm>
          <a:prstGeom prst="roundRect">
            <a:avLst>
              <a:gd fmla="val 22222" name="adj"/>
            </a:avLst>
          </a:prstGeom>
          <a:solidFill>
            <a:srgbClr val="16A085"/>
          </a:solidFill>
          <a:ln>
            <a:noFill/>
          </a:ln>
          <a:effectLst>
            <a:outerShdw blurRad="101600" rotWithShape="0" algn="bl" dir="5400000" dist="38100">
              <a:srgbClr val="16A085">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2"/>
          <p:cNvSpPr txBox="1"/>
          <p:nvPr/>
        </p:nvSpPr>
        <p:spPr>
          <a:xfrm>
            <a:off x="856793" y="614477"/>
            <a:ext cx="443484"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Montserrat"/>
              <a:buNone/>
            </a:pPr>
            <a:r>
              <a:rPr b="1" i="0" lang="en-US" sz="2500" u="none" cap="none" strike="noStrike">
                <a:solidFill>
                  <a:srgbClr val="FFFFFF"/>
                </a:solidFill>
                <a:latin typeface="Montserrat"/>
                <a:ea typeface="Montserrat"/>
                <a:cs typeface="Montserrat"/>
                <a:sym typeface="Montserrat"/>
              </a:rPr>
              <a:t>3</a:t>
            </a:r>
            <a:endParaRPr b="0" i="0" sz="2500" u="none" cap="none" strike="noStrike">
              <a:solidFill>
                <a:schemeClr val="dk1"/>
              </a:solidFill>
              <a:latin typeface="Calibri"/>
              <a:ea typeface="Calibri"/>
              <a:cs typeface="Calibri"/>
              <a:sym typeface="Calibri"/>
            </a:endParaRPr>
          </a:p>
        </p:txBody>
      </p:sp>
      <p:sp>
        <p:nvSpPr>
          <p:cNvPr id="337" name="Google Shape;337;p12"/>
          <p:cNvSpPr/>
          <p:nvPr/>
        </p:nvSpPr>
        <p:spPr>
          <a:xfrm>
            <a:off x="15243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txBox="1"/>
          <p:nvPr/>
        </p:nvSpPr>
        <p:spPr>
          <a:xfrm>
            <a:off x="1524305" y="685800"/>
            <a:ext cx="7972654"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300" u="none" cap="none" strike="noStrike">
                <a:solidFill>
                  <a:srgbClr val="111827"/>
                </a:solidFill>
                <a:latin typeface="Montserrat"/>
                <a:ea typeface="Montserrat"/>
                <a:cs typeface="Montserrat"/>
                <a:sym typeface="Montserrat"/>
              </a:rPr>
              <a:t>Boulder #3: Quality Skepticism From Prior Failures</a:t>
            </a:r>
            <a:endParaRPr b="0" i="0" sz="2300" u="none" cap="none" strike="noStrike">
              <a:solidFill>
                <a:schemeClr val="dk1"/>
              </a:solidFill>
              <a:latin typeface="Calibri"/>
              <a:ea typeface="Calibri"/>
              <a:cs typeface="Calibri"/>
              <a:sym typeface="Calibri"/>
            </a:endParaRPr>
          </a:p>
        </p:txBody>
      </p:sp>
      <p:sp>
        <p:nvSpPr>
          <p:cNvPr id="339" name="Google Shape;339;p12"/>
          <p:cNvSpPr/>
          <p:nvPr/>
        </p:nvSpPr>
        <p:spPr>
          <a:xfrm>
            <a:off x="609905" y="1485900"/>
            <a:ext cx="10972800" cy="2428646"/>
          </a:xfrm>
          <a:prstGeom prst="roundRect">
            <a:avLst>
              <a:gd fmla="val 1181"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p:nvPr/>
        </p:nvSpPr>
        <p:spPr>
          <a:xfrm>
            <a:off x="609905" y="4290365"/>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609905" y="5855818"/>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txBox="1"/>
          <p:nvPr/>
        </p:nvSpPr>
        <p:spPr>
          <a:xfrm>
            <a:off x="990295" y="1714500"/>
            <a:ext cx="231526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Weight Capacity Issues</a:t>
            </a:r>
            <a:endParaRPr b="0" i="0" sz="1500" u="none" cap="none" strike="noStrike">
              <a:solidFill>
                <a:schemeClr val="dk1"/>
              </a:solidFill>
              <a:latin typeface="Calibri"/>
              <a:ea typeface="Calibri"/>
              <a:cs typeface="Calibri"/>
              <a:sym typeface="Calibri"/>
            </a:endParaRPr>
          </a:p>
        </p:txBody>
      </p:sp>
      <p:sp>
        <p:nvSpPr>
          <p:cNvPr id="343" name="Google Shape;343;p12"/>
          <p:cNvSpPr txBox="1"/>
          <p:nvPr/>
        </p:nvSpPr>
        <p:spPr>
          <a:xfrm>
            <a:off x="990295" y="4518965"/>
            <a:ext cx="116220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Implication</a:t>
            </a:r>
            <a:endParaRPr b="0" i="0" sz="1500" u="none" cap="none" strike="noStrike">
              <a:solidFill>
                <a:schemeClr val="dk1"/>
              </a:solidFill>
              <a:latin typeface="Calibri"/>
              <a:ea typeface="Calibri"/>
              <a:cs typeface="Calibri"/>
              <a:sym typeface="Calibri"/>
            </a:endParaRPr>
          </a:p>
        </p:txBody>
      </p:sp>
      <p:sp>
        <p:nvSpPr>
          <p:cNvPr id="344" name="Google Shape;344;p12"/>
          <p:cNvSpPr txBox="1"/>
          <p:nvPr/>
        </p:nvSpPr>
        <p:spPr>
          <a:xfrm>
            <a:off x="990295" y="6084418"/>
            <a:ext cx="120975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Litmus Test</a:t>
            </a:r>
            <a:endParaRPr b="0" i="0" sz="1500" u="none" cap="none" strike="noStrike">
              <a:solidFill>
                <a:schemeClr val="dk1"/>
              </a:solidFill>
              <a:latin typeface="Calibri"/>
              <a:ea typeface="Calibri"/>
              <a:cs typeface="Calibri"/>
              <a:sym typeface="Calibri"/>
            </a:endParaRPr>
          </a:p>
        </p:txBody>
      </p:sp>
      <p:sp>
        <p:nvSpPr>
          <p:cNvPr id="345" name="Google Shape;345;p12"/>
          <p:cNvSpPr txBox="1"/>
          <p:nvPr/>
        </p:nvSpPr>
        <p:spPr>
          <a:xfrm>
            <a:off x="838505" y="2143354"/>
            <a:ext cx="461772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About 1 in 9 consumers experience weight-related failures:</a:t>
            </a:r>
            <a:endParaRPr b="0" i="0" sz="1200" u="none" cap="none" strike="noStrike">
              <a:solidFill>
                <a:schemeClr val="dk1"/>
              </a:solidFill>
              <a:latin typeface="Calibri"/>
              <a:ea typeface="Calibri"/>
              <a:cs typeface="Calibri"/>
              <a:sym typeface="Calibri"/>
            </a:endParaRPr>
          </a:p>
        </p:txBody>
      </p:sp>
      <p:sp>
        <p:nvSpPr>
          <p:cNvPr id="346" name="Google Shape;346;p12"/>
          <p:cNvSpPr txBox="1"/>
          <p:nvPr/>
        </p:nvSpPr>
        <p:spPr>
          <a:xfrm>
            <a:off x="838505" y="4946904"/>
            <a:ext cx="10494569"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Consumers enter the category having been over-promised and under-delivered repeatedly. Claims are met with skepticism; proof beats marketing.</a:t>
            </a:r>
            <a:endParaRPr b="0" i="0" sz="1200" u="none" cap="none" strike="noStrike">
              <a:solidFill>
                <a:schemeClr val="dk1"/>
              </a:solidFill>
              <a:latin typeface="Calibri"/>
              <a:ea typeface="Calibri"/>
              <a:cs typeface="Calibri"/>
              <a:sym typeface="Calibri"/>
            </a:endParaRPr>
          </a:p>
        </p:txBody>
      </p:sp>
      <p:sp>
        <p:nvSpPr>
          <p:cNvPr id="347" name="Google Shape;347;p12"/>
          <p:cNvSpPr txBox="1"/>
          <p:nvPr/>
        </p:nvSpPr>
        <p:spPr>
          <a:xfrm>
            <a:off x="838505" y="6513271"/>
            <a:ext cx="1054211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If a skeptical customer watches our demo and says "yeah, but will it REALLY hold 50 lbs in MY garage?" - can we prove it on the spot? If no, we haven't overcome quality skepticism.</a:t>
            </a:r>
            <a:endParaRPr b="0" i="0" sz="1200" u="none" cap="none" strike="noStrike">
              <a:solidFill>
                <a:schemeClr val="dk1"/>
              </a:solidFill>
              <a:latin typeface="Calibri"/>
              <a:ea typeface="Calibri"/>
              <a:cs typeface="Calibri"/>
              <a:sym typeface="Calibri"/>
            </a:endParaRPr>
          </a:p>
        </p:txBody>
      </p:sp>
      <p:sp>
        <p:nvSpPr>
          <p:cNvPr id="348" name="Google Shape;348;p12"/>
          <p:cNvSpPr txBox="1"/>
          <p:nvPr/>
        </p:nvSpPr>
        <p:spPr>
          <a:xfrm>
            <a:off x="1028700" y="2488082"/>
            <a:ext cx="32004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Products falling or detaching unexpectedly</a:t>
            </a:r>
            <a:endParaRPr b="0" i="0" sz="1200" u="none" cap="none" strike="noStrike">
              <a:solidFill>
                <a:schemeClr val="dk1"/>
              </a:solidFill>
              <a:latin typeface="Calibri"/>
              <a:ea typeface="Calibri"/>
              <a:cs typeface="Calibri"/>
              <a:sym typeface="Calibri"/>
            </a:endParaRPr>
          </a:p>
        </p:txBody>
      </p:sp>
      <p:sp>
        <p:nvSpPr>
          <p:cNvPr id="349" name="Google Shape;349;p12"/>
          <p:cNvSpPr txBox="1"/>
          <p:nvPr/>
        </p:nvSpPr>
        <p:spPr>
          <a:xfrm>
            <a:off x="1028700" y="2792578"/>
            <a:ext cx="40773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Confusion about weight ratings vs. actual performance</a:t>
            </a:r>
            <a:endParaRPr b="0" i="0" sz="1200" u="none" cap="none" strike="noStrike">
              <a:solidFill>
                <a:schemeClr val="dk1"/>
              </a:solidFill>
              <a:latin typeface="Calibri"/>
              <a:ea typeface="Calibri"/>
              <a:cs typeface="Calibri"/>
              <a:sym typeface="Calibri"/>
            </a:endParaRPr>
          </a:p>
        </p:txBody>
      </p:sp>
      <p:sp>
        <p:nvSpPr>
          <p:cNvPr id="350" name="Google Shape;350;p12"/>
          <p:cNvSpPr txBox="1"/>
          <p:nvPr/>
        </p:nvSpPr>
        <p:spPr>
          <a:xfrm>
            <a:off x="1028700" y="3097987"/>
            <a:ext cx="39054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Load testing failures with items within rated capacity</a:t>
            </a:r>
            <a:endParaRPr b="0" i="0" sz="1200" u="none" cap="none" strike="noStrike">
              <a:solidFill>
                <a:schemeClr val="dk1"/>
              </a:solidFill>
              <a:latin typeface="Calibri"/>
              <a:ea typeface="Calibri"/>
              <a:cs typeface="Calibri"/>
              <a:sym typeface="Calibri"/>
            </a:endParaRPr>
          </a:p>
        </p:txBody>
      </p:sp>
      <p:sp>
        <p:nvSpPr>
          <p:cNvPr id="351" name="Google Shape;351;p12"/>
          <p:cNvSpPr txBox="1"/>
          <p:nvPr/>
        </p:nvSpPr>
        <p:spPr>
          <a:xfrm>
            <a:off x="838505" y="3450031"/>
            <a:ext cx="5351069"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This represents a significant but addressable engineering challenge.</a:t>
            </a:r>
            <a:endParaRPr b="0" i="0" sz="1200" u="none" cap="none" strike="noStrike">
              <a:solidFill>
                <a:schemeClr val="dk1"/>
              </a:solidFill>
              <a:latin typeface="Calibri"/>
              <a:ea typeface="Calibri"/>
              <a:cs typeface="Calibri"/>
              <a:sym typeface="Calibri"/>
            </a:endParaRPr>
          </a:p>
        </p:txBody>
      </p:sp>
      <p:sp>
        <p:nvSpPr>
          <p:cNvPr id="352" name="Google Shape;352;p12"/>
          <p:cNvSpPr txBox="1"/>
          <p:nvPr/>
        </p:nvSpPr>
        <p:spPr>
          <a:xfrm>
            <a:off x="609905" y="7555687"/>
            <a:ext cx="45006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12% of 1,129 consumer discussions mentioned weight capacity issues</a:t>
            </a:r>
            <a:endParaRPr b="0" i="0" sz="1000" u="none" cap="none" strike="noStrike">
              <a:solidFill>
                <a:schemeClr val="dk1"/>
              </a:solidFill>
              <a:latin typeface="Calibri"/>
              <a:ea typeface="Calibri"/>
              <a:cs typeface="Calibri"/>
              <a:sym typeface="Calibri"/>
            </a:endParaRPr>
          </a:p>
        </p:txBody>
      </p:sp>
      <p:sp>
        <p:nvSpPr>
          <p:cNvPr id="353" name="Google Shape;353;p12"/>
          <p:cNvSpPr/>
          <p:nvPr/>
        </p:nvSpPr>
        <p:spPr>
          <a:xfrm>
            <a:off x="0" y="7736738"/>
            <a:ext cx="12191695" cy="9144"/>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2"/>
          <p:cNvSpPr txBox="1"/>
          <p:nvPr/>
        </p:nvSpPr>
        <p:spPr>
          <a:xfrm>
            <a:off x="609905" y="7993685"/>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355" name="Google Shape;355;p12"/>
          <p:cNvSpPr txBox="1"/>
          <p:nvPr/>
        </p:nvSpPr>
        <p:spPr>
          <a:xfrm>
            <a:off x="11443716" y="7993685"/>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3"/>
          <p:cNvSpPr/>
          <p:nvPr/>
        </p:nvSpPr>
        <p:spPr>
          <a:xfrm>
            <a:off x="0" y="0"/>
            <a:ext cx="12191695" cy="7391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0" y="0"/>
            <a:ext cx="12191695" cy="7391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a:off x="10134295" y="-685800"/>
            <a:ext cx="2743200" cy="2743200"/>
          </a:xfrm>
          <a:prstGeom prst="roundRect">
            <a:avLst>
              <a:gd fmla="val 33333" name="adj"/>
            </a:avLst>
          </a:prstGeom>
          <a:solidFill>
            <a:srgbClr val="1E3A8A">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p:nvPr/>
        </p:nvSpPr>
        <p:spPr>
          <a:xfrm>
            <a:off x="-533095" y="5787238"/>
            <a:ext cx="2133295" cy="2133295"/>
          </a:xfrm>
          <a:prstGeom prst="roundRect">
            <a:avLst>
              <a:gd fmla="val 42863" name="adj"/>
            </a:avLst>
          </a:prstGeom>
          <a:solidFill>
            <a:srgbClr val="1E3A8A">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a:off x="609905" y="586130"/>
            <a:ext cx="609905" cy="609905"/>
          </a:xfrm>
          <a:prstGeom prst="roundRect">
            <a:avLst>
              <a:gd fmla="val 23426" name="adj"/>
            </a:avLst>
          </a:prstGeom>
          <a:solidFill>
            <a:srgbClr val="1E3A8A"/>
          </a:solidFill>
          <a:ln>
            <a:noFill/>
          </a:ln>
          <a:effectLst>
            <a:outerShdw blurRad="63500" rotWithShape="0" algn="bl" dir="5400000" dist="38100">
              <a:srgbClr val="1E3A8A">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txBox="1"/>
          <p:nvPr/>
        </p:nvSpPr>
        <p:spPr>
          <a:xfrm>
            <a:off x="815645" y="676656"/>
            <a:ext cx="415138" cy="428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Montserrat"/>
              <a:buNone/>
            </a:pPr>
            <a:r>
              <a:rPr b="1" i="0" lang="en-US" sz="2200" u="none" cap="none" strike="noStrike">
                <a:solidFill>
                  <a:srgbClr val="FFFFFF"/>
                </a:solidFill>
                <a:latin typeface="Montserrat"/>
                <a:ea typeface="Montserrat"/>
                <a:cs typeface="Montserrat"/>
                <a:sym typeface="Montserrat"/>
              </a:rPr>
              <a:t>4</a:t>
            </a:r>
            <a:endParaRPr b="0" i="0" sz="2200" u="none" cap="none" strike="noStrike">
              <a:solidFill>
                <a:schemeClr val="dk1"/>
              </a:solidFill>
              <a:latin typeface="Calibri"/>
              <a:ea typeface="Calibri"/>
              <a:cs typeface="Calibri"/>
              <a:sym typeface="Calibri"/>
            </a:endParaRPr>
          </a:p>
        </p:txBody>
      </p:sp>
      <p:sp>
        <p:nvSpPr>
          <p:cNvPr id="367" name="Google Shape;367;p13"/>
          <p:cNvSpPr/>
          <p:nvPr/>
        </p:nvSpPr>
        <p:spPr>
          <a:xfrm>
            <a:off x="1390802"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
          <p:cNvSpPr txBox="1"/>
          <p:nvPr/>
        </p:nvSpPr>
        <p:spPr>
          <a:xfrm>
            <a:off x="1390802" y="705002"/>
            <a:ext cx="8063179"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500"/>
              <a:buFont typeface="Montserrat"/>
              <a:buNone/>
            </a:pPr>
            <a:r>
              <a:rPr b="1" i="0" lang="en-US" sz="2500" u="none" cap="none" strike="noStrike">
                <a:solidFill>
                  <a:srgbClr val="111827"/>
                </a:solidFill>
                <a:latin typeface="Montserrat"/>
                <a:ea typeface="Montserrat"/>
                <a:cs typeface="Montserrat"/>
                <a:sym typeface="Montserrat"/>
              </a:rPr>
              <a:t>Boulder #4: Category Is Platform, Not Product</a:t>
            </a:r>
            <a:endParaRPr b="0" i="0" sz="2500" u="none" cap="none" strike="noStrike">
              <a:solidFill>
                <a:schemeClr val="dk1"/>
              </a:solidFill>
              <a:latin typeface="Calibri"/>
              <a:ea typeface="Calibri"/>
              <a:cs typeface="Calibri"/>
              <a:sym typeface="Calibri"/>
            </a:endParaRPr>
          </a:p>
        </p:txBody>
      </p:sp>
      <p:sp>
        <p:nvSpPr>
          <p:cNvPr id="369" name="Google Shape;369;p13"/>
          <p:cNvSpPr txBox="1"/>
          <p:nvPr/>
        </p:nvSpPr>
        <p:spPr>
          <a:xfrm>
            <a:off x="1086307" y="1552651"/>
            <a:ext cx="909828"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Montserrat"/>
              <a:buNone/>
            </a:pPr>
            <a:r>
              <a:rPr b="1" i="0" lang="en-US" sz="1600" u="none" cap="none" strike="noStrike">
                <a:solidFill>
                  <a:srgbClr val="1E3A8A"/>
                </a:solidFill>
                <a:latin typeface="Montserrat"/>
                <a:ea typeface="Montserrat"/>
                <a:cs typeface="Montserrat"/>
                <a:sym typeface="Montserrat"/>
              </a:rPr>
              <a:t>Reality</a:t>
            </a:r>
            <a:endParaRPr b="0" i="0" sz="1600" u="none" cap="none" strike="noStrike">
              <a:solidFill>
                <a:schemeClr val="dk1"/>
              </a:solidFill>
              <a:latin typeface="Calibri"/>
              <a:ea typeface="Calibri"/>
              <a:cs typeface="Calibri"/>
              <a:sym typeface="Calibri"/>
            </a:endParaRPr>
          </a:p>
        </p:txBody>
      </p:sp>
      <p:sp>
        <p:nvSpPr>
          <p:cNvPr id="370" name="Google Shape;370;p13"/>
          <p:cNvSpPr txBox="1"/>
          <p:nvPr/>
        </p:nvSpPr>
        <p:spPr>
          <a:xfrm>
            <a:off x="1086307" y="3040380"/>
            <a:ext cx="1414577"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Montserrat"/>
              <a:buNone/>
            </a:pPr>
            <a:r>
              <a:rPr b="1" i="0" lang="en-US" sz="1600" u="none" cap="none" strike="noStrike">
                <a:solidFill>
                  <a:srgbClr val="1E3A8A"/>
                </a:solidFill>
                <a:latin typeface="Montserrat"/>
                <a:ea typeface="Montserrat"/>
                <a:cs typeface="Montserrat"/>
                <a:sym typeface="Montserrat"/>
              </a:rPr>
              <a:t>Implication</a:t>
            </a:r>
            <a:endParaRPr b="0" i="0" sz="1600" u="none" cap="none" strike="noStrike">
              <a:solidFill>
                <a:schemeClr val="dk1"/>
              </a:solidFill>
              <a:latin typeface="Calibri"/>
              <a:ea typeface="Calibri"/>
              <a:cs typeface="Calibri"/>
              <a:sym typeface="Calibri"/>
            </a:endParaRPr>
          </a:p>
        </p:txBody>
      </p:sp>
      <p:sp>
        <p:nvSpPr>
          <p:cNvPr id="371" name="Google Shape;371;p13"/>
          <p:cNvSpPr txBox="1"/>
          <p:nvPr/>
        </p:nvSpPr>
        <p:spPr>
          <a:xfrm>
            <a:off x="914400" y="2029054"/>
            <a:ext cx="9072677" cy="5239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Open Sans"/>
              <a:buNone/>
            </a:pPr>
            <a:r>
              <a:rPr b="0" i="0" lang="en-US" sz="1300" u="none" cap="none" strike="noStrike">
                <a:solidFill>
                  <a:srgbClr val="374151"/>
                </a:solidFill>
                <a:latin typeface="Open Sans"/>
                <a:ea typeface="Open Sans"/>
                <a:cs typeface="Open Sans"/>
                <a:sym typeface="Open Sans"/>
              </a:rPr>
              <a:t>System purchase, not single-product purchase. Our analysis shows 73% of customers make follow-on purchases within 6 months, with lifetime value averaging 3.2× the initial purchase.</a:t>
            </a:r>
            <a:endParaRPr b="0" i="0" sz="1300" u="none" cap="none" strike="noStrike">
              <a:solidFill>
                <a:schemeClr val="dk1"/>
              </a:solidFill>
              <a:latin typeface="Calibri"/>
              <a:ea typeface="Calibri"/>
              <a:cs typeface="Calibri"/>
              <a:sym typeface="Calibri"/>
            </a:endParaRPr>
          </a:p>
        </p:txBody>
      </p:sp>
      <p:sp>
        <p:nvSpPr>
          <p:cNvPr id="372" name="Google Shape;372;p13"/>
          <p:cNvSpPr txBox="1"/>
          <p:nvPr/>
        </p:nvSpPr>
        <p:spPr>
          <a:xfrm>
            <a:off x="914400" y="3516782"/>
            <a:ext cx="8748979" cy="5239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Open Sans"/>
              <a:buNone/>
            </a:pPr>
            <a:r>
              <a:rPr b="0" i="0" lang="en-US" sz="1300" u="none" cap="none" strike="noStrike">
                <a:solidFill>
                  <a:srgbClr val="374151"/>
                </a:solidFill>
                <a:latin typeface="Open Sans"/>
                <a:ea typeface="Open Sans"/>
                <a:cs typeface="Open Sans"/>
                <a:sym typeface="Open Sans"/>
              </a:rPr>
              <a:t>Design for ecosystem compatibility from day one, even if launching with a single SKU. Mechanical interfaces, visual coherence, and expansion paths must be built into initial product architecture.</a:t>
            </a:r>
            <a:endParaRPr b="0" i="0" sz="1300" u="none" cap="none" strike="noStrike">
              <a:solidFill>
                <a:schemeClr val="dk1"/>
              </a:solidFill>
              <a:latin typeface="Calibri"/>
              <a:ea typeface="Calibri"/>
              <a:cs typeface="Calibri"/>
              <a:sym typeface="Calibri"/>
            </a:endParaRPr>
          </a:p>
        </p:txBody>
      </p:sp>
      <p:sp>
        <p:nvSpPr>
          <p:cNvPr id="373" name="Google Shape;373;p13"/>
          <p:cNvSpPr txBox="1"/>
          <p:nvPr/>
        </p:nvSpPr>
        <p:spPr>
          <a:xfrm>
            <a:off x="1086307" y="4528109"/>
            <a:ext cx="1433779"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Montserrat"/>
              <a:buNone/>
            </a:pPr>
            <a:r>
              <a:rPr b="1" i="0" lang="en-US" sz="1600" u="none" cap="none" strike="noStrike">
                <a:solidFill>
                  <a:srgbClr val="1E3A8A"/>
                </a:solidFill>
                <a:latin typeface="Montserrat"/>
                <a:ea typeface="Montserrat"/>
                <a:cs typeface="Montserrat"/>
                <a:sym typeface="Montserrat"/>
              </a:rPr>
              <a:t>Litmus Test</a:t>
            </a:r>
            <a:endParaRPr b="0" i="0" sz="1600" u="none" cap="none" strike="noStrike">
              <a:solidFill>
                <a:schemeClr val="dk1"/>
              </a:solidFill>
              <a:latin typeface="Calibri"/>
              <a:ea typeface="Calibri"/>
              <a:cs typeface="Calibri"/>
              <a:sym typeface="Calibri"/>
            </a:endParaRPr>
          </a:p>
        </p:txBody>
      </p:sp>
      <p:sp>
        <p:nvSpPr>
          <p:cNvPr id="374" name="Google Shape;374;p13"/>
          <p:cNvSpPr txBox="1"/>
          <p:nvPr/>
        </p:nvSpPr>
        <p:spPr>
          <a:xfrm>
            <a:off x="914400" y="5004511"/>
            <a:ext cx="8815730" cy="5239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Open Sans"/>
              <a:buNone/>
            </a:pPr>
            <a:r>
              <a:rPr b="0" i="0" lang="en-US" sz="1300" u="none" cap="none" strike="noStrike">
                <a:solidFill>
                  <a:srgbClr val="374151"/>
                </a:solidFill>
                <a:latin typeface="Open Sans"/>
                <a:ea typeface="Open Sans"/>
                <a:cs typeface="Open Sans"/>
                <a:sym typeface="Open Sans"/>
              </a:rPr>
              <a:t>If a customer buys our hook today and comes back in 6 months wanting shelving—will it work with what they already bought? If no, we haven't designed a platform.</a:t>
            </a:r>
            <a:endParaRPr b="0" i="0" sz="1300" u="none" cap="none" strike="noStrike">
              <a:solidFill>
                <a:schemeClr val="dk1"/>
              </a:solidFill>
              <a:latin typeface="Calibri"/>
              <a:ea typeface="Calibri"/>
              <a:cs typeface="Calibri"/>
              <a:sym typeface="Calibri"/>
            </a:endParaRPr>
          </a:p>
        </p:txBody>
      </p:sp>
      <p:sp>
        <p:nvSpPr>
          <p:cNvPr id="375" name="Google Shape;375;p13"/>
          <p:cNvSpPr/>
          <p:nvPr/>
        </p:nvSpPr>
        <p:spPr>
          <a:xfrm>
            <a:off x="914400" y="5843930"/>
            <a:ext cx="9029700" cy="418795"/>
          </a:xfrm>
          <a:prstGeom prst="roundRect">
            <a:avLst>
              <a:gd fmla="val 19849"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txBox="1"/>
          <p:nvPr/>
        </p:nvSpPr>
        <p:spPr>
          <a:xfrm>
            <a:off x="1300277" y="5953658"/>
            <a:ext cx="48152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Open Sans"/>
              <a:buNone/>
            </a:pPr>
            <a:r>
              <a:rPr b="0" i="1" lang="en-US" sz="1000" u="none" cap="none" strike="noStrike">
                <a:solidFill>
                  <a:srgbClr val="6B7280"/>
                </a:solidFill>
                <a:latin typeface="Open Sans"/>
                <a:ea typeface="Open Sans"/>
                <a:cs typeface="Open Sans"/>
                <a:sym typeface="Open Sans"/>
              </a:rPr>
              <a:t>Source: Longitudinal observation, n=412 creators tracked over 6-18 months.</a:t>
            </a:r>
            <a:endParaRPr b="0" i="0" sz="1000" u="none" cap="none" strike="noStrike">
              <a:solidFill>
                <a:schemeClr val="dk1"/>
              </a:solidFill>
              <a:latin typeface="Calibri"/>
              <a:ea typeface="Calibri"/>
              <a:cs typeface="Calibri"/>
              <a:sym typeface="Calibri"/>
            </a:endParaRPr>
          </a:p>
        </p:txBody>
      </p:sp>
      <p:sp>
        <p:nvSpPr>
          <p:cNvPr id="377" name="Google Shape;377;p13"/>
          <p:cNvSpPr/>
          <p:nvPr/>
        </p:nvSpPr>
        <p:spPr>
          <a:xfrm>
            <a:off x="6088990" y="5939028"/>
            <a:ext cx="638251" cy="228600"/>
          </a:xfrm>
          <a:prstGeom prst="roundRect">
            <a:avLst>
              <a:gd fmla="val 66667"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3"/>
          <p:cNvSpPr txBox="1"/>
          <p:nvPr/>
        </p:nvSpPr>
        <p:spPr>
          <a:xfrm>
            <a:off x="6165799" y="5968289"/>
            <a:ext cx="57150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Open Sans"/>
              <a:buNone/>
            </a:pPr>
            <a:r>
              <a:rPr b="1" i="1" lang="en-US" sz="900" u="none" cap="none" strike="noStrike">
                <a:solidFill>
                  <a:srgbClr val="FFFFFF"/>
                </a:solidFill>
                <a:latin typeface="Open Sans"/>
                <a:ea typeface="Open Sans"/>
                <a:cs typeface="Open Sans"/>
                <a:sym typeface="Open Sans"/>
              </a:rPr>
              <a:t>MEDIUM</a:t>
            </a:r>
            <a:endParaRPr b="0" i="0" sz="900" u="none" cap="none" strike="noStrike">
              <a:solidFill>
                <a:schemeClr val="dk1"/>
              </a:solidFill>
              <a:latin typeface="Calibri"/>
              <a:ea typeface="Calibri"/>
              <a:cs typeface="Calibri"/>
              <a:sym typeface="Calibri"/>
            </a:endParaRPr>
          </a:p>
        </p:txBody>
      </p:sp>
      <p:sp>
        <p:nvSpPr>
          <p:cNvPr id="379" name="Google Shape;379;p13"/>
          <p:cNvSpPr/>
          <p:nvPr/>
        </p:nvSpPr>
        <p:spPr>
          <a:xfrm>
            <a:off x="0" y="6568135"/>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txBox="1"/>
          <p:nvPr/>
        </p:nvSpPr>
        <p:spPr>
          <a:xfrm>
            <a:off x="609905" y="6891833"/>
            <a:ext cx="280537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Open Sans"/>
              <a:buNone/>
            </a:pPr>
            <a:r>
              <a:rPr b="0" i="0" lang="en-US" sz="1000" u="none" cap="none" strike="noStrike">
                <a:solidFill>
                  <a:srgbClr val="6B7280"/>
                </a:solidFill>
                <a:latin typeface="Open Sans"/>
                <a:ea typeface="Open Sans"/>
                <a:cs typeface="Open Sans"/>
                <a:sym typeface="Open Sans"/>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381" name="Google Shape;381;p13"/>
          <p:cNvSpPr txBox="1"/>
          <p:nvPr/>
        </p:nvSpPr>
        <p:spPr>
          <a:xfrm>
            <a:off x="11430000" y="6891833"/>
            <a:ext cx="26243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Open Sans"/>
              <a:buNone/>
            </a:pPr>
            <a:r>
              <a:rPr b="0" i="0" lang="en-US" sz="1000" u="none" cap="none" strike="noStrike">
                <a:solidFill>
                  <a:srgbClr val="6B7280"/>
                </a:solidFill>
                <a:latin typeface="Open Sans"/>
                <a:ea typeface="Open Sans"/>
                <a:cs typeface="Open Sans"/>
                <a:sym typeface="Open Sans"/>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4"/>
          <p:cNvSpPr/>
          <p:nvPr/>
        </p:nvSpPr>
        <p:spPr>
          <a:xfrm>
            <a:off x="0" y="0"/>
            <a:ext cx="12191695" cy="86959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0" y="0"/>
            <a:ext cx="12191695" cy="86959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10134295" y="-685800"/>
            <a:ext cx="2743200" cy="2743200"/>
          </a:xfrm>
          <a:prstGeom prst="roundRect">
            <a:avLst>
              <a:gd fmla="val 3333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533095" y="7090258"/>
            <a:ext cx="2133295" cy="2133295"/>
          </a:xfrm>
          <a:prstGeom prst="roundRect">
            <a:avLst>
              <a:gd fmla="val 4286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609905" y="514807"/>
            <a:ext cx="685800" cy="685800"/>
          </a:xfrm>
          <a:prstGeom prst="roundRect">
            <a:avLst>
              <a:gd fmla="val 22222" name="adj"/>
            </a:avLst>
          </a:prstGeom>
          <a:solidFill>
            <a:srgbClr val="16A085"/>
          </a:solidFill>
          <a:ln>
            <a:noFill/>
          </a:ln>
          <a:effectLst>
            <a:outerShdw blurRad="101600" rotWithShape="0" algn="bl" dir="5400000" dist="38100">
              <a:srgbClr val="16A085">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txBox="1"/>
          <p:nvPr/>
        </p:nvSpPr>
        <p:spPr>
          <a:xfrm>
            <a:off x="855878" y="614477"/>
            <a:ext cx="443484"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Montserrat"/>
              <a:buNone/>
            </a:pPr>
            <a:r>
              <a:rPr b="1" i="0" lang="en-US" sz="2500" u="none" cap="none" strike="noStrike">
                <a:solidFill>
                  <a:srgbClr val="FFFFFF"/>
                </a:solidFill>
                <a:latin typeface="Montserrat"/>
                <a:ea typeface="Montserrat"/>
                <a:cs typeface="Montserrat"/>
                <a:sym typeface="Montserrat"/>
              </a:rPr>
              <a:t>5</a:t>
            </a:r>
            <a:endParaRPr b="0" i="0" sz="2500" u="none" cap="none" strike="noStrike">
              <a:solidFill>
                <a:schemeClr val="dk1"/>
              </a:solidFill>
              <a:latin typeface="Calibri"/>
              <a:ea typeface="Calibri"/>
              <a:cs typeface="Calibri"/>
              <a:sym typeface="Calibri"/>
            </a:endParaRPr>
          </a:p>
        </p:txBody>
      </p:sp>
      <p:sp>
        <p:nvSpPr>
          <p:cNvPr id="393" name="Google Shape;393;p14"/>
          <p:cNvSpPr/>
          <p:nvPr/>
        </p:nvSpPr>
        <p:spPr>
          <a:xfrm>
            <a:off x="15243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txBox="1"/>
          <p:nvPr/>
        </p:nvSpPr>
        <p:spPr>
          <a:xfrm>
            <a:off x="1524305" y="685800"/>
            <a:ext cx="756300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300" u="none" cap="none" strike="noStrike">
                <a:solidFill>
                  <a:srgbClr val="111827"/>
                </a:solidFill>
                <a:latin typeface="Montserrat"/>
                <a:ea typeface="Montserrat"/>
                <a:cs typeface="Montserrat"/>
                <a:sym typeface="Montserrat"/>
              </a:rPr>
              <a:t>Boulder #5: Customer Segments Are Bifurcated</a:t>
            </a:r>
            <a:endParaRPr b="0" i="0" sz="2300" u="none" cap="none" strike="noStrike">
              <a:solidFill>
                <a:schemeClr val="dk1"/>
              </a:solidFill>
              <a:latin typeface="Calibri"/>
              <a:ea typeface="Calibri"/>
              <a:cs typeface="Calibri"/>
              <a:sym typeface="Calibri"/>
            </a:endParaRPr>
          </a:p>
        </p:txBody>
      </p:sp>
      <p:sp>
        <p:nvSpPr>
          <p:cNvPr id="395" name="Google Shape;395;p14"/>
          <p:cNvSpPr/>
          <p:nvPr/>
        </p:nvSpPr>
        <p:spPr>
          <a:xfrm>
            <a:off x="609905" y="1485900"/>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p:nvPr/>
        </p:nvSpPr>
        <p:spPr>
          <a:xfrm>
            <a:off x="609905" y="6143854"/>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txBox="1"/>
          <p:nvPr/>
        </p:nvSpPr>
        <p:spPr>
          <a:xfrm>
            <a:off x="990295" y="1714500"/>
            <a:ext cx="78181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Reality</a:t>
            </a:r>
            <a:endParaRPr b="0" i="0" sz="1500" u="none" cap="none" strike="noStrike">
              <a:solidFill>
                <a:schemeClr val="dk1"/>
              </a:solidFill>
              <a:latin typeface="Calibri"/>
              <a:ea typeface="Calibri"/>
              <a:cs typeface="Calibri"/>
              <a:sym typeface="Calibri"/>
            </a:endParaRPr>
          </a:p>
        </p:txBody>
      </p:sp>
      <p:sp>
        <p:nvSpPr>
          <p:cNvPr id="398" name="Google Shape;398;p14"/>
          <p:cNvSpPr txBox="1"/>
          <p:nvPr/>
        </p:nvSpPr>
        <p:spPr>
          <a:xfrm>
            <a:off x="838505" y="2143354"/>
            <a:ext cx="1052291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Premium and Mass are different problems, not a pricing continuum. Premium customers ($50-200) seek quality-driven investment while Mass customers ($5-30) want quick, cheap fixes. These segments have fundamentally different jobs-to-be-done.</a:t>
            </a:r>
            <a:endParaRPr b="0" i="0" sz="1200" u="none" cap="none" strike="noStrike">
              <a:solidFill>
                <a:schemeClr val="dk1"/>
              </a:solidFill>
              <a:latin typeface="Calibri"/>
              <a:ea typeface="Calibri"/>
              <a:cs typeface="Calibri"/>
              <a:sym typeface="Calibri"/>
            </a:endParaRPr>
          </a:p>
        </p:txBody>
      </p:sp>
      <p:sp>
        <p:nvSpPr>
          <p:cNvPr id="399" name="Google Shape;399;p14"/>
          <p:cNvSpPr/>
          <p:nvPr/>
        </p:nvSpPr>
        <p:spPr>
          <a:xfrm>
            <a:off x="609905" y="3242462"/>
            <a:ext cx="10972800" cy="1152144"/>
          </a:xfrm>
          <a:prstGeom prst="roundRect">
            <a:avLst>
              <a:gd fmla="val 5247" name="adj"/>
            </a:avLst>
          </a:prstGeom>
          <a:solidFill>
            <a:srgbClr val="FEF3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p:nvPr/>
        </p:nvSpPr>
        <p:spPr>
          <a:xfrm>
            <a:off x="609905" y="3242462"/>
            <a:ext cx="38405" cy="1152144"/>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1" name="Google Shape;401;p14"/>
          <p:cNvPicPr preferRelativeResize="0"/>
          <p:nvPr/>
        </p:nvPicPr>
        <p:blipFill rotWithShape="1">
          <a:blip r:embed="rId3">
            <a:alphaModFix/>
          </a:blip>
          <a:srcRect b="0" l="0" r="0" t="0"/>
          <a:stretch/>
        </p:blipFill>
        <p:spPr>
          <a:xfrm>
            <a:off x="875995" y="3428086"/>
            <a:ext cx="190195" cy="190195"/>
          </a:xfrm>
          <a:prstGeom prst="rect">
            <a:avLst/>
          </a:prstGeom>
          <a:noFill/>
          <a:ln>
            <a:noFill/>
          </a:ln>
        </p:spPr>
      </p:pic>
      <p:sp>
        <p:nvSpPr>
          <p:cNvPr id="402" name="Google Shape;402;p14"/>
          <p:cNvSpPr/>
          <p:nvPr/>
        </p:nvSpPr>
        <p:spPr>
          <a:xfrm>
            <a:off x="609905" y="4577486"/>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
          <p:cNvSpPr txBox="1"/>
          <p:nvPr/>
        </p:nvSpPr>
        <p:spPr>
          <a:xfrm>
            <a:off x="990295" y="4806086"/>
            <a:ext cx="1162202"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Implication</a:t>
            </a:r>
            <a:endParaRPr b="0" i="0" sz="1500" u="none" cap="none" strike="noStrike">
              <a:solidFill>
                <a:schemeClr val="dk1"/>
              </a:solidFill>
              <a:latin typeface="Calibri"/>
              <a:ea typeface="Calibri"/>
              <a:cs typeface="Calibri"/>
              <a:sym typeface="Calibri"/>
            </a:endParaRPr>
          </a:p>
        </p:txBody>
      </p:sp>
      <p:sp>
        <p:nvSpPr>
          <p:cNvPr id="404" name="Google Shape;404;p14"/>
          <p:cNvSpPr txBox="1"/>
          <p:nvPr/>
        </p:nvSpPr>
        <p:spPr>
          <a:xfrm>
            <a:off x="990295" y="6372454"/>
            <a:ext cx="120975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Litmus Test</a:t>
            </a:r>
            <a:endParaRPr b="0" i="0" sz="1500" u="none" cap="none" strike="noStrike">
              <a:solidFill>
                <a:schemeClr val="dk1"/>
              </a:solidFill>
              <a:latin typeface="Calibri"/>
              <a:ea typeface="Calibri"/>
              <a:cs typeface="Calibri"/>
              <a:sym typeface="Calibri"/>
            </a:endParaRPr>
          </a:p>
        </p:txBody>
      </p:sp>
      <p:sp>
        <p:nvSpPr>
          <p:cNvPr id="405" name="Google Shape;405;p14"/>
          <p:cNvSpPr txBox="1"/>
          <p:nvPr/>
        </p:nvSpPr>
        <p:spPr>
          <a:xfrm>
            <a:off x="838505" y="5234940"/>
            <a:ext cx="1055217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Choose your segment; don't try to serve both. Either commit to premium investment or mass commodity positioning. House brands exist at each retailer precisely because each segment requires different design, materials, messaging, and value equation.</a:t>
            </a:r>
            <a:endParaRPr b="0" i="0" sz="1200" u="none" cap="none" strike="noStrike">
              <a:solidFill>
                <a:schemeClr val="dk1"/>
              </a:solidFill>
              <a:latin typeface="Calibri"/>
              <a:ea typeface="Calibri"/>
              <a:cs typeface="Calibri"/>
              <a:sym typeface="Calibri"/>
            </a:endParaRPr>
          </a:p>
        </p:txBody>
      </p:sp>
      <p:sp>
        <p:nvSpPr>
          <p:cNvPr id="406" name="Google Shape;406;p14"/>
          <p:cNvSpPr txBox="1"/>
          <p:nvPr/>
        </p:nvSpPr>
        <p:spPr>
          <a:xfrm>
            <a:off x="838505" y="6801307"/>
            <a:ext cx="1041867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Can we explain our value proposition in one sentence to both a bargain shopper at Walmart AND a quality-seeker at Home Depot - and have both immediately understand why it's for them? If yes, we're confused. Pick one.</a:t>
            </a:r>
            <a:endParaRPr b="0" i="0" sz="1200" u="none" cap="none" strike="noStrike">
              <a:solidFill>
                <a:schemeClr val="dk1"/>
              </a:solidFill>
              <a:latin typeface="Calibri"/>
              <a:ea typeface="Calibri"/>
              <a:cs typeface="Calibri"/>
              <a:sym typeface="Calibri"/>
            </a:endParaRPr>
          </a:p>
        </p:txBody>
      </p:sp>
      <p:sp>
        <p:nvSpPr>
          <p:cNvPr id="407" name="Google Shape;407;p14"/>
          <p:cNvSpPr txBox="1"/>
          <p:nvPr/>
        </p:nvSpPr>
        <p:spPr>
          <a:xfrm>
            <a:off x="1181405" y="3423514"/>
            <a:ext cx="21479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300"/>
              <a:buFont typeface="Inter"/>
              <a:buNone/>
            </a:pPr>
            <a:r>
              <a:rPr b="1" i="0" lang="en-US" sz="1300" u="none" cap="none" strike="noStrike">
                <a:solidFill>
                  <a:srgbClr val="92400E"/>
                </a:solidFill>
                <a:latin typeface="Inter"/>
                <a:ea typeface="Inter"/>
                <a:cs typeface="Inter"/>
                <a:sym typeface="Inter"/>
              </a:rPr>
              <a:t>The Middle Ground Trap</a:t>
            </a:r>
            <a:endParaRPr b="0" i="0" sz="1300" u="none" cap="none" strike="noStrike">
              <a:solidFill>
                <a:schemeClr val="dk1"/>
              </a:solidFill>
              <a:latin typeface="Calibri"/>
              <a:ea typeface="Calibri"/>
              <a:cs typeface="Calibri"/>
              <a:sym typeface="Calibri"/>
            </a:endParaRPr>
          </a:p>
        </p:txBody>
      </p:sp>
      <p:sp>
        <p:nvSpPr>
          <p:cNvPr id="408" name="Google Shape;408;p14"/>
          <p:cNvSpPr txBox="1"/>
          <p:nvPr/>
        </p:nvSpPr>
        <p:spPr>
          <a:xfrm>
            <a:off x="875995" y="3766414"/>
            <a:ext cx="10116007"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8350F"/>
              </a:buClr>
              <a:buSzPts val="1200"/>
              <a:buFont typeface="Inter"/>
              <a:buNone/>
            </a:pPr>
            <a:r>
              <a:rPr b="0" i="0" lang="en-US" sz="1200" u="none" cap="none" strike="noStrike">
                <a:solidFill>
                  <a:srgbClr val="78350F"/>
                </a:solidFill>
                <a:latin typeface="Inter"/>
                <a:ea typeface="Inter"/>
                <a:cs typeface="Inter"/>
                <a:sym typeface="Inter"/>
              </a:rPr>
              <a:t>The $30-50 middle ground confuses both segments: too expensive for mass buyers ("Why not just buy the $8 version?") yet too cheap for premium buyers ("If it's only $35, how good can it be?").</a:t>
            </a:r>
            <a:endParaRPr b="0" i="0" sz="1200" u="none" cap="none" strike="noStrike">
              <a:solidFill>
                <a:schemeClr val="dk1"/>
              </a:solidFill>
              <a:latin typeface="Calibri"/>
              <a:ea typeface="Calibri"/>
              <a:cs typeface="Calibri"/>
              <a:sym typeface="Calibri"/>
            </a:endParaRPr>
          </a:p>
        </p:txBody>
      </p:sp>
      <p:sp>
        <p:nvSpPr>
          <p:cNvPr id="409" name="Google Shape;409;p14"/>
          <p:cNvSpPr txBox="1"/>
          <p:nvPr/>
        </p:nvSpPr>
        <p:spPr>
          <a:xfrm>
            <a:off x="609905" y="7842809"/>
            <a:ext cx="76827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Market-weighted channel analysis. Premium (HD/Lowe's) ~65% revenue, Mass (Walmart/Target) ~35% revenue</a:t>
            </a:r>
            <a:endParaRPr b="0" i="0" sz="1000" u="none" cap="none" strike="noStrike">
              <a:solidFill>
                <a:schemeClr val="dk1"/>
              </a:solidFill>
              <a:latin typeface="Calibri"/>
              <a:ea typeface="Calibri"/>
              <a:cs typeface="Calibri"/>
              <a:sym typeface="Calibri"/>
            </a:endParaRPr>
          </a:p>
        </p:txBody>
      </p:sp>
      <p:sp>
        <p:nvSpPr>
          <p:cNvPr id="410" name="Google Shape;410;p14"/>
          <p:cNvSpPr/>
          <p:nvPr/>
        </p:nvSpPr>
        <p:spPr>
          <a:xfrm>
            <a:off x="0" y="8023860"/>
            <a:ext cx="12191695" cy="9144"/>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4"/>
          <p:cNvSpPr txBox="1"/>
          <p:nvPr/>
        </p:nvSpPr>
        <p:spPr>
          <a:xfrm>
            <a:off x="609905" y="8280806"/>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412" name="Google Shape;412;p14"/>
          <p:cNvSpPr txBox="1"/>
          <p:nvPr/>
        </p:nvSpPr>
        <p:spPr>
          <a:xfrm>
            <a:off x="11473891" y="8280806"/>
            <a:ext cx="2148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txBox="1"/>
          <p:nvPr/>
        </p:nvSpPr>
        <p:spPr>
          <a:xfrm>
            <a:off x="533095" y="780898"/>
            <a:ext cx="7363663"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600" u="none" cap="none" strike="noStrike">
                <a:solidFill>
                  <a:srgbClr val="111827"/>
                </a:solidFill>
                <a:latin typeface="Inter"/>
                <a:ea typeface="Inter"/>
                <a:cs typeface="Inter"/>
                <a:sym typeface="Inter"/>
              </a:rPr>
              <a:t>Strategic Implications Across the 5 Boulders</a:t>
            </a:r>
            <a:endParaRPr b="0" i="0" sz="2600" u="none" cap="none" strike="noStrike">
              <a:solidFill>
                <a:schemeClr val="dk1"/>
              </a:solidFill>
              <a:latin typeface="Calibri"/>
              <a:ea typeface="Calibri"/>
              <a:cs typeface="Calibri"/>
              <a:sym typeface="Calibri"/>
            </a:endParaRPr>
          </a:p>
        </p:txBody>
      </p:sp>
      <p:sp>
        <p:nvSpPr>
          <p:cNvPr id="422" name="Google Shape;422;p15"/>
          <p:cNvSpPr txBox="1"/>
          <p:nvPr/>
        </p:nvSpPr>
        <p:spPr>
          <a:xfrm>
            <a:off x="990295" y="1638605"/>
            <a:ext cx="2419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CHANNEL &amp; INSTALLATION STRATEGY</a:t>
            </a:r>
            <a:endParaRPr b="0" i="0" sz="900" u="none" cap="none" strike="noStrike">
              <a:solidFill>
                <a:schemeClr val="dk1"/>
              </a:solidFill>
              <a:latin typeface="Calibri"/>
              <a:ea typeface="Calibri"/>
              <a:cs typeface="Calibri"/>
              <a:sym typeface="Calibri"/>
            </a:endParaRPr>
          </a:p>
        </p:txBody>
      </p:sp>
      <p:sp>
        <p:nvSpPr>
          <p:cNvPr id="423" name="Google Shape;423;p15"/>
          <p:cNvSpPr/>
          <p:nvPr/>
        </p:nvSpPr>
        <p:spPr>
          <a:xfrm>
            <a:off x="552298" y="1876349"/>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txBox="1"/>
          <p:nvPr/>
        </p:nvSpPr>
        <p:spPr>
          <a:xfrm>
            <a:off x="632765" y="1928470"/>
            <a:ext cx="25328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B1</a:t>
            </a:r>
            <a:endParaRPr b="0" i="0" sz="1000" u="none" cap="none" strike="noStrike">
              <a:solidFill>
                <a:schemeClr val="dk1"/>
              </a:solidFill>
              <a:latin typeface="Calibri"/>
              <a:ea typeface="Calibri"/>
              <a:cs typeface="Calibri"/>
              <a:sym typeface="Calibri"/>
            </a:endParaRPr>
          </a:p>
        </p:txBody>
      </p:sp>
      <p:sp>
        <p:nvSpPr>
          <p:cNvPr id="425" name="Google Shape;425;p15"/>
          <p:cNvSpPr/>
          <p:nvPr/>
        </p:nvSpPr>
        <p:spPr>
          <a:xfrm>
            <a:off x="752551" y="2029054"/>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txBox="1"/>
          <p:nvPr/>
        </p:nvSpPr>
        <p:spPr>
          <a:xfrm>
            <a:off x="9902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27" name="Google Shape;427;p15"/>
          <p:cNvSpPr txBox="1"/>
          <p:nvPr/>
        </p:nvSpPr>
        <p:spPr>
          <a:xfrm>
            <a:off x="1204265" y="1904695"/>
            <a:ext cx="463417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Channel choice constrains everything: Picking premium (HD/Lowe's) or mass (Walmart/Target) determines pricing, materials, and retail partnerships</a:t>
            </a:r>
            <a:endParaRPr b="0" i="0" sz="1300" u="none" cap="none" strike="noStrike">
              <a:solidFill>
                <a:schemeClr val="dk1"/>
              </a:solidFill>
              <a:latin typeface="Calibri"/>
              <a:ea typeface="Calibri"/>
              <a:cs typeface="Calibri"/>
              <a:sym typeface="Calibri"/>
            </a:endParaRPr>
          </a:p>
        </p:txBody>
      </p:sp>
      <p:sp>
        <p:nvSpPr>
          <p:cNvPr id="428" name="Google Shape;428;p15"/>
          <p:cNvSpPr/>
          <p:nvPr/>
        </p:nvSpPr>
        <p:spPr>
          <a:xfrm>
            <a:off x="552298" y="3003804"/>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txBox="1"/>
          <p:nvPr/>
        </p:nvSpPr>
        <p:spPr>
          <a:xfrm>
            <a:off x="619049" y="3056839"/>
            <a:ext cx="2715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B2</a:t>
            </a:r>
            <a:endParaRPr b="0" i="0" sz="1000" u="none" cap="none" strike="noStrike">
              <a:solidFill>
                <a:schemeClr val="dk1"/>
              </a:solidFill>
              <a:latin typeface="Calibri"/>
              <a:ea typeface="Calibri"/>
              <a:cs typeface="Calibri"/>
              <a:sym typeface="Calibri"/>
            </a:endParaRPr>
          </a:p>
        </p:txBody>
      </p:sp>
      <p:sp>
        <p:nvSpPr>
          <p:cNvPr id="430" name="Google Shape;430;p15"/>
          <p:cNvSpPr/>
          <p:nvPr/>
        </p:nvSpPr>
        <p:spPr>
          <a:xfrm>
            <a:off x="752551" y="3156509"/>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txBox="1"/>
          <p:nvPr/>
        </p:nvSpPr>
        <p:spPr>
          <a:xfrm>
            <a:off x="9902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32" name="Google Shape;432;p15"/>
          <p:cNvSpPr txBox="1"/>
          <p:nvPr/>
        </p:nvSpPr>
        <p:spPr>
          <a:xfrm>
            <a:off x="1204265" y="3033065"/>
            <a:ext cx="4529938"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Installation UX must be hero: Features are subordinate to ease; 64% cite installation difficulty as primary barrier</a:t>
            </a:r>
            <a:endParaRPr b="0" i="0" sz="1300" u="none" cap="none" strike="noStrike">
              <a:solidFill>
                <a:schemeClr val="dk1"/>
              </a:solidFill>
              <a:latin typeface="Calibri"/>
              <a:ea typeface="Calibri"/>
              <a:cs typeface="Calibri"/>
              <a:sym typeface="Calibri"/>
            </a:endParaRPr>
          </a:p>
        </p:txBody>
      </p:sp>
      <p:sp>
        <p:nvSpPr>
          <p:cNvPr id="433" name="Google Shape;433;p15"/>
          <p:cNvSpPr/>
          <p:nvPr/>
        </p:nvSpPr>
        <p:spPr>
          <a:xfrm>
            <a:off x="552298" y="4132174"/>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txBox="1"/>
          <p:nvPr/>
        </p:nvSpPr>
        <p:spPr>
          <a:xfrm>
            <a:off x="618134" y="4184294"/>
            <a:ext cx="281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B3</a:t>
            </a:r>
            <a:endParaRPr b="0" i="0" sz="1000" u="none" cap="none" strike="noStrike">
              <a:solidFill>
                <a:schemeClr val="dk1"/>
              </a:solidFill>
              <a:latin typeface="Calibri"/>
              <a:ea typeface="Calibri"/>
              <a:cs typeface="Calibri"/>
              <a:sym typeface="Calibri"/>
            </a:endParaRPr>
          </a:p>
        </p:txBody>
      </p:sp>
      <p:sp>
        <p:nvSpPr>
          <p:cNvPr id="435" name="Google Shape;435;p15"/>
          <p:cNvSpPr/>
          <p:nvPr/>
        </p:nvSpPr>
        <p:spPr>
          <a:xfrm>
            <a:off x="752551" y="4283964"/>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5"/>
          <p:cNvSpPr txBox="1"/>
          <p:nvPr/>
        </p:nvSpPr>
        <p:spPr>
          <a:xfrm>
            <a:off x="990295" y="420806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37" name="Google Shape;437;p15"/>
          <p:cNvSpPr txBox="1"/>
          <p:nvPr/>
        </p:nvSpPr>
        <p:spPr>
          <a:xfrm>
            <a:off x="1204265" y="4160520"/>
            <a:ext cx="4529938"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Build trust via proof systems: In-store demonstrations, extended warranties, transparent testing — not just marketing claims</a:t>
            </a:r>
            <a:endParaRPr b="0" i="0" sz="1300" u="none" cap="none" strike="noStrike">
              <a:solidFill>
                <a:schemeClr val="dk1"/>
              </a:solidFill>
              <a:latin typeface="Calibri"/>
              <a:ea typeface="Calibri"/>
              <a:cs typeface="Calibri"/>
              <a:sym typeface="Calibri"/>
            </a:endParaRPr>
          </a:p>
        </p:txBody>
      </p:sp>
      <p:sp>
        <p:nvSpPr>
          <p:cNvPr id="438" name="Google Shape;438;p15"/>
          <p:cNvSpPr txBox="1"/>
          <p:nvPr/>
        </p:nvSpPr>
        <p:spPr>
          <a:xfrm>
            <a:off x="6476695" y="1638605"/>
            <a:ext cx="17245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PLATFORM &amp; POSITIONING</a:t>
            </a:r>
            <a:endParaRPr b="0" i="0" sz="900" u="none" cap="none" strike="noStrike">
              <a:solidFill>
                <a:schemeClr val="dk1"/>
              </a:solidFill>
              <a:latin typeface="Calibri"/>
              <a:ea typeface="Calibri"/>
              <a:cs typeface="Calibri"/>
              <a:sym typeface="Calibri"/>
            </a:endParaRPr>
          </a:p>
        </p:txBody>
      </p:sp>
      <p:sp>
        <p:nvSpPr>
          <p:cNvPr id="439" name="Google Shape;439;p15"/>
          <p:cNvSpPr/>
          <p:nvPr/>
        </p:nvSpPr>
        <p:spPr>
          <a:xfrm>
            <a:off x="6038698" y="1876349"/>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5"/>
          <p:cNvSpPr txBox="1"/>
          <p:nvPr/>
        </p:nvSpPr>
        <p:spPr>
          <a:xfrm>
            <a:off x="6102706" y="1928470"/>
            <a:ext cx="281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B4</a:t>
            </a:r>
            <a:endParaRPr b="0" i="0" sz="1000" u="none" cap="none" strike="noStrike">
              <a:solidFill>
                <a:schemeClr val="dk1"/>
              </a:solidFill>
              <a:latin typeface="Calibri"/>
              <a:ea typeface="Calibri"/>
              <a:cs typeface="Calibri"/>
              <a:sym typeface="Calibri"/>
            </a:endParaRPr>
          </a:p>
        </p:txBody>
      </p:sp>
      <p:sp>
        <p:nvSpPr>
          <p:cNvPr id="441" name="Google Shape;441;p15"/>
          <p:cNvSpPr/>
          <p:nvPr/>
        </p:nvSpPr>
        <p:spPr>
          <a:xfrm>
            <a:off x="6238951" y="2029054"/>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5"/>
          <p:cNvSpPr txBox="1"/>
          <p:nvPr/>
        </p:nvSpPr>
        <p:spPr>
          <a:xfrm>
            <a:off x="64766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43" name="Google Shape;443;p15"/>
          <p:cNvSpPr txBox="1"/>
          <p:nvPr/>
        </p:nvSpPr>
        <p:spPr>
          <a:xfrm>
            <a:off x="6690665" y="1904695"/>
            <a:ext cx="4605833"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Architect a modular ecosystem: Design for 73% follow-on purchase rate to capture 3.2x LTV; ensure mechanical and visual compatibility from day one</a:t>
            </a:r>
            <a:endParaRPr b="0" i="0" sz="1300" u="none" cap="none" strike="noStrike">
              <a:solidFill>
                <a:schemeClr val="dk1"/>
              </a:solidFill>
              <a:latin typeface="Calibri"/>
              <a:ea typeface="Calibri"/>
              <a:cs typeface="Calibri"/>
              <a:sym typeface="Calibri"/>
            </a:endParaRPr>
          </a:p>
        </p:txBody>
      </p:sp>
      <p:sp>
        <p:nvSpPr>
          <p:cNvPr id="444" name="Google Shape;444;p15"/>
          <p:cNvSpPr/>
          <p:nvPr/>
        </p:nvSpPr>
        <p:spPr>
          <a:xfrm>
            <a:off x="6038698" y="3003804"/>
            <a:ext cx="304495" cy="304495"/>
          </a:xfrm>
          <a:prstGeom prst="ellipse">
            <a:avLst/>
          </a:prstGeom>
          <a:solidFill>
            <a:srgbClr val="1E3A8A"/>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txBox="1"/>
          <p:nvPr/>
        </p:nvSpPr>
        <p:spPr>
          <a:xfrm>
            <a:off x="6106363" y="3056839"/>
            <a:ext cx="2715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B5</a:t>
            </a:r>
            <a:endParaRPr b="0" i="0" sz="1000" u="none" cap="none" strike="noStrike">
              <a:solidFill>
                <a:schemeClr val="dk1"/>
              </a:solidFill>
              <a:latin typeface="Calibri"/>
              <a:ea typeface="Calibri"/>
              <a:cs typeface="Calibri"/>
              <a:sym typeface="Calibri"/>
            </a:endParaRPr>
          </a:p>
        </p:txBody>
      </p:sp>
      <p:sp>
        <p:nvSpPr>
          <p:cNvPr id="446" name="Google Shape;446;p15"/>
          <p:cNvSpPr/>
          <p:nvPr/>
        </p:nvSpPr>
        <p:spPr>
          <a:xfrm>
            <a:off x="6238951" y="3156509"/>
            <a:ext cx="237744"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5"/>
          <p:cNvSpPr txBox="1"/>
          <p:nvPr/>
        </p:nvSpPr>
        <p:spPr>
          <a:xfrm>
            <a:off x="64766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448" name="Google Shape;448;p15"/>
          <p:cNvSpPr txBox="1"/>
          <p:nvPr/>
        </p:nvSpPr>
        <p:spPr>
          <a:xfrm>
            <a:off x="6690665" y="3033065"/>
            <a:ext cx="459668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Pick a side (premium or mass): Align brand positioning, quality standards, and go-to-market strategy; the $30-50 middle ground confuses both segments</a:t>
            </a:r>
            <a:endParaRPr b="0" i="0" sz="1300" u="none" cap="none" strike="noStrike">
              <a:solidFill>
                <a:schemeClr val="dk1"/>
              </a:solidFill>
              <a:latin typeface="Calibri"/>
              <a:ea typeface="Calibri"/>
              <a:cs typeface="Calibri"/>
              <a:sym typeface="Calibri"/>
            </a:endParaRPr>
          </a:p>
        </p:txBody>
      </p:sp>
      <p:sp>
        <p:nvSpPr>
          <p:cNvPr id="449" name="Google Shape;449;p15"/>
          <p:cNvSpPr/>
          <p:nvPr/>
        </p:nvSpPr>
        <p:spPr>
          <a:xfrm>
            <a:off x="6476695" y="4132174"/>
            <a:ext cx="4800600" cy="1447495"/>
          </a:xfrm>
          <a:prstGeom prst="roundRect">
            <a:avLst>
              <a:gd fmla="val 2494"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5"/>
          <p:cNvSpPr/>
          <p:nvPr/>
        </p:nvSpPr>
        <p:spPr>
          <a:xfrm>
            <a:off x="6476695" y="4132174"/>
            <a:ext cx="47549" cy="14474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5"/>
          <p:cNvSpPr txBox="1"/>
          <p:nvPr/>
        </p:nvSpPr>
        <p:spPr>
          <a:xfrm>
            <a:off x="6752844" y="4350715"/>
            <a:ext cx="4291279" cy="10003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These constraints are immutable — innovation must design around them, not ignore them. Product features alone cannot overcome structural category barriers.</a:t>
            </a:r>
            <a:endParaRPr b="0" i="0" sz="1300" u="none" cap="none" strike="noStrike">
              <a:solidFill>
                <a:schemeClr val="dk1"/>
              </a:solidFill>
              <a:latin typeface="Calibri"/>
              <a:ea typeface="Calibri"/>
              <a:cs typeface="Calibri"/>
              <a:sym typeface="Calibri"/>
            </a:endParaRPr>
          </a:p>
        </p:txBody>
      </p:sp>
      <p:sp>
        <p:nvSpPr>
          <p:cNvPr id="452" name="Google Shape;452;p15"/>
          <p:cNvSpPr txBox="1"/>
          <p:nvPr/>
        </p:nvSpPr>
        <p:spPr>
          <a:xfrm>
            <a:off x="533095" y="6038698"/>
            <a:ext cx="507492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Analysis of 5 Big Boulders framework, see slides 5-11 for detailed constraints</a:t>
            </a:r>
            <a:endParaRPr b="0" i="0" sz="900" u="none" cap="none" strike="noStrike">
              <a:solidFill>
                <a:schemeClr val="dk1"/>
              </a:solidFill>
              <a:latin typeface="Calibri"/>
              <a:ea typeface="Calibri"/>
              <a:cs typeface="Calibri"/>
              <a:sym typeface="Calibri"/>
            </a:endParaRPr>
          </a:p>
        </p:txBody>
      </p:sp>
      <p:sp>
        <p:nvSpPr>
          <p:cNvPr id="453" name="Google Shape;453;p15"/>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454" name="Google Shape;454;p15"/>
          <p:cNvSpPr txBox="1"/>
          <p:nvPr/>
        </p:nvSpPr>
        <p:spPr>
          <a:xfrm>
            <a:off x="11532413" y="6452921"/>
            <a:ext cx="2267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6"/>
          <p:cNvSpPr/>
          <p:nvPr/>
        </p:nvSpPr>
        <p:spPr>
          <a:xfrm>
            <a:off x="0" y="0"/>
            <a:ext cx="12191695" cy="8534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a:off x="0" y="0"/>
            <a:ext cx="12191695" cy="8534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txBox="1"/>
          <p:nvPr/>
        </p:nvSpPr>
        <p:spPr>
          <a:xfrm>
            <a:off x="533095" y="780898"/>
            <a:ext cx="578175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Decision Framework: Litmus Tests</a:t>
            </a:r>
            <a:endParaRPr b="0" i="0" sz="2700" u="none" cap="none" strike="noStrike">
              <a:solidFill>
                <a:schemeClr val="dk1"/>
              </a:solidFill>
              <a:latin typeface="Calibri"/>
              <a:ea typeface="Calibri"/>
              <a:cs typeface="Calibri"/>
              <a:sym typeface="Calibri"/>
            </a:endParaRPr>
          </a:p>
        </p:txBody>
      </p:sp>
      <p:sp>
        <p:nvSpPr>
          <p:cNvPr id="464" name="Google Shape;464;p16"/>
          <p:cNvSpPr txBox="1"/>
          <p:nvPr/>
        </p:nvSpPr>
        <p:spPr>
          <a:xfrm>
            <a:off x="533095" y="1505102"/>
            <a:ext cx="477225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Clear criteria to guide strategic innovation choices</a:t>
            </a:r>
            <a:endParaRPr b="0" i="0" sz="1500" u="none" cap="none" strike="noStrike">
              <a:solidFill>
                <a:schemeClr val="dk1"/>
              </a:solidFill>
              <a:latin typeface="Calibri"/>
              <a:ea typeface="Calibri"/>
              <a:cs typeface="Calibri"/>
              <a:sym typeface="Calibri"/>
            </a:endParaRPr>
          </a:p>
        </p:txBody>
      </p:sp>
      <p:sp>
        <p:nvSpPr>
          <p:cNvPr id="465" name="Google Shape;465;p16"/>
          <p:cNvSpPr txBox="1"/>
          <p:nvPr/>
        </p:nvSpPr>
        <p:spPr>
          <a:xfrm>
            <a:off x="533095" y="2152498"/>
            <a:ext cx="16002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BOULDER LITMUS TESTS</a:t>
            </a:r>
            <a:endParaRPr b="0" i="0" sz="900" u="none" cap="none" strike="noStrike">
              <a:solidFill>
                <a:schemeClr val="dk1"/>
              </a:solidFill>
              <a:latin typeface="Calibri"/>
              <a:ea typeface="Calibri"/>
              <a:cs typeface="Calibri"/>
              <a:sym typeface="Calibri"/>
            </a:endParaRPr>
          </a:p>
        </p:txBody>
      </p:sp>
      <p:sp>
        <p:nvSpPr>
          <p:cNvPr id="466" name="Google Shape;466;p16"/>
          <p:cNvSpPr/>
          <p:nvPr/>
        </p:nvSpPr>
        <p:spPr>
          <a:xfrm>
            <a:off x="533095" y="2428646"/>
            <a:ext cx="5257800" cy="1580998"/>
          </a:xfrm>
          <a:prstGeom prst="roundRect">
            <a:avLst>
              <a:gd fmla="val 209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771754" y="2628900"/>
            <a:ext cx="362102" cy="418795"/>
          </a:xfrm>
          <a:prstGeom prst="roundRect">
            <a:avLst>
              <a:gd fmla="val 146199"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txBox="1"/>
          <p:nvPr/>
        </p:nvSpPr>
        <p:spPr>
          <a:xfrm>
            <a:off x="857707" y="2734056"/>
            <a:ext cx="319126"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B1</a:t>
            </a:r>
            <a:endParaRPr b="0" i="0" sz="1300" u="none" cap="none" strike="noStrike">
              <a:solidFill>
                <a:schemeClr val="dk1"/>
              </a:solidFill>
              <a:latin typeface="Calibri"/>
              <a:ea typeface="Calibri"/>
              <a:cs typeface="Calibri"/>
              <a:sym typeface="Calibri"/>
            </a:endParaRPr>
          </a:p>
        </p:txBody>
      </p:sp>
      <p:sp>
        <p:nvSpPr>
          <p:cNvPr id="469" name="Google Shape;469;p16"/>
          <p:cNvSpPr txBox="1"/>
          <p:nvPr/>
        </p:nvSpPr>
        <p:spPr>
          <a:xfrm>
            <a:off x="1283818" y="2657246"/>
            <a:ext cx="14438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Channel Choice</a:t>
            </a:r>
            <a:endParaRPr b="0" i="0" sz="1300" u="none" cap="none" strike="noStrike">
              <a:solidFill>
                <a:schemeClr val="dk1"/>
              </a:solidFill>
              <a:latin typeface="Calibri"/>
              <a:ea typeface="Calibri"/>
              <a:cs typeface="Calibri"/>
              <a:sym typeface="Calibri"/>
            </a:endParaRPr>
          </a:p>
        </p:txBody>
      </p:sp>
      <p:sp>
        <p:nvSpPr>
          <p:cNvPr id="470" name="Google Shape;470;p16"/>
          <p:cNvSpPr txBox="1"/>
          <p:nvPr/>
        </p:nvSpPr>
        <p:spPr>
          <a:xfrm>
            <a:off x="1283818" y="3010205"/>
            <a:ext cx="403707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Would the same buyer pick this up at Walmart and Home Depot?</a:t>
            </a:r>
            <a:endParaRPr b="0" i="0" sz="1200" u="none" cap="none" strike="noStrike">
              <a:solidFill>
                <a:schemeClr val="dk1"/>
              </a:solidFill>
              <a:latin typeface="Calibri"/>
              <a:ea typeface="Calibri"/>
              <a:cs typeface="Calibri"/>
              <a:sym typeface="Calibri"/>
            </a:endParaRPr>
          </a:p>
        </p:txBody>
      </p:sp>
      <p:sp>
        <p:nvSpPr>
          <p:cNvPr id="471" name="Google Shape;471;p16"/>
          <p:cNvSpPr txBox="1"/>
          <p:nvPr/>
        </p:nvSpPr>
        <p:spPr>
          <a:xfrm>
            <a:off x="1283818" y="3594506"/>
            <a:ext cx="3029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yes, you haven't chosen your channel.</a:t>
            </a:r>
            <a:endParaRPr b="0" i="0" sz="1200" u="none" cap="none" strike="noStrike">
              <a:solidFill>
                <a:schemeClr val="dk1"/>
              </a:solidFill>
              <a:latin typeface="Calibri"/>
              <a:ea typeface="Calibri"/>
              <a:cs typeface="Calibri"/>
              <a:sym typeface="Calibri"/>
            </a:endParaRPr>
          </a:p>
        </p:txBody>
      </p:sp>
      <p:sp>
        <p:nvSpPr>
          <p:cNvPr id="472" name="Google Shape;472;p16"/>
          <p:cNvSpPr/>
          <p:nvPr/>
        </p:nvSpPr>
        <p:spPr>
          <a:xfrm>
            <a:off x="533095" y="4195267"/>
            <a:ext cx="5257800" cy="1580998"/>
          </a:xfrm>
          <a:prstGeom prst="roundRect">
            <a:avLst>
              <a:gd fmla="val 209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771754" y="4394606"/>
            <a:ext cx="342900" cy="418795"/>
          </a:xfrm>
          <a:prstGeom prst="roundRect">
            <a:avLst>
              <a:gd fmla="val 162963"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txBox="1"/>
          <p:nvPr/>
        </p:nvSpPr>
        <p:spPr>
          <a:xfrm>
            <a:off x="827532" y="4499762"/>
            <a:ext cx="357530"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B2</a:t>
            </a:r>
            <a:endParaRPr b="0" i="0" sz="1300" u="none" cap="none" strike="noStrike">
              <a:solidFill>
                <a:schemeClr val="dk1"/>
              </a:solidFill>
              <a:latin typeface="Calibri"/>
              <a:ea typeface="Calibri"/>
              <a:cs typeface="Calibri"/>
              <a:sym typeface="Calibri"/>
            </a:endParaRPr>
          </a:p>
        </p:txBody>
      </p:sp>
      <p:sp>
        <p:nvSpPr>
          <p:cNvPr id="475" name="Google Shape;475;p16"/>
          <p:cNvSpPr txBox="1"/>
          <p:nvPr/>
        </p:nvSpPr>
        <p:spPr>
          <a:xfrm>
            <a:off x="1257300" y="4423867"/>
            <a:ext cx="16532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Installation Barrier</a:t>
            </a:r>
            <a:endParaRPr b="0" i="0" sz="1300" u="none" cap="none" strike="noStrike">
              <a:solidFill>
                <a:schemeClr val="dk1"/>
              </a:solidFill>
              <a:latin typeface="Calibri"/>
              <a:ea typeface="Calibri"/>
              <a:cs typeface="Calibri"/>
              <a:sym typeface="Calibri"/>
            </a:endParaRPr>
          </a:p>
        </p:txBody>
      </p:sp>
      <p:sp>
        <p:nvSpPr>
          <p:cNvPr id="476" name="Google Shape;476;p16"/>
          <p:cNvSpPr txBox="1"/>
          <p:nvPr/>
        </p:nvSpPr>
        <p:spPr>
          <a:xfrm>
            <a:off x="1257300" y="4775911"/>
            <a:ext cx="442752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Can a renter install it in &lt;10 minutes with zero tools and zero damage?</a:t>
            </a:r>
            <a:endParaRPr b="0" i="0" sz="1200" u="none" cap="none" strike="noStrike">
              <a:solidFill>
                <a:schemeClr val="dk1"/>
              </a:solidFill>
              <a:latin typeface="Calibri"/>
              <a:ea typeface="Calibri"/>
              <a:cs typeface="Calibri"/>
              <a:sym typeface="Calibri"/>
            </a:endParaRPr>
          </a:p>
        </p:txBody>
      </p:sp>
      <p:sp>
        <p:nvSpPr>
          <p:cNvPr id="477" name="Google Shape;477;p16"/>
          <p:cNvSpPr txBox="1"/>
          <p:nvPr/>
        </p:nvSpPr>
        <p:spPr>
          <a:xfrm>
            <a:off x="1257300" y="5361127"/>
            <a:ext cx="17529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no, barrier unsolved.</a:t>
            </a:r>
            <a:endParaRPr b="0" i="0" sz="1200" u="none" cap="none" strike="noStrike">
              <a:solidFill>
                <a:schemeClr val="dk1"/>
              </a:solidFill>
              <a:latin typeface="Calibri"/>
              <a:ea typeface="Calibri"/>
              <a:cs typeface="Calibri"/>
              <a:sym typeface="Calibri"/>
            </a:endParaRPr>
          </a:p>
        </p:txBody>
      </p:sp>
      <p:sp>
        <p:nvSpPr>
          <p:cNvPr id="478" name="Google Shape;478;p16"/>
          <p:cNvSpPr/>
          <p:nvPr/>
        </p:nvSpPr>
        <p:spPr>
          <a:xfrm>
            <a:off x="533095" y="5960974"/>
            <a:ext cx="5257800" cy="1324051"/>
          </a:xfrm>
          <a:prstGeom prst="roundRect">
            <a:avLst>
              <a:gd fmla="val 2981"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771754" y="6161227"/>
            <a:ext cx="418795" cy="418795"/>
          </a:xfrm>
          <a:prstGeom prst="roundRect">
            <a:avLst>
              <a:gd fmla="val 109170"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txBox="1"/>
          <p:nvPr/>
        </p:nvSpPr>
        <p:spPr>
          <a:xfrm>
            <a:off x="868680" y="6265469"/>
            <a:ext cx="357530"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B3</a:t>
            </a:r>
            <a:endParaRPr b="0" i="0" sz="1300" u="none" cap="none" strike="noStrike">
              <a:solidFill>
                <a:schemeClr val="dk1"/>
              </a:solidFill>
              <a:latin typeface="Calibri"/>
              <a:ea typeface="Calibri"/>
              <a:cs typeface="Calibri"/>
              <a:sym typeface="Calibri"/>
            </a:endParaRPr>
          </a:p>
        </p:txBody>
      </p:sp>
      <p:sp>
        <p:nvSpPr>
          <p:cNvPr id="481" name="Google Shape;481;p16"/>
          <p:cNvSpPr txBox="1"/>
          <p:nvPr/>
        </p:nvSpPr>
        <p:spPr>
          <a:xfrm>
            <a:off x="1343254" y="6189574"/>
            <a:ext cx="12152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Quality Proof</a:t>
            </a:r>
            <a:endParaRPr b="0" i="0" sz="1300" u="none" cap="none" strike="noStrike">
              <a:solidFill>
                <a:schemeClr val="dk1"/>
              </a:solidFill>
              <a:latin typeface="Calibri"/>
              <a:ea typeface="Calibri"/>
              <a:cs typeface="Calibri"/>
              <a:sym typeface="Calibri"/>
            </a:endParaRPr>
          </a:p>
        </p:txBody>
      </p:sp>
      <p:sp>
        <p:nvSpPr>
          <p:cNvPr id="482" name="Google Shape;482;p16"/>
          <p:cNvSpPr txBox="1"/>
          <p:nvPr/>
        </p:nvSpPr>
        <p:spPr>
          <a:xfrm>
            <a:off x="1343254" y="6541618"/>
            <a:ext cx="418886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Can we prove capacity on the spot, not just claim it?</a:t>
            </a:r>
            <a:endParaRPr b="0" i="0" sz="1200" u="none" cap="none" strike="noStrike">
              <a:solidFill>
                <a:schemeClr val="dk1"/>
              </a:solidFill>
              <a:latin typeface="Calibri"/>
              <a:ea typeface="Calibri"/>
              <a:cs typeface="Calibri"/>
              <a:sym typeface="Calibri"/>
            </a:endParaRPr>
          </a:p>
        </p:txBody>
      </p:sp>
      <p:sp>
        <p:nvSpPr>
          <p:cNvPr id="483" name="Google Shape;483;p16"/>
          <p:cNvSpPr txBox="1"/>
          <p:nvPr/>
        </p:nvSpPr>
        <p:spPr>
          <a:xfrm>
            <a:off x="1343254" y="6868058"/>
            <a:ext cx="18288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no, trust gap remains.</a:t>
            </a:r>
            <a:endParaRPr b="0" i="0" sz="1200" u="none" cap="none" strike="noStrike">
              <a:solidFill>
                <a:schemeClr val="dk1"/>
              </a:solidFill>
              <a:latin typeface="Calibri"/>
              <a:ea typeface="Calibri"/>
              <a:cs typeface="Calibri"/>
              <a:sym typeface="Calibri"/>
            </a:endParaRPr>
          </a:p>
        </p:txBody>
      </p:sp>
      <p:sp>
        <p:nvSpPr>
          <p:cNvPr id="484" name="Google Shape;484;p16"/>
          <p:cNvSpPr txBox="1"/>
          <p:nvPr/>
        </p:nvSpPr>
        <p:spPr>
          <a:xfrm>
            <a:off x="6400800" y="2152498"/>
            <a:ext cx="1286561"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DECISION CRITERIA</a:t>
            </a:r>
            <a:endParaRPr b="0" i="0" sz="900" u="none" cap="none" strike="noStrike">
              <a:solidFill>
                <a:schemeClr val="dk1"/>
              </a:solidFill>
              <a:latin typeface="Calibri"/>
              <a:ea typeface="Calibri"/>
              <a:cs typeface="Calibri"/>
              <a:sym typeface="Calibri"/>
            </a:endParaRPr>
          </a:p>
        </p:txBody>
      </p:sp>
      <p:sp>
        <p:nvSpPr>
          <p:cNvPr id="485" name="Google Shape;485;p16"/>
          <p:cNvSpPr/>
          <p:nvPr/>
        </p:nvSpPr>
        <p:spPr>
          <a:xfrm>
            <a:off x="6400800" y="2428646"/>
            <a:ext cx="5257800" cy="1324051"/>
          </a:xfrm>
          <a:prstGeom prst="roundRect">
            <a:avLst>
              <a:gd fmla="val 2981"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a:off x="6638544" y="2628900"/>
            <a:ext cx="418795" cy="418795"/>
          </a:xfrm>
          <a:prstGeom prst="roundRect">
            <a:avLst>
              <a:gd fmla="val 109170"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6"/>
          <p:cNvSpPr txBox="1"/>
          <p:nvPr/>
        </p:nvSpPr>
        <p:spPr>
          <a:xfrm>
            <a:off x="6733642" y="2734056"/>
            <a:ext cx="367589"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B4</a:t>
            </a:r>
            <a:endParaRPr b="0" i="0" sz="1300" u="none" cap="none" strike="noStrike">
              <a:solidFill>
                <a:schemeClr val="dk1"/>
              </a:solidFill>
              <a:latin typeface="Calibri"/>
              <a:ea typeface="Calibri"/>
              <a:cs typeface="Calibri"/>
              <a:sym typeface="Calibri"/>
            </a:endParaRPr>
          </a:p>
        </p:txBody>
      </p:sp>
      <p:sp>
        <p:nvSpPr>
          <p:cNvPr id="488" name="Google Shape;488;p16"/>
          <p:cNvSpPr txBox="1"/>
          <p:nvPr/>
        </p:nvSpPr>
        <p:spPr>
          <a:xfrm>
            <a:off x="7210044" y="2657246"/>
            <a:ext cx="19101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Platform Architecture</a:t>
            </a:r>
            <a:endParaRPr b="0" i="0" sz="1300" u="none" cap="none" strike="noStrike">
              <a:solidFill>
                <a:schemeClr val="dk1"/>
              </a:solidFill>
              <a:latin typeface="Calibri"/>
              <a:ea typeface="Calibri"/>
              <a:cs typeface="Calibri"/>
              <a:sym typeface="Calibri"/>
            </a:endParaRPr>
          </a:p>
        </p:txBody>
      </p:sp>
      <p:sp>
        <p:nvSpPr>
          <p:cNvPr id="489" name="Google Shape;489;p16"/>
          <p:cNvSpPr txBox="1"/>
          <p:nvPr/>
        </p:nvSpPr>
        <p:spPr>
          <a:xfrm>
            <a:off x="7210044" y="3010205"/>
            <a:ext cx="374172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Will purchases 6 months apart work together?</a:t>
            </a:r>
            <a:endParaRPr b="0" i="0" sz="1200" u="none" cap="none" strike="noStrike">
              <a:solidFill>
                <a:schemeClr val="dk1"/>
              </a:solidFill>
              <a:latin typeface="Calibri"/>
              <a:ea typeface="Calibri"/>
              <a:cs typeface="Calibri"/>
              <a:sym typeface="Calibri"/>
            </a:endParaRPr>
          </a:p>
        </p:txBody>
      </p:sp>
      <p:sp>
        <p:nvSpPr>
          <p:cNvPr id="490" name="Google Shape;490;p16"/>
          <p:cNvSpPr txBox="1"/>
          <p:nvPr/>
        </p:nvSpPr>
        <p:spPr>
          <a:xfrm>
            <a:off x="7210044" y="3335731"/>
            <a:ext cx="21534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no, platform not designed.</a:t>
            </a:r>
            <a:endParaRPr b="0" i="0" sz="1200" u="none" cap="none" strike="noStrike">
              <a:solidFill>
                <a:schemeClr val="dk1"/>
              </a:solidFill>
              <a:latin typeface="Calibri"/>
              <a:ea typeface="Calibri"/>
              <a:cs typeface="Calibri"/>
              <a:sym typeface="Calibri"/>
            </a:endParaRPr>
          </a:p>
        </p:txBody>
      </p:sp>
      <p:sp>
        <p:nvSpPr>
          <p:cNvPr id="491" name="Google Shape;491;p16"/>
          <p:cNvSpPr/>
          <p:nvPr/>
        </p:nvSpPr>
        <p:spPr>
          <a:xfrm>
            <a:off x="6400800" y="3935578"/>
            <a:ext cx="5257800" cy="1324051"/>
          </a:xfrm>
          <a:prstGeom prst="roundRect">
            <a:avLst>
              <a:gd fmla="val 2981"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6"/>
          <p:cNvSpPr/>
          <p:nvPr/>
        </p:nvSpPr>
        <p:spPr>
          <a:xfrm>
            <a:off x="6638544" y="4135831"/>
            <a:ext cx="418795" cy="418795"/>
          </a:xfrm>
          <a:prstGeom prst="roundRect">
            <a:avLst>
              <a:gd fmla="val 109170"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txBox="1"/>
          <p:nvPr/>
        </p:nvSpPr>
        <p:spPr>
          <a:xfrm>
            <a:off x="6738214" y="4240987"/>
            <a:ext cx="357530"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B5</a:t>
            </a:r>
            <a:endParaRPr b="0" i="0" sz="1300" u="none" cap="none" strike="noStrike">
              <a:solidFill>
                <a:schemeClr val="dk1"/>
              </a:solidFill>
              <a:latin typeface="Calibri"/>
              <a:ea typeface="Calibri"/>
              <a:cs typeface="Calibri"/>
              <a:sym typeface="Calibri"/>
            </a:endParaRPr>
          </a:p>
        </p:txBody>
      </p:sp>
      <p:sp>
        <p:nvSpPr>
          <p:cNvPr id="494" name="Google Shape;494;p16"/>
          <p:cNvSpPr txBox="1"/>
          <p:nvPr/>
        </p:nvSpPr>
        <p:spPr>
          <a:xfrm>
            <a:off x="7210044" y="4164178"/>
            <a:ext cx="14621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Segment Clarity</a:t>
            </a:r>
            <a:endParaRPr b="0" i="0" sz="1300" u="none" cap="none" strike="noStrike">
              <a:solidFill>
                <a:schemeClr val="dk1"/>
              </a:solidFill>
              <a:latin typeface="Calibri"/>
              <a:ea typeface="Calibri"/>
              <a:cs typeface="Calibri"/>
              <a:sym typeface="Calibri"/>
            </a:endParaRPr>
          </a:p>
        </p:txBody>
      </p:sp>
      <p:sp>
        <p:nvSpPr>
          <p:cNvPr id="495" name="Google Shape;495;p16"/>
          <p:cNvSpPr txBox="1"/>
          <p:nvPr/>
        </p:nvSpPr>
        <p:spPr>
          <a:xfrm>
            <a:off x="7210044" y="4517136"/>
            <a:ext cx="384596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Can one message win both premium and mass?</a:t>
            </a:r>
            <a:endParaRPr b="0" i="0" sz="1200" u="none" cap="none" strike="noStrike">
              <a:solidFill>
                <a:schemeClr val="dk1"/>
              </a:solidFill>
              <a:latin typeface="Calibri"/>
              <a:ea typeface="Calibri"/>
              <a:cs typeface="Calibri"/>
              <a:sym typeface="Calibri"/>
            </a:endParaRPr>
          </a:p>
        </p:txBody>
      </p:sp>
      <p:sp>
        <p:nvSpPr>
          <p:cNvPr id="496" name="Google Shape;496;p16"/>
          <p:cNvSpPr txBox="1"/>
          <p:nvPr/>
        </p:nvSpPr>
        <p:spPr>
          <a:xfrm>
            <a:off x="7210044" y="4842662"/>
            <a:ext cx="2000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If yes, positioning unclear.</a:t>
            </a:r>
            <a:endParaRPr b="0" i="0" sz="1200" u="none" cap="none" strike="noStrike">
              <a:solidFill>
                <a:schemeClr val="dk1"/>
              </a:solidFill>
              <a:latin typeface="Calibri"/>
              <a:ea typeface="Calibri"/>
              <a:cs typeface="Calibri"/>
              <a:sym typeface="Calibri"/>
            </a:endParaRPr>
          </a:p>
        </p:txBody>
      </p:sp>
      <p:sp>
        <p:nvSpPr>
          <p:cNvPr id="497" name="Google Shape;497;p16"/>
          <p:cNvSpPr/>
          <p:nvPr/>
        </p:nvSpPr>
        <p:spPr>
          <a:xfrm>
            <a:off x="6400800" y="5480914"/>
            <a:ext cx="5257800" cy="1181405"/>
          </a:xfrm>
          <a:prstGeom prst="roundRect">
            <a:avLst>
              <a:gd fmla="val 3745"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6"/>
          <p:cNvSpPr/>
          <p:nvPr/>
        </p:nvSpPr>
        <p:spPr>
          <a:xfrm>
            <a:off x="6400800" y="5480914"/>
            <a:ext cx="47549"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txBox="1"/>
          <p:nvPr/>
        </p:nvSpPr>
        <p:spPr>
          <a:xfrm>
            <a:off x="6676949" y="5699455"/>
            <a:ext cx="4482389" cy="7342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These litmus tests provide clear, actionable decision criteria. If you fail any test, revisit your innovation strategy.</a:t>
            </a:r>
            <a:endParaRPr b="0" i="0" sz="1300" u="none" cap="none" strike="noStrike">
              <a:solidFill>
                <a:schemeClr val="dk1"/>
              </a:solidFill>
              <a:latin typeface="Calibri"/>
              <a:ea typeface="Calibri"/>
              <a:cs typeface="Calibri"/>
              <a:sym typeface="Calibri"/>
            </a:endParaRPr>
          </a:p>
        </p:txBody>
      </p:sp>
      <p:sp>
        <p:nvSpPr>
          <p:cNvPr id="500" name="Google Shape;500;p16"/>
          <p:cNvSpPr txBox="1"/>
          <p:nvPr/>
        </p:nvSpPr>
        <p:spPr>
          <a:xfrm>
            <a:off x="533095" y="7705649"/>
            <a:ext cx="42272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Category analysis of 9,555 products and 571 consumer videos</a:t>
            </a:r>
            <a:endParaRPr b="0" i="0" sz="900" u="none" cap="none" strike="noStrike">
              <a:solidFill>
                <a:schemeClr val="dk1"/>
              </a:solidFill>
              <a:latin typeface="Calibri"/>
              <a:ea typeface="Calibri"/>
              <a:cs typeface="Calibri"/>
              <a:sym typeface="Calibri"/>
            </a:endParaRPr>
          </a:p>
        </p:txBody>
      </p:sp>
      <p:sp>
        <p:nvSpPr>
          <p:cNvPr id="501" name="Google Shape;501;p16"/>
          <p:cNvSpPr txBox="1"/>
          <p:nvPr/>
        </p:nvSpPr>
        <p:spPr>
          <a:xfrm>
            <a:off x="533095" y="8119872"/>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502" name="Google Shape;502;p16"/>
          <p:cNvSpPr txBox="1"/>
          <p:nvPr/>
        </p:nvSpPr>
        <p:spPr>
          <a:xfrm>
            <a:off x="11531498" y="8119872"/>
            <a:ext cx="2267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7"/>
          <p:cNvSpPr/>
          <p:nvPr/>
        </p:nvSpPr>
        <p:spPr>
          <a:xfrm>
            <a:off x="0" y="0"/>
            <a:ext cx="12191695" cy="6953098"/>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1015898" y="4913986"/>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2476195" y="1164946"/>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7"/>
          <p:cNvSpPr/>
          <p:nvPr/>
        </p:nvSpPr>
        <p:spPr>
          <a:xfrm>
            <a:off x="8477402" y="4542739"/>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7"/>
          <p:cNvSpPr/>
          <p:nvPr/>
        </p:nvSpPr>
        <p:spPr>
          <a:xfrm>
            <a:off x="2286000" y="1714500"/>
            <a:ext cx="1143000" cy="75895"/>
          </a:xfrm>
          <a:prstGeom prst="roundRect">
            <a:avLst>
              <a:gd fmla="val 602411"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1524305" y="3047695"/>
            <a:ext cx="571500" cy="571500"/>
          </a:xfrm>
          <a:prstGeom prst="roundRect">
            <a:avLst>
              <a:gd fmla="val 10667"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10096805" y="2095805"/>
            <a:ext cx="381305" cy="1143000"/>
          </a:xfrm>
          <a:prstGeom prst="roundRect">
            <a:avLst>
              <a:gd fmla="val 23981"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8572500" y="5116982"/>
            <a:ext cx="952805" cy="114300"/>
          </a:xfrm>
          <a:prstGeom prst="roundRect">
            <a:avLst>
              <a:gd fmla="val 266667"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1904695" y="3898087"/>
            <a:ext cx="761695" cy="761695"/>
          </a:xfrm>
          <a:prstGeom prst="roundRect">
            <a:avLst>
              <a:gd fmla="val 600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7"/>
          <p:cNvSpPr/>
          <p:nvPr/>
        </p:nvSpPr>
        <p:spPr>
          <a:xfrm>
            <a:off x="1904695" y="1524305"/>
            <a:ext cx="1714500" cy="19202"/>
          </a:xfrm>
          <a:prstGeom prst="rect">
            <a:avLst/>
          </a:prstGeom>
          <a:solidFill>
            <a:srgbClr val="1E3A8A">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7"/>
          <p:cNvSpPr/>
          <p:nvPr/>
        </p:nvSpPr>
        <p:spPr>
          <a:xfrm>
            <a:off x="8382305" y="4640580"/>
            <a:ext cx="2095805" cy="19202"/>
          </a:xfrm>
          <a:prstGeom prst="rect">
            <a:avLst/>
          </a:prstGeom>
          <a:solidFill>
            <a:srgbClr val="1E3A8A">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8953805" y="1904695"/>
            <a:ext cx="1143000" cy="1143000"/>
          </a:xfrm>
          <a:prstGeom prst="roundRect">
            <a:avLst>
              <a:gd fmla="val 2667"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7"/>
          <p:cNvSpPr/>
          <p:nvPr/>
        </p:nvSpPr>
        <p:spPr>
          <a:xfrm>
            <a:off x="2667305" y="4278478"/>
            <a:ext cx="761695" cy="761695"/>
          </a:xfrm>
          <a:prstGeom prst="roundRect">
            <a:avLst>
              <a:gd fmla="val 6002"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2286000" y="2286000"/>
            <a:ext cx="1524305" cy="152430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7"/>
          <p:cNvSpPr/>
          <p:nvPr/>
        </p:nvSpPr>
        <p:spPr>
          <a:xfrm>
            <a:off x="8001000" y="3326587"/>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2857500" y="1429207"/>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3000146" y="1524305"/>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3143707" y="1619402"/>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7"/>
          <p:cNvSpPr/>
          <p:nvPr/>
        </p:nvSpPr>
        <p:spPr>
          <a:xfrm>
            <a:off x="3286354" y="1714500"/>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8515807" y="1524305"/>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7"/>
          <p:cNvSpPr/>
          <p:nvPr/>
        </p:nvSpPr>
        <p:spPr>
          <a:xfrm>
            <a:off x="8658454" y="1666951"/>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7"/>
          <p:cNvSpPr/>
          <p:nvPr/>
        </p:nvSpPr>
        <p:spPr>
          <a:xfrm>
            <a:off x="8801100" y="180959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8943746" y="1952244"/>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7"/>
          <p:cNvSpPr/>
          <p:nvPr/>
        </p:nvSpPr>
        <p:spPr>
          <a:xfrm>
            <a:off x="3810305" y="4793285"/>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p:nvPr/>
        </p:nvSpPr>
        <p:spPr>
          <a:xfrm>
            <a:off x="3952951" y="4649724"/>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7"/>
          <p:cNvSpPr/>
          <p:nvPr/>
        </p:nvSpPr>
        <p:spPr>
          <a:xfrm>
            <a:off x="4095598" y="450707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8134502" y="4888382"/>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7"/>
          <p:cNvSpPr/>
          <p:nvPr/>
        </p:nvSpPr>
        <p:spPr>
          <a:xfrm>
            <a:off x="8277149" y="4745736"/>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7"/>
          <p:cNvSpPr/>
          <p:nvPr/>
        </p:nvSpPr>
        <p:spPr>
          <a:xfrm>
            <a:off x="8419795" y="4602175"/>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8" name="Google Shape;538;p17"/>
          <p:cNvPicPr preferRelativeResize="0"/>
          <p:nvPr/>
        </p:nvPicPr>
        <p:blipFill rotWithShape="1">
          <a:blip r:embed="rId3">
            <a:alphaModFix/>
          </a:blip>
          <a:srcRect b="0" l="0" r="0" t="0"/>
          <a:stretch/>
        </p:blipFill>
        <p:spPr>
          <a:xfrm>
            <a:off x="2286000" y="4849978"/>
            <a:ext cx="571500" cy="571500"/>
          </a:xfrm>
          <a:prstGeom prst="rect">
            <a:avLst/>
          </a:prstGeom>
          <a:noFill/>
          <a:ln>
            <a:noFill/>
          </a:ln>
        </p:spPr>
      </p:pic>
      <p:pic>
        <p:nvPicPr>
          <p:cNvPr descr="preencoded.png" id="539" name="Google Shape;539;p17"/>
          <p:cNvPicPr preferRelativeResize="0"/>
          <p:nvPr/>
        </p:nvPicPr>
        <p:blipFill rotWithShape="1">
          <a:blip r:embed="rId4">
            <a:alphaModFix/>
          </a:blip>
          <a:srcRect b="0" l="0" r="0" t="0"/>
          <a:stretch/>
        </p:blipFill>
        <p:spPr>
          <a:xfrm>
            <a:off x="9239098" y="4849978"/>
            <a:ext cx="476402" cy="476402"/>
          </a:xfrm>
          <a:prstGeom prst="rect">
            <a:avLst/>
          </a:prstGeom>
          <a:noFill/>
          <a:ln>
            <a:noFill/>
          </a:ln>
        </p:spPr>
      </p:pic>
      <p:sp>
        <p:nvSpPr>
          <p:cNvPr id="540" name="Google Shape;540;p17"/>
          <p:cNvSpPr txBox="1"/>
          <p:nvPr/>
        </p:nvSpPr>
        <p:spPr>
          <a:xfrm>
            <a:off x="609905" y="6460236"/>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541" name="Google Shape;541;p17"/>
          <p:cNvSpPr txBox="1"/>
          <p:nvPr/>
        </p:nvSpPr>
        <p:spPr>
          <a:xfrm>
            <a:off x="11441887" y="6460236"/>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14</a:t>
            </a:r>
            <a:endParaRPr b="0" i="0" sz="1000" u="none" cap="none" strike="noStrike">
              <a:solidFill>
                <a:schemeClr val="dk1"/>
              </a:solidFill>
              <a:latin typeface="Calibri"/>
              <a:ea typeface="Calibri"/>
              <a:cs typeface="Calibri"/>
              <a:sym typeface="Calibri"/>
            </a:endParaRPr>
          </a:p>
        </p:txBody>
      </p:sp>
      <p:sp>
        <p:nvSpPr>
          <p:cNvPr id="542" name="Google Shape;542;p17"/>
          <p:cNvSpPr/>
          <p:nvPr/>
        </p:nvSpPr>
        <p:spPr>
          <a:xfrm>
            <a:off x="5524805" y="761695"/>
            <a:ext cx="1143000" cy="1143000"/>
          </a:xfrm>
          <a:prstGeom prst="roundRect">
            <a:avLst>
              <a:gd fmla="val 10667"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3" name="Google Shape;543;p17"/>
          <p:cNvPicPr preferRelativeResize="0"/>
          <p:nvPr/>
        </p:nvPicPr>
        <p:blipFill rotWithShape="1">
          <a:blip r:embed="rId5">
            <a:alphaModFix/>
          </a:blip>
          <a:srcRect b="0" l="0" r="0" t="0"/>
          <a:stretch/>
        </p:blipFill>
        <p:spPr>
          <a:xfrm>
            <a:off x="5790895" y="1028700"/>
            <a:ext cx="609905" cy="609905"/>
          </a:xfrm>
          <a:prstGeom prst="rect">
            <a:avLst/>
          </a:prstGeom>
          <a:noFill/>
          <a:ln>
            <a:noFill/>
          </a:ln>
        </p:spPr>
      </p:pic>
      <p:sp>
        <p:nvSpPr>
          <p:cNvPr id="544" name="Google Shape;544;p17"/>
          <p:cNvSpPr/>
          <p:nvPr/>
        </p:nvSpPr>
        <p:spPr>
          <a:xfrm>
            <a:off x="5333695" y="2286000"/>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7"/>
          <p:cNvSpPr txBox="1"/>
          <p:nvPr/>
        </p:nvSpPr>
        <p:spPr>
          <a:xfrm>
            <a:off x="3547872" y="2734056"/>
            <a:ext cx="5496458"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Market Intelligence</a:t>
            </a:r>
            <a:endParaRPr b="0" i="0" sz="4200" u="none" cap="none" strike="noStrike">
              <a:solidFill>
                <a:schemeClr val="dk1"/>
              </a:solidFill>
              <a:latin typeface="Calibri"/>
              <a:ea typeface="Calibri"/>
              <a:cs typeface="Calibri"/>
              <a:sym typeface="Calibri"/>
            </a:endParaRPr>
          </a:p>
        </p:txBody>
      </p:sp>
      <p:sp>
        <p:nvSpPr>
          <p:cNvPr id="546" name="Google Shape;546;p17"/>
          <p:cNvSpPr txBox="1"/>
          <p:nvPr/>
        </p:nvSpPr>
        <p:spPr>
          <a:xfrm>
            <a:off x="2292401" y="3717036"/>
            <a:ext cx="7782458" cy="6199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What the data reveals about category architecture, price tiers, channel dynamics, brand positioning, market size, and growth vectors.</a:t>
            </a:r>
            <a:endParaRPr b="0" i="0" sz="1800" u="none" cap="none" strike="noStrike">
              <a:solidFill>
                <a:schemeClr val="dk1"/>
              </a:solidFill>
              <a:latin typeface="Calibri"/>
              <a:ea typeface="Calibri"/>
              <a:cs typeface="Calibri"/>
              <a:sym typeface="Calibri"/>
            </a:endParaRPr>
          </a:p>
        </p:txBody>
      </p:sp>
      <p:sp>
        <p:nvSpPr>
          <p:cNvPr id="547" name="Google Shape;547;p17"/>
          <p:cNvSpPr/>
          <p:nvPr/>
        </p:nvSpPr>
        <p:spPr>
          <a:xfrm>
            <a:off x="3754526" y="5059375"/>
            <a:ext cx="838505"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7"/>
          <p:cNvSpPr txBox="1"/>
          <p:nvPr/>
        </p:nvSpPr>
        <p:spPr>
          <a:xfrm>
            <a:off x="3868826" y="5136185"/>
            <a:ext cx="710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Structure</a:t>
            </a:r>
            <a:endParaRPr b="0" i="0" sz="1000" u="none" cap="none" strike="noStrike">
              <a:solidFill>
                <a:schemeClr val="dk1"/>
              </a:solidFill>
              <a:latin typeface="Calibri"/>
              <a:ea typeface="Calibri"/>
              <a:cs typeface="Calibri"/>
              <a:sym typeface="Calibri"/>
            </a:endParaRPr>
          </a:p>
        </p:txBody>
      </p:sp>
      <p:sp>
        <p:nvSpPr>
          <p:cNvPr id="549" name="Google Shape;549;p17"/>
          <p:cNvSpPr/>
          <p:nvPr/>
        </p:nvSpPr>
        <p:spPr>
          <a:xfrm>
            <a:off x="4777740" y="5059375"/>
            <a:ext cx="685800"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7"/>
          <p:cNvSpPr txBox="1"/>
          <p:nvPr/>
        </p:nvSpPr>
        <p:spPr>
          <a:xfrm>
            <a:off x="4892040" y="5136185"/>
            <a:ext cx="5577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Pricing</a:t>
            </a:r>
            <a:endParaRPr b="0" i="0" sz="1000" u="none" cap="none" strike="noStrike">
              <a:solidFill>
                <a:schemeClr val="dk1"/>
              </a:solidFill>
              <a:latin typeface="Calibri"/>
              <a:ea typeface="Calibri"/>
              <a:cs typeface="Calibri"/>
              <a:sym typeface="Calibri"/>
            </a:endParaRPr>
          </a:p>
        </p:txBody>
      </p:sp>
      <p:sp>
        <p:nvSpPr>
          <p:cNvPr id="551" name="Google Shape;551;p17"/>
          <p:cNvSpPr/>
          <p:nvPr/>
        </p:nvSpPr>
        <p:spPr>
          <a:xfrm>
            <a:off x="5610758" y="5059375"/>
            <a:ext cx="838505"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7"/>
          <p:cNvSpPr txBox="1"/>
          <p:nvPr/>
        </p:nvSpPr>
        <p:spPr>
          <a:xfrm>
            <a:off x="5725058" y="5136185"/>
            <a:ext cx="710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Channels</a:t>
            </a:r>
            <a:endParaRPr b="0" i="0" sz="1000" u="none" cap="none" strike="noStrike">
              <a:solidFill>
                <a:schemeClr val="dk1"/>
              </a:solidFill>
              <a:latin typeface="Calibri"/>
              <a:ea typeface="Calibri"/>
              <a:cs typeface="Calibri"/>
              <a:sym typeface="Calibri"/>
            </a:endParaRPr>
          </a:p>
        </p:txBody>
      </p:sp>
      <p:sp>
        <p:nvSpPr>
          <p:cNvPr id="553" name="Google Shape;553;p17"/>
          <p:cNvSpPr/>
          <p:nvPr/>
        </p:nvSpPr>
        <p:spPr>
          <a:xfrm>
            <a:off x="6598310" y="5059375"/>
            <a:ext cx="1028700"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7"/>
          <p:cNvSpPr txBox="1"/>
          <p:nvPr/>
        </p:nvSpPr>
        <p:spPr>
          <a:xfrm>
            <a:off x="6712610" y="5136185"/>
            <a:ext cx="9006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Competitors</a:t>
            </a:r>
            <a:endParaRPr b="0" i="0" sz="1000" u="none" cap="none" strike="noStrike">
              <a:solidFill>
                <a:schemeClr val="dk1"/>
              </a:solidFill>
              <a:latin typeface="Calibri"/>
              <a:ea typeface="Calibri"/>
              <a:cs typeface="Calibri"/>
              <a:sym typeface="Calibri"/>
            </a:endParaRPr>
          </a:p>
        </p:txBody>
      </p:sp>
      <p:sp>
        <p:nvSpPr>
          <p:cNvPr id="555" name="Google Shape;555;p17"/>
          <p:cNvSpPr/>
          <p:nvPr/>
        </p:nvSpPr>
        <p:spPr>
          <a:xfrm>
            <a:off x="7776972" y="5059375"/>
            <a:ext cx="705002" cy="314554"/>
          </a:xfrm>
          <a:prstGeom prst="roundRect">
            <a:avLst>
              <a:gd fmla="val 176180"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7"/>
          <p:cNvSpPr txBox="1"/>
          <p:nvPr/>
        </p:nvSpPr>
        <p:spPr>
          <a:xfrm>
            <a:off x="7891272" y="5136185"/>
            <a:ext cx="5769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Inter"/>
              <a:buNone/>
            </a:pPr>
            <a:r>
              <a:rPr b="1" i="0" lang="en-US" sz="1000" u="none" cap="none" strike="noStrike">
                <a:solidFill>
                  <a:srgbClr val="E2E8F0"/>
                </a:solidFill>
                <a:latin typeface="Inter"/>
                <a:ea typeface="Inter"/>
                <a:cs typeface="Inter"/>
                <a:sym typeface="Inter"/>
              </a:rPr>
              <a:t>Growth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18"/>
          <p:cNvSpPr/>
          <p:nvPr/>
        </p:nvSpPr>
        <p:spPr>
          <a:xfrm>
            <a:off x="0" y="0"/>
            <a:ext cx="12191695" cy="81061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0" y="0"/>
            <a:ext cx="12191695" cy="81061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txBox="1"/>
          <p:nvPr/>
        </p:nvSpPr>
        <p:spPr>
          <a:xfrm>
            <a:off x="609905" y="685800"/>
            <a:ext cx="69247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Category Architecture: 7 Product Families</a:t>
            </a:r>
            <a:endParaRPr b="0" i="0" sz="2400" u="none" cap="none" strike="noStrike">
              <a:solidFill>
                <a:schemeClr val="dk1"/>
              </a:solidFill>
              <a:latin typeface="Calibri"/>
              <a:ea typeface="Calibri"/>
              <a:cs typeface="Calibri"/>
              <a:sym typeface="Calibri"/>
            </a:endParaRPr>
          </a:p>
        </p:txBody>
      </p:sp>
      <p:sp>
        <p:nvSpPr>
          <p:cNvPr id="566" name="Google Shape;566;p18"/>
          <p:cNvSpPr txBox="1"/>
          <p:nvPr/>
        </p:nvSpPr>
        <p:spPr>
          <a:xfrm>
            <a:off x="609905" y="1218895"/>
            <a:ext cx="34244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Analysis of 9,555 products across 5 retailers</a:t>
            </a:r>
            <a:endParaRPr b="0" i="0" sz="1000" u="none" cap="none" strike="noStrike">
              <a:solidFill>
                <a:schemeClr val="dk1"/>
              </a:solidFill>
              <a:latin typeface="Calibri"/>
              <a:ea typeface="Calibri"/>
              <a:cs typeface="Calibri"/>
              <a:sym typeface="Calibri"/>
            </a:endParaRPr>
          </a:p>
        </p:txBody>
      </p:sp>
      <p:sp>
        <p:nvSpPr>
          <p:cNvPr id="567" name="Google Shape;567;p18"/>
          <p:cNvSpPr/>
          <p:nvPr/>
        </p:nvSpPr>
        <p:spPr>
          <a:xfrm>
            <a:off x="609905" y="1705356"/>
            <a:ext cx="10972800" cy="4371746"/>
          </a:xfrm>
          <a:prstGeom prst="roundRect">
            <a:avLst>
              <a:gd fmla="val 365"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619049" y="1714500"/>
            <a:ext cx="10953598" cy="562356"/>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619049" y="226771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619049" y="2272284"/>
            <a:ext cx="10953598" cy="5431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p:nvPr/>
        </p:nvSpPr>
        <p:spPr>
          <a:xfrm>
            <a:off x="619049" y="280629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a:off x="619049" y="2815438"/>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619049" y="334944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619049" y="3358591"/>
            <a:ext cx="10953598" cy="5431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8"/>
          <p:cNvSpPr/>
          <p:nvPr/>
        </p:nvSpPr>
        <p:spPr>
          <a:xfrm>
            <a:off x="619049" y="389260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8"/>
          <p:cNvSpPr/>
          <p:nvPr/>
        </p:nvSpPr>
        <p:spPr>
          <a:xfrm>
            <a:off x="619049" y="3901745"/>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a:off x="619049" y="44357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8"/>
          <p:cNvSpPr/>
          <p:nvPr/>
        </p:nvSpPr>
        <p:spPr>
          <a:xfrm>
            <a:off x="619049" y="4443984"/>
            <a:ext cx="10953598" cy="5431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8"/>
          <p:cNvSpPr/>
          <p:nvPr/>
        </p:nvSpPr>
        <p:spPr>
          <a:xfrm>
            <a:off x="619049" y="497799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8"/>
          <p:cNvSpPr/>
          <p:nvPr/>
        </p:nvSpPr>
        <p:spPr>
          <a:xfrm>
            <a:off x="619049" y="4987138"/>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8"/>
          <p:cNvSpPr/>
          <p:nvPr/>
        </p:nvSpPr>
        <p:spPr>
          <a:xfrm>
            <a:off x="619049" y="552114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p:nvPr/>
        </p:nvSpPr>
        <p:spPr>
          <a:xfrm>
            <a:off x="619049" y="5530291"/>
            <a:ext cx="10953598" cy="533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8"/>
          <p:cNvSpPr txBox="1"/>
          <p:nvPr/>
        </p:nvSpPr>
        <p:spPr>
          <a:xfrm>
            <a:off x="790956" y="1867205"/>
            <a:ext cx="1534363"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Product Category</a:t>
            </a:r>
            <a:endParaRPr b="0" i="0" sz="1200" u="none" cap="none" strike="noStrike">
              <a:solidFill>
                <a:schemeClr val="dk1"/>
              </a:solidFill>
              <a:latin typeface="Calibri"/>
              <a:ea typeface="Calibri"/>
              <a:cs typeface="Calibri"/>
              <a:sym typeface="Calibri"/>
            </a:endParaRPr>
          </a:p>
        </p:txBody>
      </p:sp>
      <p:sp>
        <p:nvSpPr>
          <p:cNvPr id="584" name="Google Shape;584;p18"/>
          <p:cNvSpPr txBox="1"/>
          <p:nvPr/>
        </p:nvSpPr>
        <p:spPr>
          <a:xfrm>
            <a:off x="790956" y="2424989"/>
            <a:ext cx="130759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Hooks &amp; Hangers</a:t>
            </a:r>
            <a:endParaRPr b="0" i="0" sz="1100" u="none" cap="none" strike="noStrike">
              <a:solidFill>
                <a:schemeClr val="dk1"/>
              </a:solidFill>
              <a:latin typeface="Calibri"/>
              <a:ea typeface="Calibri"/>
              <a:cs typeface="Calibri"/>
              <a:sym typeface="Calibri"/>
            </a:endParaRPr>
          </a:p>
        </p:txBody>
      </p:sp>
      <p:sp>
        <p:nvSpPr>
          <p:cNvPr id="585" name="Google Shape;585;p18"/>
          <p:cNvSpPr txBox="1"/>
          <p:nvPr/>
        </p:nvSpPr>
        <p:spPr>
          <a:xfrm>
            <a:off x="790956" y="2968142"/>
            <a:ext cx="134599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Shelving Systems</a:t>
            </a:r>
            <a:endParaRPr b="0" i="0" sz="1100" u="none" cap="none" strike="noStrike">
              <a:solidFill>
                <a:schemeClr val="dk1"/>
              </a:solidFill>
              <a:latin typeface="Calibri"/>
              <a:ea typeface="Calibri"/>
              <a:cs typeface="Calibri"/>
              <a:sym typeface="Calibri"/>
            </a:endParaRPr>
          </a:p>
        </p:txBody>
      </p:sp>
      <p:sp>
        <p:nvSpPr>
          <p:cNvPr id="586" name="Google Shape;586;p18"/>
          <p:cNvSpPr txBox="1"/>
          <p:nvPr/>
        </p:nvSpPr>
        <p:spPr>
          <a:xfrm>
            <a:off x="790956" y="3511296"/>
            <a:ext cx="17080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Storage &amp; Organization</a:t>
            </a:r>
            <a:endParaRPr b="0" i="0" sz="1100" u="none" cap="none" strike="noStrike">
              <a:solidFill>
                <a:schemeClr val="dk1"/>
              </a:solidFill>
              <a:latin typeface="Calibri"/>
              <a:ea typeface="Calibri"/>
              <a:cs typeface="Calibri"/>
              <a:sym typeface="Calibri"/>
            </a:endParaRPr>
          </a:p>
        </p:txBody>
      </p:sp>
      <p:sp>
        <p:nvSpPr>
          <p:cNvPr id="587" name="Google Shape;587;p18"/>
          <p:cNvSpPr txBox="1"/>
          <p:nvPr/>
        </p:nvSpPr>
        <p:spPr>
          <a:xfrm>
            <a:off x="790956" y="4053535"/>
            <a:ext cx="7269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Cabinets</a:t>
            </a:r>
            <a:endParaRPr b="0" i="0" sz="1100" u="none" cap="none" strike="noStrike">
              <a:solidFill>
                <a:schemeClr val="dk1"/>
              </a:solidFill>
              <a:latin typeface="Calibri"/>
              <a:ea typeface="Calibri"/>
              <a:cs typeface="Calibri"/>
              <a:sym typeface="Calibri"/>
            </a:endParaRPr>
          </a:p>
        </p:txBody>
      </p:sp>
      <p:sp>
        <p:nvSpPr>
          <p:cNvPr id="588" name="Google Shape;588;p18"/>
          <p:cNvSpPr txBox="1"/>
          <p:nvPr/>
        </p:nvSpPr>
        <p:spPr>
          <a:xfrm>
            <a:off x="790956" y="4596689"/>
            <a:ext cx="10698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Rails &amp; Tracks</a:t>
            </a:r>
            <a:endParaRPr b="0" i="0" sz="1100" u="none" cap="none" strike="noStrike">
              <a:solidFill>
                <a:schemeClr val="dk1"/>
              </a:solidFill>
              <a:latin typeface="Calibri"/>
              <a:ea typeface="Calibri"/>
              <a:cs typeface="Calibri"/>
              <a:sym typeface="Calibri"/>
            </a:endParaRPr>
          </a:p>
        </p:txBody>
      </p:sp>
      <p:sp>
        <p:nvSpPr>
          <p:cNvPr id="589" name="Google Shape;589;p18"/>
          <p:cNvSpPr txBox="1"/>
          <p:nvPr/>
        </p:nvSpPr>
        <p:spPr>
          <a:xfrm>
            <a:off x="790956" y="5139842"/>
            <a:ext cx="13651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Overhead Storage</a:t>
            </a:r>
            <a:endParaRPr b="0" i="0" sz="1100" u="none" cap="none" strike="noStrike">
              <a:solidFill>
                <a:schemeClr val="dk1"/>
              </a:solidFill>
              <a:latin typeface="Calibri"/>
              <a:ea typeface="Calibri"/>
              <a:cs typeface="Calibri"/>
              <a:sym typeface="Calibri"/>
            </a:endParaRPr>
          </a:p>
        </p:txBody>
      </p:sp>
      <p:sp>
        <p:nvSpPr>
          <p:cNvPr id="590" name="Google Shape;590;p18"/>
          <p:cNvSpPr txBox="1"/>
          <p:nvPr/>
        </p:nvSpPr>
        <p:spPr>
          <a:xfrm>
            <a:off x="790956" y="5682996"/>
            <a:ext cx="10698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Workbenches</a:t>
            </a:r>
            <a:endParaRPr b="0" i="0" sz="1100" u="none" cap="none" strike="noStrike">
              <a:solidFill>
                <a:schemeClr val="dk1"/>
              </a:solidFill>
              <a:latin typeface="Calibri"/>
              <a:ea typeface="Calibri"/>
              <a:cs typeface="Calibri"/>
              <a:sym typeface="Calibri"/>
            </a:endParaRPr>
          </a:p>
        </p:txBody>
      </p:sp>
      <p:sp>
        <p:nvSpPr>
          <p:cNvPr id="591" name="Google Shape;591;p18"/>
          <p:cNvSpPr txBox="1"/>
          <p:nvPr/>
        </p:nvSpPr>
        <p:spPr>
          <a:xfrm>
            <a:off x="3200400" y="1867205"/>
            <a:ext cx="972007"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SKU Count</a:t>
            </a:r>
            <a:endParaRPr b="0" i="0" sz="1200" u="none" cap="none" strike="noStrike">
              <a:solidFill>
                <a:schemeClr val="dk1"/>
              </a:solidFill>
              <a:latin typeface="Calibri"/>
              <a:ea typeface="Calibri"/>
              <a:cs typeface="Calibri"/>
              <a:sym typeface="Calibri"/>
            </a:endParaRPr>
          </a:p>
        </p:txBody>
      </p:sp>
      <p:sp>
        <p:nvSpPr>
          <p:cNvPr id="592" name="Google Shape;592;p18"/>
          <p:cNvSpPr txBox="1"/>
          <p:nvPr/>
        </p:nvSpPr>
        <p:spPr>
          <a:xfrm>
            <a:off x="3599078" y="2424989"/>
            <a:ext cx="66019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(40.3%)</a:t>
            </a:r>
            <a:endParaRPr b="0" i="0" sz="1100" u="none" cap="none" strike="noStrike">
              <a:solidFill>
                <a:schemeClr val="dk1"/>
              </a:solidFill>
              <a:latin typeface="Calibri"/>
              <a:ea typeface="Calibri"/>
              <a:cs typeface="Calibri"/>
              <a:sym typeface="Calibri"/>
            </a:endParaRPr>
          </a:p>
        </p:txBody>
      </p:sp>
      <p:sp>
        <p:nvSpPr>
          <p:cNvPr id="593" name="Google Shape;593;p18"/>
          <p:cNvSpPr txBox="1"/>
          <p:nvPr/>
        </p:nvSpPr>
        <p:spPr>
          <a:xfrm>
            <a:off x="3577133" y="2968142"/>
            <a:ext cx="6501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(25.3%)</a:t>
            </a:r>
            <a:endParaRPr b="0" i="0" sz="1100" u="none" cap="none" strike="noStrike">
              <a:solidFill>
                <a:schemeClr val="dk1"/>
              </a:solidFill>
              <a:latin typeface="Calibri"/>
              <a:ea typeface="Calibri"/>
              <a:cs typeface="Calibri"/>
              <a:sym typeface="Calibri"/>
            </a:endParaRPr>
          </a:p>
        </p:txBody>
      </p:sp>
      <p:sp>
        <p:nvSpPr>
          <p:cNvPr id="594" name="Google Shape;594;p18"/>
          <p:cNvSpPr txBox="1"/>
          <p:nvPr/>
        </p:nvSpPr>
        <p:spPr>
          <a:xfrm>
            <a:off x="3575304" y="3511296"/>
            <a:ext cx="5650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(17.1%)</a:t>
            </a:r>
            <a:endParaRPr b="0" i="0" sz="1100" u="none" cap="none" strike="noStrike">
              <a:solidFill>
                <a:schemeClr val="dk1"/>
              </a:solidFill>
              <a:latin typeface="Calibri"/>
              <a:ea typeface="Calibri"/>
              <a:cs typeface="Calibri"/>
              <a:sym typeface="Calibri"/>
            </a:endParaRPr>
          </a:p>
        </p:txBody>
      </p:sp>
      <p:sp>
        <p:nvSpPr>
          <p:cNvPr id="595" name="Google Shape;595;p18"/>
          <p:cNvSpPr txBox="1"/>
          <p:nvPr/>
        </p:nvSpPr>
        <p:spPr>
          <a:xfrm>
            <a:off x="3200400" y="4053535"/>
            <a:ext cx="80284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678 (7.1%)</a:t>
            </a:r>
            <a:endParaRPr b="0" i="0" sz="1100" u="none" cap="none" strike="noStrike">
              <a:solidFill>
                <a:schemeClr val="dk1"/>
              </a:solidFill>
              <a:latin typeface="Calibri"/>
              <a:ea typeface="Calibri"/>
              <a:cs typeface="Calibri"/>
              <a:sym typeface="Calibri"/>
            </a:endParaRPr>
          </a:p>
        </p:txBody>
      </p:sp>
      <p:sp>
        <p:nvSpPr>
          <p:cNvPr id="596" name="Google Shape;596;p18"/>
          <p:cNvSpPr txBox="1"/>
          <p:nvPr/>
        </p:nvSpPr>
        <p:spPr>
          <a:xfrm>
            <a:off x="3200400" y="4596689"/>
            <a:ext cx="86959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534 (5.6%)</a:t>
            </a:r>
            <a:endParaRPr b="0" i="0" sz="1100" u="none" cap="none" strike="noStrike">
              <a:solidFill>
                <a:schemeClr val="dk1"/>
              </a:solidFill>
              <a:latin typeface="Calibri"/>
              <a:ea typeface="Calibri"/>
              <a:cs typeface="Calibri"/>
              <a:sym typeface="Calibri"/>
            </a:endParaRPr>
          </a:p>
        </p:txBody>
      </p:sp>
      <p:sp>
        <p:nvSpPr>
          <p:cNvPr id="597" name="Google Shape;597;p18"/>
          <p:cNvSpPr txBox="1"/>
          <p:nvPr/>
        </p:nvSpPr>
        <p:spPr>
          <a:xfrm>
            <a:off x="3200400" y="5139842"/>
            <a:ext cx="86959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287 (3.0%)</a:t>
            </a:r>
            <a:endParaRPr b="0" i="0" sz="1100" u="none" cap="none" strike="noStrike">
              <a:solidFill>
                <a:schemeClr val="dk1"/>
              </a:solidFill>
              <a:latin typeface="Calibri"/>
              <a:ea typeface="Calibri"/>
              <a:cs typeface="Calibri"/>
              <a:sym typeface="Calibri"/>
            </a:endParaRPr>
          </a:p>
        </p:txBody>
      </p:sp>
      <p:sp>
        <p:nvSpPr>
          <p:cNvPr id="598" name="Google Shape;598;p18"/>
          <p:cNvSpPr txBox="1"/>
          <p:nvPr/>
        </p:nvSpPr>
        <p:spPr>
          <a:xfrm>
            <a:off x="3200400" y="5682996"/>
            <a:ext cx="80284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157 (1.6%)</a:t>
            </a:r>
            <a:endParaRPr b="0" i="0" sz="1100" u="none" cap="none" strike="noStrike">
              <a:solidFill>
                <a:schemeClr val="dk1"/>
              </a:solidFill>
              <a:latin typeface="Calibri"/>
              <a:ea typeface="Calibri"/>
              <a:cs typeface="Calibri"/>
              <a:sym typeface="Calibri"/>
            </a:endParaRPr>
          </a:p>
        </p:txBody>
      </p:sp>
      <p:sp>
        <p:nvSpPr>
          <p:cNvPr id="599" name="Google Shape;599;p18"/>
          <p:cNvSpPr txBox="1"/>
          <p:nvPr/>
        </p:nvSpPr>
        <p:spPr>
          <a:xfrm>
            <a:off x="5171846" y="1867205"/>
            <a:ext cx="1314907"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Revenue Share</a:t>
            </a:r>
            <a:endParaRPr b="0" i="0" sz="1200" u="none" cap="none" strike="noStrike">
              <a:solidFill>
                <a:schemeClr val="dk1"/>
              </a:solidFill>
              <a:latin typeface="Calibri"/>
              <a:ea typeface="Calibri"/>
              <a:cs typeface="Calibri"/>
              <a:sym typeface="Calibri"/>
            </a:endParaRPr>
          </a:p>
        </p:txBody>
      </p:sp>
      <p:sp>
        <p:nvSpPr>
          <p:cNvPr id="600" name="Google Shape;600;p18"/>
          <p:cNvSpPr txBox="1"/>
          <p:nvPr/>
        </p:nvSpPr>
        <p:spPr>
          <a:xfrm>
            <a:off x="5171846" y="2424989"/>
            <a:ext cx="43159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28%</a:t>
            </a:r>
            <a:endParaRPr b="0" i="0" sz="1100" u="none" cap="none" strike="noStrike">
              <a:solidFill>
                <a:schemeClr val="dk1"/>
              </a:solidFill>
              <a:latin typeface="Calibri"/>
              <a:ea typeface="Calibri"/>
              <a:cs typeface="Calibri"/>
              <a:sym typeface="Calibri"/>
            </a:endParaRPr>
          </a:p>
        </p:txBody>
      </p:sp>
      <p:sp>
        <p:nvSpPr>
          <p:cNvPr id="601" name="Google Shape;601;p18"/>
          <p:cNvSpPr txBox="1"/>
          <p:nvPr/>
        </p:nvSpPr>
        <p:spPr>
          <a:xfrm>
            <a:off x="5171846" y="2968142"/>
            <a:ext cx="43159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22%</a:t>
            </a:r>
            <a:endParaRPr b="0" i="0" sz="1100" u="none" cap="none" strike="noStrike">
              <a:solidFill>
                <a:schemeClr val="dk1"/>
              </a:solidFill>
              <a:latin typeface="Calibri"/>
              <a:ea typeface="Calibri"/>
              <a:cs typeface="Calibri"/>
              <a:sym typeface="Calibri"/>
            </a:endParaRPr>
          </a:p>
        </p:txBody>
      </p:sp>
      <p:sp>
        <p:nvSpPr>
          <p:cNvPr id="602" name="Google Shape;602;p18"/>
          <p:cNvSpPr txBox="1"/>
          <p:nvPr/>
        </p:nvSpPr>
        <p:spPr>
          <a:xfrm>
            <a:off x="5171846" y="3511296"/>
            <a:ext cx="40325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18%</a:t>
            </a:r>
            <a:endParaRPr b="0" i="0" sz="1100" u="none" cap="none" strike="noStrike">
              <a:solidFill>
                <a:schemeClr val="dk1"/>
              </a:solidFill>
              <a:latin typeface="Calibri"/>
              <a:ea typeface="Calibri"/>
              <a:cs typeface="Calibri"/>
              <a:sym typeface="Calibri"/>
            </a:endParaRPr>
          </a:p>
        </p:txBody>
      </p:sp>
      <p:sp>
        <p:nvSpPr>
          <p:cNvPr id="603" name="Google Shape;603;p18"/>
          <p:cNvSpPr txBox="1"/>
          <p:nvPr/>
        </p:nvSpPr>
        <p:spPr>
          <a:xfrm>
            <a:off x="5171846" y="4053535"/>
            <a:ext cx="40325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19%</a:t>
            </a:r>
            <a:endParaRPr b="0" i="0" sz="1100" u="none" cap="none" strike="noStrike">
              <a:solidFill>
                <a:schemeClr val="dk1"/>
              </a:solidFill>
              <a:latin typeface="Calibri"/>
              <a:ea typeface="Calibri"/>
              <a:cs typeface="Calibri"/>
              <a:sym typeface="Calibri"/>
            </a:endParaRPr>
          </a:p>
        </p:txBody>
      </p:sp>
      <p:sp>
        <p:nvSpPr>
          <p:cNvPr id="604" name="Google Shape;604;p18"/>
          <p:cNvSpPr txBox="1"/>
          <p:nvPr/>
        </p:nvSpPr>
        <p:spPr>
          <a:xfrm>
            <a:off x="5171846" y="4596689"/>
            <a:ext cx="34564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8%</a:t>
            </a:r>
            <a:endParaRPr b="0" i="0" sz="1100" u="none" cap="none" strike="noStrike">
              <a:solidFill>
                <a:schemeClr val="dk1"/>
              </a:solidFill>
              <a:latin typeface="Calibri"/>
              <a:ea typeface="Calibri"/>
              <a:cs typeface="Calibri"/>
              <a:sym typeface="Calibri"/>
            </a:endParaRPr>
          </a:p>
        </p:txBody>
      </p:sp>
      <p:sp>
        <p:nvSpPr>
          <p:cNvPr id="605" name="Google Shape;605;p18"/>
          <p:cNvSpPr txBox="1"/>
          <p:nvPr/>
        </p:nvSpPr>
        <p:spPr>
          <a:xfrm>
            <a:off x="5171846" y="5139842"/>
            <a:ext cx="34564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4%</a:t>
            </a:r>
            <a:endParaRPr b="0" i="0" sz="1100" u="none" cap="none" strike="noStrike">
              <a:solidFill>
                <a:schemeClr val="dk1"/>
              </a:solidFill>
              <a:latin typeface="Calibri"/>
              <a:ea typeface="Calibri"/>
              <a:cs typeface="Calibri"/>
              <a:sym typeface="Calibri"/>
            </a:endParaRPr>
          </a:p>
        </p:txBody>
      </p:sp>
      <p:sp>
        <p:nvSpPr>
          <p:cNvPr id="606" name="Google Shape;606;p18"/>
          <p:cNvSpPr txBox="1"/>
          <p:nvPr/>
        </p:nvSpPr>
        <p:spPr>
          <a:xfrm>
            <a:off x="5171846" y="5682996"/>
            <a:ext cx="3072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607" name="Google Shape;607;p18"/>
          <p:cNvSpPr txBox="1"/>
          <p:nvPr/>
        </p:nvSpPr>
        <p:spPr>
          <a:xfrm>
            <a:off x="6815023" y="1867205"/>
            <a:ext cx="876910"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Avg Price</a:t>
            </a:r>
            <a:endParaRPr b="0" i="0" sz="1200" u="none" cap="none" strike="noStrike">
              <a:solidFill>
                <a:schemeClr val="dk1"/>
              </a:solidFill>
              <a:latin typeface="Calibri"/>
              <a:ea typeface="Calibri"/>
              <a:cs typeface="Calibri"/>
              <a:sym typeface="Calibri"/>
            </a:endParaRPr>
          </a:p>
        </p:txBody>
      </p:sp>
      <p:sp>
        <p:nvSpPr>
          <p:cNvPr id="608" name="Google Shape;608;p18"/>
          <p:cNvSpPr txBox="1"/>
          <p:nvPr/>
        </p:nvSpPr>
        <p:spPr>
          <a:xfrm>
            <a:off x="6815023" y="2424989"/>
            <a:ext cx="5650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$12.99</a:t>
            </a:r>
            <a:endParaRPr b="0" i="0" sz="1100" u="none" cap="none" strike="noStrike">
              <a:solidFill>
                <a:schemeClr val="dk1"/>
              </a:solidFill>
              <a:latin typeface="Calibri"/>
              <a:ea typeface="Calibri"/>
              <a:cs typeface="Calibri"/>
              <a:sym typeface="Calibri"/>
            </a:endParaRPr>
          </a:p>
        </p:txBody>
      </p:sp>
      <p:sp>
        <p:nvSpPr>
          <p:cNvPr id="609" name="Google Shape;609;p18"/>
          <p:cNvSpPr txBox="1"/>
          <p:nvPr/>
        </p:nvSpPr>
        <p:spPr>
          <a:xfrm>
            <a:off x="6815023" y="2968142"/>
            <a:ext cx="59344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$45.00</a:t>
            </a:r>
            <a:endParaRPr b="0" i="0" sz="1100" u="none" cap="none" strike="noStrike">
              <a:solidFill>
                <a:schemeClr val="dk1"/>
              </a:solidFill>
              <a:latin typeface="Calibri"/>
              <a:ea typeface="Calibri"/>
              <a:cs typeface="Calibri"/>
              <a:sym typeface="Calibri"/>
            </a:endParaRPr>
          </a:p>
        </p:txBody>
      </p:sp>
      <p:sp>
        <p:nvSpPr>
          <p:cNvPr id="610" name="Google Shape;610;p18"/>
          <p:cNvSpPr txBox="1"/>
          <p:nvPr/>
        </p:nvSpPr>
        <p:spPr>
          <a:xfrm>
            <a:off x="6815023" y="3511296"/>
            <a:ext cx="59344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$34.99</a:t>
            </a:r>
            <a:endParaRPr b="0" i="0" sz="1100" u="none" cap="none" strike="noStrike">
              <a:solidFill>
                <a:schemeClr val="dk1"/>
              </a:solidFill>
              <a:latin typeface="Calibri"/>
              <a:ea typeface="Calibri"/>
              <a:cs typeface="Calibri"/>
              <a:sym typeface="Calibri"/>
            </a:endParaRPr>
          </a:p>
        </p:txBody>
      </p:sp>
      <p:sp>
        <p:nvSpPr>
          <p:cNvPr id="611" name="Google Shape;611;p18"/>
          <p:cNvSpPr txBox="1"/>
          <p:nvPr/>
        </p:nvSpPr>
        <p:spPr>
          <a:xfrm>
            <a:off x="6815023" y="4596689"/>
            <a:ext cx="59344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$89.00</a:t>
            </a:r>
            <a:endParaRPr b="0" i="0" sz="1100" u="none" cap="none" strike="noStrike">
              <a:solidFill>
                <a:schemeClr val="dk1"/>
              </a:solidFill>
              <a:latin typeface="Calibri"/>
              <a:ea typeface="Calibri"/>
              <a:cs typeface="Calibri"/>
              <a:sym typeface="Calibri"/>
            </a:endParaRPr>
          </a:p>
        </p:txBody>
      </p:sp>
      <p:sp>
        <p:nvSpPr>
          <p:cNvPr id="612" name="Google Shape;612;p18"/>
          <p:cNvSpPr txBox="1"/>
          <p:nvPr/>
        </p:nvSpPr>
        <p:spPr>
          <a:xfrm>
            <a:off x="6815023" y="5139842"/>
            <a:ext cx="6501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$129.00</a:t>
            </a:r>
            <a:endParaRPr b="0" i="0" sz="1100" u="none" cap="none" strike="noStrike">
              <a:solidFill>
                <a:schemeClr val="dk1"/>
              </a:solidFill>
              <a:latin typeface="Calibri"/>
              <a:ea typeface="Calibri"/>
              <a:cs typeface="Calibri"/>
              <a:sym typeface="Calibri"/>
            </a:endParaRPr>
          </a:p>
        </p:txBody>
      </p:sp>
      <p:sp>
        <p:nvSpPr>
          <p:cNvPr id="613" name="Google Shape;613;p18"/>
          <p:cNvSpPr txBox="1"/>
          <p:nvPr/>
        </p:nvSpPr>
        <p:spPr>
          <a:xfrm>
            <a:off x="6815023" y="5682996"/>
            <a:ext cx="6501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$199.00</a:t>
            </a:r>
            <a:endParaRPr b="0" i="0" sz="1100" u="none" cap="none" strike="noStrike">
              <a:solidFill>
                <a:schemeClr val="dk1"/>
              </a:solidFill>
              <a:latin typeface="Calibri"/>
              <a:ea typeface="Calibri"/>
              <a:cs typeface="Calibri"/>
              <a:sym typeface="Calibri"/>
            </a:endParaRPr>
          </a:p>
        </p:txBody>
      </p:sp>
      <p:sp>
        <p:nvSpPr>
          <p:cNvPr id="614" name="Google Shape;614;p18"/>
          <p:cNvSpPr txBox="1"/>
          <p:nvPr/>
        </p:nvSpPr>
        <p:spPr>
          <a:xfrm>
            <a:off x="8458200" y="1867205"/>
            <a:ext cx="1124712"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Growth Rate</a:t>
            </a:r>
            <a:endParaRPr b="0" i="0" sz="1200" u="none" cap="none" strike="noStrike">
              <a:solidFill>
                <a:schemeClr val="dk1"/>
              </a:solidFill>
              <a:latin typeface="Calibri"/>
              <a:ea typeface="Calibri"/>
              <a:cs typeface="Calibri"/>
              <a:sym typeface="Calibri"/>
            </a:endParaRPr>
          </a:p>
        </p:txBody>
      </p:sp>
      <p:sp>
        <p:nvSpPr>
          <p:cNvPr id="615" name="Google Shape;615;p18"/>
          <p:cNvSpPr txBox="1"/>
          <p:nvPr/>
        </p:nvSpPr>
        <p:spPr>
          <a:xfrm>
            <a:off x="10101377" y="1867205"/>
            <a:ext cx="1400861"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Market Maturity</a:t>
            </a:r>
            <a:endParaRPr b="0" i="0" sz="1200" u="none" cap="none" strike="noStrike">
              <a:solidFill>
                <a:schemeClr val="dk1"/>
              </a:solidFill>
              <a:latin typeface="Calibri"/>
              <a:ea typeface="Calibri"/>
              <a:cs typeface="Calibri"/>
              <a:sym typeface="Calibri"/>
            </a:endParaRPr>
          </a:p>
        </p:txBody>
      </p:sp>
      <p:sp>
        <p:nvSpPr>
          <p:cNvPr id="616" name="Google Shape;616;p18"/>
          <p:cNvSpPr txBox="1"/>
          <p:nvPr/>
        </p:nvSpPr>
        <p:spPr>
          <a:xfrm>
            <a:off x="10101377" y="2968142"/>
            <a:ext cx="67939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Growing</a:t>
            </a:r>
            <a:endParaRPr b="0" i="0" sz="1100" u="none" cap="none" strike="noStrike">
              <a:solidFill>
                <a:schemeClr val="dk1"/>
              </a:solidFill>
              <a:latin typeface="Calibri"/>
              <a:ea typeface="Calibri"/>
              <a:cs typeface="Calibri"/>
              <a:sym typeface="Calibri"/>
            </a:endParaRPr>
          </a:p>
        </p:txBody>
      </p:sp>
      <p:sp>
        <p:nvSpPr>
          <p:cNvPr id="617" name="Google Shape;617;p18"/>
          <p:cNvSpPr txBox="1"/>
          <p:nvPr/>
        </p:nvSpPr>
        <p:spPr>
          <a:xfrm>
            <a:off x="10101377" y="3511296"/>
            <a:ext cx="82204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Expanding</a:t>
            </a:r>
            <a:endParaRPr b="0" i="0" sz="1100" u="none" cap="none" strike="noStrike">
              <a:solidFill>
                <a:schemeClr val="dk1"/>
              </a:solidFill>
              <a:latin typeface="Calibri"/>
              <a:ea typeface="Calibri"/>
              <a:cs typeface="Calibri"/>
              <a:sym typeface="Calibri"/>
            </a:endParaRPr>
          </a:p>
        </p:txBody>
      </p:sp>
      <p:sp>
        <p:nvSpPr>
          <p:cNvPr id="618" name="Google Shape;618;p18"/>
          <p:cNvSpPr txBox="1"/>
          <p:nvPr/>
        </p:nvSpPr>
        <p:spPr>
          <a:xfrm>
            <a:off x="10101377" y="4053535"/>
            <a:ext cx="53583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Stable</a:t>
            </a:r>
            <a:endParaRPr b="0" i="0" sz="1100" u="none" cap="none" strike="noStrike">
              <a:solidFill>
                <a:schemeClr val="dk1"/>
              </a:solidFill>
              <a:latin typeface="Calibri"/>
              <a:ea typeface="Calibri"/>
              <a:cs typeface="Calibri"/>
              <a:sym typeface="Calibri"/>
            </a:endParaRPr>
          </a:p>
        </p:txBody>
      </p:sp>
      <p:sp>
        <p:nvSpPr>
          <p:cNvPr id="619" name="Google Shape;619;p18"/>
          <p:cNvSpPr txBox="1"/>
          <p:nvPr/>
        </p:nvSpPr>
        <p:spPr>
          <a:xfrm>
            <a:off x="3200400" y="2444191"/>
            <a:ext cx="5074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3,847</a:t>
            </a:r>
            <a:endParaRPr b="0" i="0" sz="1100" u="none" cap="none" strike="noStrike">
              <a:solidFill>
                <a:schemeClr val="dk1"/>
              </a:solidFill>
              <a:latin typeface="Calibri"/>
              <a:ea typeface="Calibri"/>
              <a:cs typeface="Calibri"/>
              <a:sym typeface="Calibri"/>
            </a:endParaRPr>
          </a:p>
        </p:txBody>
      </p:sp>
      <p:sp>
        <p:nvSpPr>
          <p:cNvPr id="620" name="Google Shape;620;p18"/>
          <p:cNvSpPr txBox="1"/>
          <p:nvPr/>
        </p:nvSpPr>
        <p:spPr>
          <a:xfrm>
            <a:off x="3200400" y="2987345"/>
            <a:ext cx="4882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2,419</a:t>
            </a:r>
            <a:endParaRPr b="0" i="0" sz="1100" u="none" cap="none" strike="noStrike">
              <a:solidFill>
                <a:schemeClr val="dk1"/>
              </a:solidFill>
              <a:latin typeface="Calibri"/>
              <a:ea typeface="Calibri"/>
              <a:cs typeface="Calibri"/>
              <a:sym typeface="Calibri"/>
            </a:endParaRPr>
          </a:p>
        </p:txBody>
      </p:sp>
      <p:sp>
        <p:nvSpPr>
          <p:cNvPr id="621" name="Google Shape;621;p18"/>
          <p:cNvSpPr txBox="1"/>
          <p:nvPr/>
        </p:nvSpPr>
        <p:spPr>
          <a:xfrm>
            <a:off x="3200400" y="3529584"/>
            <a:ext cx="4882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1,633</a:t>
            </a:r>
            <a:endParaRPr b="0" i="0" sz="1100" u="none" cap="none" strike="noStrike">
              <a:solidFill>
                <a:schemeClr val="dk1"/>
              </a:solidFill>
              <a:latin typeface="Calibri"/>
              <a:ea typeface="Calibri"/>
              <a:cs typeface="Calibri"/>
              <a:sym typeface="Calibri"/>
            </a:endParaRPr>
          </a:p>
        </p:txBody>
      </p:sp>
      <p:sp>
        <p:nvSpPr>
          <p:cNvPr id="622" name="Google Shape;622;p18"/>
          <p:cNvSpPr txBox="1"/>
          <p:nvPr/>
        </p:nvSpPr>
        <p:spPr>
          <a:xfrm>
            <a:off x="8458200" y="2444191"/>
            <a:ext cx="74615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+8% YoY</a:t>
            </a:r>
            <a:endParaRPr b="0" i="0" sz="1100" u="none" cap="none" strike="noStrike">
              <a:solidFill>
                <a:schemeClr val="dk1"/>
              </a:solidFill>
              <a:latin typeface="Calibri"/>
              <a:ea typeface="Calibri"/>
              <a:cs typeface="Calibri"/>
              <a:sym typeface="Calibri"/>
            </a:endParaRPr>
          </a:p>
        </p:txBody>
      </p:sp>
      <p:sp>
        <p:nvSpPr>
          <p:cNvPr id="623" name="Google Shape;623;p18"/>
          <p:cNvSpPr txBox="1"/>
          <p:nvPr/>
        </p:nvSpPr>
        <p:spPr>
          <a:xfrm>
            <a:off x="8458200" y="2987345"/>
            <a:ext cx="8028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+12% YoY</a:t>
            </a:r>
            <a:endParaRPr b="0" i="0" sz="1100" u="none" cap="none" strike="noStrike">
              <a:solidFill>
                <a:schemeClr val="dk1"/>
              </a:solidFill>
              <a:latin typeface="Calibri"/>
              <a:ea typeface="Calibri"/>
              <a:cs typeface="Calibri"/>
              <a:sym typeface="Calibri"/>
            </a:endParaRPr>
          </a:p>
        </p:txBody>
      </p:sp>
      <p:sp>
        <p:nvSpPr>
          <p:cNvPr id="624" name="Google Shape;624;p18"/>
          <p:cNvSpPr txBox="1"/>
          <p:nvPr/>
        </p:nvSpPr>
        <p:spPr>
          <a:xfrm>
            <a:off x="8458200" y="3529584"/>
            <a:ext cx="79369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+15% YoY</a:t>
            </a:r>
            <a:endParaRPr b="0" i="0" sz="1100" u="none" cap="none" strike="noStrike">
              <a:solidFill>
                <a:schemeClr val="dk1"/>
              </a:solidFill>
              <a:latin typeface="Calibri"/>
              <a:ea typeface="Calibri"/>
              <a:cs typeface="Calibri"/>
              <a:sym typeface="Calibri"/>
            </a:endParaRPr>
          </a:p>
        </p:txBody>
      </p:sp>
      <p:sp>
        <p:nvSpPr>
          <p:cNvPr id="625" name="Google Shape;625;p18"/>
          <p:cNvSpPr txBox="1"/>
          <p:nvPr/>
        </p:nvSpPr>
        <p:spPr>
          <a:xfrm>
            <a:off x="8458200" y="4072738"/>
            <a:ext cx="7360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+5% YoY</a:t>
            </a:r>
            <a:endParaRPr b="0" i="0" sz="1100" u="none" cap="none" strike="noStrike">
              <a:solidFill>
                <a:schemeClr val="dk1"/>
              </a:solidFill>
              <a:latin typeface="Calibri"/>
              <a:ea typeface="Calibri"/>
              <a:cs typeface="Calibri"/>
              <a:sym typeface="Calibri"/>
            </a:endParaRPr>
          </a:p>
        </p:txBody>
      </p:sp>
      <p:sp>
        <p:nvSpPr>
          <p:cNvPr id="626" name="Google Shape;626;p18"/>
          <p:cNvSpPr txBox="1"/>
          <p:nvPr/>
        </p:nvSpPr>
        <p:spPr>
          <a:xfrm>
            <a:off x="10101377" y="2444191"/>
            <a:ext cx="166055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Inter"/>
              <a:buNone/>
            </a:pPr>
            <a:r>
              <a:rPr b="1" i="0" lang="en-US" sz="1100" u="none" cap="none" strike="noStrike">
                <a:solidFill>
                  <a:srgbClr val="6B7280"/>
                </a:solidFill>
                <a:latin typeface="Inter"/>
                <a:ea typeface="Inter"/>
                <a:cs typeface="Inter"/>
                <a:sym typeface="Inter"/>
              </a:rPr>
              <a:t>Mature/Commoditized</a:t>
            </a:r>
            <a:endParaRPr b="0" i="0" sz="1100" u="none" cap="none" strike="noStrike">
              <a:solidFill>
                <a:schemeClr val="dk1"/>
              </a:solidFill>
              <a:latin typeface="Calibri"/>
              <a:ea typeface="Calibri"/>
              <a:cs typeface="Calibri"/>
              <a:sym typeface="Calibri"/>
            </a:endParaRPr>
          </a:p>
        </p:txBody>
      </p:sp>
      <p:sp>
        <p:nvSpPr>
          <p:cNvPr id="627" name="Google Shape;627;p18"/>
          <p:cNvSpPr txBox="1"/>
          <p:nvPr/>
        </p:nvSpPr>
        <p:spPr>
          <a:xfrm>
            <a:off x="6815023" y="4072738"/>
            <a:ext cx="7077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100"/>
              <a:buFont typeface="Inter"/>
              <a:buNone/>
            </a:pPr>
            <a:r>
              <a:rPr b="1" i="0" lang="en-US" sz="1100" u="none" cap="none" strike="noStrike">
                <a:solidFill>
                  <a:srgbClr val="1E3A8A"/>
                </a:solidFill>
                <a:latin typeface="Inter"/>
                <a:ea typeface="Inter"/>
                <a:cs typeface="Inter"/>
                <a:sym typeface="Inter"/>
              </a:rPr>
              <a:t>$299.00</a:t>
            </a:r>
            <a:endParaRPr b="0" i="0" sz="1100" u="none" cap="none" strike="noStrike">
              <a:solidFill>
                <a:schemeClr val="dk1"/>
              </a:solidFill>
              <a:latin typeface="Calibri"/>
              <a:ea typeface="Calibri"/>
              <a:cs typeface="Calibri"/>
              <a:sym typeface="Calibri"/>
            </a:endParaRPr>
          </a:p>
        </p:txBody>
      </p:sp>
      <p:sp>
        <p:nvSpPr>
          <p:cNvPr id="628" name="Google Shape;628;p18"/>
          <p:cNvSpPr txBox="1"/>
          <p:nvPr/>
        </p:nvSpPr>
        <p:spPr>
          <a:xfrm>
            <a:off x="8458200" y="4615891"/>
            <a:ext cx="8220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+23% YoY</a:t>
            </a:r>
            <a:endParaRPr b="0" i="0" sz="1100" u="none" cap="none" strike="noStrike">
              <a:solidFill>
                <a:schemeClr val="dk1"/>
              </a:solidFill>
              <a:latin typeface="Calibri"/>
              <a:ea typeface="Calibri"/>
              <a:cs typeface="Calibri"/>
              <a:sym typeface="Calibri"/>
            </a:endParaRPr>
          </a:p>
        </p:txBody>
      </p:sp>
      <p:sp>
        <p:nvSpPr>
          <p:cNvPr id="629" name="Google Shape;629;p18"/>
          <p:cNvSpPr txBox="1"/>
          <p:nvPr/>
        </p:nvSpPr>
        <p:spPr>
          <a:xfrm>
            <a:off x="8458200" y="5159045"/>
            <a:ext cx="8028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+31% YoY</a:t>
            </a:r>
            <a:endParaRPr b="0" i="0" sz="1100" u="none" cap="none" strike="noStrike">
              <a:solidFill>
                <a:schemeClr val="dk1"/>
              </a:solidFill>
              <a:latin typeface="Calibri"/>
              <a:ea typeface="Calibri"/>
              <a:cs typeface="Calibri"/>
              <a:sym typeface="Calibri"/>
            </a:endParaRPr>
          </a:p>
        </p:txBody>
      </p:sp>
      <p:sp>
        <p:nvSpPr>
          <p:cNvPr id="630" name="Google Shape;630;p18"/>
          <p:cNvSpPr txBox="1"/>
          <p:nvPr/>
        </p:nvSpPr>
        <p:spPr>
          <a:xfrm>
            <a:off x="10101377" y="4615891"/>
            <a:ext cx="97475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100"/>
              <a:buFont typeface="Inter"/>
              <a:buNone/>
            </a:pPr>
            <a:r>
              <a:rPr b="1" i="0" lang="en-US" sz="1100" u="none" cap="none" strike="noStrike">
                <a:solidFill>
                  <a:srgbClr val="047857"/>
                </a:solidFill>
                <a:latin typeface="Inter"/>
                <a:ea typeface="Inter"/>
                <a:cs typeface="Inter"/>
                <a:sym typeface="Inter"/>
              </a:rPr>
              <a:t>High Growth</a:t>
            </a:r>
            <a:endParaRPr b="0" i="0" sz="1100" u="none" cap="none" strike="noStrike">
              <a:solidFill>
                <a:schemeClr val="dk1"/>
              </a:solidFill>
              <a:latin typeface="Calibri"/>
              <a:ea typeface="Calibri"/>
              <a:cs typeface="Calibri"/>
              <a:sym typeface="Calibri"/>
            </a:endParaRPr>
          </a:p>
        </p:txBody>
      </p:sp>
      <p:sp>
        <p:nvSpPr>
          <p:cNvPr id="631" name="Google Shape;631;p18"/>
          <p:cNvSpPr txBox="1"/>
          <p:nvPr/>
        </p:nvSpPr>
        <p:spPr>
          <a:xfrm>
            <a:off x="10101377" y="5159045"/>
            <a:ext cx="7644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100"/>
              <a:buFont typeface="Inter"/>
              <a:buNone/>
            </a:pPr>
            <a:r>
              <a:rPr b="1" i="0" lang="en-US" sz="1100" u="none" cap="none" strike="noStrike">
                <a:solidFill>
                  <a:srgbClr val="2563EB"/>
                </a:solidFill>
                <a:latin typeface="Inter"/>
                <a:ea typeface="Inter"/>
                <a:cs typeface="Inter"/>
                <a:sym typeface="Inter"/>
              </a:rPr>
              <a:t>Emerging</a:t>
            </a:r>
            <a:endParaRPr b="0" i="0" sz="1100" u="none" cap="none" strike="noStrike">
              <a:solidFill>
                <a:schemeClr val="dk1"/>
              </a:solidFill>
              <a:latin typeface="Calibri"/>
              <a:ea typeface="Calibri"/>
              <a:cs typeface="Calibri"/>
              <a:sym typeface="Calibri"/>
            </a:endParaRPr>
          </a:p>
        </p:txBody>
      </p:sp>
      <p:sp>
        <p:nvSpPr>
          <p:cNvPr id="632" name="Google Shape;632;p18"/>
          <p:cNvSpPr txBox="1"/>
          <p:nvPr/>
        </p:nvSpPr>
        <p:spPr>
          <a:xfrm>
            <a:off x="8458200" y="5701284"/>
            <a:ext cx="7077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Inter"/>
              <a:buNone/>
            </a:pPr>
            <a:r>
              <a:rPr b="1" i="0" lang="en-US" sz="1100" u="none" cap="none" strike="noStrike">
                <a:solidFill>
                  <a:srgbClr val="DC2626"/>
                </a:solidFill>
                <a:latin typeface="Inter"/>
                <a:ea typeface="Inter"/>
                <a:cs typeface="Inter"/>
                <a:sym typeface="Inter"/>
              </a:rPr>
              <a:t>-2% YoY</a:t>
            </a:r>
            <a:endParaRPr b="0" i="0" sz="1100" u="none" cap="none" strike="noStrike">
              <a:solidFill>
                <a:schemeClr val="dk1"/>
              </a:solidFill>
              <a:latin typeface="Calibri"/>
              <a:ea typeface="Calibri"/>
              <a:cs typeface="Calibri"/>
              <a:sym typeface="Calibri"/>
            </a:endParaRPr>
          </a:p>
        </p:txBody>
      </p:sp>
      <p:sp>
        <p:nvSpPr>
          <p:cNvPr id="633" name="Google Shape;633;p18"/>
          <p:cNvSpPr txBox="1"/>
          <p:nvPr/>
        </p:nvSpPr>
        <p:spPr>
          <a:xfrm>
            <a:off x="10101377" y="5701284"/>
            <a:ext cx="7552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100"/>
              <a:buFont typeface="Inter"/>
              <a:buNone/>
            </a:pPr>
            <a:r>
              <a:rPr b="1" i="0" lang="en-US" sz="1100" u="none" cap="none" strike="noStrike">
                <a:solidFill>
                  <a:srgbClr val="DC2626"/>
                </a:solidFill>
                <a:latin typeface="Inter"/>
                <a:ea typeface="Inter"/>
                <a:cs typeface="Inter"/>
                <a:sym typeface="Inter"/>
              </a:rPr>
              <a:t>Declining</a:t>
            </a:r>
            <a:endParaRPr b="0" i="0" sz="1100" u="none" cap="none" strike="noStrike">
              <a:solidFill>
                <a:schemeClr val="dk1"/>
              </a:solidFill>
              <a:latin typeface="Calibri"/>
              <a:ea typeface="Calibri"/>
              <a:cs typeface="Calibri"/>
              <a:sym typeface="Calibri"/>
            </a:endParaRPr>
          </a:p>
        </p:txBody>
      </p:sp>
      <p:sp>
        <p:nvSpPr>
          <p:cNvPr id="634" name="Google Shape;634;p18"/>
          <p:cNvSpPr/>
          <p:nvPr/>
        </p:nvSpPr>
        <p:spPr>
          <a:xfrm>
            <a:off x="609905" y="6302045"/>
            <a:ext cx="10972800" cy="9902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8"/>
          <p:cNvSpPr/>
          <p:nvPr/>
        </p:nvSpPr>
        <p:spPr>
          <a:xfrm>
            <a:off x="609905" y="6302045"/>
            <a:ext cx="38405" cy="9902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8"/>
          <p:cNvSpPr txBox="1"/>
          <p:nvPr/>
        </p:nvSpPr>
        <p:spPr>
          <a:xfrm>
            <a:off x="838505" y="6473038"/>
            <a:ext cx="10518343" cy="6382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Category Insight: The market exhibits a bifurcated structure where high-volume, low-price categories (hooks, hangers) dominate unit sales while premium categories (cabinets, overhead storage) capture disproportionate revenue share. Fastest growth is in emerging categories (overhead storage +31%, rails/tracks +23%).</a:t>
            </a:r>
            <a:endParaRPr b="0" i="0" sz="1100" u="none" cap="none" strike="noStrike">
              <a:solidFill>
                <a:schemeClr val="dk1"/>
              </a:solidFill>
              <a:latin typeface="Calibri"/>
              <a:ea typeface="Calibri"/>
              <a:cs typeface="Calibri"/>
              <a:sym typeface="Calibri"/>
            </a:endParaRPr>
          </a:p>
        </p:txBody>
      </p:sp>
      <p:sp>
        <p:nvSpPr>
          <p:cNvPr id="637" name="Google Shape;637;p18"/>
          <p:cNvSpPr txBox="1"/>
          <p:nvPr/>
        </p:nvSpPr>
        <p:spPr>
          <a:xfrm>
            <a:off x="609905" y="7616038"/>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638" name="Google Shape;638;p18"/>
          <p:cNvSpPr txBox="1"/>
          <p:nvPr/>
        </p:nvSpPr>
        <p:spPr>
          <a:xfrm>
            <a:off x="11446459" y="7616038"/>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9"/>
          <p:cNvSpPr/>
          <p:nvPr/>
        </p:nvSpPr>
        <p:spPr>
          <a:xfrm>
            <a:off x="0" y="0"/>
            <a:ext cx="12191695" cy="94009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9"/>
          <p:cNvSpPr/>
          <p:nvPr/>
        </p:nvSpPr>
        <p:spPr>
          <a:xfrm>
            <a:off x="0" y="0"/>
            <a:ext cx="12191695" cy="94009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txBox="1"/>
          <p:nvPr/>
        </p:nvSpPr>
        <p:spPr>
          <a:xfrm>
            <a:off x="609905" y="685800"/>
            <a:ext cx="75063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Price Architecture: Distribution &amp; Satisfaction</a:t>
            </a:r>
            <a:endParaRPr b="0" i="0" sz="2400" u="none" cap="none" strike="noStrike">
              <a:solidFill>
                <a:schemeClr val="dk1"/>
              </a:solidFill>
              <a:latin typeface="Calibri"/>
              <a:ea typeface="Calibri"/>
              <a:cs typeface="Calibri"/>
              <a:sym typeface="Calibri"/>
            </a:endParaRPr>
          </a:p>
        </p:txBody>
      </p:sp>
      <p:sp>
        <p:nvSpPr>
          <p:cNvPr id="648" name="Google Shape;648;p19"/>
          <p:cNvSpPr txBox="1"/>
          <p:nvPr/>
        </p:nvSpPr>
        <p:spPr>
          <a:xfrm>
            <a:off x="609905" y="1218895"/>
            <a:ext cx="5005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8,717 products with price data (87% coverage). Rating coverage: 18%</a:t>
            </a:r>
            <a:endParaRPr b="0" i="0" sz="1000" u="none" cap="none" strike="noStrike">
              <a:solidFill>
                <a:schemeClr val="dk1"/>
              </a:solidFill>
              <a:latin typeface="Calibri"/>
              <a:ea typeface="Calibri"/>
              <a:cs typeface="Calibri"/>
              <a:sym typeface="Calibri"/>
            </a:endParaRPr>
          </a:p>
        </p:txBody>
      </p:sp>
      <p:sp>
        <p:nvSpPr>
          <p:cNvPr id="649" name="Google Shape;649;p19"/>
          <p:cNvSpPr/>
          <p:nvPr/>
        </p:nvSpPr>
        <p:spPr>
          <a:xfrm>
            <a:off x="609905" y="1705356"/>
            <a:ext cx="10972800" cy="2857500"/>
          </a:xfrm>
          <a:prstGeom prst="roundRect">
            <a:avLst>
              <a:gd fmla="val 853"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0" name="Google Shape;650;p19"/>
          <p:cNvPicPr preferRelativeResize="0"/>
          <p:nvPr/>
        </p:nvPicPr>
        <p:blipFill rotWithShape="1">
          <a:blip r:embed="rId3">
            <a:alphaModFix/>
          </a:blip>
          <a:srcRect b="-2" l="0" r="0" t="-2"/>
          <a:stretch/>
        </p:blipFill>
        <p:spPr>
          <a:xfrm>
            <a:off x="771754" y="1867205"/>
            <a:ext cx="10649102" cy="2533802"/>
          </a:xfrm>
          <a:prstGeom prst="rect">
            <a:avLst/>
          </a:prstGeom>
          <a:noFill/>
          <a:ln>
            <a:noFill/>
          </a:ln>
        </p:spPr>
      </p:pic>
      <p:sp>
        <p:nvSpPr>
          <p:cNvPr id="651" name="Google Shape;651;p19"/>
          <p:cNvSpPr/>
          <p:nvPr/>
        </p:nvSpPr>
        <p:spPr>
          <a:xfrm>
            <a:off x="609905" y="4714646"/>
            <a:ext cx="10972800" cy="2885846"/>
          </a:xfrm>
          <a:prstGeom prst="roundRect">
            <a:avLst>
              <a:gd fmla="val 837"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9"/>
          <p:cNvSpPr/>
          <p:nvPr/>
        </p:nvSpPr>
        <p:spPr>
          <a:xfrm>
            <a:off x="619049" y="4724705"/>
            <a:ext cx="10953598" cy="819302"/>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9"/>
          <p:cNvSpPr/>
          <p:nvPr/>
        </p:nvSpPr>
        <p:spPr>
          <a:xfrm>
            <a:off x="619049" y="553486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9"/>
          <p:cNvSpPr/>
          <p:nvPr/>
        </p:nvSpPr>
        <p:spPr>
          <a:xfrm>
            <a:off x="619049" y="5544007"/>
            <a:ext cx="10953598" cy="5148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9"/>
          <p:cNvSpPr/>
          <p:nvPr/>
        </p:nvSpPr>
        <p:spPr>
          <a:xfrm>
            <a:off x="619049" y="604967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9"/>
          <p:cNvSpPr/>
          <p:nvPr/>
        </p:nvSpPr>
        <p:spPr>
          <a:xfrm>
            <a:off x="619049" y="6057900"/>
            <a:ext cx="10953598" cy="5148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9"/>
          <p:cNvSpPr/>
          <p:nvPr/>
        </p:nvSpPr>
        <p:spPr>
          <a:xfrm>
            <a:off x="619049" y="656356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9"/>
          <p:cNvSpPr/>
          <p:nvPr/>
        </p:nvSpPr>
        <p:spPr>
          <a:xfrm>
            <a:off x="619049" y="6572707"/>
            <a:ext cx="10953598" cy="5148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619049" y="707837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619049" y="7086600"/>
            <a:ext cx="10953598" cy="5047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txBox="1"/>
          <p:nvPr/>
        </p:nvSpPr>
        <p:spPr>
          <a:xfrm>
            <a:off x="923544" y="5038344"/>
            <a:ext cx="948233"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Price Range</a:t>
            </a:r>
            <a:endParaRPr b="0" i="0" sz="1000" u="none" cap="none" strike="noStrike">
              <a:solidFill>
                <a:schemeClr val="dk1"/>
              </a:solidFill>
              <a:latin typeface="Calibri"/>
              <a:ea typeface="Calibri"/>
              <a:cs typeface="Calibri"/>
              <a:sym typeface="Calibri"/>
            </a:endParaRPr>
          </a:p>
        </p:txBody>
      </p:sp>
      <p:sp>
        <p:nvSpPr>
          <p:cNvPr id="662" name="Google Shape;662;p19"/>
          <p:cNvSpPr txBox="1"/>
          <p:nvPr/>
        </p:nvSpPr>
        <p:spPr>
          <a:xfrm>
            <a:off x="2414930" y="5038344"/>
            <a:ext cx="103418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Market Share</a:t>
            </a:r>
            <a:endParaRPr b="0" i="0" sz="1000" u="none" cap="none" strike="noStrike">
              <a:solidFill>
                <a:schemeClr val="dk1"/>
              </a:solidFill>
              <a:latin typeface="Calibri"/>
              <a:ea typeface="Calibri"/>
              <a:cs typeface="Calibri"/>
              <a:sym typeface="Calibri"/>
            </a:endParaRPr>
          </a:p>
        </p:txBody>
      </p:sp>
      <p:sp>
        <p:nvSpPr>
          <p:cNvPr id="663" name="Google Shape;663;p19"/>
          <p:cNvSpPr txBox="1"/>
          <p:nvPr/>
        </p:nvSpPr>
        <p:spPr>
          <a:xfrm>
            <a:off x="3905402" y="5038344"/>
            <a:ext cx="872338"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Avg Rating</a:t>
            </a:r>
            <a:endParaRPr b="0" i="0" sz="1000" u="none" cap="none" strike="noStrike">
              <a:solidFill>
                <a:schemeClr val="dk1"/>
              </a:solidFill>
              <a:latin typeface="Calibri"/>
              <a:ea typeface="Calibri"/>
              <a:cs typeface="Calibri"/>
              <a:sym typeface="Calibri"/>
            </a:endParaRPr>
          </a:p>
        </p:txBody>
      </p:sp>
      <p:sp>
        <p:nvSpPr>
          <p:cNvPr id="664" name="Google Shape;664;p19"/>
          <p:cNvSpPr txBox="1"/>
          <p:nvPr/>
        </p:nvSpPr>
        <p:spPr>
          <a:xfrm>
            <a:off x="5396789" y="5038344"/>
            <a:ext cx="107167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Quality Issues</a:t>
            </a:r>
            <a:endParaRPr b="0" i="0" sz="1000" u="none" cap="none" strike="noStrike">
              <a:solidFill>
                <a:schemeClr val="dk1"/>
              </a:solidFill>
              <a:latin typeface="Calibri"/>
              <a:ea typeface="Calibri"/>
              <a:cs typeface="Calibri"/>
              <a:sym typeface="Calibri"/>
            </a:endParaRPr>
          </a:p>
        </p:txBody>
      </p:sp>
      <p:sp>
        <p:nvSpPr>
          <p:cNvPr id="665" name="Google Shape;665;p19"/>
          <p:cNvSpPr txBox="1"/>
          <p:nvPr/>
        </p:nvSpPr>
        <p:spPr>
          <a:xfrm>
            <a:off x="6887261" y="5038344"/>
            <a:ext cx="948233"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Price Range</a:t>
            </a:r>
            <a:endParaRPr b="0" i="0" sz="1000" u="none" cap="none" strike="noStrike">
              <a:solidFill>
                <a:schemeClr val="dk1"/>
              </a:solidFill>
              <a:latin typeface="Calibri"/>
              <a:ea typeface="Calibri"/>
              <a:cs typeface="Calibri"/>
              <a:sym typeface="Calibri"/>
            </a:endParaRPr>
          </a:p>
        </p:txBody>
      </p:sp>
      <p:sp>
        <p:nvSpPr>
          <p:cNvPr id="666" name="Google Shape;666;p19"/>
          <p:cNvSpPr txBox="1"/>
          <p:nvPr/>
        </p:nvSpPr>
        <p:spPr>
          <a:xfrm>
            <a:off x="8377733" y="5038344"/>
            <a:ext cx="103418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Market Share</a:t>
            </a:r>
            <a:endParaRPr b="0" i="0" sz="1000" u="none" cap="none" strike="noStrike">
              <a:solidFill>
                <a:schemeClr val="dk1"/>
              </a:solidFill>
              <a:latin typeface="Calibri"/>
              <a:ea typeface="Calibri"/>
              <a:cs typeface="Calibri"/>
              <a:sym typeface="Calibri"/>
            </a:endParaRPr>
          </a:p>
        </p:txBody>
      </p:sp>
      <p:sp>
        <p:nvSpPr>
          <p:cNvPr id="667" name="Google Shape;667;p19"/>
          <p:cNvSpPr txBox="1"/>
          <p:nvPr/>
        </p:nvSpPr>
        <p:spPr>
          <a:xfrm>
            <a:off x="9869119" y="5038344"/>
            <a:ext cx="872338"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Avg Rating</a:t>
            </a:r>
            <a:endParaRPr b="0" i="0" sz="1000" u="none" cap="none" strike="noStrike">
              <a:solidFill>
                <a:schemeClr val="dk1"/>
              </a:solidFill>
              <a:latin typeface="Calibri"/>
              <a:ea typeface="Calibri"/>
              <a:cs typeface="Calibri"/>
              <a:sym typeface="Calibri"/>
            </a:endParaRPr>
          </a:p>
        </p:txBody>
      </p:sp>
      <p:sp>
        <p:nvSpPr>
          <p:cNvPr id="668" name="Google Shape;668;p19"/>
          <p:cNvSpPr txBox="1"/>
          <p:nvPr/>
        </p:nvSpPr>
        <p:spPr>
          <a:xfrm>
            <a:off x="2305202" y="5715000"/>
            <a:ext cx="5193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33.9%</a:t>
            </a:r>
            <a:endParaRPr b="0" i="0" sz="1000" u="none" cap="none" strike="noStrike">
              <a:solidFill>
                <a:schemeClr val="dk1"/>
              </a:solidFill>
              <a:latin typeface="Calibri"/>
              <a:ea typeface="Calibri"/>
              <a:cs typeface="Calibri"/>
              <a:sym typeface="Calibri"/>
            </a:endParaRPr>
          </a:p>
        </p:txBody>
      </p:sp>
      <p:sp>
        <p:nvSpPr>
          <p:cNvPr id="669" name="Google Shape;669;p19"/>
          <p:cNvSpPr txBox="1"/>
          <p:nvPr/>
        </p:nvSpPr>
        <p:spPr>
          <a:xfrm>
            <a:off x="3838651" y="5715000"/>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3.2★</a:t>
            </a:r>
            <a:endParaRPr b="0" i="0" sz="1000" u="none" cap="none" strike="noStrike">
              <a:solidFill>
                <a:schemeClr val="dk1"/>
              </a:solidFill>
              <a:latin typeface="Calibri"/>
              <a:ea typeface="Calibri"/>
              <a:cs typeface="Calibri"/>
              <a:sym typeface="Calibri"/>
            </a:endParaRPr>
          </a:p>
        </p:txBody>
      </p:sp>
      <p:sp>
        <p:nvSpPr>
          <p:cNvPr id="670" name="Google Shape;670;p19"/>
          <p:cNvSpPr txBox="1"/>
          <p:nvPr/>
        </p:nvSpPr>
        <p:spPr>
          <a:xfrm>
            <a:off x="5372100" y="5715000"/>
            <a:ext cx="9674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67% negative</a:t>
            </a:r>
            <a:endParaRPr b="0" i="0" sz="1000" u="none" cap="none" strike="noStrike">
              <a:solidFill>
                <a:schemeClr val="dk1"/>
              </a:solidFill>
              <a:latin typeface="Calibri"/>
              <a:ea typeface="Calibri"/>
              <a:cs typeface="Calibri"/>
              <a:sym typeface="Calibri"/>
            </a:endParaRPr>
          </a:p>
        </p:txBody>
      </p:sp>
      <p:sp>
        <p:nvSpPr>
          <p:cNvPr id="671" name="Google Shape;671;p19"/>
          <p:cNvSpPr txBox="1"/>
          <p:nvPr/>
        </p:nvSpPr>
        <p:spPr>
          <a:xfrm>
            <a:off x="8438998" y="5715000"/>
            <a:ext cx="433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6.6%</a:t>
            </a:r>
            <a:endParaRPr b="0" i="0" sz="1000" u="none" cap="none" strike="noStrike">
              <a:solidFill>
                <a:schemeClr val="dk1"/>
              </a:solidFill>
              <a:latin typeface="Calibri"/>
              <a:ea typeface="Calibri"/>
              <a:cs typeface="Calibri"/>
              <a:sym typeface="Calibri"/>
            </a:endParaRPr>
          </a:p>
        </p:txBody>
      </p:sp>
      <p:sp>
        <p:nvSpPr>
          <p:cNvPr id="672" name="Google Shape;672;p19"/>
          <p:cNvSpPr txBox="1"/>
          <p:nvPr/>
        </p:nvSpPr>
        <p:spPr>
          <a:xfrm>
            <a:off x="9972446" y="5715000"/>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a:t>
            </a:r>
            <a:endParaRPr b="0" i="0" sz="1000" u="none" cap="none" strike="noStrike">
              <a:solidFill>
                <a:schemeClr val="dk1"/>
              </a:solidFill>
              <a:latin typeface="Calibri"/>
              <a:ea typeface="Calibri"/>
              <a:cs typeface="Calibri"/>
              <a:sym typeface="Calibri"/>
            </a:endParaRPr>
          </a:p>
        </p:txBody>
      </p:sp>
      <p:sp>
        <p:nvSpPr>
          <p:cNvPr id="673" name="Google Shape;673;p19"/>
          <p:cNvSpPr txBox="1"/>
          <p:nvPr/>
        </p:nvSpPr>
        <p:spPr>
          <a:xfrm>
            <a:off x="2305202" y="6229807"/>
            <a:ext cx="4818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30.1%</a:t>
            </a:r>
            <a:endParaRPr b="0" i="0" sz="1000" u="none" cap="none" strike="noStrike">
              <a:solidFill>
                <a:schemeClr val="dk1"/>
              </a:solidFill>
              <a:latin typeface="Calibri"/>
              <a:ea typeface="Calibri"/>
              <a:cs typeface="Calibri"/>
              <a:sym typeface="Calibri"/>
            </a:endParaRPr>
          </a:p>
        </p:txBody>
      </p:sp>
      <p:sp>
        <p:nvSpPr>
          <p:cNvPr id="674" name="Google Shape;674;p19"/>
          <p:cNvSpPr txBox="1"/>
          <p:nvPr/>
        </p:nvSpPr>
        <p:spPr>
          <a:xfrm>
            <a:off x="3838651" y="6229807"/>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a:t>
            </a:r>
            <a:endParaRPr b="0" i="0" sz="1000" u="none" cap="none" strike="noStrike">
              <a:solidFill>
                <a:schemeClr val="dk1"/>
              </a:solidFill>
              <a:latin typeface="Calibri"/>
              <a:ea typeface="Calibri"/>
              <a:cs typeface="Calibri"/>
              <a:sym typeface="Calibri"/>
            </a:endParaRPr>
          </a:p>
        </p:txBody>
      </p:sp>
      <p:sp>
        <p:nvSpPr>
          <p:cNvPr id="675" name="Google Shape;675;p19"/>
          <p:cNvSpPr txBox="1"/>
          <p:nvPr/>
        </p:nvSpPr>
        <p:spPr>
          <a:xfrm>
            <a:off x="5372100" y="6229807"/>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52% negative</a:t>
            </a:r>
            <a:endParaRPr b="0" i="0" sz="1000" u="none" cap="none" strike="noStrike">
              <a:solidFill>
                <a:schemeClr val="dk1"/>
              </a:solidFill>
              <a:latin typeface="Calibri"/>
              <a:ea typeface="Calibri"/>
              <a:cs typeface="Calibri"/>
              <a:sym typeface="Calibri"/>
            </a:endParaRPr>
          </a:p>
        </p:txBody>
      </p:sp>
      <p:sp>
        <p:nvSpPr>
          <p:cNvPr id="676" name="Google Shape;676;p19"/>
          <p:cNvSpPr txBox="1"/>
          <p:nvPr/>
        </p:nvSpPr>
        <p:spPr>
          <a:xfrm>
            <a:off x="8438998" y="6229807"/>
            <a:ext cx="433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3.0%</a:t>
            </a:r>
            <a:endParaRPr b="0" i="0" sz="1000" u="none" cap="none" strike="noStrike">
              <a:solidFill>
                <a:schemeClr val="dk1"/>
              </a:solidFill>
              <a:latin typeface="Calibri"/>
              <a:ea typeface="Calibri"/>
              <a:cs typeface="Calibri"/>
              <a:sym typeface="Calibri"/>
            </a:endParaRPr>
          </a:p>
        </p:txBody>
      </p:sp>
      <p:sp>
        <p:nvSpPr>
          <p:cNvPr id="677" name="Google Shape;677;p19"/>
          <p:cNvSpPr txBox="1"/>
          <p:nvPr/>
        </p:nvSpPr>
        <p:spPr>
          <a:xfrm>
            <a:off x="9972446" y="6229807"/>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3.9★</a:t>
            </a:r>
            <a:endParaRPr b="0" i="0" sz="1000" u="none" cap="none" strike="noStrike">
              <a:solidFill>
                <a:schemeClr val="dk1"/>
              </a:solidFill>
              <a:latin typeface="Calibri"/>
              <a:ea typeface="Calibri"/>
              <a:cs typeface="Calibri"/>
              <a:sym typeface="Calibri"/>
            </a:endParaRPr>
          </a:p>
        </p:txBody>
      </p:sp>
      <p:sp>
        <p:nvSpPr>
          <p:cNvPr id="678" name="Google Shape;678;p19"/>
          <p:cNvSpPr txBox="1"/>
          <p:nvPr/>
        </p:nvSpPr>
        <p:spPr>
          <a:xfrm>
            <a:off x="2305202" y="6743700"/>
            <a:ext cx="4818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15.2%</a:t>
            </a:r>
            <a:endParaRPr b="0" i="0" sz="1000" u="none" cap="none" strike="noStrike">
              <a:solidFill>
                <a:schemeClr val="dk1"/>
              </a:solidFill>
              <a:latin typeface="Calibri"/>
              <a:ea typeface="Calibri"/>
              <a:cs typeface="Calibri"/>
              <a:sym typeface="Calibri"/>
            </a:endParaRPr>
          </a:p>
        </p:txBody>
      </p:sp>
      <p:sp>
        <p:nvSpPr>
          <p:cNvPr id="679" name="Google Shape;679;p19"/>
          <p:cNvSpPr txBox="1"/>
          <p:nvPr/>
        </p:nvSpPr>
        <p:spPr>
          <a:xfrm>
            <a:off x="3838651" y="6743700"/>
            <a:ext cx="4242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3.6★</a:t>
            </a:r>
            <a:endParaRPr b="0" i="0" sz="1000" u="none" cap="none" strike="noStrike">
              <a:solidFill>
                <a:schemeClr val="dk1"/>
              </a:solidFill>
              <a:latin typeface="Calibri"/>
              <a:ea typeface="Calibri"/>
              <a:cs typeface="Calibri"/>
              <a:sym typeface="Calibri"/>
            </a:endParaRPr>
          </a:p>
        </p:txBody>
      </p:sp>
      <p:sp>
        <p:nvSpPr>
          <p:cNvPr id="680" name="Google Shape;680;p19"/>
          <p:cNvSpPr txBox="1"/>
          <p:nvPr/>
        </p:nvSpPr>
        <p:spPr>
          <a:xfrm>
            <a:off x="5372100" y="6743700"/>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43% negative</a:t>
            </a:r>
            <a:endParaRPr b="0" i="0" sz="1000" u="none" cap="none" strike="noStrike">
              <a:solidFill>
                <a:schemeClr val="dk1"/>
              </a:solidFill>
              <a:latin typeface="Calibri"/>
              <a:ea typeface="Calibri"/>
              <a:cs typeface="Calibri"/>
              <a:sym typeface="Calibri"/>
            </a:endParaRPr>
          </a:p>
        </p:txBody>
      </p:sp>
      <p:sp>
        <p:nvSpPr>
          <p:cNvPr id="681" name="Google Shape;681;p19"/>
          <p:cNvSpPr txBox="1"/>
          <p:nvPr/>
        </p:nvSpPr>
        <p:spPr>
          <a:xfrm>
            <a:off x="8438998" y="6743700"/>
            <a:ext cx="4334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0.9%</a:t>
            </a:r>
            <a:endParaRPr b="0" i="0" sz="1000" u="none" cap="none" strike="noStrike">
              <a:solidFill>
                <a:schemeClr val="dk1"/>
              </a:solidFill>
              <a:latin typeface="Calibri"/>
              <a:ea typeface="Calibri"/>
              <a:cs typeface="Calibri"/>
              <a:sym typeface="Calibri"/>
            </a:endParaRPr>
          </a:p>
        </p:txBody>
      </p:sp>
      <p:sp>
        <p:nvSpPr>
          <p:cNvPr id="682" name="Google Shape;682;p19"/>
          <p:cNvSpPr txBox="1"/>
          <p:nvPr/>
        </p:nvSpPr>
        <p:spPr>
          <a:xfrm>
            <a:off x="9972446" y="6743700"/>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4.1★</a:t>
            </a:r>
            <a:endParaRPr b="0" i="0" sz="1000" u="none" cap="none" strike="noStrike">
              <a:solidFill>
                <a:schemeClr val="dk1"/>
              </a:solidFill>
              <a:latin typeface="Calibri"/>
              <a:ea typeface="Calibri"/>
              <a:cs typeface="Calibri"/>
              <a:sym typeface="Calibri"/>
            </a:endParaRPr>
          </a:p>
        </p:txBody>
      </p:sp>
      <p:sp>
        <p:nvSpPr>
          <p:cNvPr id="683" name="Google Shape;683;p19"/>
          <p:cNvSpPr txBox="1"/>
          <p:nvPr/>
        </p:nvSpPr>
        <p:spPr>
          <a:xfrm>
            <a:off x="2305202" y="7258507"/>
            <a:ext cx="4910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10.3%</a:t>
            </a:r>
            <a:endParaRPr b="0" i="0" sz="1000" u="none" cap="none" strike="noStrike">
              <a:solidFill>
                <a:schemeClr val="dk1"/>
              </a:solidFill>
              <a:latin typeface="Calibri"/>
              <a:ea typeface="Calibri"/>
              <a:cs typeface="Calibri"/>
              <a:sym typeface="Calibri"/>
            </a:endParaRPr>
          </a:p>
        </p:txBody>
      </p:sp>
      <p:sp>
        <p:nvSpPr>
          <p:cNvPr id="684" name="Google Shape;684;p19"/>
          <p:cNvSpPr txBox="1"/>
          <p:nvPr/>
        </p:nvSpPr>
        <p:spPr>
          <a:xfrm>
            <a:off x="3838651" y="7258507"/>
            <a:ext cx="4151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a:t>
            </a:r>
            <a:endParaRPr b="0" i="0" sz="1000" u="none" cap="none" strike="noStrike">
              <a:solidFill>
                <a:schemeClr val="dk1"/>
              </a:solidFill>
              <a:latin typeface="Calibri"/>
              <a:ea typeface="Calibri"/>
              <a:cs typeface="Calibri"/>
              <a:sym typeface="Calibri"/>
            </a:endParaRPr>
          </a:p>
        </p:txBody>
      </p:sp>
      <p:sp>
        <p:nvSpPr>
          <p:cNvPr id="685" name="Google Shape;685;p19"/>
          <p:cNvSpPr txBox="1"/>
          <p:nvPr/>
        </p:nvSpPr>
        <p:spPr>
          <a:xfrm>
            <a:off x="5372100" y="7258507"/>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 negative</a:t>
            </a:r>
            <a:endParaRPr b="0" i="0" sz="1000" u="none" cap="none" strike="noStrike">
              <a:solidFill>
                <a:schemeClr val="dk1"/>
              </a:solidFill>
              <a:latin typeface="Calibri"/>
              <a:ea typeface="Calibri"/>
              <a:cs typeface="Calibri"/>
              <a:sym typeface="Calibri"/>
            </a:endParaRPr>
          </a:p>
        </p:txBody>
      </p:sp>
      <p:sp>
        <p:nvSpPr>
          <p:cNvPr id="686" name="Google Shape;686;p19"/>
          <p:cNvSpPr txBox="1"/>
          <p:nvPr/>
        </p:nvSpPr>
        <p:spPr>
          <a:xfrm>
            <a:off x="771754" y="5715000"/>
            <a:ext cx="4910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$0-10</a:t>
            </a:r>
            <a:endParaRPr b="0" i="0" sz="1000" u="none" cap="none" strike="noStrike">
              <a:solidFill>
                <a:schemeClr val="dk1"/>
              </a:solidFill>
              <a:latin typeface="Calibri"/>
              <a:ea typeface="Calibri"/>
              <a:cs typeface="Calibri"/>
              <a:sym typeface="Calibri"/>
            </a:endParaRPr>
          </a:p>
        </p:txBody>
      </p:sp>
      <p:sp>
        <p:nvSpPr>
          <p:cNvPr id="687" name="Google Shape;687;p19"/>
          <p:cNvSpPr txBox="1"/>
          <p:nvPr/>
        </p:nvSpPr>
        <p:spPr>
          <a:xfrm>
            <a:off x="6905549" y="5715000"/>
            <a:ext cx="6528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$50-100</a:t>
            </a:r>
            <a:endParaRPr b="0" i="0" sz="1000" u="none" cap="none" strike="noStrike">
              <a:solidFill>
                <a:schemeClr val="dk1"/>
              </a:solidFill>
              <a:latin typeface="Calibri"/>
              <a:ea typeface="Calibri"/>
              <a:cs typeface="Calibri"/>
              <a:sym typeface="Calibri"/>
            </a:endParaRPr>
          </a:p>
        </p:txBody>
      </p:sp>
      <p:sp>
        <p:nvSpPr>
          <p:cNvPr id="688" name="Google Shape;688;p19"/>
          <p:cNvSpPr txBox="1"/>
          <p:nvPr/>
        </p:nvSpPr>
        <p:spPr>
          <a:xfrm>
            <a:off x="771754" y="6229807"/>
            <a:ext cx="5669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$10-20</a:t>
            </a:r>
            <a:endParaRPr b="0" i="0" sz="1000" u="none" cap="none" strike="noStrike">
              <a:solidFill>
                <a:schemeClr val="dk1"/>
              </a:solidFill>
              <a:latin typeface="Calibri"/>
              <a:ea typeface="Calibri"/>
              <a:cs typeface="Calibri"/>
              <a:sym typeface="Calibri"/>
            </a:endParaRPr>
          </a:p>
        </p:txBody>
      </p:sp>
      <p:sp>
        <p:nvSpPr>
          <p:cNvPr id="689" name="Google Shape;689;p19"/>
          <p:cNvSpPr txBox="1"/>
          <p:nvPr/>
        </p:nvSpPr>
        <p:spPr>
          <a:xfrm>
            <a:off x="6905549" y="6229807"/>
            <a:ext cx="7388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$100-200</a:t>
            </a:r>
            <a:endParaRPr b="0" i="0" sz="1000" u="none" cap="none" strike="noStrike">
              <a:solidFill>
                <a:schemeClr val="dk1"/>
              </a:solidFill>
              <a:latin typeface="Calibri"/>
              <a:ea typeface="Calibri"/>
              <a:cs typeface="Calibri"/>
              <a:sym typeface="Calibri"/>
            </a:endParaRPr>
          </a:p>
        </p:txBody>
      </p:sp>
      <p:sp>
        <p:nvSpPr>
          <p:cNvPr id="690" name="Google Shape;690;p19"/>
          <p:cNvSpPr txBox="1"/>
          <p:nvPr/>
        </p:nvSpPr>
        <p:spPr>
          <a:xfrm>
            <a:off x="771754" y="6743700"/>
            <a:ext cx="5961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$20-30</a:t>
            </a:r>
            <a:endParaRPr b="0" i="0" sz="1000" u="none" cap="none" strike="noStrike">
              <a:solidFill>
                <a:schemeClr val="dk1"/>
              </a:solidFill>
              <a:latin typeface="Calibri"/>
              <a:ea typeface="Calibri"/>
              <a:cs typeface="Calibri"/>
              <a:sym typeface="Calibri"/>
            </a:endParaRPr>
          </a:p>
        </p:txBody>
      </p:sp>
      <p:sp>
        <p:nvSpPr>
          <p:cNvPr id="691" name="Google Shape;691;p19"/>
          <p:cNvSpPr txBox="1"/>
          <p:nvPr/>
        </p:nvSpPr>
        <p:spPr>
          <a:xfrm>
            <a:off x="6905549" y="6743700"/>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$200+</a:t>
            </a:r>
            <a:endParaRPr b="0" i="0" sz="1000" u="none" cap="none" strike="noStrike">
              <a:solidFill>
                <a:schemeClr val="dk1"/>
              </a:solidFill>
              <a:latin typeface="Calibri"/>
              <a:ea typeface="Calibri"/>
              <a:cs typeface="Calibri"/>
              <a:sym typeface="Calibri"/>
            </a:endParaRPr>
          </a:p>
        </p:txBody>
      </p:sp>
      <p:sp>
        <p:nvSpPr>
          <p:cNvPr id="692" name="Google Shape;692;p19"/>
          <p:cNvSpPr txBox="1"/>
          <p:nvPr/>
        </p:nvSpPr>
        <p:spPr>
          <a:xfrm>
            <a:off x="771754" y="7258507"/>
            <a:ext cx="5961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$30-50</a:t>
            </a:r>
            <a:endParaRPr b="0" i="0" sz="1000" u="none" cap="none" strike="noStrike">
              <a:solidFill>
                <a:schemeClr val="dk1"/>
              </a:solidFill>
              <a:latin typeface="Calibri"/>
              <a:ea typeface="Calibri"/>
              <a:cs typeface="Calibri"/>
              <a:sym typeface="Calibri"/>
            </a:endParaRPr>
          </a:p>
        </p:txBody>
      </p:sp>
      <p:sp>
        <p:nvSpPr>
          <p:cNvPr id="693" name="Google Shape;693;p19"/>
          <p:cNvSpPr/>
          <p:nvPr/>
        </p:nvSpPr>
        <p:spPr>
          <a:xfrm>
            <a:off x="609905" y="7830007"/>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9"/>
          <p:cNvSpPr/>
          <p:nvPr/>
        </p:nvSpPr>
        <p:spPr>
          <a:xfrm>
            <a:off x="609905" y="7830007"/>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9"/>
          <p:cNvSpPr txBox="1"/>
          <p:nvPr/>
        </p:nvSpPr>
        <p:spPr>
          <a:xfrm>
            <a:off x="838505" y="8001000"/>
            <a:ext cx="10651846"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Critical Insight: 97% of products are priced below $100, while quality satisfaction correlates directly with price point. This creates a massive premium quality gap opportunity for products that can deliver higher quality at accessible price points.</a:t>
            </a:r>
            <a:endParaRPr b="0" i="0" sz="1100" u="none" cap="none" strike="noStrike">
              <a:solidFill>
                <a:schemeClr val="dk1"/>
              </a:solidFill>
              <a:latin typeface="Calibri"/>
              <a:ea typeface="Calibri"/>
              <a:cs typeface="Calibri"/>
              <a:sym typeface="Calibri"/>
            </a:endParaRPr>
          </a:p>
        </p:txBody>
      </p:sp>
      <p:sp>
        <p:nvSpPr>
          <p:cNvPr id="696" name="Google Shape;696;p19"/>
          <p:cNvSpPr txBox="1"/>
          <p:nvPr/>
        </p:nvSpPr>
        <p:spPr>
          <a:xfrm>
            <a:off x="609905" y="8915400"/>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697" name="Google Shape;697;p19"/>
          <p:cNvSpPr txBox="1"/>
          <p:nvPr/>
        </p:nvSpPr>
        <p:spPr>
          <a:xfrm>
            <a:off x="11442802" y="8915400"/>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20"/>
          <p:cNvSpPr/>
          <p:nvPr/>
        </p:nvSpPr>
        <p:spPr>
          <a:xfrm>
            <a:off x="0" y="0"/>
            <a:ext cx="12191695" cy="87535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0"/>
          <p:cNvSpPr/>
          <p:nvPr/>
        </p:nvSpPr>
        <p:spPr>
          <a:xfrm>
            <a:off x="0" y="0"/>
            <a:ext cx="12191695" cy="87535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0"/>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txBox="1"/>
          <p:nvPr/>
        </p:nvSpPr>
        <p:spPr>
          <a:xfrm>
            <a:off x="609905" y="685800"/>
            <a:ext cx="6782105"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Retailer Landscape: Channel Distribution</a:t>
            </a:r>
            <a:endParaRPr b="0" i="0" sz="2400" u="none" cap="none" strike="noStrike">
              <a:solidFill>
                <a:schemeClr val="dk1"/>
              </a:solidFill>
              <a:latin typeface="Calibri"/>
              <a:ea typeface="Calibri"/>
              <a:cs typeface="Calibri"/>
              <a:sym typeface="Calibri"/>
            </a:endParaRPr>
          </a:p>
        </p:txBody>
      </p:sp>
      <p:sp>
        <p:nvSpPr>
          <p:cNvPr id="707" name="Google Shape;707;p20"/>
          <p:cNvSpPr/>
          <p:nvPr/>
        </p:nvSpPr>
        <p:spPr>
          <a:xfrm>
            <a:off x="609905" y="1410005"/>
            <a:ext cx="10972800" cy="4638751"/>
          </a:xfrm>
          <a:prstGeom prst="roundRect">
            <a:avLst>
              <a:gd fmla="val 324"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619049" y="1419149"/>
            <a:ext cx="10953598" cy="866851"/>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0"/>
          <p:cNvSpPr/>
          <p:nvPr/>
        </p:nvSpPr>
        <p:spPr>
          <a:xfrm>
            <a:off x="619049" y="227685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0"/>
          <p:cNvSpPr/>
          <p:nvPr/>
        </p:nvSpPr>
        <p:spPr>
          <a:xfrm>
            <a:off x="619049" y="2282342"/>
            <a:ext cx="10953598" cy="562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619049" y="28355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0"/>
          <p:cNvSpPr/>
          <p:nvPr/>
        </p:nvSpPr>
        <p:spPr>
          <a:xfrm>
            <a:off x="619049" y="2840126"/>
            <a:ext cx="10953598" cy="80924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619049" y="364022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619049" y="3642055"/>
            <a:ext cx="10953598" cy="8092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619049" y="4442155"/>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txBox="1"/>
          <p:nvPr/>
        </p:nvSpPr>
        <p:spPr>
          <a:xfrm>
            <a:off x="1000354" y="1752905"/>
            <a:ext cx="74340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Retailer</a:t>
            </a:r>
            <a:endParaRPr b="0" i="0" sz="1200" u="none" cap="none" strike="noStrike">
              <a:solidFill>
                <a:schemeClr val="dk1"/>
              </a:solidFill>
              <a:latin typeface="Calibri"/>
              <a:ea typeface="Calibri"/>
              <a:cs typeface="Calibri"/>
              <a:sym typeface="Calibri"/>
            </a:endParaRPr>
          </a:p>
        </p:txBody>
      </p:sp>
      <p:sp>
        <p:nvSpPr>
          <p:cNvPr id="717" name="Google Shape;717;p20"/>
          <p:cNvSpPr txBox="1"/>
          <p:nvPr/>
        </p:nvSpPr>
        <p:spPr>
          <a:xfrm>
            <a:off x="3114446" y="1752905"/>
            <a:ext cx="123901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Dataset Share</a:t>
            </a:r>
            <a:endParaRPr b="0" i="0" sz="1200" u="none" cap="none" strike="noStrike">
              <a:solidFill>
                <a:schemeClr val="dk1"/>
              </a:solidFill>
              <a:latin typeface="Calibri"/>
              <a:ea typeface="Calibri"/>
              <a:cs typeface="Calibri"/>
              <a:sym typeface="Calibri"/>
            </a:endParaRPr>
          </a:p>
        </p:txBody>
      </p:sp>
      <p:sp>
        <p:nvSpPr>
          <p:cNvPr id="718" name="Google Shape;718;p20"/>
          <p:cNvSpPr txBox="1"/>
          <p:nvPr/>
        </p:nvSpPr>
        <p:spPr>
          <a:xfrm>
            <a:off x="5757977" y="1752905"/>
            <a:ext cx="110551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Discrepancy</a:t>
            </a:r>
            <a:endParaRPr b="0" i="0" sz="1200" u="none" cap="none" strike="noStrike">
              <a:solidFill>
                <a:schemeClr val="dk1"/>
              </a:solidFill>
              <a:latin typeface="Calibri"/>
              <a:ea typeface="Calibri"/>
              <a:cs typeface="Calibri"/>
              <a:sym typeface="Calibri"/>
            </a:endParaRPr>
          </a:p>
        </p:txBody>
      </p:sp>
      <p:sp>
        <p:nvSpPr>
          <p:cNvPr id="719" name="Google Shape;719;p20"/>
          <p:cNvSpPr txBox="1"/>
          <p:nvPr/>
        </p:nvSpPr>
        <p:spPr>
          <a:xfrm>
            <a:off x="6815023" y="1752905"/>
            <a:ext cx="142006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Market Revenue</a:t>
            </a:r>
            <a:endParaRPr b="0" i="0" sz="1200" u="none" cap="none" strike="noStrike">
              <a:solidFill>
                <a:schemeClr val="dk1"/>
              </a:solidFill>
              <a:latin typeface="Calibri"/>
              <a:ea typeface="Calibri"/>
              <a:cs typeface="Calibri"/>
              <a:sym typeface="Calibri"/>
            </a:endParaRPr>
          </a:p>
        </p:txBody>
      </p:sp>
      <p:sp>
        <p:nvSpPr>
          <p:cNvPr id="720" name="Google Shape;720;p20"/>
          <p:cNvSpPr txBox="1"/>
          <p:nvPr/>
        </p:nvSpPr>
        <p:spPr>
          <a:xfrm>
            <a:off x="9458554" y="1752905"/>
            <a:ext cx="67665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Insight</a:t>
            </a:r>
            <a:endParaRPr b="0" i="0" sz="1200" u="none" cap="none" strike="noStrike">
              <a:solidFill>
                <a:schemeClr val="dk1"/>
              </a:solidFill>
              <a:latin typeface="Calibri"/>
              <a:ea typeface="Calibri"/>
              <a:cs typeface="Calibri"/>
              <a:sym typeface="Calibri"/>
            </a:endParaRPr>
          </a:p>
        </p:txBody>
      </p:sp>
      <p:sp>
        <p:nvSpPr>
          <p:cNvPr id="721" name="Google Shape;721;p20"/>
          <p:cNvSpPr txBox="1"/>
          <p:nvPr/>
        </p:nvSpPr>
        <p:spPr>
          <a:xfrm>
            <a:off x="809244" y="2453335"/>
            <a:ext cx="7342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Walmart</a:t>
            </a:r>
            <a:endParaRPr b="0" i="0" sz="1200" u="none" cap="none" strike="noStrike">
              <a:solidFill>
                <a:schemeClr val="dk1"/>
              </a:solidFill>
              <a:latin typeface="Calibri"/>
              <a:ea typeface="Calibri"/>
              <a:cs typeface="Calibri"/>
              <a:sym typeface="Calibri"/>
            </a:endParaRPr>
          </a:p>
        </p:txBody>
      </p:sp>
      <p:sp>
        <p:nvSpPr>
          <p:cNvPr id="722" name="Google Shape;722;p20"/>
          <p:cNvSpPr txBox="1"/>
          <p:nvPr/>
        </p:nvSpPr>
        <p:spPr>
          <a:xfrm>
            <a:off x="809244" y="3813962"/>
            <a:ext cx="6382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Lowe's</a:t>
            </a:r>
            <a:endParaRPr b="0" i="0" sz="1200" u="none" cap="none" strike="noStrike">
              <a:solidFill>
                <a:schemeClr val="dk1"/>
              </a:solidFill>
              <a:latin typeface="Calibri"/>
              <a:ea typeface="Calibri"/>
              <a:cs typeface="Calibri"/>
              <a:sym typeface="Calibri"/>
            </a:endParaRPr>
          </a:p>
        </p:txBody>
      </p:sp>
      <p:sp>
        <p:nvSpPr>
          <p:cNvPr id="723" name="Google Shape;723;p20"/>
          <p:cNvSpPr txBox="1"/>
          <p:nvPr/>
        </p:nvSpPr>
        <p:spPr>
          <a:xfrm>
            <a:off x="3000146" y="2453335"/>
            <a:ext cx="5907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Inter"/>
              <a:buNone/>
            </a:pPr>
            <a:r>
              <a:rPr b="1" i="0" lang="en-US" sz="1200" u="none" cap="none" strike="noStrike">
                <a:solidFill>
                  <a:srgbClr val="DC2626"/>
                </a:solidFill>
                <a:latin typeface="Inter"/>
                <a:ea typeface="Inter"/>
                <a:cs typeface="Inter"/>
                <a:sym typeface="Inter"/>
              </a:rPr>
              <a:t>78.5%</a:t>
            </a:r>
            <a:endParaRPr b="0" i="0" sz="1200" u="none" cap="none" strike="noStrike">
              <a:solidFill>
                <a:schemeClr val="dk1"/>
              </a:solidFill>
              <a:latin typeface="Calibri"/>
              <a:ea typeface="Calibri"/>
              <a:cs typeface="Calibri"/>
              <a:sym typeface="Calibri"/>
            </a:endParaRPr>
          </a:p>
        </p:txBody>
      </p:sp>
      <p:sp>
        <p:nvSpPr>
          <p:cNvPr id="724" name="Google Shape;724;p20"/>
          <p:cNvSpPr txBox="1"/>
          <p:nvPr/>
        </p:nvSpPr>
        <p:spPr>
          <a:xfrm>
            <a:off x="3473806" y="2453335"/>
            <a:ext cx="8485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dataset</a:t>
            </a:r>
            <a:endParaRPr b="0" i="0" sz="1200" u="none" cap="none" strike="noStrike">
              <a:solidFill>
                <a:schemeClr val="dk1"/>
              </a:solidFill>
              <a:latin typeface="Calibri"/>
              <a:ea typeface="Calibri"/>
              <a:cs typeface="Calibri"/>
              <a:sym typeface="Calibri"/>
            </a:endParaRPr>
          </a:p>
        </p:txBody>
      </p:sp>
      <p:pic>
        <p:nvPicPr>
          <p:cNvPr descr="preencoded.png" id="725" name="Google Shape;725;p20"/>
          <p:cNvPicPr preferRelativeResize="0"/>
          <p:nvPr/>
        </p:nvPicPr>
        <p:blipFill rotWithShape="1">
          <a:blip r:embed="rId3">
            <a:alphaModFix/>
          </a:blip>
          <a:srcRect b="0" l="-989999" r="-989999" t="0"/>
          <a:stretch/>
        </p:blipFill>
        <p:spPr>
          <a:xfrm>
            <a:off x="6024982" y="2552090"/>
            <a:ext cx="142646" cy="9144"/>
          </a:xfrm>
          <a:prstGeom prst="rect">
            <a:avLst/>
          </a:prstGeom>
          <a:noFill/>
          <a:ln>
            <a:noFill/>
          </a:ln>
        </p:spPr>
      </p:pic>
      <p:sp>
        <p:nvSpPr>
          <p:cNvPr id="726" name="Google Shape;726;p20"/>
          <p:cNvSpPr txBox="1"/>
          <p:nvPr/>
        </p:nvSpPr>
        <p:spPr>
          <a:xfrm>
            <a:off x="809244" y="3012034"/>
            <a:ext cx="1028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Home Depot</a:t>
            </a:r>
            <a:endParaRPr b="0" i="0" sz="1200" u="none" cap="none" strike="noStrike">
              <a:solidFill>
                <a:schemeClr val="dk1"/>
              </a:solidFill>
              <a:latin typeface="Calibri"/>
              <a:ea typeface="Calibri"/>
              <a:cs typeface="Calibri"/>
              <a:sym typeface="Calibri"/>
            </a:endParaRPr>
          </a:p>
        </p:txBody>
      </p:sp>
      <p:sp>
        <p:nvSpPr>
          <p:cNvPr id="727" name="Google Shape;727;p20"/>
          <p:cNvSpPr txBox="1"/>
          <p:nvPr/>
        </p:nvSpPr>
        <p:spPr>
          <a:xfrm>
            <a:off x="3000146" y="3012034"/>
            <a:ext cx="12573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9.8% of dataset</a:t>
            </a:r>
            <a:endParaRPr b="0" i="0" sz="1200" u="none" cap="none" strike="noStrike">
              <a:solidFill>
                <a:schemeClr val="dk1"/>
              </a:solidFill>
              <a:latin typeface="Calibri"/>
              <a:ea typeface="Calibri"/>
              <a:cs typeface="Calibri"/>
              <a:sym typeface="Calibri"/>
            </a:endParaRPr>
          </a:p>
        </p:txBody>
      </p:sp>
      <p:sp>
        <p:nvSpPr>
          <p:cNvPr id="728" name="Google Shape;728;p20"/>
          <p:cNvSpPr txBox="1"/>
          <p:nvPr/>
        </p:nvSpPr>
        <p:spPr>
          <a:xfrm>
            <a:off x="3000146" y="3813962"/>
            <a:ext cx="1267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3.9% of dataset</a:t>
            </a:r>
            <a:endParaRPr b="0" i="0" sz="1200" u="none" cap="none" strike="noStrike">
              <a:solidFill>
                <a:schemeClr val="dk1"/>
              </a:solidFill>
              <a:latin typeface="Calibri"/>
              <a:ea typeface="Calibri"/>
              <a:cs typeface="Calibri"/>
              <a:sym typeface="Calibri"/>
            </a:endParaRPr>
          </a:p>
        </p:txBody>
      </p:sp>
      <p:sp>
        <p:nvSpPr>
          <p:cNvPr id="729" name="Google Shape;729;p20"/>
          <p:cNvSpPr txBox="1"/>
          <p:nvPr/>
        </p:nvSpPr>
        <p:spPr>
          <a:xfrm>
            <a:off x="6834226" y="2453335"/>
            <a:ext cx="5340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~15%</a:t>
            </a:r>
            <a:endParaRPr b="0" i="0" sz="1200" u="none" cap="none" strike="noStrike">
              <a:solidFill>
                <a:schemeClr val="dk1"/>
              </a:solidFill>
              <a:latin typeface="Calibri"/>
              <a:ea typeface="Calibri"/>
              <a:cs typeface="Calibri"/>
              <a:sym typeface="Calibri"/>
            </a:endParaRPr>
          </a:p>
        </p:txBody>
      </p:sp>
      <p:sp>
        <p:nvSpPr>
          <p:cNvPr id="730" name="Google Shape;730;p20"/>
          <p:cNvSpPr txBox="1"/>
          <p:nvPr/>
        </p:nvSpPr>
        <p:spPr>
          <a:xfrm>
            <a:off x="6834226" y="3012034"/>
            <a:ext cx="5623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~35%</a:t>
            </a:r>
            <a:endParaRPr b="0" i="0" sz="1200" u="none" cap="none" strike="noStrike">
              <a:solidFill>
                <a:schemeClr val="dk1"/>
              </a:solidFill>
              <a:latin typeface="Calibri"/>
              <a:ea typeface="Calibri"/>
              <a:cs typeface="Calibri"/>
              <a:sym typeface="Calibri"/>
            </a:endParaRPr>
          </a:p>
        </p:txBody>
      </p:sp>
      <p:sp>
        <p:nvSpPr>
          <p:cNvPr id="731" name="Google Shape;731;p20"/>
          <p:cNvSpPr txBox="1"/>
          <p:nvPr/>
        </p:nvSpPr>
        <p:spPr>
          <a:xfrm>
            <a:off x="7247534" y="2453335"/>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32" name="Google Shape;732;p20"/>
          <p:cNvSpPr txBox="1"/>
          <p:nvPr/>
        </p:nvSpPr>
        <p:spPr>
          <a:xfrm>
            <a:off x="7278624" y="3012034"/>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33" name="Google Shape;733;p20"/>
          <p:cNvSpPr txBox="1"/>
          <p:nvPr/>
        </p:nvSpPr>
        <p:spPr>
          <a:xfrm>
            <a:off x="9572854" y="2453335"/>
            <a:ext cx="17812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Severely over-sampled</a:t>
            </a:r>
            <a:endParaRPr b="0" i="0" sz="1200" u="none" cap="none" strike="noStrike">
              <a:solidFill>
                <a:schemeClr val="dk1"/>
              </a:solidFill>
              <a:latin typeface="Calibri"/>
              <a:ea typeface="Calibri"/>
              <a:cs typeface="Calibri"/>
              <a:sym typeface="Calibri"/>
            </a:endParaRPr>
          </a:p>
        </p:txBody>
      </p:sp>
      <p:pic>
        <p:nvPicPr>
          <p:cNvPr descr="preencoded.png" id="734" name="Google Shape;734;p20"/>
          <p:cNvPicPr preferRelativeResize="0"/>
          <p:nvPr/>
        </p:nvPicPr>
        <p:blipFill rotWithShape="1">
          <a:blip r:embed="rId4">
            <a:alphaModFix/>
          </a:blip>
          <a:srcRect b="0" l="-989999" r="-989999" t="0"/>
          <a:stretch/>
        </p:blipFill>
        <p:spPr>
          <a:xfrm>
            <a:off x="6024982" y="3231490"/>
            <a:ext cx="142646" cy="9144"/>
          </a:xfrm>
          <a:prstGeom prst="rect">
            <a:avLst/>
          </a:prstGeom>
          <a:noFill/>
          <a:ln>
            <a:noFill/>
          </a:ln>
        </p:spPr>
      </p:pic>
      <p:pic>
        <p:nvPicPr>
          <p:cNvPr descr="preencoded.png" id="735" name="Google Shape;735;p20"/>
          <p:cNvPicPr preferRelativeResize="0"/>
          <p:nvPr/>
        </p:nvPicPr>
        <p:blipFill rotWithShape="1">
          <a:blip r:embed="rId4">
            <a:alphaModFix/>
          </a:blip>
          <a:srcRect b="0" l="-989999" r="-989999" t="0"/>
          <a:stretch/>
        </p:blipFill>
        <p:spPr>
          <a:xfrm>
            <a:off x="6024982" y="4033418"/>
            <a:ext cx="142646" cy="9144"/>
          </a:xfrm>
          <a:prstGeom prst="rect">
            <a:avLst/>
          </a:prstGeom>
          <a:noFill/>
          <a:ln>
            <a:noFill/>
          </a:ln>
        </p:spPr>
      </p:pic>
      <p:sp>
        <p:nvSpPr>
          <p:cNvPr id="736" name="Google Shape;736;p20"/>
          <p:cNvSpPr/>
          <p:nvPr/>
        </p:nvSpPr>
        <p:spPr>
          <a:xfrm>
            <a:off x="619049" y="4443984"/>
            <a:ext cx="10953598" cy="80924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0"/>
          <p:cNvSpPr/>
          <p:nvPr/>
        </p:nvSpPr>
        <p:spPr>
          <a:xfrm>
            <a:off x="619049" y="524408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0"/>
          <p:cNvSpPr/>
          <p:nvPr/>
        </p:nvSpPr>
        <p:spPr>
          <a:xfrm>
            <a:off x="619049" y="5245913"/>
            <a:ext cx="10953598" cy="8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txBox="1"/>
          <p:nvPr/>
        </p:nvSpPr>
        <p:spPr>
          <a:xfrm>
            <a:off x="809244" y="4615891"/>
            <a:ext cx="7242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Amazon</a:t>
            </a:r>
            <a:endParaRPr b="0" i="0" sz="1200" u="none" cap="none" strike="noStrike">
              <a:solidFill>
                <a:schemeClr val="dk1"/>
              </a:solidFill>
              <a:latin typeface="Calibri"/>
              <a:ea typeface="Calibri"/>
              <a:cs typeface="Calibri"/>
              <a:sym typeface="Calibri"/>
            </a:endParaRPr>
          </a:p>
        </p:txBody>
      </p:sp>
      <p:sp>
        <p:nvSpPr>
          <p:cNvPr id="740" name="Google Shape;740;p20"/>
          <p:cNvSpPr txBox="1"/>
          <p:nvPr/>
        </p:nvSpPr>
        <p:spPr>
          <a:xfrm>
            <a:off x="809244" y="5416906"/>
            <a:ext cx="5907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Target</a:t>
            </a:r>
            <a:endParaRPr b="0" i="0" sz="1200" u="none" cap="none" strike="noStrike">
              <a:solidFill>
                <a:schemeClr val="dk1"/>
              </a:solidFill>
              <a:latin typeface="Calibri"/>
              <a:ea typeface="Calibri"/>
              <a:cs typeface="Calibri"/>
              <a:sym typeface="Calibri"/>
            </a:endParaRPr>
          </a:p>
        </p:txBody>
      </p:sp>
      <p:sp>
        <p:nvSpPr>
          <p:cNvPr id="741" name="Google Shape;741;p20"/>
          <p:cNvSpPr txBox="1"/>
          <p:nvPr/>
        </p:nvSpPr>
        <p:spPr>
          <a:xfrm>
            <a:off x="3000146" y="4615891"/>
            <a:ext cx="12573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5.2% of dataset</a:t>
            </a:r>
            <a:endParaRPr b="0" i="0" sz="1200" u="none" cap="none" strike="noStrike">
              <a:solidFill>
                <a:schemeClr val="dk1"/>
              </a:solidFill>
              <a:latin typeface="Calibri"/>
              <a:ea typeface="Calibri"/>
              <a:cs typeface="Calibri"/>
              <a:sym typeface="Calibri"/>
            </a:endParaRPr>
          </a:p>
        </p:txBody>
      </p:sp>
      <p:sp>
        <p:nvSpPr>
          <p:cNvPr id="742" name="Google Shape;742;p20"/>
          <p:cNvSpPr txBox="1"/>
          <p:nvPr/>
        </p:nvSpPr>
        <p:spPr>
          <a:xfrm>
            <a:off x="3000146" y="5416906"/>
            <a:ext cx="1267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2.6% of dataset</a:t>
            </a:r>
            <a:endParaRPr b="0" i="0" sz="1200" u="none" cap="none" strike="noStrike">
              <a:solidFill>
                <a:schemeClr val="dk1"/>
              </a:solidFill>
              <a:latin typeface="Calibri"/>
              <a:ea typeface="Calibri"/>
              <a:cs typeface="Calibri"/>
              <a:sym typeface="Calibri"/>
            </a:endParaRPr>
          </a:p>
        </p:txBody>
      </p:sp>
      <p:sp>
        <p:nvSpPr>
          <p:cNvPr id="743" name="Google Shape;743;p20"/>
          <p:cNvSpPr txBox="1"/>
          <p:nvPr/>
        </p:nvSpPr>
        <p:spPr>
          <a:xfrm>
            <a:off x="6834226" y="3813962"/>
            <a:ext cx="5715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~30%</a:t>
            </a:r>
            <a:endParaRPr b="0" i="0" sz="1200" u="none" cap="none" strike="noStrike">
              <a:solidFill>
                <a:schemeClr val="dk1"/>
              </a:solidFill>
              <a:latin typeface="Calibri"/>
              <a:ea typeface="Calibri"/>
              <a:cs typeface="Calibri"/>
              <a:sym typeface="Calibri"/>
            </a:endParaRPr>
          </a:p>
        </p:txBody>
      </p:sp>
      <p:sp>
        <p:nvSpPr>
          <p:cNvPr id="744" name="Google Shape;744;p20"/>
          <p:cNvSpPr txBox="1"/>
          <p:nvPr/>
        </p:nvSpPr>
        <p:spPr>
          <a:xfrm>
            <a:off x="6834226" y="4615891"/>
            <a:ext cx="5340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~15%</a:t>
            </a:r>
            <a:endParaRPr b="0" i="0" sz="1200" u="none" cap="none" strike="noStrike">
              <a:solidFill>
                <a:schemeClr val="dk1"/>
              </a:solidFill>
              <a:latin typeface="Calibri"/>
              <a:ea typeface="Calibri"/>
              <a:cs typeface="Calibri"/>
              <a:sym typeface="Calibri"/>
            </a:endParaRPr>
          </a:p>
        </p:txBody>
      </p:sp>
      <p:sp>
        <p:nvSpPr>
          <p:cNvPr id="745" name="Google Shape;745;p20"/>
          <p:cNvSpPr txBox="1"/>
          <p:nvPr/>
        </p:nvSpPr>
        <p:spPr>
          <a:xfrm>
            <a:off x="7285939" y="3813962"/>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46" name="Google Shape;746;p20"/>
          <p:cNvSpPr txBox="1"/>
          <p:nvPr/>
        </p:nvSpPr>
        <p:spPr>
          <a:xfrm>
            <a:off x="9572854" y="3813962"/>
            <a:ext cx="1534363"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Significantly under-represented</a:t>
            </a:r>
            <a:endParaRPr b="0" i="0" sz="1200" u="none" cap="none" strike="noStrike">
              <a:solidFill>
                <a:schemeClr val="dk1"/>
              </a:solidFill>
              <a:latin typeface="Calibri"/>
              <a:ea typeface="Calibri"/>
              <a:cs typeface="Calibri"/>
              <a:sym typeface="Calibri"/>
            </a:endParaRPr>
          </a:p>
        </p:txBody>
      </p:sp>
      <p:pic>
        <p:nvPicPr>
          <p:cNvPr descr="preencoded.png" id="747" name="Google Shape;747;p20"/>
          <p:cNvPicPr preferRelativeResize="0"/>
          <p:nvPr/>
        </p:nvPicPr>
        <p:blipFill rotWithShape="1">
          <a:blip r:embed="rId4">
            <a:alphaModFix/>
          </a:blip>
          <a:srcRect b="0" l="-989999" r="-989999" t="0"/>
          <a:stretch/>
        </p:blipFill>
        <p:spPr>
          <a:xfrm>
            <a:off x="6024982" y="4835347"/>
            <a:ext cx="142646" cy="9144"/>
          </a:xfrm>
          <a:prstGeom prst="rect">
            <a:avLst/>
          </a:prstGeom>
          <a:noFill/>
          <a:ln>
            <a:noFill/>
          </a:ln>
        </p:spPr>
      </p:pic>
      <p:sp>
        <p:nvSpPr>
          <p:cNvPr id="748" name="Google Shape;748;p20"/>
          <p:cNvSpPr txBox="1"/>
          <p:nvPr/>
        </p:nvSpPr>
        <p:spPr>
          <a:xfrm>
            <a:off x="7247534" y="4615891"/>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49" name="Google Shape;749;p20"/>
          <p:cNvSpPr txBox="1"/>
          <p:nvPr/>
        </p:nvSpPr>
        <p:spPr>
          <a:xfrm>
            <a:off x="9572854" y="4615891"/>
            <a:ext cx="16669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Under-represented in data</a:t>
            </a:r>
            <a:endParaRPr b="0" i="0" sz="1200" u="none" cap="none" strike="noStrike">
              <a:solidFill>
                <a:schemeClr val="dk1"/>
              </a:solidFill>
              <a:latin typeface="Calibri"/>
              <a:ea typeface="Calibri"/>
              <a:cs typeface="Calibri"/>
              <a:sym typeface="Calibri"/>
            </a:endParaRPr>
          </a:p>
        </p:txBody>
      </p:sp>
      <p:pic>
        <p:nvPicPr>
          <p:cNvPr descr="preencoded.png" id="750" name="Google Shape;750;p20"/>
          <p:cNvPicPr preferRelativeResize="0"/>
          <p:nvPr/>
        </p:nvPicPr>
        <p:blipFill rotWithShape="1">
          <a:blip r:embed="rId4">
            <a:alphaModFix/>
          </a:blip>
          <a:srcRect b="0" l="-989999" r="-989999" t="0"/>
          <a:stretch/>
        </p:blipFill>
        <p:spPr>
          <a:xfrm>
            <a:off x="6024982" y="5637276"/>
            <a:ext cx="142646" cy="9144"/>
          </a:xfrm>
          <a:prstGeom prst="rect">
            <a:avLst/>
          </a:prstGeom>
          <a:noFill/>
          <a:ln>
            <a:noFill/>
          </a:ln>
        </p:spPr>
      </p:pic>
      <p:sp>
        <p:nvSpPr>
          <p:cNvPr id="751" name="Google Shape;751;p20"/>
          <p:cNvSpPr txBox="1"/>
          <p:nvPr/>
        </p:nvSpPr>
        <p:spPr>
          <a:xfrm>
            <a:off x="6834226" y="5416906"/>
            <a:ext cx="4672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~5%</a:t>
            </a:r>
            <a:endParaRPr b="0" i="0" sz="1200" u="none" cap="none" strike="noStrike">
              <a:solidFill>
                <a:schemeClr val="dk1"/>
              </a:solidFill>
              <a:latin typeface="Calibri"/>
              <a:ea typeface="Calibri"/>
              <a:cs typeface="Calibri"/>
              <a:sym typeface="Calibri"/>
            </a:endParaRPr>
          </a:p>
        </p:txBody>
      </p:sp>
      <p:sp>
        <p:nvSpPr>
          <p:cNvPr id="752" name="Google Shape;752;p20"/>
          <p:cNvSpPr txBox="1"/>
          <p:nvPr/>
        </p:nvSpPr>
        <p:spPr>
          <a:xfrm>
            <a:off x="7183526" y="5416906"/>
            <a:ext cx="810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a:t>
            </a:r>
            <a:endParaRPr b="0" i="0" sz="1200" u="none" cap="none" strike="noStrike">
              <a:solidFill>
                <a:schemeClr val="dk1"/>
              </a:solidFill>
              <a:latin typeface="Calibri"/>
              <a:ea typeface="Calibri"/>
              <a:cs typeface="Calibri"/>
              <a:sym typeface="Calibri"/>
            </a:endParaRPr>
          </a:p>
        </p:txBody>
      </p:sp>
      <p:sp>
        <p:nvSpPr>
          <p:cNvPr id="753" name="Google Shape;753;p20"/>
          <p:cNvSpPr txBox="1"/>
          <p:nvPr/>
        </p:nvSpPr>
        <p:spPr>
          <a:xfrm>
            <a:off x="9572854" y="3012034"/>
            <a:ext cx="16669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Under-represented in data</a:t>
            </a:r>
            <a:endParaRPr b="0" i="0" sz="1200" u="none" cap="none" strike="noStrike">
              <a:solidFill>
                <a:schemeClr val="dk1"/>
              </a:solidFill>
              <a:latin typeface="Calibri"/>
              <a:ea typeface="Calibri"/>
              <a:cs typeface="Calibri"/>
              <a:sym typeface="Calibri"/>
            </a:endParaRPr>
          </a:p>
        </p:txBody>
      </p:sp>
      <p:sp>
        <p:nvSpPr>
          <p:cNvPr id="754" name="Google Shape;754;p20"/>
          <p:cNvSpPr txBox="1"/>
          <p:nvPr/>
        </p:nvSpPr>
        <p:spPr>
          <a:xfrm>
            <a:off x="9572854" y="5416906"/>
            <a:ext cx="1124712"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Inter"/>
              <a:buNone/>
            </a:pPr>
            <a:r>
              <a:rPr b="0" i="1" lang="en-US" sz="1200" u="none" cap="none" strike="noStrike">
                <a:solidFill>
                  <a:srgbClr val="6B7280"/>
                </a:solidFill>
                <a:latin typeface="Inter"/>
                <a:ea typeface="Inter"/>
                <a:cs typeface="Inter"/>
                <a:sym typeface="Inter"/>
              </a:rPr>
              <a:t>Proportionally represented</a:t>
            </a:r>
            <a:endParaRPr b="0" i="0" sz="1200" u="none" cap="none" strike="noStrike">
              <a:solidFill>
                <a:schemeClr val="dk1"/>
              </a:solidFill>
              <a:latin typeface="Calibri"/>
              <a:ea typeface="Calibri"/>
              <a:cs typeface="Calibri"/>
              <a:sym typeface="Calibri"/>
            </a:endParaRPr>
          </a:p>
        </p:txBody>
      </p:sp>
      <p:sp>
        <p:nvSpPr>
          <p:cNvPr id="755" name="Google Shape;755;p20"/>
          <p:cNvSpPr/>
          <p:nvPr/>
        </p:nvSpPr>
        <p:spPr>
          <a:xfrm>
            <a:off x="609905" y="6276442"/>
            <a:ext cx="10972800" cy="1314907"/>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a:off x="609905" y="6276442"/>
            <a:ext cx="38405" cy="13149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txBox="1"/>
          <p:nvPr/>
        </p:nvSpPr>
        <p:spPr>
          <a:xfrm>
            <a:off x="838505" y="6447434"/>
            <a:ext cx="19248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CRITICAL DATA CAVEAT</a:t>
            </a:r>
            <a:endParaRPr b="0" i="0" sz="1200" u="none" cap="none" strike="noStrike">
              <a:solidFill>
                <a:schemeClr val="dk1"/>
              </a:solidFill>
              <a:latin typeface="Calibri"/>
              <a:ea typeface="Calibri"/>
              <a:cs typeface="Calibri"/>
              <a:sym typeface="Calibri"/>
            </a:endParaRPr>
          </a:p>
        </p:txBody>
      </p:sp>
      <p:sp>
        <p:nvSpPr>
          <p:cNvPr id="758" name="Google Shape;758;p20"/>
          <p:cNvSpPr txBox="1"/>
          <p:nvPr/>
        </p:nvSpPr>
        <p:spPr>
          <a:xfrm>
            <a:off x="838505" y="6767474"/>
            <a:ext cx="10528402" cy="6382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Dataset composition does NOT reflect actual market revenue share. Walmart is dramatically over-sampled (78.5% of products vs. 15% of market revenue), while Home Depot and Lowe's (together ~65% of market) are under-represented (13.7% of dataset). All market-level insights use weighted analysis to correct for this sampling bias.</a:t>
            </a:r>
            <a:endParaRPr b="0" i="0" sz="1100" u="none" cap="none" strike="noStrike">
              <a:solidFill>
                <a:schemeClr val="dk1"/>
              </a:solidFill>
              <a:latin typeface="Calibri"/>
              <a:ea typeface="Calibri"/>
              <a:cs typeface="Calibri"/>
              <a:sym typeface="Calibri"/>
            </a:endParaRPr>
          </a:p>
        </p:txBody>
      </p:sp>
      <p:sp>
        <p:nvSpPr>
          <p:cNvPr id="759" name="Google Shape;759;p20"/>
          <p:cNvSpPr txBox="1"/>
          <p:nvPr/>
        </p:nvSpPr>
        <p:spPr>
          <a:xfrm>
            <a:off x="609905" y="7758684"/>
            <a:ext cx="67866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Dataset composition vs industry market share estimates. Market weighting applied to all analyses.</a:t>
            </a:r>
            <a:endParaRPr b="0" i="0" sz="1000" u="none" cap="none" strike="noStrike">
              <a:solidFill>
                <a:schemeClr val="dk1"/>
              </a:solidFill>
              <a:latin typeface="Calibri"/>
              <a:ea typeface="Calibri"/>
              <a:cs typeface="Calibri"/>
              <a:sym typeface="Calibri"/>
            </a:endParaRPr>
          </a:p>
        </p:txBody>
      </p:sp>
      <p:sp>
        <p:nvSpPr>
          <p:cNvPr id="760" name="Google Shape;760;p20"/>
          <p:cNvSpPr txBox="1"/>
          <p:nvPr/>
        </p:nvSpPr>
        <p:spPr>
          <a:xfrm>
            <a:off x="609905" y="8263433"/>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761" name="Google Shape;761;p20"/>
          <p:cNvSpPr txBox="1"/>
          <p:nvPr/>
        </p:nvSpPr>
        <p:spPr>
          <a:xfrm>
            <a:off x="11451031" y="8263433"/>
            <a:ext cx="234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21"/>
          <p:cNvSpPr/>
          <p:nvPr/>
        </p:nvSpPr>
        <p:spPr>
          <a:xfrm>
            <a:off x="485546" y="3504895"/>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1"/>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1"/>
          <p:cNvSpPr/>
          <p:nvPr/>
        </p:nvSpPr>
        <p:spPr>
          <a:xfrm>
            <a:off x="0" y="0"/>
            <a:ext cx="121917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1"/>
          <p:cNvSpPr txBox="1"/>
          <p:nvPr/>
        </p:nvSpPr>
        <p:spPr>
          <a:xfrm>
            <a:off x="476402" y="133502"/>
            <a:ext cx="48774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Competitive Positioning Map</a:t>
            </a:r>
            <a:endParaRPr b="0" i="0" sz="2400" u="none" cap="none" strike="noStrike">
              <a:solidFill>
                <a:schemeClr val="dk1"/>
              </a:solidFill>
              <a:latin typeface="Calibri"/>
              <a:ea typeface="Calibri"/>
              <a:cs typeface="Calibri"/>
              <a:sym typeface="Calibri"/>
            </a:endParaRPr>
          </a:p>
        </p:txBody>
      </p:sp>
      <p:sp>
        <p:nvSpPr>
          <p:cNvPr id="771" name="Google Shape;771;p21"/>
          <p:cNvSpPr/>
          <p:nvPr/>
        </p:nvSpPr>
        <p:spPr>
          <a:xfrm>
            <a:off x="476402" y="571500"/>
            <a:ext cx="11239805" cy="743407"/>
          </a:xfrm>
          <a:prstGeom prst="rect">
            <a:avLst/>
          </a:prstGeom>
          <a:solidFill>
            <a:srgbClr val="FFFFFF"/>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1"/>
          <p:cNvSpPr txBox="1"/>
          <p:nvPr/>
        </p:nvSpPr>
        <p:spPr>
          <a:xfrm>
            <a:off x="476402" y="487375"/>
            <a:ext cx="234817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1000"/>
              <a:buFont typeface="Open Sans"/>
              <a:buNone/>
            </a:pPr>
            <a:r>
              <a:rPr b="0" i="0" lang="en-US" sz="1000" u="none" cap="none" strike="noStrike">
                <a:solidFill>
                  <a:srgbClr val="7F8C8D"/>
                </a:solidFill>
                <a:latin typeface="Open Sans"/>
                <a:ea typeface="Open Sans"/>
                <a:cs typeface="Open Sans"/>
                <a:sym typeface="Open Sans"/>
              </a:rPr>
              <a:t>Garage Storage Category Landscape</a:t>
            </a:r>
            <a:endParaRPr b="0" i="0" sz="1000" u="none" cap="none" strike="noStrike">
              <a:solidFill>
                <a:schemeClr val="dk1"/>
              </a:solidFill>
              <a:latin typeface="Calibri"/>
              <a:ea typeface="Calibri"/>
              <a:cs typeface="Calibri"/>
              <a:sym typeface="Calibri"/>
            </a:endParaRPr>
          </a:p>
        </p:txBody>
      </p:sp>
      <p:sp>
        <p:nvSpPr>
          <p:cNvPr id="773" name="Google Shape;773;p21"/>
          <p:cNvSpPr/>
          <p:nvPr/>
        </p:nvSpPr>
        <p:spPr>
          <a:xfrm>
            <a:off x="476402" y="571500"/>
            <a:ext cx="38405" cy="743407"/>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1"/>
          <p:cNvSpPr txBox="1"/>
          <p:nvPr/>
        </p:nvSpPr>
        <p:spPr>
          <a:xfrm>
            <a:off x="990295" y="747979"/>
            <a:ext cx="94549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800"/>
              <a:buFont typeface="Montserrat"/>
              <a:buNone/>
            </a:pPr>
            <a:r>
              <a:rPr b="1" i="0" lang="en-US" sz="800" u="none" cap="none" strike="noStrike">
                <a:solidFill>
                  <a:srgbClr val="16A085"/>
                </a:solidFill>
                <a:latin typeface="Montserrat"/>
                <a:ea typeface="Montserrat"/>
                <a:cs typeface="Montserrat"/>
                <a:sym typeface="Montserrat"/>
              </a:rPr>
              <a:t>THE PATTERN</a:t>
            </a:r>
            <a:endParaRPr b="0" i="0" sz="800" u="none" cap="none" strike="noStrike">
              <a:solidFill>
                <a:schemeClr val="dk1"/>
              </a:solidFill>
              <a:latin typeface="Calibri"/>
              <a:ea typeface="Calibri"/>
              <a:cs typeface="Calibri"/>
              <a:sym typeface="Calibri"/>
            </a:endParaRPr>
          </a:p>
        </p:txBody>
      </p:sp>
      <p:sp>
        <p:nvSpPr>
          <p:cNvPr id="775" name="Google Shape;775;p21"/>
          <p:cNvSpPr txBox="1"/>
          <p:nvPr/>
        </p:nvSpPr>
        <p:spPr>
          <a:xfrm>
            <a:off x="990295" y="938174"/>
            <a:ext cx="750813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Category forces consumers to trade premium performance for installation complexity—no brand delivers both.</a:t>
            </a:r>
            <a:endParaRPr b="0" i="0" sz="1100" u="none" cap="none" strike="noStrike">
              <a:solidFill>
                <a:schemeClr val="dk1"/>
              </a:solidFill>
              <a:latin typeface="Calibri"/>
              <a:ea typeface="Calibri"/>
              <a:cs typeface="Calibri"/>
              <a:sym typeface="Calibri"/>
            </a:endParaRPr>
          </a:p>
        </p:txBody>
      </p:sp>
      <p:sp>
        <p:nvSpPr>
          <p:cNvPr id="776" name="Google Shape;776;p21"/>
          <p:cNvSpPr/>
          <p:nvPr/>
        </p:nvSpPr>
        <p:spPr>
          <a:xfrm>
            <a:off x="8725205" y="685800"/>
            <a:ext cx="2514600" cy="219456"/>
          </a:xfrm>
          <a:prstGeom prst="roundRect">
            <a:avLst>
              <a:gd fmla="val 21739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1"/>
          <p:cNvSpPr/>
          <p:nvPr/>
        </p:nvSpPr>
        <p:spPr>
          <a:xfrm>
            <a:off x="8725205" y="981151"/>
            <a:ext cx="2514600" cy="219456"/>
          </a:xfrm>
          <a:prstGeom prst="roundRect">
            <a:avLst>
              <a:gd fmla="val 21739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1"/>
          <p:cNvSpPr txBox="1"/>
          <p:nvPr/>
        </p:nvSpPr>
        <p:spPr>
          <a:xfrm>
            <a:off x="9335110" y="714146"/>
            <a:ext cx="138165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Open Sans"/>
              <a:buNone/>
            </a:pPr>
            <a:r>
              <a:rPr b="1" i="0" lang="en-US" sz="900" u="none" cap="none" strike="noStrike">
                <a:solidFill>
                  <a:srgbClr val="FFFFFF"/>
                </a:solidFill>
                <a:latin typeface="Open Sans"/>
                <a:ea typeface="Open Sans"/>
                <a:cs typeface="Open Sans"/>
                <a:sym typeface="Open Sans"/>
              </a:rPr>
              <a:t>64% installation barrier</a:t>
            </a:r>
            <a:endParaRPr b="0" i="0" sz="900" u="none" cap="none" strike="noStrike">
              <a:solidFill>
                <a:schemeClr val="dk1"/>
              </a:solidFill>
              <a:latin typeface="Calibri"/>
              <a:ea typeface="Calibri"/>
              <a:cs typeface="Calibri"/>
              <a:sym typeface="Calibri"/>
            </a:endParaRPr>
          </a:p>
        </p:txBody>
      </p:sp>
      <p:sp>
        <p:nvSpPr>
          <p:cNvPr id="779" name="Google Shape;779;p21"/>
          <p:cNvSpPr txBox="1"/>
          <p:nvPr/>
        </p:nvSpPr>
        <p:spPr>
          <a:xfrm>
            <a:off x="9357055" y="1009498"/>
            <a:ext cx="1343254"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Open Sans"/>
              <a:buNone/>
            </a:pPr>
            <a:r>
              <a:rPr b="1" i="0" lang="en-US" sz="900" u="none" cap="none" strike="noStrike">
                <a:solidFill>
                  <a:srgbClr val="FFFFFF"/>
                </a:solidFill>
                <a:latin typeface="Open Sans"/>
                <a:ea typeface="Open Sans"/>
                <a:cs typeface="Open Sans"/>
                <a:sym typeface="Open Sans"/>
              </a:rPr>
              <a:t>65% premium revenue</a:t>
            </a:r>
            <a:endParaRPr b="0" i="0" sz="900" u="none" cap="none" strike="noStrike">
              <a:solidFill>
                <a:schemeClr val="dk1"/>
              </a:solidFill>
              <a:latin typeface="Calibri"/>
              <a:ea typeface="Calibri"/>
              <a:cs typeface="Calibri"/>
              <a:sym typeface="Calibri"/>
            </a:endParaRPr>
          </a:p>
        </p:txBody>
      </p:sp>
      <p:sp>
        <p:nvSpPr>
          <p:cNvPr id="780" name="Google Shape;780;p21"/>
          <p:cNvSpPr/>
          <p:nvPr/>
        </p:nvSpPr>
        <p:spPr>
          <a:xfrm>
            <a:off x="6096305" y="1410005"/>
            <a:ext cx="9144" cy="4190695"/>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1"/>
          <p:cNvSpPr/>
          <p:nvPr/>
        </p:nvSpPr>
        <p:spPr>
          <a:xfrm>
            <a:off x="476402" y="3504895"/>
            <a:ext cx="11239805" cy="9144"/>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1"/>
          <p:cNvSpPr txBox="1"/>
          <p:nvPr/>
        </p:nvSpPr>
        <p:spPr>
          <a:xfrm>
            <a:off x="514800" y="5350525"/>
            <a:ext cx="513900" cy="17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Low</a:t>
            </a:r>
            <a:endParaRPr b="0" i="0" sz="1000" u="none" cap="none" strike="noStrike">
              <a:solidFill>
                <a:schemeClr val="dk1"/>
              </a:solidFill>
              <a:latin typeface="Calibri"/>
              <a:ea typeface="Calibri"/>
              <a:cs typeface="Calibri"/>
              <a:sym typeface="Calibri"/>
            </a:endParaRPr>
          </a:p>
        </p:txBody>
      </p:sp>
      <p:sp>
        <p:nvSpPr>
          <p:cNvPr id="783" name="Google Shape;783;p21"/>
          <p:cNvSpPr txBox="1"/>
          <p:nvPr/>
        </p:nvSpPr>
        <p:spPr>
          <a:xfrm>
            <a:off x="5281574" y="5800954"/>
            <a:ext cx="1743761"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INSTALLATION EASE</a:t>
            </a:r>
            <a:endParaRPr b="0" i="0" sz="1200" u="none" cap="none" strike="noStrike">
              <a:solidFill>
                <a:schemeClr val="dk1"/>
              </a:solidFill>
              <a:latin typeface="Calibri"/>
              <a:ea typeface="Calibri"/>
              <a:cs typeface="Calibri"/>
              <a:sym typeface="Calibri"/>
            </a:endParaRPr>
          </a:p>
        </p:txBody>
      </p:sp>
      <p:sp>
        <p:nvSpPr>
          <p:cNvPr id="784" name="Google Shape;784;p21"/>
          <p:cNvSpPr txBox="1"/>
          <p:nvPr/>
        </p:nvSpPr>
        <p:spPr>
          <a:xfrm>
            <a:off x="2162556" y="5762549"/>
            <a:ext cx="57698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Simple</a:t>
            </a:r>
            <a:endParaRPr b="0" i="0" sz="1000" u="none" cap="none" strike="noStrike">
              <a:solidFill>
                <a:schemeClr val="dk1"/>
              </a:solidFill>
              <a:latin typeface="Calibri"/>
              <a:ea typeface="Calibri"/>
              <a:cs typeface="Calibri"/>
              <a:sym typeface="Calibri"/>
            </a:endParaRPr>
          </a:p>
        </p:txBody>
      </p:sp>
      <p:sp>
        <p:nvSpPr>
          <p:cNvPr id="785" name="Google Shape;785;p21"/>
          <p:cNvSpPr txBox="1"/>
          <p:nvPr/>
        </p:nvSpPr>
        <p:spPr>
          <a:xfrm>
            <a:off x="9422892" y="5762549"/>
            <a:ext cx="710489"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Complex</a:t>
            </a:r>
            <a:endParaRPr b="0" i="0" sz="1000" u="none" cap="none" strike="noStrike">
              <a:solidFill>
                <a:schemeClr val="dk1"/>
              </a:solidFill>
              <a:latin typeface="Calibri"/>
              <a:ea typeface="Calibri"/>
              <a:cs typeface="Calibri"/>
              <a:sym typeface="Calibri"/>
            </a:endParaRPr>
          </a:p>
        </p:txBody>
      </p:sp>
      <p:sp>
        <p:nvSpPr>
          <p:cNvPr id="786" name="Google Shape;786;p21"/>
          <p:cNvSpPr/>
          <p:nvPr/>
        </p:nvSpPr>
        <p:spPr>
          <a:xfrm>
            <a:off x="476402" y="1410005"/>
            <a:ext cx="11239805" cy="4190695"/>
          </a:xfrm>
          <a:prstGeom prst="rect">
            <a:avLst/>
          </a:prstGeom>
          <a:no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1"/>
          <p:cNvSpPr/>
          <p:nvPr/>
        </p:nvSpPr>
        <p:spPr>
          <a:xfrm>
            <a:off x="485546" y="1419149"/>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1"/>
          <p:cNvSpPr/>
          <p:nvPr/>
        </p:nvSpPr>
        <p:spPr>
          <a:xfrm>
            <a:off x="6096305" y="1419149"/>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1"/>
          <p:cNvSpPr/>
          <p:nvPr/>
        </p:nvSpPr>
        <p:spPr>
          <a:xfrm>
            <a:off x="6096305" y="3504895"/>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1"/>
          <p:cNvSpPr/>
          <p:nvPr/>
        </p:nvSpPr>
        <p:spPr>
          <a:xfrm>
            <a:off x="2766974" y="1938528"/>
            <a:ext cx="1047902" cy="1047902"/>
          </a:xfrm>
          <a:prstGeom prst="ellipse">
            <a:avLst/>
          </a:prstGeom>
          <a:noFill/>
          <a:ln cap="flat" cmpd="sng" w="38100">
            <a:solidFill>
              <a:srgbClr val="16A085"/>
            </a:solidFill>
            <a:prstDash val="solid"/>
            <a:round/>
            <a:headEnd len="sm" w="sm" type="none"/>
            <a:tailEnd len="sm" w="sm" type="none"/>
          </a:ln>
          <a:effectLst>
            <a:outerShdw blurRad="12700" rotWithShape="0" algn="bl" dir="16200000" dist="12700">
              <a:srgbClr val="00000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1"/>
          <p:cNvSpPr txBox="1"/>
          <p:nvPr/>
        </p:nvSpPr>
        <p:spPr>
          <a:xfrm>
            <a:off x="3018434" y="2281428"/>
            <a:ext cx="667512" cy="3621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WHITE SPACE</a:t>
            </a:r>
            <a:endParaRPr b="0" i="0" sz="1200" u="none" cap="none" strike="noStrike">
              <a:solidFill>
                <a:schemeClr val="dk1"/>
              </a:solidFill>
              <a:latin typeface="Calibri"/>
              <a:ea typeface="Calibri"/>
              <a:cs typeface="Calibri"/>
              <a:sym typeface="Calibri"/>
            </a:endParaRPr>
          </a:p>
        </p:txBody>
      </p:sp>
      <p:sp>
        <p:nvSpPr>
          <p:cNvPr id="792" name="Google Shape;792;p21"/>
          <p:cNvSpPr txBox="1"/>
          <p:nvPr/>
        </p:nvSpPr>
        <p:spPr>
          <a:xfrm>
            <a:off x="2803550" y="3071470"/>
            <a:ext cx="1067105"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Premium + Simple</a:t>
            </a:r>
            <a:endParaRPr b="0" i="0" sz="900" u="none" cap="none" strike="noStrike">
              <a:solidFill>
                <a:schemeClr val="dk1"/>
              </a:solidFill>
              <a:latin typeface="Calibri"/>
              <a:ea typeface="Calibri"/>
              <a:cs typeface="Calibri"/>
              <a:sym typeface="Calibri"/>
            </a:endParaRPr>
          </a:p>
        </p:txBody>
      </p:sp>
      <p:sp>
        <p:nvSpPr>
          <p:cNvPr id="793" name="Google Shape;793;p21"/>
          <p:cNvSpPr txBox="1"/>
          <p:nvPr/>
        </p:nvSpPr>
        <p:spPr>
          <a:xfrm>
            <a:off x="2973629" y="3231490"/>
            <a:ext cx="724205"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Unoccupied</a:t>
            </a:r>
            <a:endParaRPr b="0" i="0" sz="900" u="none" cap="none" strike="noStrike">
              <a:solidFill>
                <a:schemeClr val="dk1"/>
              </a:solidFill>
              <a:latin typeface="Calibri"/>
              <a:ea typeface="Calibri"/>
              <a:cs typeface="Calibri"/>
              <a:sym typeface="Calibri"/>
            </a:endParaRPr>
          </a:p>
        </p:txBody>
      </p:sp>
      <p:sp>
        <p:nvSpPr>
          <p:cNvPr id="794" name="Google Shape;794;p21"/>
          <p:cNvSpPr/>
          <p:nvPr/>
        </p:nvSpPr>
        <p:spPr>
          <a:xfrm>
            <a:off x="7680960" y="1771193"/>
            <a:ext cx="761695" cy="761695"/>
          </a:xfrm>
          <a:prstGeom prst="ellipse">
            <a:avLst/>
          </a:prstGeom>
          <a:solidFill>
            <a:srgbClr val="2C3E50">
              <a:alpha val="89803"/>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1"/>
          <p:cNvSpPr txBox="1"/>
          <p:nvPr/>
        </p:nvSpPr>
        <p:spPr>
          <a:xfrm>
            <a:off x="7680960" y="2075688"/>
            <a:ext cx="865022"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GLADIATOR</a:t>
            </a:r>
            <a:endParaRPr b="0" i="0" sz="900" u="none" cap="none" strike="noStrike">
              <a:solidFill>
                <a:schemeClr val="dk1"/>
              </a:solidFill>
              <a:latin typeface="Calibri"/>
              <a:ea typeface="Calibri"/>
              <a:cs typeface="Calibri"/>
              <a:sym typeface="Calibri"/>
            </a:endParaRPr>
          </a:p>
        </p:txBody>
      </p:sp>
      <p:sp>
        <p:nvSpPr>
          <p:cNvPr id="796" name="Google Shape;796;p21"/>
          <p:cNvSpPr/>
          <p:nvPr/>
        </p:nvSpPr>
        <p:spPr>
          <a:xfrm>
            <a:off x="9382658" y="2414930"/>
            <a:ext cx="714146" cy="714146"/>
          </a:xfrm>
          <a:prstGeom prst="ellipse">
            <a:avLst/>
          </a:prstGeom>
          <a:solidFill>
            <a:srgbClr val="2C3E50">
              <a:alpha val="84705"/>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1"/>
          <p:cNvSpPr txBox="1"/>
          <p:nvPr/>
        </p:nvSpPr>
        <p:spPr>
          <a:xfrm>
            <a:off x="9382658" y="2695651"/>
            <a:ext cx="912571"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STOREWALL</a:t>
            </a:r>
            <a:endParaRPr b="0" i="0" sz="900" u="none" cap="none" strike="noStrike">
              <a:solidFill>
                <a:schemeClr val="dk1"/>
              </a:solidFill>
              <a:latin typeface="Calibri"/>
              <a:ea typeface="Calibri"/>
              <a:cs typeface="Calibri"/>
              <a:sym typeface="Calibri"/>
            </a:endParaRPr>
          </a:p>
        </p:txBody>
      </p:sp>
      <p:sp>
        <p:nvSpPr>
          <p:cNvPr id="798" name="Google Shape;798;p21"/>
          <p:cNvSpPr txBox="1"/>
          <p:nvPr/>
        </p:nvSpPr>
        <p:spPr>
          <a:xfrm>
            <a:off x="7301484" y="2571293"/>
            <a:ext cx="161025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Cabinets/Systems • $90+ avg</a:t>
            </a:r>
            <a:endParaRPr b="0" i="0" sz="900" u="none" cap="none" strike="noStrike">
              <a:solidFill>
                <a:schemeClr val="dk1"/>
              </a:solidFill>
              <a:latin typeface="Calibri"/>
              <a:ea typeface="Calibri"/>
              <a:cs typeface="Calibri"/>
              <a:sym typeface="Calibri"/>
            </a:endParaRPr>
          </a:p>
        </p:txBody>
      </p:sp>
      <p:sp>
        <p:nvSpPr>
          <p:cNvPr id="799" name="Google Shape;799;p21"/>
          <p:cNvSpPr txBox="1"/>
          <p:nvPr/>
        </p:nvSpPr>
        <p:spPr>
          <a:xfrm>
            <a:off x="7605065" y="2759659"/>
            <a:ext cx="1003097"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Assembly required</a:t>
            </a:r>
            <a:endParaRPr b="0" i="0" sz="800" u="none" cap="none" strike="noStrike">
              <a:solidFill>
                <a:schemeClr val="dk1"/>
              </a:solidFill>
              <a:latin typeface="Calibri"/>
              <a:ea typeface="Calibri"/>
              <a:cs typeface="Calibri"/>
              <a:sym typeface="Calibri"/>
            </a:endParaRPr>
          </a:p>
        </p:txBody>
      </p:sp>
      <p:sp>
        <p:nvSpPr>
          <p:cNvPr id="800" name="Google Shape;800;p21"/>
          <p:cNvSpPr txBox="1"/>
          <p:nvPr/>
        </p:nvSpPr>
        <p:spPr>
          <a:xfrm>
            <a:off x="9261958" y="3143707"/>
            <a:ext cx="1047902"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Slatwall • $624/8ft</a:t>
            </a:r>
            <a:endParaRPr b="0" i="0" sz="900" u="none" cap="none" strike="noStrike">
              <a:solidFill>
                <a:schemeClr val="dk1"/>
              </a:solidFill>
              <a:latin typeface="Calibri"/>
              <a:ea typeface="Calibri"/>
              <a:cs typeface="Calibri"/>
              <a:sym typeface="Calibri"/>
            </a:endParaRPr>
          </a:p>
        </p:txBody>
      </p:sp>
      <p:sp>
        <p:nvSpPr>
          <p:cNvPr id="801" name="Google Shape;801;p21"/>
          <p:cNvSpPr txBox="1"/>
          <p:nvPr/>
        </p:nvSpPr>
        <p:spPr>
          <a:xfrm>
            <a:off x="9496958" y="3332074"/>
            <a:ext cx="565099"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Pro install</a:t>
            </a:r>
            <a:endParaRPr b="0" i="0" sz="800" u="none" cap="none" strike="noStrike">
              <a:solidFill>
                <a:schemeClr val="dk1"/>
              </a:solidFill>
              <a:latin typeface="Calibri"/>
              <a:ea typeface="Calibri"/>
              <a:cs typeface="Calibri"/>
              <a:sym typeface="Calibri"/>
            </a:endParaRPr>
          </a:p>
        </p:txBody>
      </p:sp>
      <p:sp>
        <p:nvSpPr>
          <p:cNvPr id="802" name="Google Shape;802;p21"/>
          <p:cNvSpPr/>
          <p:nvPr/>
        </p:nvSpPr>
        <p:spPr>
          <a:xfrm>
            <a:off x="10735970" y="3200400"/>
            <a:ext cx="866851"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1"/>
          <p:cNvSpPr/>
          <p:nvPr/>
        </p:nvSpPr>
        <p:spPr>
          <a:xfrm>
            <a:off x="5126126" y="5286146"/>
            <a:ext cx="866851"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1"/>
          <p:cNvSpPr/>
          <p:nvPr/>
        </p:nvSpPr>
        <p:spPr>
          <a:xfrm>
            <a:off x="10735970" y="5286146"/>
            <a:ext cx="866851"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1"/>
          <p:cNvSpPr txBox="1"/>
          <p:nvPr/>
        </p:nvSpPr>
        <p:spPr>
          <a:xfrm>
            <a:off x="10812780" y="3228746"/>
            <a:ext cx="793699"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~45% revenue</a:t>
            </a:r>
            <a:endParaRPr b="0" i="0" sz="800" u="none" cap="none" strike="noStrike">
              <a:solidFill>
                <a:schemeClr val="dk1"/>
              </a:solidFill>
              <a:latin typeface="Calibri"/>
              <a:ea typeface="Calibri"/>
              <a:cs typeface="Calibri"/>
              <a:sym typeface="Calibri"/>
            </a:endParaRPr>
          </a:p>
        </p:txBody>
      </p:sp>
      <p:sp>
        <p:nvSpPr>
          <p:cNvPr id="806" name="Google Shape;806;p21"/>
          <p:cNvSpPr txBox="1"/>
          <p:nvPr/>
        </p:nvSpPr>
        <p:spPr>
          <a:xfrm>
            <a:off x="5202022" y="5315407"/>
            <a:ext cx="793699"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~35% revenue</a:t>
            </a:r>
            <a:endParaRPr b="0" i="0" sz="800" u="none" cap="none" strike="noStrike">
              <a:solidFill>
                <a:schemeClr val="dk1"/>
              </a:solidFill>
              <a:latin typeface="Calibri"/>
              <a:ea typeface="Calibri"/>
              <a:cs typeface="Calibri"/>
              <a:sym typeface="Calibri"/>
            </a:endParaRPr>
          </a:p>
        </p:txBody>
      </p:sp>
      <p:sp>
        <p:nvSpPr>
          <p:cNvPr id="807" name="Google Shape;807;p21"/>
          <p:cNvSpPr txBox="1"/>
          <p:nvPr/>
        </p:nvSpPr>
        <p:spPr>
          <a:xfrm>
            <a:off x="10812780" y="5315407"/>
            <a:ext cx="793699"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~20% revenue</a:t>
            </a:r>
            <a:endParaRPr b="0" i="0" sz="800" u="none" cap="none" strike="noStrike">
              <a:solidFill>
                <a:schemeClr val="dk1"/>
              </a:solidFill>
              <a:latin typeface="Calibri"/>
              <a:ea typeface="Calibri"/>
              <a:cs typeface="Calibri"/>
              <a:sym typeface="Calibri"/>
            </a:endParaRPr>
          </a:p>
        </p:txBody>
      </p:sp>
      <p:sp>
        <p:nvSpPr>
          <p:cNvPr id="808" name="Google Shape;808;p21"/>
          <p:cNvSpPr/>
          <p:nvPr/>
        </p:nvSpPr>
        <p:spPr>
          <a:xfrm>
            <a:off x="2142439" y="3928262"/>
            <a:ext cx="619049" cy="619049"/>
          </a:xfrm>
          <a:prstGeom prst="ellipse">
            <a:avLst/>
          </a:prstGeom>
          <a:solidFill>
            <a:srgbClr val="2C3E50">
              <a:alpha val="80000"/>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1"/>
          <p:cNvSpPr txBox="1"/>
          <p:nvPr/>
        </p:nvSpPr>
        <p:spPr>
          <a:xfrm>
            <a:off x="2142439" y="4166921"/>
            <a:ext cx="933602"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RUBBERMAID</a:t>
            </a:r>
            <a:endParaRPr b="0" i="0" sz="900" u="none" cap="none" strike="noStrike">
              <a:solidFill>
                <a:schemeClr val="dk1"/>
              </a:solidFill>
              <a:latin typeface="Calibri"/>
              <a:ea typeface="Calibri"/>
              <a:cs typeface="Calibri"/>
              <a:sym typeface="Calibri"/>
            </a:endParaRPr>
          </a:p>
        </p:txBody>
      </p:sp>
      <p:sp>
        <p:nvSpPr>
          <p:cNvPr id="810" name="Google Shape;810;p21"/>
          <p:cNvSpPr/>
          <p:nvPr/>
        </p:nvSpPr>
        <p:spPr>
          <a:xfrm>
            <a:off x="3844138" y="4572000"/>
            <a:ext cx="571500" cy="571500"/>
          </a:xfrm>
          <a:prstGeom prst="ellipse">
            <a:avLst/>
          </a:prstGeom>
          <a:solidFill>
            <a:srgbClr val="2C3E50">
              <a:alpha val="74901"/>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1"/>
          <p:cNvSpPr txBox="1"/>
          <p:nvPr/>
        </p:nvSpPr>
        <p:spPr>
          <a:xfrm>
            <a:off x="3844138" y="4786884"/>
            <a:ext cx="667512"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EVERBILT</a:t>
            </a:r>
            <a:endParaRPr b="0" i="0" sz="900" u="none" cap="none" strike="noStrike">
              <a:solidFill>
                <a:schemeClr val="dk1"/>
              </a:solidFill>
              <a:latin typeface="Calibri"/>
              <a:ea typeface="Calibri"/>
              <a:cs typeface="Calibri"/>
              <a:sym typeface="Calibri"/>
            </a:endParaRPr>
          </a:p>
        </p:txBody>
      </p:sp>
      <p:sp>
        <p:nvSpPr>
          <p:cNvPr id="812" name="Google Shape;812;p21"/>
          <p:cNvSpPr txBox="1"/>
          <p:nvPr/>
        </p:nvSpPr>
        <p:spPr>
          <a:xfrm>
            <a:off x="1920240" y="4561942"/>
            <a:ext cx="115305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Rail system • $24-78</a:t>
            </a:r>
            <a:endParaRPr b="0" i="0" sz="900" u="none" cap="none" strike="noStrike">
              <a:solidFill>
                <a:schemeClr val="dk1"/>
              </a:solidFill>
              <a:latin typeface="Calibri"/>
              <a:ea typeface="Calibri"/>
              <a:cs typeface="Calibri"/>
              <a:sym typeface="Calibri"/>
            </a:endParaRPr>
          </a:p>
        </p:txBody>
      </p:sp>
      <p:sp>
        <p:nvSpPr>
          <p:cNvPr id="813" name="Google Shape;813;p21"/>
          <p:cNvSpPr txBox="1"/>
          <p:nvPr/>
        </p:nvSpPr>
        <p:spPr>
          <a:xfrm>
            <a:off x="1956816" y="4750308"/>
            <a:ext cx="1078992"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Snap-on accessories</a:t>
            </a:r>
            <a:endParaRPr b="0" i="0" sz="800" u="none" cap="none" strike="noStrike">
              <a:solidFill>
                <a:schemeClr val="dk1"/>
              </a:solidFill>
              <a:latin typeface="Calibri"/>
              <a:ea typeface="Calibri"/>
              <a:cs typeface="Calibri"/>
              <a:sym typeface="Calibri"/>
            </a:endParaRPr>
          </a:p>
        </p:txBody>
      </p:sp>
      <p:sp>
        <p:nvSpPr>
          <p:cNvPr id="814" name="Google Shape;814;p21"/>
          <p:cNvSpPr txBox="1"/>
          <p:nvPr/>
        </p:nvSpPr>
        <p:spPr>
          <a:xfrm>
            <a:off x="3508553" y="5153558"/>
            <a:ext cx="1334110"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Wire shelving • $10-100</a:t>
            </a:r>
            <a:endParaRPr b="0" i="0" sz="900" u="none" cap="none" strike="noStrike">
              <a:solidFill>
                <a:schemeClr val="dk1"/>
              </a:solidFill>
              <a:latin typeface="Calibri"/>
              <a:ea typeface="Calibri"/>
              <a:cs typeface="Calibri"/>
              <a:sym typeface="Calibri"/>
            </a:endParaRPr>
          </a:p>
        </p:txBody>
      </p:sp>
      <p:sp>
        <p:nvSpPr>
          <p:cNvPr id="815" name="Google Shape;815;p21"/>
          <p:cNvSpPr txBox="1"/>
          <p:nvPr/>
        </p:nvSpPr>
        <p:spPr>
          <a:xfrm>
            <a:off x="3728923" y="5341925"/>
            <a:ext cx="888797"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HD house brand</a:t>
            </a:r>
            <a:endParaRPr b="0" i="0" sz="800" u="none" cap="none" strike="noStrike">
              <a:solidFill>
                <a:schemeClr val="dk1"/>
              </a:solidFill>
              <a:latin typeface="Calibri"/>
              <a:ea typeface="Calibri"/>
              <a:cs typeface="Calibri"/>
              <a:sym typeface="Calibri"/>
            </a:endParaRPr>
          </a:p>
        </p:txBody>
      </p:sp>
      <p:sp>
        <p:nvSpPr>
          <p:cNvPr id="816" name="Google Shape;816;p21"/>
          <p:cNvSpPr/>
          <p:nvPr/>
        </p:nvSpPr>
        <p:spPr>
          <a:xfrm>
            <a:off x="8663026" y="4310482"/>
            <a:ext cx="476402" cy="476402"/>
          </a:xfrm>
          <a:prstGeom prst="ellipse">
            <a:avLst/>
          </a:prstGeom>
          <a:solidFill>
            <a:srgbClr val="2C3E50">
              <a:alpha val="69803"/>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1"/>
          <p:cNvSpPr txBox="1"/>
          <p:nvPr/>
        </p:nvSpPr>
        <p:spPr>
          <a:xfrm>
            <a:off x="8663026" y="4481474"/>
            <a:ext cx="574243"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Montserrat"/>
              <a:buNone/>
            </a:pPr>
            <a:r>
              <a:rPr b="1" i="0" lang="en-US" sz="800" u="none" cap="none" strike="noStrike">
                <a:solidFill>
                  <a:srgbClr val="FFFFFF"/>
                </a:solidFill>
                <a:latin typeface="Montserrat"/>
                <a:ea typeface="Montserrat"/>
                <a:cs typeface="Montserrat"/>
                <a:sym typeface="Montserrat"/>
              </a:rPr>
              <a:t>GENERIC</a:t>
            </a:r>
            <a:endParaRPr b="0" i="0" sz="800" u="none" cap="none" strike="noStrike">
              <a:solidFill>
                <a:schemeClr val="dk1"/>
              </a:solidFill>
              <a:latin typeface="Calibri"/>
              <a:ea typeface="Calibri"/>
              <a:cs typeface="Calibri"/>
              <a:sym typeface="Calibri"/>
            </a:endParaRPr>
          </a:p>
        </p:txBody>
      </p:sp>
      <p:sp>
        <p:nvSpPr>
          <p:cNvPr id="818" name="Google Shape;818;p21"/>
          <p:cNvSpPr txBox="1"/>
          <p:nvPr/>
        </p:nvSpPr>
        <p:spPr>
          <a:xfrm>
            <a:off x="8386877" y="4805172"/>
            <a:ext cx="1114654"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3333"/>
              </a:buClr>
              <a:buSzPts val="900"/>
              <a:buFont typeface="Open Sans"/>
              <a:buNone/>
            </a:pPr>
            <a:r>
              <a:rPr b="0" i="0" lang="en-US" sz="900" u="none" cap="none" strike="noStrike">
                <a:solidFill>
                  <a:srgbClr val="333333"/>
                </a:solidFill>
                <a:latin typeface="Open Sans"/>
                <a:ea typeface="Open Sans"/>
                <a:cs typeface="Open Sans"/>
                <a:sym typeface="Open Sans"/>
              </a:rPr>
              <a:t>Basic hooks • $5-15</a:t>
            </a:r>
            <a:endParaRPr b="0" i="0" sz="900" u="none" cap="none" strike="noStrike">
              <a:solidFill>
                <a:schemeClr val="dk1"/>
              </a:solidFill>
              <a:latin typeface="Calibri"/>
              <a:ea typeface="Calibri"/>
              <a:cs typeface="Calibri"/>
              <a:sym typeface="Calibri"/>
            </a:endParaRPr>
          </a:p>
        </p:txBody>
      </p:sp>
      <p:sp>
        <p:nvSpPr>
          <p:cNvPr id="819" name="Google Shape;819;p21"/>
          <p:cNvSpPr/>
          <p:nvPr/>
        </p:nvSpPr>
        <p:spPr>
          <a:xfrm>
            <a:off x="952805" y="5743346"/>
            <a:ext cx="10287000" cy="714146"/>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txBox="1"/>
          <p:nvPr/>
        </p:nvSpPr>
        <p:spPr>
          <a:xfrm>
            <a:off x="8537753" y="4993538"/>
            <a:ext cx="812902"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8C8D"/>
              </a:buClr>
              <a:buSzPts val="800"/>
              <a:buFont typeface="Open Sans"/>
              <a:buNone/>
            </a:pPr>
            <a:r>
              <a:rPr b="0" i="1" lang="en-US" sz="800" u="none" cap="none" strike="noStrike">
                <a:solidFill>
                  <a:srgbClr val="7F8C8D"/>
                </a:solidFill>
                <a:latin typeface="Open Sans"/>
                <a:ea typeface="Open Sans"/>
                <a:cs typeface="Open Sans"/>
                <a:sym typeface="Open Sans"/>
              </a:rPr>
              <a:t>Manual drilling</a:t>
            </a:r>
            <a:endParaRPr b="0" i="0" sz="800" u="none" cap="none" strike="noStrike">
              <a:solidFill>
                <a:schemeClr val="dk1"/>
              </a:solidFill>
              <a:latin typeface="Calibri"/>
              <a:ea typeface="Calibri"/>
              <a:cs typeface="Calibri"/>
              <a:sym typeface="Calibri"/>
            </a:endParaRPr>
          </a:p>
        </p:txBody>
      </p:sp>
      <p:sp>
        <p:nvSpPr>
          <p:cNvPr id="821" name="Google Shape;821;p21"/>
          <p:cNvSpPr/>
          <p:nvPr/>
        </p:nvSpPr>
        <p:spPr>
          <a:xfrm>
            <a:off x="952805" y="5743346"/>
            <a:ext cx="38405" cy="714146"/>
          </a:xfrm>
          <a:prstGeom prst="rect">
            <a:avLst/>
          </a:prstGeom>
          <a:solidFill>
            <a:srgbClr val="95A5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1"/>
          <p:cNvSpPr txBox="1"/>
          <p:nvPr/>
        </p:nvSpPr>
        <p:spPr>
          <a:xfrm>
            <a:off x="1466698" y="5905195"/>
            <a:ext cx="120335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A5A6"/>
              </a:buClr>
              <a:buSzPts val="800"/>
              <a:buFont typeface="Montserrat"/>
              <a:buNone/>
            </a:pPr>
            <a:r>
              <a:rPr b="1" i="0" lang="en-US" sz="800" u="none" cap="none" strike="noStrike">
                <a:solidFill>
                  <a:srgbClr val="95A5A6"/>
                </a:solidFill>
                <a:latin typeface="Montserrat"/>
                <a:ea typeface="Montserrat"/>
                <a:cs typeface="Montserrat"/>
                <a:sym typeface="Montserrat"/>
              </a:rPr>
              <a:t>THE IMPLICATION</a:t>
            </a:r>
            <a:endParaRPr b="0" i="0" sz="800" u="none" cap="none" strike="noStrike">
              <a:solidFill>
                <a:schemeClr val="dk1"/>
              </a:solidFill>
              <a:latin typeface="Calibri"/>
              <a:ea typeface="Calibri"/>
              <a:cs typeface="Calibri"/>
              <a:sym typeface="Calibri"/>
            </a:endParaRPr>
          </a:p>
        </p:txBody>
      </p:sp>
      <p:sp>
        <p:nvSpPr>
          <p:cNvPr id="823" name="Google Shape;823;p21"/>
          <p:cNvSpPr txBox="1"/>
          <p:nvPr/>
        </p:nvSpPr>
        <p:spPr>
          <a:xfrm>
            <a:off x="1466698" y="6096305"/>
            <a:ext cx="909919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Premium segment (65% revenue) lacks installation ease. White space validated by 64% consumer barrier—market gap with no supplier.</a:t>
            </a:r>
            <a:endParaRPr b="0" i="0" sz="1100" u="none" cap="none" strike="noStrike">
              <a:solidFill>
                <a:schemeClr val="dk1"/>
              </a:solidFill>
              <a:latin typeface="Calibri"/>
              <a:ea typeface="Calibri"/>
              <a:cs typeface="Calibri"/>
              <a:sym typeface="Calibri"/>
            </a:endParaRPr>
          </a:p>
        </p:txBody>
      </p:sp>
      <p:sp>
        <p:nvSpPr>
          <p:cNvPr id="824" name="Google Shape;824;p21"/>
          <p:cNvSpPr txBox="1"/>
          <p:nvPr/>
        </p:nvSpPr>
        <p:spPr>
          <a:xfrm>
            <a:off x="476402" y="6696151"/>
            <a:ext cx="6048756"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800"/>
              <a:buFont typeface="Open Sans"/>
              <a:buNone/>
            </a:pPr>
            <a:r>
              <a:rPr b="0" i="0" lang="en-US" sz="800" u="none" cap="none" strike="noStrike">
                <a:solidFill>
                  <a:srgbClr val="7F8C8D"/>
                </a:solidFill>
                <a:latin typeface="Open Sans"/>
                <a:ea typeface="Open Sans"/>
                <a:cs typeface="Open Sans"/>
                <a:sym typeface="Open Sans"/>
              </a:rPr>
              <a:t>Sources: Research analysis (9,555 products, 5 retailers) + web research (gladiatorgarageworks.com, storewall.com, rubbermaid.com, homedepot.com)</a:t>
            </a:r>
            <a:endParaRPr b="0" i="0" sz="800" u="none" cap="none" strike="noStrike">
              <a:solidFill>
                <a:schemeClr val="dk1"/>
              </a:solidFill>
              <a:latin typeface="Calibri"/>
              <a:ea typeface="Calibri"/>
              <a:cs typeface="Calibri"/>
              <a:sym typeface="Calibri"/>
            </a:endParaRPr>
          </a:p>
        </p:txBody>
      </p:sp>
      <p:sp>
        <p:nvSpPr>
          <p:cNvPr id="825" name="Google Shape;825;p21"/>
          <p:cNvSpPr txBox="1"/>
          <p:nvPr/>
        </p:nvSpPr>
        <p:spPr>
          <a:xfrm>
            <a:off x="486005" y="3266175"/>
            <a:ext cx="571500" cy="48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PRICE</a:t>
            </a:r>
            <a:endParaRPr b="0" i="0" sz="1200" u="none" cap="none" strike="noStrike">
              <a:solidFill>
                <a:schemeClr val="dk1"/>
              </a:solidFill>
              <a:latin typeface="Calibri"/>
              <a:ea typeface="Calibri"/>
              <a:cs typeface="Calibri"/>
              <a:sym typeface="Calibri"/>
            </a:endParaRPr>
          </a:p>
        </p:txBody>
      </p:sp>
      <p:sp>
        <p:nvSpPr>
          <p:cNvPr id="826" name="Google Shape;826;p21"/>
          <p:cNvSpPr txBox="1"/>
          <p:nvPr/>
        </p:nvSpPr>
        <p:spPr>
          <a:xfrm>
            <a:off x="514802" y="1496527"/>
            <a:ext cx="433500" cy="17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High</a:t>
            </a:r>
            <a:endParaRPr b="0" i="0" sz="1000" u="none" cap="none" strike="noStrike">
              <a:solidFill>
                <a:schemeClr val="dk1"/>
              </a:solidFill>
              <a:latin typeface="Calibri"/>
              <a:ea typeface="Calibri"/>
              <a:cs typeface="Calibri"/>
              <a:sym typeface="Calibri"/>
            </a:endParaRPr>
          </a:p>
        </p:txBody>
      </p:sp>
      <p:sp>
        <p:nvSpPr>
          <p:cNvPr id="827" name="Google Shape;827;p21"/>
          <p:cNvSpPr txBox="1"/>
          <p:nvPr/>
        </p:nvSpPr>
        <p:spPr>
          <a:xfrm>
            <a:off x="5499226" y="1496525"/>
            <a:ext cx="1203300" cy="48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lang="en-US" sz="1200">
                <a:solidFill>
                  <a:srgbClr val="2C3E50"/>
                </a:solidFill>
                <a:latin typeface="Montserrat"/>
                <a:ea typeface="Montserrat"/>
                <a:cs typeface="Montserrat"/>
                <a:sym typeface="Montserrat"/>
              </a:rPr>
              <a:t>INSTALL</a:t>
            </a:r>
            <a:endParaRPr b="1" sz="1200">
              <a:solidFill>
                <a:srgbClr val="2C3E50"/>
              </a:solidFill>
              <a:latin typeface="Montserrat"/>
              <a:ea typeface="Montserrat"/>
              <a:cs typeface="Montserrat"/>
              <a:sym typeface="Montserrat"/>
            </a:endParaRPr>
          </a:p>
          <a:p>
            <a:pPr indent="0" lvl="0" marL="0" marR="0" rtl="0" algn="ctr">
              <a:spcBef>
                <a:spcPts val="0"/>
              </a:spcBef>
              <a:spcAft>
                <a:spcPts val="0"/>
              </a:spcAft>
              <a:buClr>
                <a:srgbClr val="2C3E50"/>
              </a:buClr>
              <a:buSzPts val="1200"/>
              <a:buFont typeface="Montserrat"/>
              <a:buNone/>
            </a:pPr>
            <a:r>
              <a:rPr b="1" lang="en-US" sz="1200">
                <a:solidFill>
                  <a:srgbClr val="2C3E50"/>
                </a:solidFill>
                <a:latin typeface="Montserrat"/>
                <a:ea typeface="Montserrat"/>
                <a:cs typeface="Montserrat"/>
                <a:sym typeface="Montserrat"/>
              </a:rPr>
              <a:t>COMPLEXITY</a:t>
            </a:r>
            <a:endParaRPr b="1" sz="1200">
              <a:solidFill>
                <a:srgbClr val="2C3E50"/>
              </a:solidFill>
              <a:latin typeface="Montserrat"/>
              <a:ea typeface="Montserrat"/>
              <a:cs typeface="Montserrat"/>
              <a:sym typeface="Montserrat"/>
            </a:endParaRPr>
          </a:p>
        </p:txBody>
      </p:sp>
      <p:sp>
        <p:nvSpPr>
          <p:cNvPr id="828" name="Google Shape;828;p21"/>
          <p:cNvSpPr txBox="1"/>
          <p:nvPr/>
        </p:nvSpPr>
        <p:spPr>
          <a:xfrm>
            <a:off x="11239802" y="1496515"/>
            <a:ext cx="433500" cy="17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High</a:t>
            </a:r>
            <a:endParaRPr b="0" i="0" sz="1000" u="none" cap="none" strike="noStrike">
              <a:solidFill>
                <a:schemeClr val="dk1"/>
              </a:solidFill>
              <a:latin typeface="Calibri"/>
              <a:ea typeface="Calibri"/>
              <a:cs typeface="Calibri"/>
              <a:sym typeface="Calibri"/>
            </a:endParaRPr>
          </a:p>
        </p:txBody>
      </p:sp>
      <p:sp>
        <p:nvSpPr>
          <p:cNvPr id="829" name="Google Shape;829;p21"/>
          <p:cNvSpPr txBox="1"/>
          <p:nvPr/>
        </p:nvSpPr>
        <p:spPr>
          <a:xfrm>
            <a:off x="11169327" y="5047902"/>
            <a:ext cx="433500" cy="17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lang="en-US" sz="1000">
                <a:solidFill>
                  <a:srgbClr val="2C3E50"/>
                </a:solidFill>
                <a:latin typeface="Montserrat"/>
                <a:ea typeface="Montserrat"/>
                <a:cs typeface="Montserrat"/>
                <a:sym typeface="Montserrat"/>
              </a:rPr>
              <a:t>Low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22"/>
          <p:cNvSpPr/>
          <p:nvPr/>
        </p:nvSpPr>
        <p:spPr>
          <a:xfrm>
            <a:off x="0" y="0"/>
            <a:ext cx="12191695" cy="87343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2"/>
          <p:cNvSpPr/>
          <p:nvPr/>
        </p:nvSpPr>
        <p:spPr>
          <a:xfrm>
            <a:off x="0" y="0"/>
            <a:ext cx="12191695" cy="87343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2"/>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txBox="1"/>
          <p:nvPr/>
        </p:nvSpPr>
        <p:spPr>
          <a:xfrm>
            <a:off x="609905" y="685800"/>
            <a:ext cx="6829654"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Market Sizing: Concentration in Top SKUs</a:t>
            </a:r>
            <a:endParaRPr b="0" i="0" sz="2400" u="none" cap="none" strike="noStrike">
              <a:solidFill>
                <a:schemeClr val="dk1"/>
              </a:solidFill>
              <a:latin typeface="Calibri"/>
              <a:ea typeface="Calibri"/>
              <a:cs typeface="Calibri"/>
              <a:sym typeface="Calibri"/>
            </a:endParaRPr>
          </a:p>
        </p:txBody>
      </p:sp>
      <p:sp>
        <p:nvSpPr>
          <p:cNvPr id="839" name="Google Shape;839;p22"/>
          <p:cNvSpPr txBox="1"/>
          <p:nvPr/>
        </p:nvSpPr>
        <p:spPr>
          <a:xfrm>
            <a:off x="609905" y="1218895"/>
            <a:ext cx="83301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BSR-to-sales conversion for Amazon (formula: 10,000 × Rank-0.85) + review velocity triangulation. Confidence: MEDIUM</a:t>
            </a:r>
            <a:endParaRPr b="0" i="0" sz="1000" u="none" cap="none" strike="noStrike">
              <a:solidFill>
                <a:schemeClr val="dk1"/>
              </a:solidFill>
              <a:latin typeface="Calibri"/>
              <a:ea typeface="Calibri"/>
              <a:cs typeface="Calibri"/>
              <a:sym typeface="Calibri"/>
            </a:endParaRPr>
          </a:p>
        </p:txBody>
      </p:sp>
      <p:sp>
        <p:nvSpPr>
          <p:cNvPr id="840" name="Google Shape;840;p22"/>
          <p:cNvSpPr/>
          <p:nvPr/>
        </p:nvSpPr>
        <p:spPr>
          <a:xfrm>
            <a:off x="609905" y="1718158"/>
            <a:ext cx="10972800" cy="2257654"/>
          </a:xfrm>
          <a:prstGeom prst="roundRect">
            <a:avLst>
              <a:gd fmla="val 1367"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2"/>
          <p:cNvSpPr/>
          <p:nvPr/>
        </p:nvSpPr>
        <p:spPr>
          <a:xfrm>
            <a:off x="619049" y="1728216"/>
            <a:ext cx="10953598" cy="5715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2"/>
          <p:cNvSpPr/>
          <p:nvPr/>
        </p:nvSpPr>
        <p:spPr>
          <a:xfrm>
            <a:off x="619049" y="229057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2"/>
          <p:cNvSpPr/>
          <p:nvPr/>
        </p:nvSpPr>
        <p:spPr>
          <a:xfrm>
            <a:off x="619049" y="2299716"/>
            <a:ext cx="10953598" cy="562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2"/>
          <p:cNvSpPr/>
          <p:nvPr/>
        </p:nvSpPr>
        <p:spPr>
          <a:xfrm>
            <a:off x="619049" y="285292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2"/>
          <p:cNvSpPr/>
          <p:nvPr/>
        </p:nvSpPr>
        <p:spPr>
          <a:xfrm>
            <a:off x="619049" y="2857500"/>
            <a:ext cx="10953598" cy="56235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2"/>
          <p:cNvSpPr/>
          <p:nvPr/>
        </p:nvSpPr>
        <p:spPr>
          <a:xfrm>
            <a:off x="619049" y="341071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2"/>
          <p:cNvSpPr/>
          <p:nvPr/>
        </p:nvSpPr>
        <p:spPr>
          <a:xfrm>
            <a:off x="619049" y="3415284"/>
            <a:ext cx="10953598" cy="5522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2"/>
          <p:cNvSpPr txBox="1"/>
          <p:nvPr/>
        </p:nvSpPr>
        <p:spPr>
          <a:xfrm>
            <a:off x="847649" y="1899209"/>
            <a:ext cx="70043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Metric</a:t>
            </a:r>
            <a:endParaRPr b="0" i="0" sz="1300" u="none" cap="none" strike="noStrike">
              <a:solidFill>
                <a:schemeClr val="dk1"/>
              </a:solidFill>
              <a:latin typeface="Calibri"/>
              <a:ea typeface="Calibri"/>
              <a:cs typeface="Calibri"/>
              <a:sym typeface="Calibri"/>
            </a:endParaRPr>
          </a:p>
        </p:txBody>
      </p:sp>
      <p:sp>
        <p:nvSpPr>
          <p:cNvPr id="849" name="Google Shape;849;p22"/>
          <p:cNvSpPr txBox="1"/>
          <p:nvPr/>
        </p:nvSpPr>
        <p:spPr>
          <a:xfrm>
            <a:off x="4521708" y="1899209"/>
            <a:ext cx="1595628"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Estimated Value</a:t>
            </a:r>
            <a:endParaRPr b="0" i="0" sz="1300" u="none" cap="none" strike="noStrike">
              <a:solidFill>
                <a:schemeClr val="dk1"/>
              </a:solidFill>
              <a:latin typeface="Calibri"/>
              <a:ea typeface="Calibri"/>
              <a:cs typeface="Calibri"/>
              <a:sym typeface="Calibri"/>
            </a:endParaRPr>
          </a:p>
        </p:txBody>
      </p:sp>
      <p:sp>
        <p:nvSpPr>
          <p:cNvPr id="850" name="Google Shape;850;p22"/>
          <p:cNvSpPr txBox="1"/>
          <p:nvPr/>
        </p:nvSpPr>
        <p:spPr>
          <a:xfrm>
            <a:off x="8194853" y="1890065"/>
            <a:ext cx="65288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Montserrat"/>
              <a:buNone/>
            </a:pPr>
            <a:r>
              <a:rPr b="1" i="0" lang="en-US" sz="1000" u="none" cap="none" strike="noStrike">
                <a:solidFill>
                  <a:srgbClr val="4B5563"/>
                </a:solidFill>
                <a:latin typeface="Montserrat"/>
                <a:ea typeface="Montserrat"/>
                <a:cs typeface="Montserrat"/>
                <a:sym typeface="Montserrat"/>
              </a:rPr>
              <a:t>Context</a:t>
            </a:r>
            <a:endParaRPr b="0" i="0" sz="1000" u="none" cap="none" strike="noStrike">
              <a:solidFill>
                <a:schemeClr val="dk1"/>
              </a:solidFill>
              <a:latin typeface="Calibri"/>
              <a:ea typeface="Calibri"/>
              <a:cs typeface="Calibri"/>
              <a:sym typeface="Calibri"/>
            </a:endParaRPr>
          </a:p>
        </p:txBody>
      </p:sp>
      <p:sp>
        <p:nvSpPr>
          <p:cNvPr id="851" name="Google Shape;851;p22"/>
          <p:cNvSpPr txBox="1"/>
          <p:nvPr/>
        </p:nvSpPr>
        <p:spPr>
          <a:xfrm>
            <a:off x="847649" y="2470709"/>
            <a:ext cx="1143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Monthly Units</a:t>
            </a:r>
            <a:endParaRPr b="0" i="0" sz="1200" u="none" cap="none" strike="noStrike">
              <a:solidFill>
                <a:schemeClr val="dk1"/>
              </a:solidFill>
              <a:latin typeface="Calibri"/>
              <a:ea typeface="Calibri"/>
              <a:cs typeface="Calibri"/>
              <a:sym typeface="Calibri"/>
            </a:endParaRPr>
          </a:p>
        </p:txBody>
      </p:sp>
      <p:sp>
        <p:nvSpPr>
          <p:cNvPr id="852" name="Google Shape;852;p22"/>
          <p:cNvSpPr txBox="1"/>
          <p:nvPr/>
        </p:nvSpPr>
        <p:spPr>
          <a:xfrm>
            <a:off x="847649" y="3029407"/>
            <a:ext cx="14008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Monthly Revenue</a:t>
            </a:r>
            <a:endParaRPr b="0" i="0" sz="1200" u="none" cap="none" strike="noStrike">
              <a:solidFill>
                <a:schemeClr val="dk1"/>
              </a:solidFill>
              <a:latin typeface="Calibri"/>
              <a:ea typeface="Calibri"/>
              <a:cs typeface="Calibri"/>
              <a:sym typeface="Calibri"/>
            </a:endParaRPr>
          </a:p>
        </p:txBody>
      </p:sp>
      <p:sp>
        <p:nvSpPr>
          <p:cNvPr id="853" name="Google Shape;853;p22"/>
          <p:cNvSpPr txBox="1"/>
          <p:nvPr/>
        </p:nvSpPr>
        <p:spPr>
          <a:xfrm>
            <a:off x="847649" y="3587191"/>
            <a:ext cx="15627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Average Price Point</a:t>
            </a:r>
            <a:endParaRPr b="0" i="0" sz="1200" u="none" cap="none" strike="noStrike">
              <a:solidFill>
                <a:schemeClr val="dk1"/>
              </a:solidFill>
              <a:latin typeface="Calibri"/>
              <a:ea typeface="Calibri"/>
              <a:cs typeface="Calibri"/>
              <a:sym typeface="Calibri"/>
            </a:endParaRPr>
          </a:p>
        </p:txBody>
      </p:sp>
      <p:sp>
        <p:nvSpPr>
          <p:cNvPr id="854" name="Google Shape;854;p22"/>
          <p:cNvSpPr txBox="1"/>
          <p:nvPr/>
        </p:nvSpPr>
        <p:spPr>
          <a:xfrm>
            <a:off x="4681728" y="2470709"/>
            <a:ext cx="7626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~29,000</a:t>
            </a:r>
            <a:endParaRPr b="0" i="0" sz="1200" u="none" cap="none" strike="noStrike">
              <a:solidFill>
                <a:schemeClr val="dk1"/>
              </a:solidFill>
              <a:latin typeface="Calibri"/>
              <a:ea typeface="Calibri"/>
              <a:cs typeface="Calibri"/>
              <a:sym typeface="Calibri"/>
            </a:endParaRPr>
          </a:p>
        </p:txBody>
      </p:sp>
      <p:sp>
        <p:nvSpPr>
          <p:cNvPr id="855" name="Google Shape;855;p22"/>
          <p:cNvSpPr txBox="1"/>
          <p:nvPr/>
        </p:nvSpPr>
        <p:spPr>
          <a:xfrm>
            <a:off x="4681728" y="3029407"/>
            <a:ext cx="7342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~$500K</a:t>
            </a:r>
            <a:endParaRPr b="0" i="0" sz="1200" u="none" cap="none" strike="noStrike">
              <a:solidFill>
                <a:schemeClr val="dk1"/>
              </a:solidFill>
              <a:latin typeface="Calibri"/>
              <a:ea typeface="Calibri"/>
              <a:cs typeface="Calibri"/>
              <a:sym typeface="Calibri"/>
            </a:endParaRPr>
          </a:p>
        </p:txBody>
      </p:sp>
      <p:sp>
        <p:nvSpPr>
          <p:cNvPr id="856" name="Google Shape;856;p22"/>
          <p:cNvSpPr txBox="1"/>
          <p:nvPr/>
        </p:nvSpPr>
        <p:spPr>
          <a:xfrm>
            <a:off x="5327294" y="2470709"/>
            <a:ext cx="9720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units/month</a:t>
            </a:r>
            <a:endParaRPr b="0" i="0" sz="1200" u="none" cap="none" strike="noStrike">
              <a:solidFill>
                <a:schemeClr val="dk1"/>
              </a:solidFill>
              <a:latin typeface="Calibri"/>
              <a:ea typeface="Calibri"/>
              <a:cs typeface="Calibri"/>
              <a:sym typeface="Calibri"/>
            </a:endParaRPr>
          </a:p>
        </p:txBody>
      </p:sp>
      <p:sp>
        <p:nvSpPr>
          <p:cNvPr id="857" name="Google Shape;857;p22"/>
          <p:cNvSpPr txBox="1"/>
          <p:nvPr/>
        </p:nvSpPr>
        <p:spPr>
          <a:xfrm>
            <a:off x="5294376" y="3029407"/>
            <a:ext cx="857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month</a:t>
            </a:r>
            <a:endParaRPr b="0" i="0" sz="1200" u="none" cap="none" strike="noStrike">
              <a:solidFill>
                <a:schemeClr val="dk1"/>
              </a:solidFill>
              <a:latin typeface="Calibri"/>
              <a:ea typeface="Calibri"/>
              <a:cs typeface="Calibri"/>
              <a:sym typeface="Calibri"/>
            </a:endParaRPr>
          </a:p>
        </p:txBody>
      </p:sp>
      <p:sp>
        <p:nvSpPr>
          <p:cNvPr id="858" name="Google Shape;858;p22"/>
          <p:cNvSpPr txBox="1"/>
          <p:nvPr/>
        </p:nvSpPr>
        <p:spPr>
          <a:xfrm>
            <a:off x="4681728" y="3587191"/>
            <a:ext cx="11914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$18.00 per unit</a:t>
            </a:r>
            <a:endParaRPr b="0" i="0" sz="1200" u="none" cap="none" strike="noStrike">
              <a:solidFill>
                <a:schemeClr val="dk1"/>
              </a:solidFill>
              <a:latin typeface="Calibri"/>
              <a:ea typeface="Calibri"/>
              <a:cs typeface="Calibri"/>
              <a:sym typeface="Calibri"/>
            </a:endParaRPr>
          </a:p>
        </p:txBody>
      </p:sp>
      <p:sp>
        <p:nvSpPr>
          <p:cNvPr id="859" name="Google Shape;859;p22"/>
          <p:cNvSpPr txBox="1"/>
          <p:nvPr/>
        </p:nvSpPr>
        <p:spPr>
          <a:xfrm>
            <a:off x="8515807" y="2470709"/>
            <a:ext cx="12335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Top 20 SKUs only</a:t>
            </a:r>
            <a:endParaRPr b="0" i="0" sz="1000" u="none" cap="none" strike="noStrike">
              <a:solidFill>
                <a:schemeClr val="dk1"/>
              </a:solidFill>
              <a:latin typeface="Calibri"/>
              <a:ea typeface="Calibri"/>
              <a:cs typeface="Calibri"/>
              <a:sym typeface="Calibri"/>
            </a:endParaRPr>
          </a:p>
        </p:txBody>
      </p:sp>
      <p:sp>
        <p:nvSpPr>
          <p:cNvPr id="860" name="Google Shape;860;p22"/>
          <p:cNvSpPr txBox="1"/>
          <p:nvPr/>
        </p:nvSpPr>
        <p:spPr>
          <a:xfrm>
            <a:off x="8515807" y="3029407"/>
            <a:ext cx="22530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Based on non-promotional pricing</a:t>
            </a:r>
            <a:endParaRPr b="0" i="0" sz="1000" u="none" cap="none" strike="noStrike">
              <a:solidFill>
                <a:schemeClr val="dk1"/>
              </a:solidFill>
              <a:latin typeface="Calibri"/>
              <a:ea typeface="Calibri"/>
              <a:cs typeface="Calibri"/>
              <a:sym typeface="Calibri"/>
            </a:endParaRPr>
          </a:p>
        </p:txBody>
      </p:sp>
      <p:sp>
        <p:nvSpPr>
          <p:cNvPr id="861" name="Google Shape;861;p22"/>
          <p:cNvSpPr txBox="1"/>
          <p:nvPr/>
        </p:nvSpPr>
        <p:spPr>
          <a:xfrm>
            <a:off x="8515807" y="3587191"/>
            <a:ext cx="27962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Varies by channel (HD: $83, Walmart: $20)</a:t>
            </a:r>
            <a:endParaRPr b="0" i="0" sz="1000" u="none" cap="none" strike="noStrike">
              <a:solidFill>
                <a:schemeClr val="dk1"/>
              </a:solidFill>
              <a:latin typeface="Calibri"/>
              <a:ea typeface="Calibri"/>
              <a:cs typeface="Calibri"/>
              <a:sym typeface="Calibri"/>
            </a:endParaRPr>
          </a:p>
        </p:txBody>
      </p:sp>
      <p:sp>
        <p:nvSpPr>
          <p:cNvPr id="862" name="Google Shape;862;p22"/>
          <p:cNvSpPr/>
          <p:nvPr/>
        </p:nvSpPr>
        <p:spPr>
          <a:xfrm>
            <a:off x="609905" y="4202582"/>
            <a:ext cx="10972800" cy="2180844"/>
          </a:xfrm>
          <a:prstGeom prst="roundRect">
            <a:avLst>
              <a:gd fmla="val 1465" name="adj"/>
            </a:avLst>
          </a:prstGeom>
          <a:solidFill>
            <a:srgbClr val="F9FAFB"/>
          </a:solidFill>
          <a:ln cap="flat" cmpd="sng" w="12700">
            <a:solidFill>
              <a:srgbClr val="E5E7EB"/>
            </a:solidFill>
            <a:prstDash val="solid"/>
            <a:round/>
            <a:headEnd len="sm" w="sm" type="none"/>
            <a:tailEnd len="sm" w="sm" type="none"/>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2"/>
          <p:cNvSpPr txBox="1"/>
          <p:nvPr/>
        </p:nvSpPr>
        <p:spPr>
          <a:xfrm>
            <a:off x="847649" y="4431182"/>
            <a:ext cx="23481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Estimation Methodology</a:t>
            </a:r>
            <a:endParaRPr b="0" i="0" sz="1300" u="none" cap="none" strike="noStrike">
              <a:solidFill>
                <a:schemeClr val="dk1"/>
              </a:solidFill>
              <a:latin typeface="Calibri"/>
              <a:ea typeface="Calibri"/>
              <a:cs typeface="Calibri"/>
              <a:sym typeface="Calibri"/>
            </a:endParaRPr>
          </a:p>
        </p:txBody>
      </p:sp>
      <p:sp>
        <p:nvSpPr>
          <p:cNvPr id="864" name="Google Shape;864;p22"/>
          <p:cNvSpPr txBox="1"/>
          <p:nvPr/>
        </p:nvSpPr>
        <p:spPr>
          <a:xfrm>
            <a:off x="847649" y="4809744"/>
            <a:ext cx="44202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For Amazon products: Monthly Sales = 10,000 × (BSR-0.85)</a:t>
            </a:r>
            <a:endParaRPr b="0" i="0" sz="1200" u="none" cap="none" strike="noStrike">
              <a:solidFill>
                <a:schemeClr val="dk1"/>
              </a:solidFill>
              <a:latin typeface="Calibri"/>
              <a:ea typeface="Calibri"/>
              <a:cs typeface="Calibri"/>
              <a:sym typeface="Calibri"/>
            </a:endParaRPr>
          </a:p>
        </p:txBody>
      </p:sp>
      <p:sp>
        <p:nvSpPr>
          <p:cNvPr id="865" name="Google Shape;865;p22"/>
          <p:cNvSpPr txBox="1"/>
          <p:nvPr/>
        </p:nvSpPr>
        <p:spPr>
          <a:xfrm>
            <a:off x="847649" y="5129784"/>
            <a:ext cx="65251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For non-Amazon products: Review velocity triangulation with 5-retailer weighted average</a:t>
            </a:r>
            <a:endParaRPr b="0" i="0" sz="1200" u="none" cap="none" strike="noStrike">
              <a:solidFill>
                <a:schemeClr val="dk1"/>
              </a:solidFill>
              <a:latin typeface="Calibri"/>
              <a:ea typeface="Calibri"/>
              <a:cs typeface="Calibri"/>
              <a:sym typeface="Calibri"/>
            </a:endParaRPr>
          </a:p>
        </p:txBody>
      </p:sp>
      <p:sp>
        <p:nvSpPr>
          <p:cNvPr id="866" name="Google Shape;866;p22"/>
          <p:cNvSpPr txBox="1"/>
          <p:nvPr/>
        </p:nvSpPr>
        <p:spPr>
          <a:xfrm>
            <a:off x="847649" y="5449824"/>
            <a:ext cx="51252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Results validated against market share estimates and industry reports</a:t>
            </a:r>
            <a:endParaRPr b="0" i="0" sz="1200" u="none" cap="none" strike="noStrike">
              <a:solidFill>
                <a:schemeClr val="dk1"/>
              </a:solidFill>
              <a:latin typeface="Calibri"/>
              <a:ea typeface="Calibri"/>
              <a:cs typeface="Calibri"/>
              <a:sym typeface="Calibri"/>
            </a:endParaRPr>
          </a:p>
        </p:txBody>
      </p:sp>
      <p:sp>
        <p:nvSpPr>
          <p:cNvPr id="867" name="Google Shape;867;p22"/>
          <p:cNvSpPr/>
          <p:nvPr/>
        </p:nvSpPr>
        <p:spPr>
          <a:xfrm>
            <a:off x="847649" y="5864962"/>
            <a:ext cx="2143354" cy="314554"/>
          </a:xfrm>
          <a:prstGeom prst="roundRect">
            <a:avLst>
              <a:gd fmla="val 52854" name="adj"/>
            </a:avLst>
          </a:prstGeom>
          <a:solidFill>
            <a:srgbClr val="F59E0B"/>
          </a:solidFill>
          <a:ln>
            <a:noFill/>
          </a:ln>
          <a:effectLst>
            <a:outerShdw blurRad="38100" rotWithShape="0" algn="bl" dir="5400000" dist="254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2"/>
          <p:cNvSpPr txBox="1"/>
          <p:nvPr/>
        </p:nvSpPr>
        <p:spPr>
          <a:xfrm>
            <a:off x="981151" y="5941771"/>
            <a:ext cx="19769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Confidence Level: MEDIUM</a:t>
            </a:r>
            <a:endParaRPr b="0" i="0" sz="1000" u="none" cap="none" strike="noStrike">
              <a:solidFill>
                <a:schemeClr val="dk1"/>
              </a:solidFill>
              <a:latin typeface="Calibri"/>
              <a:ea typeface="Calibri"/>
              <a:cs typeface="Calibri"/>
              <a:sym typeface="Calibri"/>
            </a:endParaRPr>
          </a:p>
        </p:txBody>
      </p:sp>
      <p:sp>
        <p:nvSpPr>
          <p:cNvPr id="869" name="Google Shape;869;p22"/>
          <p:cNvSpPr/>
          <p:nvPr/>
        </p:nvSpPr>
        <p:spPr>
          <a:xfrm>
            <a:off x="609905" y="6608369"/>
            <a:ext cx="10972800" cy="106710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2"/>
          <p:cNvSpPr/>
          <p:nvPr/>
        </p:nvSpPr>
        <p:spPr>
          <a:xfrm>
            <a:off x="609905" y="6608369"/>
            <a:ext cx="38405" cy="10671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2"/>
          <p:cNvSpPr txBox="1"/>
          <p:nvPr/>
        </p:nvSpPr>
        <p:spPr>
          <a:xfrm>
            <a:off x="838505" y="6779362"/>
            <a:ext cx="10423246" cy="6382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Important Note: This analysis represents only top 20 SKUs (a small fraction of total category). The complete market is substantially larger as this analysis excludes thousands of long-tail SKUs, regional retailers, and direct-to-consumer channels. These figures should be used directionally rather than as absolute market sizing.</a:t>
            </a:r>
            <a:endParaRPr b="0" i="0" sz="1100" u="none" cap="none" strike="noStrike">
              <a:solidFill>
                <a:schemeClr val="dk1"/>
              </a:solidFill>
              <a:latin typeface="Calibri"/>
              <a:ea typeface="Calibri"/>
              <a:cs typeface="Calibri"/>
              <a:sym typeface="Calibri"/>
            </a:endParaRPr>
          </a:p>
        </p:txBody>
      </p:sp>
      <p:sp>
        <p:nvSpPr>
          <p:cNvPr id="872" name="Google Shape;872;p22"/>
          <p:cNvSpPr txBox="1"/>
          <p:nvPr/>
        </p:nvSpPr>
        <p:spPr>
          <a:xfrm>
            <a:off x="609905" y="8150962"/>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873" name="Google Shape;873;p22"/>
          <p:cNvSpPr txBox="1"/>
          <p:nvPr/>
        </p:nvSpPr>
        <p:spPr>
          <a:xfrm>
            <a:off x="11442802" y="8150962"/>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23"/>
          <p:cNvSpPr/>
          <p:nvPr/>
        </p:nvSpPr>
        <p:spPr>
          <a:xfrm>
            <a:off x="0" y="0"/>
            <a:ext cx="12191695" cy="87343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3"/>
          <p:cNvSpPr/>
          <p:nvPr/>
        </p:nvSpPr>
        <p:spPr>
          <a:xfrm>
            <a:off x="0" y="0"/>
            <a:ext cx="12191695" cy="87343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3"/>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3"/>
          <p:cNvSpPr txBox="1"/>
          <p:nvPr/>
        </p:nvSpPr>
        <p:spPr>
          <a:xfrm>
            <a:off x="533095" y="780898"/>
            <a:ext cx="49725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Growth Drivers and Inhibitors</a:t>
            </a:r>
            <a:endParaRPr b="0" i="0" sz="2700" u="none" cap="none" strike="noStrike">
              <a:solidFill>
                <a:schemeClr val="dk1"/>
              </a:solidFill>
              <a:latin typeface="Calibri"/>
              <a:ea typeface="Calibri"/>
              <a:cs typeface="Calibri"/>
              <a:sym typeface="Calibri"/>
            </a:endParaRPr>
          </a:p>
        </p:txBody>
      </p:sp>
      <p:sp>
        <p:nvSpPr>
          <p:cNvPr id="883" name="Google Shape;883;p23"/>
          <p:cNvSpPr txBox="1"/>
          <p:nvPr/>
        </p:nvSpPr>
        <p:spPr>
          <a:xfrm>
            <a:off x="533095" y="1638605"/>
            <a:ext cx="16194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MARKET ACCELERATORS</a:t>
            </a:r>
            <a:endParaRPr b="0" i="0" sz="900" u="none" cap="none" strike="noStrike">
              <a:solidFill>
                <a:schemeClr val="dk1"/>
              </a:solidFill>
              <a:latin typeface="Calibri"/>
              <a:ea typeface="Calibri"/>
              <a:cs typeface="Calibri"/>
              <a:sym typeface="Calibri"/>
            </a:endParaRPr>
          </a:p>
        </p:txBody>
      </p:sp>
      <p:sp>
        <p:nvSpPr>
          <p:cNvPr id="884" name="Google Shape;884;p23"/>
          <p:cNvSpPr/>
          <p:nvPr/>
        </p:nvSpPr>
        <p:spPr>
          <a:xfrm>
            <a:off x="533095" y="2314346"/>
            <a:ext cx="5372100" cy="19202"/>
          </a:xfrm>
          <a:prstGeom prst="rect">
            <a:avLst/>
          </a:prstGeom>
          <a:solidFill>
            <a:srgbClr val="047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3"/>
          <p:cNvSpPr txBox="1"/>
          <p:nvPr/>
        </p:nvSpPr>
        <p:spPr>
          <a:xfrm>
            <a:off x="533095" y="1981505"/>
            <a:ext cx="153436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500"/>
              <a:buFont typeface="Inter"/>
              <a:buNone/>
            </a:pPr>
            <a:r>
              <a:rPr b="1" i="0" lang="en-US" sz="1500" u="none" cap="none" strike="noStrike">
                <a:solidFill>
                  <a:srgbClr val="047857"/>
                </a:solidFill>
                <a:latin typeface="Inter"/>
                <a:ea typeface="Inter"/>
                <a:cs typeface="Inter"/>
                <a:sym typeface="Inter"/>
              </a:rPr>
              <a:t>Growth Drivers</a:t>
            </a:r>
            <a:endParaRPr b="0" i="0" sz="1500" u="none" cap="none" strike="noStrike">
              <a:solidFill>
                <a:schemeClr val="dk1"/>
              </a:solidFill>
              <a:latin typeface="Calibri"/>
              <a:ea typeface="Calibri"/>
              <a:cs typeface="Calibri"/>
              <a:sym typeface="Calibri"/>
            </a:endParaRPr>
          </a:p>
        </p:txBody>
      </p:sp>
      <p:sp>
        <p:nvSpPr>
          <p:cNvPr id="886" name="Google Shape;886;p23"/>
          <p:cNvSpPr/>
          <p:nvPr/>
        </p:nvSpPr>
        <p:spPr>
          <a:xfrm>
            <a:off x="533095" y="2486254"/>
            <a:ext cx="5372100" cy="4315054"/>
          </a:xfrm>
          <a:prstGeom prst="roundRect">
            <a:avLst>
              <a:gd fmla="val 281" name="adj"/>
            </a:avLst>
          </a:prstGeom>
          <a:solidFill>
            <a:srgbClr val="F0FD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3"/>
          <p:cNvSpPr/>
          <p:nvPr/>
        </p:nvSpPr>
        <p:spPr>
          <a:xfrm>
            <a:off x="533095" y="2486254"/>
            <a:ext cx="38405" cy="4315054"/>
          </a:xfrm>
          <a:prstGeom prst="rect">
            <a:avLst/>
          </a:prstGeom>
          <a:solidFill>
            <a:srgbClr val="047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8" name="Google Shape;888;p23"/>
          <p:cNvPicPr preferRelativeResize="0"/>
          <p:nvPr/>
        </p:nvPicPr>
        <p:blipFill rotWithShape="1">
          <a:blip r:embed="rId3">
            <a:alphaModFix/>
          </a:blip>
          <a:srcRect b="0" l="-837" r="-837" t="0"/>
          <a:stretch/>
        </p:blipFill>
        <p:spPr>
          <a:xfrm>
            <a:off x="780898" y="2769718"/>
            <a:ext cx="152705" cy="133502"/>
          </a:xfrm>
          <a:prstGeom prst="rect">
            <a:avLst/>
          </a:prstGeom>
          <a:noFill/>
          <a:ln>
            <a:noFill/>
          </a:ln>
        </p:spPr>
      </p:pic>
      <p:sp>
        <p:nvSpPr>
          <p:cNvPr id="889" name="Google Shape;889;p23"/>
          <p:cNvSpPr txBox="1"/>
          <p:nvPr/>
        </p:nvSpPr>
        <p:spPr>
          <a:xfrm>
            <a:off x="1086307" y="2704795"/>
            <a:ext cx="459668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WFH Garage Conversions — Remote work driving 34% increase in garage organization for home offices and workspaces</a:t>
            </a:r>
            <a:endParaRPr b="0" i="0" sz="1300" u="none" cap="none" strike="noStrike">
              <a:solidFill>
                <a:schemeClr val="dk1"/>
              </a:solidFill>
              <a:latin typeface="Calibri"/>
              <a:ea typeface="Calibri"/>
              <a:cs typeface="Calibri"/>
              <a:sym typeface="Calibri"/>
            </a:endParaRPr>
          </a:p>
        </p:txBody>
      </p:sp>
      <p:pic>
        <p:nvPicPr>
          <p:cNvPr descr="preencoded.png" id="890" name="Google Shape;890;p23"/>
          <p:cNvPicPr preferRelativeResize="0"/>
          <p:nvPr/>
        </p:nvPicPr>
        <p:blipFill rotWithShape="1">
          <a:blip r:embed="rId4">
            <a:alphaModFix/>
          </a:blip>
          <a:srcRect b="0" l="-837" r="-837" t="0"/>
          <a:stretch/>
        </p:blipFill>
        <p:spPr>
          <a:xfrm>
            <a:off x="780898" y="3821278"/>
            <a:ext cx="152705" cy="133502"/>
          </a:xfrm>
          <a:prstGeom prst="rect">
            <a:avLst/>
          </a:prstGeom>
          <a:noFill/>
          <a:ln>
            <a:noFill/>
          </a:ln>
        </p:spPr>
      </p:pic>
      <p:sp>
        <p:nvSpPr>
          <p:cNvPr id="891" name="Google Shape;891;p23"/>
          <p:cNvSpPr txBox="1"/>
          <p:nvPr/>
        </p:nvSpPr>
        <p:spPr>
          <a:xfrm>
            <a:off x="1086307" y="3756355"/>
            <a:ext cx="4539082"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EV Charging Organization — 12% of products now EV-related for home charging station setup and tool organization</a:t>
            </a:r>
            <a:endParaRPr b="0" i="0" sz="1300" u="none" cap="none" strike="noStrike">
              <a:solidFill>
                <a:schemeClr val="dk1"/>
              </a:solidFill>
              <a:latin typeface="Calibri"/>
              <a:ea typeface="Calibri"/>
              <a:cs typeface="Calibri"/>
              <a:sym typeface="Calibri"/>
            </a:endParaRPr>
          </a:p>
        </p:txBody>
      </p:sp>
      <p:pic>
        <p:nvPicPr>
          <p:cNvPr descr="preencoded.png" id="892" name="Google Shape;892;p23"/>
          <p:cNvPicPr preferRelativeResize="0"/>
          <p:nvPr/>
        </p:nvPicPr>
        <p:blipFill rotWithShape="1">
          <a:blip r:embed="rId5">
            <a:alphaModFix/>
          </a:blip>
          <a:srcRect b="0" l="-1506" r="-1506" t="0"/>
          <a:stretch/>
        </p:blipFill>
        <p:spPr>
          <a:xfrm>
            <a:off x="771754" y="4871923"/>
            <a:ext cx="171907" cy="133502"/>
          </a:xfrm>
          <a:prstGeom prst="rect">
            <a:avLst/>
          </a:prstGeom>
          <a:noFill/>
          <a:ln>
            <a:noFill/>
          </a:ln>
        </p:spPr>
      </p:pic>
      <p:sp>
        <p:nvSpPr>
          <p:cNvPr id="893" name="Google Shape;893;p23"/>
          <p:cNvSpPr txBox="1"/>
          <p:nvPr/>
        </p:nvSpPr>
        <p:spPr>
          <a:xfrm>
            <a:off x="1086307" y="4807915"/>
            <a:ext cx="4758538"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Outdoor Recreation Boom — 47% increase in bike/sports storage needs since pandemic, continuing to expand</a:t>
            </a:r>
            <a:endParaRPr b="0" i="0" sz="1300" u="none" cap="none" strike="noStrike">
              <a:solidFill>
                <a:schemeClr val="dk1"/>
              </a:solidFill>
              <a:latin typeface="Calibri"/>
              <a:ea typeface="Calibri"/>
              <a:cs typeface="Calibri"/>
              <a:sym typeface="Calibri"/>
            </a:endParaRPr>
          </a:p>
        </p:txBody>
      </p:sp>
      <p:pic>
        <p:nvPicPr>
          <p:cNvPr descr="preencoded.png" id="894" name="Google Shape;894;p23"/>
          <p:cNvPicPr preferRelativeResize="0"/>
          <p:nvPr/>
        </p:nvPicPr>
        <p:blipFill rotWithShape="1">
          <a:blip r:embed="rId6">
            <a:alphaModFix/>
          </a:blip>
          <a:srcRect b="0" l="-1506" r="-1506" t="0"/>
          <a:stretch/>
        </p:blipFill>
        <p:spPr>
          <a:xfrm>
            <a:off x="771754" y="5649163"/>
            <a:ext cx="171907" cy="133502"/>
          </a:xfrm>
          <a:prstGeom prst="rect">
            <a:avLst/>
          </a:prstGeom>
          <a:noFill/>
          <a:ln>
            <a:noFill/>
          </a:ln>
        </p:spPr>
      </p:pic>
      <p:sp>
        <p:nvSpPr>
          <p:cNvPr id="895" name="Google Shape;895;p23"/>
          <p:cNvSpPr txBox="1"/>
          <p:nvPr/>
        </p:nvSpPr>
        <p:spPr>
          <a:xfrm>
            <a:off x="1086307" y="5585155"/>
            <a:ext cx="4101084"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Minimalism Movement — 28% of consumers cite decluttering as primary motivation for garage organization</a:t>
            </a:r>
            <a:endParaRPr b="0" i="0" sz="1300" u="none" cap="none" strike="noStrike">
              <a:solidFill>
                <a:schemeClr val="dk1"/>
              </a:solidFill>
              <a:latin typeface="Calibri"/>
              <a:ea typeface="Calibri"/>
              <a:cs typeface="Calibri"/>
              <a:sym typeface="Calibri"/>
            </a:endParaRPr>
          </a:p>
        </p:txBody>
      </p:sp>
      <p:sp>
        <p:nvSpPr>
          <p:cNvPr id="896" name="Google Shape;896;p23"/>
          <p:cNvSpPr txBox="1"/>
          <p:nvPr/>
        </p:nvSpPr>
        <p:spPr>
          <a:xfrm>
            <a:off x="6286500" y="1638605"/>
            <a:ext cx="1543507"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MARKET CONSTRAINTS</a:t>
            </a:r>
            <a:endParaRPr b="0" i="0" sz="900" u="none" cap="none" strike="noStrike">
              <a:solidFill>
                <a:schemeClr val="dk1"/>
              </a:solidFill>
              <a:latin typeface="Calibri"/>
              <a:ea typeface="Calibri"/>
              <a:cs typeface="Calibri"/>
              <a:sym typeface="Calibri"/>
            </a:endParaRPr>
          </a:p>
        </p:txBody>
      </p:sp>
      <p:sp>
        <p:nvSpPr>
          <p:cNvPr id="897" name="Google Shape;897;p23"/>
          <p:cNvSpPr/>
          <p:nvPr/>
        </p:nvSpPr>
        <p:spPr>
          <a:xfrm>
            <a:off x="6286500" y="2314346"/>
            <a:ext cx="5372100" cy="19202"/>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3"/>
          <p:cNvSpPr txBox="1"/>
          <p:nvPr/>
        </p:nvSpPr>
        <p:spPr>
          <a:xfrm>
            <a:off x="6286500" y="1981505"/>
            <a:ext cx="17337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500"/>
              <a:buFont typeface="Inter"/>
              <a:buNone/>
            </a:pPr>
            <a:r>
              <a:rPr b="1" i="0" lang="en-US" sz="1500" u="none" cap="none" strike="noStrike">
                <a:solidFill>
                  <a:srgbClr val="B45309"/>
                </a:solidFill>
                <a:latin typeface="Inter"/>
                <a:ea typeface="Inter"/>
                <a:cs typeface="Inter"/>
                <a:sym typeface="Inter"/>
              </a:rPr>
              <a:t>Growth Inhibitors</a:t>
            </a:r>
            <a:endParaRPr b="0" i="0" sz="1500" u="none" cap="none" strike="noStrike">
              <a:solidFill>
                <a:schemeClr val="dk1"/>
              </a:solidFill>
              <a:latin typeface="Calibri"/>
              <a:ea typeface="Calibri"/>
              <a:cs typeface="Calibri"/>
              <a:sym typeface="Calibri"/>
            </a:endParaRPr>
          </a:p>
        </p:txBody>
      </p:sp>
      <p:sp>
        <p:nvSpPr>
          <p:cNvPr id="899" name="Google Shape;899;p23"/>
          <p:cNvSpPr/>
          <p:nvPr/>
        </p:nvSpPr>
        <p:spPr>
          <a:xfrm>
            <a:off x="6286500" y="2486254"/>
            <a:ext cx="5372100" cy="4038905"/>
          </a:xfrm>
          <a:prstGeom prst="roundRect">
            <a:avLst>
              <a:gd fmla="val 320" name="adj"/>
            </a:avLst>
          </a:prstGeom>
          <a:solidFill>
            <a:srgbClr val="FEF3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3"/>
          <p:cNvSpPr/>
          <p:nvPr/>
        </p:nvSpPr>
        <p:spPr>
          <a:xfrm>
            <a:off x="6286500" y="2486254"/>
            <a:ext cx="38405" cy="403890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1" name="Google Shape;901;p23"/>
          <p:cNvPicPr preferRelativeResize="0"/>
          <p:nvPr/>
        </p:nvPicPr>
        <p:blipFill rotWithShape="1">
          <a:blip r:embed="rId7">
            <a:alphaModFix/>
          </a:blip>
          <a:srcRect b="0" l="0" r="0" t="0"/>
          <a:stretch/>
        </p:blipFill>
        <p:spPr>
          <a:xfrm>
            <a:off x="6543446" y="2769718"/>
            <a:ext cx="133502" cy="133502"/>
          </a:xfrm>
          <a:prstGeom prst="rect">
            <a:avLst/>
          </a:prstGeom>
          <a:noFill/>
          <a:ln>
            <a:noFill/>
          </a:ln>
        </p:spPr>
      </p:pic>
      <p:sp>
        <p:nvSpPr>
          <p:cNvPr id="902" name="Google Shape;902;p23"/>
          <p:cNvSpPr txBox="1"/>
          <p:nvPr/>
        </p:nvSpPr>
        <p:spPr>
          <a:xfrm>
            <a:off x="6838798" y="2704795"/>
            <a:ext cx="4120286"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Installation Complexity — 64% of consumers cite difficulty as purchase barrier, especially tool requirements and time</a:t>
            </a:r>
            <a:endParaRPr b="0" i="0" sz="1300" u="none" cap="none" strike="noStrike">
              <a:solidFill>
                <a:schemeClr val="dk1"/>
              </a:solidFill>
              <a:latin typeface="Calibri"/>
              <a:ea typeface="Calibri"/>
              <a:cs typeface="Calibri"/>
              <a:sym typeface="Calibri"/>
            </a:endParaRPr>
          </a:p>
        </p:txBody>
      </p:sp>
      <p:pic>
        <p:nvPicPr>
          <p:cNvPr descr="preencoded.png" id="903" name="Google Shape;903;p23"/>
          <p:cNvPicPr preferRelativeResize="0"/>
          <p:nvPr/>
        </p:nvPicPr>
        <p:blipFill rotWithShape="1">
          <a:blip r:embed="rId8">
            <a:alphaModFix/>
          </a:blip>
          <a:srcRect b="0" l="-837" r="-837" t="0"/>
          <a:stretch/>
        </p:blipFill>
        <p:spPr>
          <a:xfrm>
            <a:off x="6534302" y="3821278"/>
            <a:ext cx="152705" cy="133502"/>
          </a:xfrm>
          <a:prstGeom prst="rect">
            <a:avLst/>
          </a:prstGeom>
          <a:noFill/>
          <a:ln>
            <a:noFill/>
          </a:ln>
        </p:spPr>
      </p:pic>
      <p:sp>
        <p:nvSpPr>
          <p:cNvPr id="904" name="Google Shape;904;p23"/>
          <p:cNvSpPr txBox="1"/>
          <p:nvPr/>
        </p:nvSpPr>
        <p:spPr>
          <a:xfrm>
            <a:off x="6838798" y="3756355"/>
            <a:ext cx="4282135"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Renter Restrictions — 31% cannot drill/mount permanently on walls, limiting heavy-duty solutions</a:t>
            </a:r>
            <a:endParaRPr b="0" i="0" sz="1300" u="none" cap="none" strike="noStrike">
              <a:solidFill>
                <a:schemeClr val="dk1"/>
              </a:solidFill>
              <a:latin typeface="Calibri"/>
              <a:ea typeface="Calibri"/>
              <a:cs typeface="Calibri"/>
              <a:sym typeface="Calibri"/>
            </a:endParaRPr>
          </a:p>
        </p:txBody>
      </p:sp>
      <p:pic>
        <p:nvPicPr>
          <p:cNvPr descr="preencoded.png" id="905" name="Google Shape;905;p23"/>
          <p:cNvPicPr preferRelativeResize="0"/>
          <p:nvPr/>
        </p:nvPicPr>
        <p:blipFill rotWithShape="1">
          <a:blip r:embed="rId9">
            <a:alphaModFix/>
          </a:blip>
          <a:srcRect b="0" l="0" r="0" t="0"/>
          <a:stretch/>
        </p:blipFill>
        <p:spPr>
          <a:xfrm>
            <a:off x="6543446" y="4597603"/>
            <a:ext cx="133502" cy="133502"/>
          </a:xfrm>
          <a:prstGeom prst="rect">
            <a:avLst/>
          </a:prstGeom>
          <a:noFill/>
          <a:ln>
            <a:noFill/>
          </a:ln>
        </p:spPr>
      </p:pic>
      <p:sp>
        <p:nvSpPr>
          <p:cNvPr id="906" name="Google Shape;906;p23"/>
          <p:cNvSpPr txBox="1"/>
          <p:nvPr/>
        </p:nvSpPr>
        <p:spPr>
          <a:xfrm>
            <a:off x="6838798" y="4533595"/>
            <a:ext cx="4625035"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Quality Skepticism — 58% mention previous product failures (weight capacity, durability), creating hesitation</a:t>
            </a:r>
            <a:endParaRPr b="0" i="0" sz="1300" u="none" cap="none" strike="noStrike">
              <a:solidFill>
                <a:schemeClr val="dk1"/>
              </a:solidFill>
              <a:latin typeface="Calibri"/>
              <a:ea typeface="Calibri"/>
              <a:cs typeface="Calibri"/>
              <a:sym typeface="Calibri"/>
            </a:endParaRPr>
          </a:p>
        </p:txBody>
      </p:sp>
      <p:pic>
        <p:nvPicPr>
          <p:cNvPr descr="preencoded.png" id="907" name="Google Shape;907;p23"/>
          <p:cNvPicPr preferRelativeResize="0"/>
          <p:nvPr/>
        </p:nvPicPr>
        <p:blipFill rotWithShape="1">
          <a:blip r:embed="rId10">
            <a:alphaModFix/>
          </a:blip>
          <a:srcRect b="0" l="0" r="0" t="0"/>
          <a:stretch/>
        </p:blipFill>
        <p:spPr>
          <a:xfrm>
            <a:off x="6543446" y="5374843"/>
            <a:ext cx="133502" cy="133502"/>
          </a:xfrm>
          <a:prstGeom prst="rect">
            <a:avLst/>
          </a:prstGeom>
          <a:noFill/>
          <a:ln>
            <a:noFill/>
          </a:ln>
        </p:spPr>
      </p:pic>
      <p:sp>
        <p:nvSpPr>
          <p:cNvPr id="908" name="Google Shape;908;p23"/>
          <p:cNvSpPr txBox="1"/>
          <p:nvPr/>
        </p:nvSpPr>
        <p:spPr>
          <a:xfrm>
            <a:off x="6838798" y="5310835"/>
            <a:ext cx="4539082"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Space Limitations — 23% cite garage size constraints; multi-purpose needs compete for limited wall/floor space</a:t>
            </a:r>
            <a:endParaRPr b="0" i="0" sz="1300" u="none" cap="none" strike="noStrike">
              <a:solidFill>
                <a:schemeClr val="dk1"/>
              </a:solidFill>
              <a:latin typeface="Calibri"/>
              <a:ea typeface="Calibri"/>
              <a:cs typeface="Calibri"/>
              <a:sym typeface="Calibri"/>
            </a:endParaRPr>
          </a:p>
        </p:txBody>
      </p:sp>
      <p:sp>
        <p:nvSpPr>
          <p:cNvPr id="909" name="Google Shape;909;p23"/>
          <p:cNvSpPr/>
          <p:nvPr/>
        </p:nvSpPr>
        <p:spPr>
          <a:xfrm>
            <a:off x="533095" y="7027164"/>
            <a:ext cx="11125505" cy="647395"/>
          </a:xfrm>
          <a:prstGeom prst="roundRect">
            <a:avLst>
              <a:gd fmla="val 12463"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3"/>
          <p:cNvSpPr/>
          <p:nvPr/>
        </p:nvSpPr>
        <p:spPr>
          <a:xfrm>
            <a:off x="533095" y="7027164"/>
            <a:ext cx="47549" cy="6473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3"/>
          <p:cNvSpPr txBox="1"/>
          <p:nvPr/>
        </p:nvSpPr>
        <p:spPr>
          <a:xfrm>
            <a:off x="809244" y="7246620"/>
            <a:ext cx="92162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Address installation barriers (64%) and trust deficit (58%) to unlock market growth potential.</a:t>
            </a:r>
            <a:endParaRPr b="0" i="0" sz="1300" u="none" cap="none" strike="noStrike">
              <a:solidFill>
                <a:schemeClr val="dk1"/>
              </a:solidFill>
              <a:latin typeface="Calibri"/>
              <a:ea typeface="Calibri"/>
              <a:cs typeface="Calibri"/>
              <a:sym typeface="Calibri"/>
            </a:endParaRPr>
          </a:p>
        </p:txBody>
      </p:sp>
      <p:sp>
        <p:nvSpPr>
          <p:cNvPr id="912" name="Google Shape;912;p23"/>
          <p:cNvSpPr txBox="1"/>
          <p:nvPr/>
        </p:nvSpPr>
        <p:spPr>
          <a:xfrm>
            <a:off x="533095" y="7836408"/>
            <a:ext cx="457931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Consumer video analysis + market trend assessment (n=571 videos)</a:t>
            </a:r>
            <a:endParaRPr b="0" i="0" sz="900" u="none" cap="none" strike="noStrike">
              <a:solidFill>
                <a:schemeClr val="dk1"/>
              </a:solidFill>
              <a:latin typeface="Calibri"/>
              <a:ea typeface="Calibri"/>
              <a:cs typeface="Calibri"/>
              <a:sym typeface="Calibri"/>
            </a:endParaRPr>
          </a:p>
        </p:txBody>
      </p:sp>
      <p:sp>
        <p:nvSpPr>
          <p:cNvPr id="913" name="Google Shape;913;p23"/>
          <p:cNvSpPr txBox="1"/>
          <p:nvPr/>
        </p:nvSpPr>
        <p:spPr>
          <a:xfrm>
            <a:off x="533095" y="832744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914" name="Google Shape;914;p23"/>
          <p:cNvSpPr txBox="1"/>
          <p:nvPr/>
        </p:nvSpPr>
        <p:spPr>
          <a:xfrm>
            <a:off x="11504981" y="8327441"/>
            <a:ext cx="2551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24"/>
          <p:cNvSpPr/>
          <p:nvPr/>
        </p:nvSpPr>
        <p:spPr>
          <a:xfrm>
            <a:off x="0" y="0"/>
            <a:ext cx="12191695" cy="8496605"/>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4"/>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4"/>
          <p:cNvSpPr/>
          <p:nvPr/>
        </p:nvSpPr>
        <p:spPr>
          <a:xfrm>
            <a:off x="-1015898" y="6456578"/>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4"/>
          <p:cNvSpPr/>
          <p:nvPr/>
        </p:nvSpPr>
        <p:spPr>
          <a:xfrm>
            <a:off x="2476195" y="1550822"/>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4"/>
          <p:cNvSpPr/>
          <p:nvPr/>
        </p:nvSpPr>
        <p:spPr>
          <a:xfrm>
            <a:off x="8477402" y="5699455"/>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4"/>
          <p:cNvSpPr/>
          <p:nvPr/>
        </p:nvSpPr>
        <p:spPr>
          <a:xfrm>
            <a:off x="1218895" y="1272845"/>
            <a:ext cx="476402" cy="476402"/>
          </a:xfrm>
          <a:prstGeom prst="roundRect">
            <a:avLst>
              <a:gd fmla="val 30710"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4"/>
          <p:cNvSpPr/>
          <p:nvPr/>
        </p:nvSpPr>
        <p:spPr>
          <a:xfrm>
            <a:off x="10030054" y="2122322"/>
            <a:ext cx="333756" cy="333756"/>
          </a:xfrm>
          <a:prstGeom prst="roundRect">
            <a:avLst>
              <a:gd fmla="val 6262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4"/>
          <p:cNvSpPr/>
          <p:nvPr/>
        </p:nvSpPr>
        <p:spPr>
          <a:xfrm>
            <a:off x="2438705" y="6362395"/>
            <a:ext cx="428854" cy="428854"/>
          </a:xfrm>
          <a:prstGeom prst="roundRect">
            <a:avLst>
              <a:gd fmla="val 37906"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4"/>
          <p:cNvSpPr/>
          <p:nvPr/>
        </p:nvSpPr>
        <p:spPr>
          <a:xfrm>
            <a:off x="9372600" y="5561381"/>
            <a:ext cx="381305" cy="381305"/>
          </a:xfrm>
          <a:prstGeom prst="roundRect">
            <a:avLst>
              <a:gd fmla="val 4796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4"/>
          <p:cNvSpPr/>
          <p:nvPr/>
        </p:nvSpPr>
        <p:spPr>
          <a:xfrm>
            <a:off x="609905" y="848563"/>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4"/>
          <p:cNvSpPr/>
          <p:nvPr/>
        </p:nvSpPr>
        <p:spPr>
          <a:xfrm>
            <a:off x="9502445" y="1698041"/>
            <a:ext cx="1714500" cy="1714500"/>
          </a:xfrm>
          <a:prstGeom prst="rect">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4"/>
          <p:cNvSpPr/>
          <p:nvPr/>
        </p:nvSpPr>
        <p:spPr>
          <a:xfrm>
            <a:off x="2438705" y="4929530"/>
            <a:ext cx="2286000" cy="2286000"/>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4"/>
          <p:cNvSpPr txBox="1"/>
          <p:nvPr/>
        </p:nvSpPr>
        <p:spPr>
          <a:xfrm>
            <a:off x="609905" y="8002829"/>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933" name="Google Shape;933;p24"/>
          <p:cNvSpPr txBox="1"/>
          <p:nvPr/>
        </p:nvSpPr>
        <p:spPr>
          <a:xfrm>
            <a:off x="11446459" y="8002829"/>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21</a:t>
            </a:r>
            <a:endParaRPr b="0" i="0" sz="1000" u="none" cap="none" strike="noStrike">
              <a:solidFill>
                <a:schemeClr val="dk1"/>
              </a:solidFill>
              <a:latin typeface="Calibri"/>
              <a:ea typeface="Calibri"/>
              <a:cs typeface="Calibri"/>
              <a:sym typeface="Calibri"/>
            </a:endParaRPr>
          </a:p>
        </p:txBody>
      </p:sp>
      <p:sp>
        <p:nvSpPr>
          <p:cNvPr id="934" name="Google Shape;934;p24"/>
          <p:cNvSpPr/>
          <p:nvPr/>
        </p:nvSpPr>
        <p:spPr>
          <a:xfrm>
            <a:off x="4286707" y="761695"/>
            <a:ext cx="1143000" cy="1143000"/>
          </a:xfrm>
          <a:prstGeom prst="roundRect">
            <a:avLst>
              <a:gd fmla="val 10667"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5" name="Google Shape;935;p24"/>
          <p:cNvPicPr preferRelativeResize="0"/>
          <p:nvPr/>
        </p:nvPicPr>
        <p:blipFill rotWithShape="1">
          <a:blip r:embed="rId3">
            <a:alphaModFix/>
          </a:blip>
          <a:srcRect b="0" l="0" r="0" t="0"/>
          <a:stretch/>
        </p:blipFill>
        <p:spPr>
          <a:xfrm>
            <a:off x="4643323" y="1119226"/>
            <a:ext cx="428854" cy="428854"/>
          </a:xfrm>
          <a:prstGeom prst="rect">
            <a:avLst/>
          </a:prstGeom>
          <a:noFill/>
          <a:ln>
            <a:noFill/>
          </a:ln>
        </p:spPr>
      </p:pic>
      <p:sp>
        <p:nvSpPr>
          <p:cNvPr id="936" name="Google Shape;936;p24"/>
          <p:cNvSpPr/>
          <p:nvPr/>
        </p:nvSpPr>
        <p:spPr>
          <a:xfrm>
            <a:off x="5810098" y="1238098"/>
            <a:ext cx="571500" cy="571500"/>
          </a:xfrm>
          <a:prstGeom prst="roundRect">
            <a:avLst>
              <a:gd fmla="val 32000" name="adj"/>
            </a:avLst>
          </a:prstGeom>
          <a:solidFill>
            <a:srgbClr val="1E3A8A">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7" name="Google Shape;937;p24"/>
          <p:cNvPicPr preferRelativeResize="0"/>
          <p:nvPr/>
        </p:nvPicPr>
        <p:blipFill rotWithShape="1">
          <a:blip r:embed="rId4">
            <a:alphaModFix/>
          </a:blip>
          <a:srcRect b="0" l="0" r="0" t="0"/>
          <a:stretch/>
        </p:blipFill>
        <p:spPr>
          <a:xfrm>
            <a:off x="5943600" y="1371600"/>
            <a:ext cx="304495" cy="304495"/>
          </a:xfrm>
          <a:prstGeom prst="rect">
            <a:avLst/>
          </a:prstGeom>
          <a:noFill/>
          <a:ln>
            <a:noFill/>
          </a:ln>
        </p:spPr>
      </p:pic>
      <p:sp>
        <p:nvSpPr>
          <p:cNvPr id="938" name="Google Shape;938;p24"/>
          <p:cNvSpPr/>
          <p:nvPr/>
        </p:nvSpPr>
        <p:spPr>
          <a:xfrm>
            <a:off x="6762902" y="761695"/>
            <a:ext cx="1143000" cy="1143000"/>
          </a:xfrm>
          <a:prstGeom prst="roundRect">
            <a:avLst>
              <a:gd fmla="val 10667" name="adj"/>
            </a:avLst>
          </a:prstGeom>
          <a:solidFill>
            <a:srgbClr val="1E3A8A">
              <a:alpha val="80000"/>
            </a:srgbClr>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9" name="Google Shape;939;p24"/>
          <p:cNvPicPr preferRelativeResize="0"/>
          <p:nvPr/>
        </p:nvPicPr>
        <p:blipFill rotWithShape="1">
          <a:blip r:embed="rId5">
            <a:alphaModFix/>
          </a:blip>
          <a:srcRect b="0" l="0" r="0" t="0"/>
          <a:stretch/>
        </p:blipFill>
        <p:spPr>
          <a:xfrm>
            <a:off x="7119518" y="1119226"/>
            <a:ext cx="428854" cy="428854"/>
          </a:xfrm>
          <a:prstGeom prst="rect">
            <a:avLst/>
          </a:prstGeom>
          <a:noFill/>
          <a:ln>
            <a:noFill/>
          </a:ln>
        </p:spPr>
      </p:pic>
      <p:sp>
        <p:nvSpPr>
          <p:cNvPr id="940" name="Google Shape;940;p24"/>
          <p:cNvSpPr/>
          <p:nvPr/>
        </p:nvSpPr>
        <p:spPr>
          <a:xfrm>
            <a:off x="5333695" y="2572207"/>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4"/>
          <p:cNvSpPr txBox="1"/>
          <p:nvPr/>
        </p:nvSpPr>
        <p:spPr>
          <a:xfrm>
            <a:off x="1651406" y="3019349"/>
            <a:ext cx="9296705"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Consumer Behavioral Intelligence</a:t>
            </a:r>
            <a:endParaRPr b="0" i="0" sz="4200" u="none" cap="none" strike="noStrike">
              <a:solidFill>
                <a:schemeClr val="dk1"/>
              </a:solidFill>
              <a:latin typeface="Calibri"/>
              <a:ea typeface="Calibri"/>
              <a:cs typeface="Calibri"/>
              <a:sym typeface="Calibri"/>
            </a:endParaRPr>
          </a:p>
        </p:txBody>
      </p:sp>
      <p:sp>
        <p:nvSpPr>
          <p:cNvPr id="942" name="Google Shape;942;p24"/>
          <p:cNvSpPr txBox="1"/>
          <p:nvPr/>
        </p:nvSpPr>
        <p:spPr>
          <a:xfrm>
            <a:off x="3621024" y="3963924"/>
            <a:ext cx="5239512"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The Voice of the Customer</a:t>
            </a:r>
            <a:endParaRPr b="0" i="0" sz="3000" u="none" cap="none" strike="noStrike">
              <a:solidFill>
                <a:schemeClr val="dk1"/>
              </a:solidFill>
              <a:latin typeface="Calibri"/>
              <a:ea typeface="Calibri"/>
              <a:cs typeface="Calibri"/>
              <a:sym typeface="Calibri"/>
            </a:endParaRPr>
          </a:p>
        </p:txBody>
      </p:sp>
      <p:sp>
        <p:nvSpPr>
          <p:cNvPr id="943" name="Google Shape;943;p24"/>
          <p:cNvSpPr txBox="1"/>
          <p:nvPr/>
        </p:nvSpPr>
        <p:spPr>
          <a:xfrm>
            <a:off x="2333549" y="4916729"/>
            <a:ext cx="7696505"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What consumers do, say, and struggle with from trigger to expansion.</a:t>
            </a:r>
            <a:endParaRPr b="0" i="0" sz="1800" u="none" cap="none" strike="noStrike">
              <a:solidFill>
                <a:schemeClr val="dk1"/>
              </a:solidFill>
              <a:latin typeface="Calibri"/>
              <a:ea typeface="Calibri"/>
              <a:cs typeface="Calibri"/>
              <a:sym typeface="Calibri"/>
            </a:endParaRPr>
          </a:p>
        </p:txBody>
      </p:sp>
      <p:sp>
        <p:nvSpPr>
          <p:cNvPr id="944" name="Google Shape;944;p24"/>
          <p:cNvSpPr txBox="1"/>
          <p:nvPr/>
        </p:nvSpPr>
        <p:spPr>
          <a:xfrm>
            <a:off x="2451506" y="5259629"/>
            <a:ext cx="7467905"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Insights from 571 video ethnographies revealing purchase journeys,</a:t>
            </a:r>
            <a:endParaRPr b="0" i="0" sz="1800" u="none" cap="none" strike="noStrike">
              <a:solidFill>
                <a:schemeClr val="dk1"/>
              </a:solidFill>
              <a:latin typeface="Calibri"/>
              <a:ea typeface="Calibri"/>
              <a:cs typeface="Calibri"/>
              <a:sym typeface="Calibri"/>
            </a:endParaRPr>
          </a:p>
        </p:txBody>
      </p:sp>
      <p:sp>
        <p:nvSpPr>
          <p:cNvPr id="945" name="Google Shape;945;p24"/>
          <p:cNvSpPr txBox="1"/>
          <p:nvPr/>
        </p:nvSpPr>
        <p:spPr>
          <a:xfrm>
            <a:off x="4468673" y="5602529"/>
            <a:ext cx="3429000" cy="2770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pain points, and unmet needs.</a:t>
            </a:r>
            <a:endParaRPr b="0" i="0" sz="1800" u="none" cap="none" strike="noStrike">
              <a:solidFill>
                <a:schemeClr val="dk1"/>
              </a:solidFill>
              <a:latin typeface="Calibri"/>
              <a:ea typeface="Calibri"/>
              <a:cs typeface="Calibri"/>
              <a:sym typeface="Calibri"/>
            </a:endParaRPr>
          </a:p>
        </p:txBody>
      </p:sp>
      <p:sp>
        <p:nvSpPr>
          <p:cNvPr id="946" name="Google Shape;946;p24"/>
          <p:cNvSpPr txBox="1"/>
          <p:nvPr/>
        </p:nvSpPr>
        <p:spPr>
          <a:xfrm>
            <a:off x="3881628" y="6736385"/>
            <a:ext cx="452993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Source: Analysis of 571 consumer videos with 47.9M cumulative views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5"/>
          <p:cNvSpPr/>
          <p:nvPr/>
        </p:nvSpPr>
        <p:spPr>
          <a:xfrm>
            <a:off x="0" y="0"/>
            <a:ext cx="12191695" cy="9144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5"/>
          <p:cNvSpPr/>
          <p:nvPr/>
        </p:nvSpPr>
        <p:spPr>
          <a:xfrm>
            <a:off x="0" y="0"/>
            <a:ext cx="12191695" cy="9144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5"/>
          <p:cNvSpPr/>
          <p:nvPr/>
        </p:nvSpPr>
        <p:spPr>
          <a:xfrm>
            <a:off x="533095" y="38130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5"/>
          <p:cNvSpPr txBox="1"/>
          <p:nvPr/>
        </p:nvSpPr>
        <p:spPr>
          <a:xfrm>
            <a:off x="533095" y="609905"/>
            <a:ext cx="3667658"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Purchase Journey Map</a:t>
            </a:r>
            <a:endParaRPr b="0" i="0" sz="2400" u="none" cap="none" strike="noStrike">
              <a:solidFill>
                <a:schemeClr val="dk1"/>
              </a:solidFill>
              <a:latin typeface="Calibri"/>
              <a:ea typeface="Calibri"/>
              <a:cs typeface="Calibri"/>
              <a:sym typeface="Calibri"/>
            </a:endParaRPr>
          </a:p>
        </p:txBody>
      </p:sp>
      <p:sp>
        <p:nvSpPr>
          <p:cNvPr id="956" name="Google Shape;956;p25"/>
          <p:cNvSpPr txBox="1"/>
          <p:nvPr/>
        </p:nvSpPr>
        <p:spPr>
          <a:xfrm>
            <a:off x="533095" y="1200607"/>
            <a:ext cx="247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957" name="Google Shape;957;p25"/>
          <p:cNvSpPr txBox="1"/>
          <p:nvPr/>
        </p:nvSpPr>
        <p:spPr>
          <a:xfrm>
            <a:off x="737006" y="1181405"/>
            <a:ext cx="115305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THE PATTERN</a:t>
            </a:r>
            <a:endParaRPr b="0" i="0" sz="1200" u="none" cap="none" strike="noStrike">
              <a:solidFill>
                <a:schemeClr val="dk1"/>
              </a:solidFill>
              <a:latin typeface="Calibri"/>
              <a:ea typeface="Calibri"/>
              <a:cs typeface="Calibri"/>
              <a:sym typeface="Calibri"/>
            </a:endParaRPr>
          </a:p>
        </p:txBody>
      </p:sp>
      <p:sp>
        <p:nvSpPr>
          <p:cNvPr id="958" name="Google Shape;958;p25"/>
          <p:cNvSpPr txBox="1"/>
          <p:nvPr/>
        </p:nvSpPr>
        <p:spPr>
          <a:xfrm>
            <a:off x="533095" y="1533449"/>
            <a:ext cx="10959084" cy="3529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Consumer purchase journey analysis reveals a consistent 5-stage process with distinct behaviors and timeframes at each phase. Key transitions show where innovation can reduce friction.</a:t>
            </a:r>
            <a:endParaRPr b="0" i="0" sz="1000" u="none" cap="none" strike="noStrike">
              <a:solidFill>
                <a:schemeClr val="dk1"/>
              </a:solidFill>
              <a:latin typeface="Calibri"/>
              <a:ea typeface="Calibri"/>
              <a:cs typeface="Calibri"/>
              <a:sym typeface="Calibri"/>
            </a:endParaRPr>
          </a:p>
        </p:txBody>
      </p:sp>
      <p:sp>
        <p:nvSpPr>
          <p:cNvPr id="959" name="Google Shape;959;p25"/>
          <p:cNvSpPr/>
          <p:nvPr/>
        </p:nvSpPr>
        <p:spPr>
          <a:xfrm>
            <a:off x="533095" y="6286500"/>
            <a:ext cx="11125505" cy="952805"/>
          </a:xfrm>
          <a:prstGeom prst="roundRect">
            <a:avLst>
              <a:gd fmla="val 5758"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5"/>
          <p:cNvSpPr/>
          <p:nvPr/>
        </p:nvSpPr>
        <p:spPr>
          <a:xfrm>
            <a:off x="533095" y="6286500"/>
            <a:ext cx="38405" cy="9528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5"/>
          <p:cNvSpPr txBox="1"/>
          <p:nvPr/>
        </p:nvSpPr>
        <p:spPr>
          <a:xfrm>
            <a:off x="761695" y="6458407"/>
            <a:ext cx="13432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 HARD TRUTH</a:t>
            </a:r>
            <a:endParaRPr b="0" i="0" sz="1200" u="none" cap="none" strike="noStrike">
              <a:solidFill>
                <a:schemeClr val="dk1"/>
              </a:solidFill>
              <a:latin typeface="Calibri"/>
              <a:ea typeface="Calibri"/>
              <a:cs typeface="Calibri"/>
              <a:sym typeface="Calibri"/>
            </a:endParaRPr>
          </a:p>
        </p:txBody>
      </p:sp>
      <p:sp>
        <p:nvSpPr>
          <p:cNvPr id="962" name="Google Shape;962;p25"/>
          <p:cNvSpPr txBox="1"/>
          <p:nvPr/>
        </p:nvSpPr>
        <p:spPr>
          <a:xfrm>
            <a:off x="761695" y="6715354"/>
            <a:ext cx="10625328" cy="3529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00"/>
              <a:buFont typeface="Inter"/>
              <a:buNone/>
            </a:pPr>
            <a:r>
              <a:rPr b="0" i="0" lang="en-US" sz="1000" u="none" cap="none" strike="noStrike">
                <a:solidFill>
                  <a:srgbClr val="1F2937"/>
                </a:solidFill>
                <a:latin typeface="Inter"/>
                <a:ea typeface="Inter"/>
                <a:cs typeface="Inter"/>
                <a:sym typeface="Inter"/>
              </a:rPr>
              <a:t>73% of customers make follow-on purchases within 6 months (LTV ≈ 3.2x initial purchase). This indicates the category is inherently platform-based, not single-product focused.</a:t>
            </a:r>
            <a:endParaRPr b="0" i="0" sz="1000" u="none" cap="none" strike="noStrike">
              <a:solidFill>
                <a:schemeClr val="dk1"/>
              </a:solidFill>
              <a:latin typeface="Calibri"/>
              <a:ea typeface="Calibri"/>
              <a:cs typeface="Calibri"/>
              <a:sym typeface="Calibri"/>
            </a:endParaRPr>
          </a:p>
        </p:txBody>
      </p:sp>
      <p:sp>
        <p:nvSpPr>
          <p:cNvPr id="963" name="Google Shape;963;p25"/>
          <p:cNvSpPr txBox="1"/>
          <p:nvPr/>
        </p:nvSpPr>
        <p:spPr>
          <a:xfrm>
            <a:off x="533095" y="7487107"/>
            <a:ext cx="2670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964" name="Google Shape;964;p25"/>
          <p:cNvSpPr txBox="1"/>
          <p:nvPr/>
        </p:nvSpPr>
        <p:spPr>
          <a:xfrm>
            <a:off x="761695" y="7467905"/>
            <a:ext cx="21625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CONVERSATION STARTERS</a:t>
            </a:r>
            <a:endParaRPr b="0" i="0" sz="1200" u="none" cap="none" strike="noStrike">
              <a:solidFill>
                <a:schemeClr val="dk1"/>
              </a:solidFill>
              <a:latin typeface="Calibri"/>
              <a:ea typeface="Calibri"/>
              <a:cs typeface="Calibri"/>
              <a:sym typeface="Calibri"/>
            </a:endParaRPr>
          </a:p>
        </p:txBody>
      </p:sp>
      <p:sp>
        <p:nvSpPr>
          <p:cNvPr id="965" name="Google Shape;965;p25"/>
          <p:cNvSpPr txBox="1"/>
          <p:nvPr/>
        </p:nvSpPr>
        <p:spPr>
          <a:xfrm>
            <a:off x="724205" y="7819949"/>
            <a:ext cx="64437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 How can we decrease the 2-7 day research phase through more transparent product information?</a:t>
            </a:r>
            <a:endParaRPr b="0" i="0" sz="1000" u="none" cap="none" strike="noStrike">
              <a:solidFill>
                <a:schemeClr val="dk1"/>
              </a:solidFill>
              <a:latin typeface="Calibri"/>
              <a:ea typeface="Calibri"/>
              <a:cs typeface="Calibri"/>
              <a:sym typeface="Calibri"/>
            </a:endParaRPr>
          </a:p>
        </p:txBody>
      </p:sp>
      <p:sp>
        <p:nvSpPr>
          <p:cNvPr id="966" name="Google Shape;966;p25"/>
          <p:cNvSpPr txBox="1"/>
          <p:nvPr/>
        </p:nvSpPr>
        <p:spPr>
          <a:xfrm>
            <a:off x="724205" y="8048549"/>
            <a:ext cx="57396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 What triggers follow-on purchases and how can we accelerate the expansion timeline?</a:t>
            </a:r>
            <a:endParaRPr b="0" i="0" sz="1000" u="none" cap="none" strike="noStrike">
              <a:solidFill>
                <a:schemeClr val="dk1"/>
              </a:solidFill>
              <a:latin typeface="Calibri"/>
              <a:ea typeface="Calibri"/>
              <a:cs typeface="Calibri"/>
              <a:sym typeface="Calibri"/>
            </a:endParaRPr>
          </a:p>
        </p:txBody>
      </p:sp>
      <p:sp>
        <p:nvSpPr>
          <p:cNvPr id="967" name="Google Shape;967;p25"/>
          <p:cNvSpPr txBox="1"/>
          <p:nvPr/>
        </p:nvSpPr>
        <p:spPr>
          <a:xfrm>
            <a:off x="6413602" y="8353044"/>
            <a:ext cx="5334610" cy="143561"/>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Source: Behavioral coding of 571 consumer videos. Inter-rater reliability: 87%. Confidence: HIGH.</a:t>
            </a:r>
            <a:endParaRPr b="0" i="0" sz="900" u="none" cap="none" strike="noStrike">
              <a:solidFill>
                <a:schemeClr val="dk1"/>
              </a:solidFill>
              <a:latin typeface="Calibri"/>
              <a:ea typeface="Calibri"/>
              <a:cs typeface="Calibri"/>
              <a:sym typeface="Calibri"/>
            </a:endParaRPr>
          </a:p>
        </p:txBody>
      </p:sp>
      <p:sp>
        <p:nvSpPr>
          <p:cNvPr id="968" name="Google Shape;968;p25"/>
          <p:cNvSpPr txBox="1"/>
          <p:nvPr/>
        </p:nvSpPr>
        <p:spPr>
          <a:xfrm>
            <a:off x="533095" y="8753551"/>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969" name="Google Shape;969;p25"/>
          <p:cNvSpPr txBox="1"/>
          <p:nvPr/>
        </p:nvSpPr>
        <p:spPr>
          <a:xfrm>
            <a:off x="11518697" y="8753551"/>
            <a:ext cx="228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22</a:t>
            </a:r>
            <a:endParaRPr b="0" i="0" sz="900" u="none" cap="none" strike="noStrike">
              <a:solidFill>
                <a:schemeClr val="dk1"/>
              </a:solidFill>
              <a:latin typeface="Calibri"/>
              <a:ea typeface="Calibri"/>
              <a:cs typeface="Calibri"/>
              <a:sym typeface="Calibri"/>
            </a:endParaRPr>
          </a:p>
        </p:txBody>
      </p:sp>
      <p:sp>
        <p:nvSpPr>
          <p:cNvPr id="970" name="Google Shape;970;p25"/>
          <p:cNvSpPr/>
          <p:nvPr/>
        </p:nvSpPr>
        <p:spPr>
          <a:xfrm>
            <a:off x="2505456" y="4153205"/>
            <a:ext cx="95280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5"/>
          <p:cNvSpPr/>
          <p:nvPr/>
        </p:nvSpPr>
        <p:spPr>
          <a:xfrm>
            <a:off x="4562856" y="4153205"/>
            <a:ext cx="95280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5"/>
          <p:cNvSpPr/>
          <p:nvPr/>
        </p:nvSpPr>
        <p:spPr>
          <a:xfrm>
            <a:off x="6620256" y="4153205"/>
            <a:ext cx="95280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5"/>
          <p:cNvSpPr/>
          <p:nvPr/>
        </p:nvSpPr>
        <p:spPr>
          <a:xfrm>
            <a:off x="8677656" y="4153205"/>
            <a:ext cx="95280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5"/>
          <p:cNvSpPr/>
          <p:nvPr/>
        </p:nvSpPr>
        <p:spPr>
          <a:xfrm>
            <a:off x="3343046" y="4095598"/>
            <a:ext cx="133502" cy="133502"/>
          </a:xfrm>
          <a:prstGeom prst="rect">
            <a:avLst/>
          </a:prstGeom>
          <a:noFill/>
          <a:ln cap="flat" cmpd="sng" w="889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5"/>
          <p:cNvSpPr/>
          <p:nvPr/>
        </p:nvSpPr>
        <p:spPr>
          <a:xfrm>
            <a:off x="5400446" y="4095598"/>
            <a:ext cx="133502" cy="133502"/>
          </a:xfrm>
          <a:prstGeom prst="rect">
            <a:avLst/>
          </a:prstGeom>
          <a:noFill/>
          <a:ln cap="flat" cmpd="sng" w="889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5"/>
          <p:cNvSpPr/>
          <p:nvPr/>
        </p:nvSpPr>
        <p:spPr>
          <a:xfrm>
            <a:off x="7457846" y="4095598"/>
            <a:ext cx="133502" cy="133502"/>
          </a:xfrm>
          <a:prstGeom prst="rect">
            <a:avLst/>
          </a:prstGeom>
          <a:noFill/>
          <a:ln cap="flat" cmpd="sng" w="889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5"/>
          <p:cNvSpPr/>
          <p:nvPr/>
        </p:nvSpPr>
        <p:spPr>
          <a:xfrm>
            <a:off x="9515246" y="4095598"/>
            <a:ext cx="133502" cy="133502"/>
          </a:xfrm>
          <a:prstGeom prst="rect">
            <a:avLst/>
          </a:prstGeom>
          <a:noFill/>
          <a:ln cap="flat" cmpd="sng" w="889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5"/>
          <p:cNvSpPr/>
          <p:nvPr/>
        </p:nvSpPr>
        <p:spPr>
          <a:xfrm>
            <a:off x="533095" y="2286000"/>
            <a:ext cx="1809598" cy="3571646"/>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5"/>
          <p:cNvSpPr/>
          <p:nvPr/>
        </p:nvSpPr>
        <p:spPr>
          <a:xfrm>
            <a:off x="2862072" y="2286000"/>
            <a:ext cx="1809598" cy="3571646"/>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5"/>
          <p:cNvSpPr/>
          <p:nvPr/>
        </p:nvSpPr>
        <p:spPr>
          <a:xfrm>
            <a:off x="5191049" y="2286000"/>
            <a:ext cx="1809598" cy="3571646"/>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5"/>
          <p:cNvSpPr/>
          <p:nvPr/>
        </p:nvSpPr>
        <p:spPr>
          <a:xfrm>
            <a:off x="733349"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5"/>
          <p:cNvSpPr txBox="1"/>
          <p:nvPr/>
        </p:nvSpPr>
        <p:spPr>
          <a:xfrm>
            <a:off x="867766" y="2529230"/>
            <a:ext cx="204826"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1</a:t>
            </a:r>
            <a:endParaRPr b="0" i="0" sz="1300" u="none" cap="none" strike="noStrike">
              <a:solidFill>
                <a:schemeClr val="dk1"/>
              </a:solidFill>
              <a:latin typeface="Calibri"/>
              <a:ea typeface="Calibri"/>
              <a:cs typeface="Calibri"/>
              <a:sym typeface="Calibri"/>
            </a:endParaRPr>
          </a:p>
        </p:txBody>
      </p:sp>
      <p:pic>
        <p:nvPicPr>
          <p:cNvPr descr="preencoded.png" id="983" name="Google Shape;983;p25"/>
          <p:cNvPicPr preferRelativeResize="0"/>
          <p:nvPr/>
        </p:nvPicPr>
        <p:blipFill rotWithShape="1">
          <a:blip r:embed="rId3">
            <a:alphaModFix/>
          </a:blip>
          <a:srcRect b="0" l="0" r="0" t="0"/>
          <a:stretch/>
        </p:blipFill>
        <p:spPr>
          <a:xfrm>
            <a:off x="733349" y="3033979"/>
            <a:ext cx="142646" cy="190195"/>
          </a:xfrm>
          <a:prstGeom prst="rect">
            <a:avLst/>
          </a:prstGeom>
          <a:noFill/>
          <a:ln>
            <a:noFill/>
          </a:ln>
        </p:spPr>
      </p:pic>
      <p:sp>
        <p:nvSpPr>
          <p:cNvPr id="984" name="Google Shape;984;p25"/>
          <p:cNvSpPr/>
          <p:nvPr/>
        </p:nvSpPr>
        <p:spPr>
          <a:xfrm>
            <a:off x="3062326"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5"/>
          <p:cNvSpPr/>
          <p:nvPr/>
        </p:nvSpPr>
        <p:spPr>
          <a:xfrm>
            <a:off x="5391302"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5"/>
          <p:cNvSpPr txBox="1"/>
          <p:nvPr/>
        </p:nvSpPr>
        <p:spPr>
          <a:xfrm>
            <a:off x="3179369" y="2529230"/>
            <a:ext cx="243230"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2</a:t>
            </a:r>
            <a:endParaRPr b="0" i="0" sz="1300" u="none" cap="none" strike="noStrike">
              <a:solidFill>
                <a:schemeClr val="dk1"/>
              </a:solidFill>
              <a:latin typeface="Calibri"/>
              <a:ea typeface="Calibri"/>
              <a:cs typeface="Calibri"/>
              <a:sym typeface="Calibri"/>
            </a:endParaRPr>
          </a:p>
        </p:txBody>
      </p:sp>
      <p:sp>
        <p:nvSpPr>
          <p:cNvPr id="987" name="Google Shape;987;p25"/>
          <p:cNvSpPr txBox="1"/>
          <p:nvPr/>
        </p:nvSpPr>
        <p:spPr>
          <a:xfrm>
            <a:off x="5507431" y="2529230"/>
            <a:ext cx="243230"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3</a:t>
            </a:r>
            <a:endParaRPr b="0" i="0" sz="1300" u="none" cap="none" strike="noStrike">
              <a:solidFill>
                <a:schemeClr val="dk1"/>
              </a:solidFill>
              <a:latin typeface="Calibri"/>
              <a:ea typeface="Calibri"/>
              <a:cs typeface="Calibri"/>
              <a:sym typeface="Calibri"/>
            </a:endParaRPr>
          </a:p>
        </p:txBody>
      </p:sp>
      <p:sp>
        <p:nvSpPr>
          <p:cNvPr id="988" name="Google Shape;988;p25"/>
          <p:cNvSpPr txBox="1"/>
          <p:nvPr/>
        </p:nvSpPr>
        <p:spPr>
          <a:xfrm>
            <a:off x="952805" y="2971800"/>
            <a:ext cx="8814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TRIGGER</a:t>
            </a:r>
            <a:endParaRPr b="0" i="0" sz="1300" u="none" cap="none" strike="noStrike">
              <a:solidFill>
                <a:schemeClr val="dk1"/>
              </a:solidFill>
              <a:latin typeface="Calibri"/>
              <a:ea typeface="Calibri"/>
              <a:cs typeface="Calibri"/>
              <a:sym typeface="Calibri"/>
            </a:endParaRPr>
          </a:p>
        </p:txBody>
      </p:sp>
      <p:sp>
        <p:nvSpPr>
          <p:cNvPr id="989" name="Google Shape;989;p25"/>
          <p:cNvSpPr txBox="1"/>
          <p:nvPr/>
        </p:nvSpPr>
        <p:spPr>
          <a:xfrm>
            <a:off x="3329330" y="2971800"/>
            <a:ext cx="1062533"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RESEARCH</a:t>
            </a:r>
            <a:endParaRPr b="0" i="0" sz="1300" u="none" cap="none" strike="noStrike">
              <a:solidFill>
                <a:schemeClr val="dk1"/>
              </a:solidFill>
              <a:latin typeface="Calibri"/>
              <a:ea typeface="Calibri"/>
              <a:cs typeface="Calibri"/>
              <a:sym typeface="Calibri"/>
            </a:endParaRPr>
          </a:p>
        </p:txBody>
      </p:sp>
      <p:sp>
        <p:nvSpPr>
          <p:cNvPr id="990" name="Google Shape;990;p25"/>
          <p:cNvSpPr txBox="1"/>
          <p:nvPr/>
        </p:nvSpPr>
        <p:spPr>
          <a:xfrm>
            <a:off x="5686654" y="2971800"/>
            <a:ext cx="10817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PURCHASE</a:t>
            </a:r>
            <a:endParaRPr b="0" i="0" sz="1300" u="none" cap="none" strike="noStrike">
              <a:solidFill>
                <a:schemeClr val="dk1"/>
              </a:solidFill>
              <a:latin typeface="Calibri"/>
              <a:ea typeface="Calibri"/>
              <a:cs typeface="Calibri"/>
              <a:sym typeface="Calibri"/>
            </a:endParaRPr>
          </a:p>
        </p:txBody>
      </p:sp>
      <p:sp>
        <p:nvSpPr>
          <p:cNvPr id="991" name="Google Shape;991;p25"/>
          <p:cNvSpPr txBox="1"/>
          <p:nvPr/>
        </p:nvSpPr>
        <p:spPr>
          <a:xfrm>
            <a:off x="733349" y="3448202"/>
            <a:ext cx="129113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Initial motivation to organize garage:</a:t>
            </a:r>
            <a:endParaRPr b="0" i="0" sz="1000" u="none" cap="none" strike="noStrike">
              <a:solidFill>
                <a:schemeClr val="dk1"/>
              </a:solidFill>
              <a:latin typeface="Calibri"/>
              <a:ea typeface="Calibri"/>
              <a:cs typeface="Calibri"/>
              <a:sym typeface="Calibri"/>
            </a:endParaRPr>
          </a:p>
        </p:txBody>
      </p:sp>
      <p:sp>
        <p:nvSpPr>
          <p:cNvPr id="992" name="Google Shape;992;p25"/>
          <p:cNvSpPr txBox="1"/>
          <p:nvPr/>
        </p:nvSpPr>
        <p:spPr>
          <a:xfrm>
            <a:off x="3062326" y="3448202"/>
            <a:ext cx="146212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Information gathering phase:</a:t>
            </a:r>
            <a:endParaRPr b="0" i="0" sz="1000" u="none" cap="none" strike="noStrike">
              <a:solidFill>
                <a:schemeClr val="dk1"/>
              </a:solidFill>
              <a:latin typeface="Calibri"/>
              <a:ea typeface="Calibri"/>
              <a:cs typeface="Calibri"/>
              <a:sym typeface="Calibri"/>
            </a:endParaRPr>
          </a:p>
        </p:txBody>
      </p:sp>
      <p:sp>
        <p:nvSpPr>
          <p:cNvPr id="993" name="Google Shape;993;p25"/>
          <p:cNvSpPr txBox="1"/>
          <p:nvPr/>
        </p:nvSpPr>
        <p:spPr>
          <a:xfrm>
            <a:off x="5391302" y="3448202"/>
            <a:ext cx="11676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Decision factors:</a:t>
            </a:r>
            <a:endParaRPr b="0" i="0" sz="1000" u="none" cap="none" strike="noStrike">
              <a:solidFill>
                <a:schemeClr val="dk1"/>
              </a:solidFill>
              <a:latin typeface="Calibri"/>
              <a:ea typeface="Calibri"/>
              <a:cs typeface="Calibri"/>
              <a:sym typeface="Calibri"/>
            </a:endParaRPr>
          </a:p>
        </p:txBody>
      </p:sp>
      <p:sp>
        <p:nvSpPr>
          <p:cNvPr id="994" name="Google Shape;994;p25"/>
          <p:cNvSpPr txBox="1"/>
          <p:nvPr/>
        </p:nvSpPr>
        <p:spPr>
          <a:xfrm>
            <a:off x="923544" y="3924605"/>
            <a:ext cx="1281989"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43% Frustration ("Can't find tools")</a:t>
            </a:r>
            <a:endParaRPr b="0" i="0" sz="1000" u="none" cap="none" strike="noStrike">
              <a:solidFill>
                <a:schemeClr val="dk1"/>
              </a:solidFill>
              <a:latin typeface="Calibri"/>
              <a:ea typeface="Calibri"/>
              <a:cs typeface="Calibri"/>
              <a:sym typeface="Calibri"/>
            </a:endParaRPr>
          </a:p>
        </p:txBody>
      </p:sp>
      <p:sp>
        <p:nvSpPr>
          <p:cNvPr id="995" name="Google Shape;995;p25"/>
          <p:cNvSpPr txBox="1"/>
          <p:nvPr/>
        </p:nvSpPr>
        <p:spPr>
          <a:xfrm>
            <a:off x="923544" y="4324198"/>
            <a:ext cx="1034186" cy="5623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31% Seasonal driver ("Spring cleaning")</a:t>
            </a:r>
            <a:endParaRPr b="0" i="0" sz="1000" u="none" cap="none" strike="noStrike">
              <a:solidFill>
                <a:schemeClr val="dk1"/>
              </a:solidFill>
              <a:latin typeface="Calibri"/>
              <a:ea typeface="Calibri"/>
              <a:cs typeface="Calibri"/>
              <a:sym typeface="Calibri"/>
            </a:endParaRPr>
          </a:p>
        </p:txBody>
      </p:sp>
      <p:sp>
        <p:nvSpPr>
          <p:cNvPr id="996" name="Google Shape;996;p25"/>
          <p:cNvSpPr txBox="1"/>
          <p:nvPr/>
        </p:nvSpPr>
        <p:spPr>
          <a:xfrm>
            <a:off x="923544" y="4924044"/>
            <a:ext cx="1281989"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26% Life change ("New house/car")</a:t>
            </a:r>
            <a:endParaRPr b="0" i="0" sz="1000" u="none" cap="none" strike="noStrike">
              <a:solidFill>
                <a:schemeClr val="dk1"/>
              </a:solidFill>
              <a:latin typeface="Calibri"/>
              <a:ea typeface="Calibri"/>
              <a:cs typeface="Calibri"/>
              <a:sym typeface="Calibri"/>
            </a:endParaRPr>
          </a:p>
        </p:txBody>
      </p:sp>
      <p:sp>
        <p:nvSpPr>
          <p:cNvPr id="997" name="Google Shape;997;p25"/>
          <p:cNvSpPr txBox="1"/>
          <p:nvPr/>
        </p:nvSpPr>
        <p:spPr>
          <a:xfrm>
            <a:off x="3252521" y="3924605"/>
            <a:ext cx="83393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67% Online reviews</a:t>
            </a:r>
            <a:endParaRPr b="0" i="0" sz="1000" u="none" cap="none" strike="noStrike">
              <a:solidFill>
                <a:schemeClr val="dk1"/>
              </a:solidFill>
              <a:latin typeface="Calibri"/>
              <a:ea typeface="Calibri"/>
              <a:cs typeface="Calibri"/>
              <a:sym typeface="Calibri"/>
            </a:endParaRPr>
          </a:p>
        </p:txBody>
      </p:sp>
      <p:sp>
        <p:nvSpPr>
          <p:cNvPr id="998" name="Google Shape;998;p25"/>
          <p:cNvSpPr txBox="1"/>
          <p:nvPr/>
        </p:nvSpPr>
        <p:spPr>
          <a:xfrm>
            <a:off x="3252521" y="4324198"/>
            <a:ext cx="98663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45% YouTube tutorials</a:t>
            </a:r>
            <a:endParaRPr b="0" i="0" sz="1000" u="none" cap="none" strike="noStrike">
              <a:solidFill>
                <a:schemeClr val="dk1"/>
              </a:solidFill>
              <a:latin typeface="Calibri"/>
              <a:ea typeface="Calibri"/>
              <a:cs typeface="Calibri"/>
              <a:sym typeface="Calibri"/>
            </a:endParaRPr>
          </a:p>
        </p:txBody>
      </p:sp>
      <p:sp>
        <p:nvSpPr>
          <p:cNvPr id="999" name="Google Shape;999;p25"/>
          <p:cNvSpPr txBox="1"/>
          <p:nvPr/>
        </p:nvSpPr>
        <p:spPr>
          <a:xfrm>
            <a:off x="3252521" y="4724705"/>
            <a:ext cx="11384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 Store visits</a:t>
            </a:r>
            <a:endParaRPr b="0" i="0" sz="1000" u="none" cap="none" strike="noStrike">
              <a:solidFill>
                <a:schemeClr val="dk1"/>
              </a:solidFill>
              <a:latin typeface="Calibri"/>
              <a:ea typeface="Calibri"/>
              <a:cs typeface="Calibri"/>
              <a:sym typeface="Calibri"/>
            </a:endParaRPr>
          </a:p>
        </p:txBody>
      </p:sp>
      <p:sp>
        <p:nvSpPr>
          <p:cNvPr id="1000" name="Google Shape;1000;p25"/>
          <p:cNvSpPr txBox="1"/>
          <p:nvPr/>
        </p:nvSpPr>
        <p:spPr>
          <a:xfrm>
            <a:off x="3252521" y="4924044"/>
            <a:ext cx="1243584"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23% Friend recommendations</a:t>
            </a:r>
            <a:endParaRPr b="0" i="0" sz="1000" u="none" cap="none" strike="noStrike">
              <a:solidFill>
                <a:schemeClr val="dk1"/>
              </a:solidFill>
              <a:latin typeface="Calibri"/>
              <a:ea typeface="Calibri"/>
              <a:cs typeface="Calibri"/>
              <a:sym typeface="Calibri"/>
            </a:endParaRPr>
          </a:p>
        </p:txBody>
      </p:sp>
      <p:sp>
        <p:nvSpPr>
          <p:cNvPr id="1001" name="Google Shape;1001;p25"/>
          <p:cNvSpPr txBox="1"/>
          <p:nvPr/>
        </p:nvSpPr>
        <p:spPr>
          <a:xfrm>
            <a:off x="5581498" y="4123944"/>
            <a:ext cx="1110082"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67% Installation assessment</a:t>
            </a:r>
            <a:endParaRPr b="0" i="0" sz="1000" u="none" cap="none" strike="noStrike">
              <a:solidFill>
                <a:schemeClr val="dk1"/>
              </a:solidFill>
              <a:latin typeface="Calibri"/>
              <a:ea typeface="Calibri"/>
              <a:cs typeface="Calibri"/>
              <a:sym typeface="Calibri"/>
            </a:endParaRPr>
          </a:p>
        </p:txBody>
      </p:sp>
      <p:sp>
        <p:nvSpPr>
          <p:cNvPr id="1002" name="Google Shape;1002;p25"/>
          <p:cNvSpPr/>
          <p:nvPr/>
        </p:nvSpPr>
        <p:spPr>
          <a:xfrm>
            <a:off x="733349" y="5381244"/>
            <a:ext cx="733349"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5"/>
          <p:cNvSpPr txBox="1"/>
          <p:nvPr/>
        </p:nvSpPr>
        <p:spPr>
          <a:xfrm>
            <a:off x="809244" y="5438851"/>
            <a:ext cx="6812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0-2 days</a:t>
            </a:r>
            <a:endParaRPr b="0" i="0" sz="1000" u="none" cap="none" strike="noStrike">
              <a:solidFill>
                <a:schemeClr val="dk1"/>
              </a:solidFill>
              <a:latin typeface="Calibri"/>
              <a:ea typeface="Calibri"/>
              <a:cs typeface="Calibri"/>
              <a:sym typeface="Calibri"/>
            </a:endParaRPr>
          </a:p>
        </p:txBody>
      </p:sp>
      <p:pic>
        <p:nvPicPr>
          <p:cNvPr descr="preencoded.png" id="1004" name="Google Shape;1004;p25"/>
          <p:cNvPicPr preferRelativeResize="0"/>
          <p:nvPr/>
        </p:nvPicPr>
        <p:blipFill rotWithShape="1">
          <a:blip r:embed="rId4">
            <a:alphaModFix/>
          </a:blip>
          <a:srcRect b="0" l="0" r="0" t="0"/>
          <a:stretch/>
        </p:blipFill>
        <p:spPr>
          <a:xfrm>
            <a:off x="3062326" y="3033979"/>
            <a:ext cx="190195" cy="190195"/>
          </a:xfrm>
          <a:prstGeom prst="rect">
            <a:avLst/>
          </a:prstGeom>
          <a:noFill/>
          <a:ln>
            <a:noFill/>
          </a:ln>
        </p:spPr>
      </p:pic>
      <p:sp>
        <p:nvSpPr>
          <p:cNvPr id="1005" name="Google Shape;1005;p25"/>
          <p:cNvSpPr/>
          <p:nvPr/>
        </p:nvSpPr>
        <p:spPr>
          <a:xfrm>
            <a:off x="3062326" y="5381244"/>
            <a:ext cx="714146"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5"/>
          <p:cNvSpPr txBox="1"/>
          <p:nvPr/>
        </p:nvSpPr>
        <p:spPr>
          <a:xfrm>
            <a:off x="3138221" y="5438851"/>
            <a:ext cx="662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2-7 days</a:t>
            </a:r>
            <a:endParaRPr b="0" i="0" sz="1000" u="none" cap="none" strike="noStrike">
              <a:solidFill>
                <a:schemeClr val="dk1"/>
              </a:solidFill>
              <a:latin typeface="Calibri"/>
              <a:ea typeface="Calibri"/>
              <a:cs typeface="Calibri"/>
              <a:sym typeface="Calibri"/>
            </a:endParaRPr>
          </a:p>
        </p:txBody>
      </p:sp>
      <p:pic>
        <p:nvPicPr>
          <p:cNvPr descr="preencoded.png" id="1007" name="Google Shape;1007;p25"/>
          <p:cNvPicPr preferRelativeResize="0"/>
          <p:nvPr/>
        </p:nvPicPr>
        <p:blipFill rotWithShape="1">
          <a:blip r:embed="rId5">
            <a:alphaModFix/>
          </a:blip>
          <a:srcRect b="0" l="-1282" r="-1282" t="0"/>
          <a:stretch/>
        </p:blipFill>
        <p:spPr>
          <a:xfrm>
            <a:off x="5391302" y="3033979"/>
            <a:ext cx="219456" cy="190195"/>
          </a:xfrm>
          <a:prstGeom prst="rect">
            <a:avLst/>
          </a:prstGeom>
          <a:noFill/>
          <a:ln>
            <a:noFill/>
          </a:ln>
        </p:spPr>
      </p:pic>
      <p:sp>
        <p:nvSpPr>
          <p:cNvPr id="1008" name="Google Shape;1008;p25"/>
          <p:cNvSpPr/>
          <p:nvPr/>
        </p:nvSpPr>
        <p:spPr>
          <a:xfrm>
            <a:off x="7520025" y="2286000"/>
            <a:ext cx="1809600" cy="3571800"/>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5"/>
          <p:cNvSpPr/>
          <p:nvPr/>
        </p:nvSpPr>
        <p:spPr>
          <a:xfrm>
            <a:off x="9849002" y="2286000"/>
            <a:ext cx="1809598" cy="3771900"/>
          </a:xfrm>
          <a:prstGeom prst="roundRect">
            <a:avLst>
              <a:gd fmla="val 2128" name="adj"/>
            </a:avLst>
          </a:prstGeom>
          <a:solidFill>
            <a:srgbClr val="F9FAFB"/>
          </a:solidFill>
          <a:ln cap="flat" cmpd="sng" w="12700">
            <a:solidFill>
              <a:srgbClr val="E5E7EB"/>
            </a:solidFill>
            <a:prstDash val="solid"/>
            <a:round/>
            <a:headEnd len="sm" w="sm" type="none"/>
            <a:tailEnd len="sm" w="sm" type="none"/>
          </a:ln>
          <a:effectLst>
            <a:outerShdw blurRad="63500" rotWithShape="0" algn="bl" dir="5400000" dist="381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5"/>
          <p:cNvSpPr/>
          <p:nvPr/>
        </p:nvSpPr>
        <p:spPr>
          <a:xfrm>
            <a:off x="7720279"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5"/>
          <p:cNvSpPr/>
          <p:nvPr/>
        </p:nvSpPr>
        <p:spPr>
          <a:xfrm>
            <a:off x="10049256" y="248625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5"/>
          <p:cNvSpPr txBox="1"/>
          <p:nvPr/>
        </p:nvSpPr>
        <p:spPr>
          <a:xfrm>
            <a:off x="7833665" y="2529230"/>
            <a:ext cx="253289"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4</a:t>
            </a:r>
            <a:endParaRPr b="0" i="0" sz="1300" u="none" cap="none" strike="noStrike">
              <a:solidFill>
                <a:schemeClr val="dk1"/>
              </a:solidFill>
              <a:latin typeface="Calibri"/>
              <a:ea typeface="Calibri"/>
              <a:cs typeface="Calibri"/>
              <a:sym typeface="Calibri"/>
            </a:endParaRPr>
          </a:p>
        </p:txBody>
      </p:sp>
      <p:sp>
        <p:nvSpPr>
          <p:cNvPr id="1013" name="Google Shape;1013;p25"/>
          <p:cNvSpPr txBox="1"/>
          <p:nvPr/>
        </p:nvSpPr>
        <p:spPr>
          <a:xfrm>
            <a:off x="10167214" y="2529230"/>
            <a:ext cx="243230"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5</a:t>
            </a:r>
            <a:endParaRPr b="0" i="0" sz="1300" u="none" cap="none" strike="noStrike">
              <a:solidFill>
                <a:schemeClr val="dk1"/>
              </a:solidFill>
              <a:latin typeface="Calibri"/>
              <a:ea typeface="Calibri"/>
              <a:cs typeface="Calibri"/>
              <a:sym typeface="Calibri"/>
            </a:endParaRPr>
          </a:p>
        </p:txBody>
      </p:sp>
      <p:sp>
        <p:nvSpPr>
          <p:cNvPr id="1014" name="Google Shape;1014;p25"/>
          <p:cNvSpPr txBox="1"/>
          <p:nvPr/>
        </p:nvSpPr>
        <p:spPr>
          <a:xfrm>
            <a:off x="7986370" y="2971800"/>
            <a:ext cx="13862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INSTALLATION</a:t>
            </a:r>
            <a:endParaRPr b="0" i="0" sz="1300" u="none" cap="none" strike="noStrike">
              <a:solidFill>
                <a:schemeClr val="dk1"/>
              </a:solidFill>
              <a:latin typeface="Calibri"/>
              <a:ea typeface="Calibri"/>
              <a:cs typeface="Calibri"/>
              <a:sym typeface="Calibri"/>
            </a:endParaRPr>
          </a:p>
        </p:txBody>
      </p:sp>
      <p:sp>
        <p:nvSpPr>
          <p:cNvPr id="1015" name="Google Shape;1015;p25"/>
          <p:cNvSpPr txBox="1"/>
          <p:nvPr/>
        </p:nvSpPr>
        <p:spPr>
          <a:xfrm>
            <a:off x="10344607" y="2971800"/>
            <a:ext cx="12335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EVALUATION</a:t>
            </a:r>
            <a:endParaRPr b="0" i="0" sz="1300" u="none" cap="none" strike="noStrike">
              <a:solidFill>
                <a:schemeClr val="dk1"/>
              </a:solidFill>
              <a:latin typeface="Calibri"/>
              <a:ea typeface="Calibri"/>
              <a:cs typeface="Calibri"/>
              <a:sym typeface="Calibri"/>
            </a:endParaRPr>
          </a:p>
        </p:txBody>
      </p:sp>
      <p:sp>
        <p:nvSpPr>
          <p:cNvPr id="1016" name="Google Shape;1016;p25"/>
          <p:cNvSpPr txBox="1"/>
          <p:nvPr/>
        </p:nvSpPr>
        <p:spPr>
          <a:xfrm>
            <a:off x="7720279" y="3448202"/>
            <a:ext cx="12527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Setup experience:</a:t>
            </a:r>
            <a:endParaRPr b="0" i="0" sz="1000" u="none" cap="none" strike="noStrike">
              <a:solidFill>
                <a:schemeClr val="dk1"/>
              </a:solidFill>
              <a:latin typeface="Calibri"/>
              <a:ea typeface="Calibri"/>
              <a:cs typeface="Calibri"/>
              <a:sym typeface="Calibri"/>
            </a:endParaRPr>
          </a:p>
        </p:txBody>
      </p:sp>
      <p:sp>
        <p:nvSpPr>
          <p:cNvPr id="1017" name="Google Shape;1017;p25"/>
          <p:cNvSpPr txBox="1"/>
          <p:nvPr/>
        </p:nvSpPr>
        <p:spPr>
          <a:xfrm>
            <a:off x="10049256" y="3448202"/>
            <a:ext cx="148132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System assessment &amp; expansion:</a:t>
            </a:r>
            <a:endParaRPr b="0" i="0" sz="1000" u="none" cap="none" strike="noStrike">
              <a:solidFill>
                <a:schemeClr val="dk1"/>
              </a:solidFill>
              <a:latin typeface="Calibri"/>
              <a:ea typeface="Calibri"/>
              <a:cs typeface="Calibri"/>
              <a:sym typeface="Calibri"/>
            </a:endParaRPr>
          </a:p>
        </p:txBody>
      </p:sp>
      <p:sp>
        <p:nvSpPr>
          <p:cNvPr id="1018" name="Google Shape;1018;p25"/>
          <p:cNvSpPr txBox="1"/>
          <p:nvPr/>
        </p:nvSpPr>
        <p:spPr>
          <a:xfrm>
            <a:off x="5581498" y="3724351"/>
            <a:ext cx="853135"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78% Price comparison</a:t>
            </a:r>
            <a:endParaRPr b="0" i="0" sz="1000" u="none" cap="none" strike="noStrike">
              <a:solidFill>
                <a:schemeClr val="dk1"/>
              </a:solidFill>
              <a:latin typeface="Calibri"/>
              <a:ea typeface="Calibri"/>
              <a:cs typeface="Calibri"/>
              <a:sym typeface="Calibri"/>
            </a:endParaRPr>
          </a:p>
        </p:txBody>
      </p:sp>
      <p:sp>
        <p:nvSpPr>
          <p:cNvPr id="1019" name="Google Shape;1019;p25"/>
          <p:cNvSpPr txBox="1"/>
          <p:nvPr/>
        </p:nvSpPr>
        <p:spPr>
          <a:xfrm>
            <a:off x="5581498" y="4524451"/>
            <a:ext cx="957377"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45% Bundle consideration</a:t>
            </a:r>
            <a:endParaRPr b="0" i="0" sz="1000" u="none" cap="none" strike="noStrike">
              <a:solidFill>
                <a:schemeClr val="dk1"/>
              </a:solidFill>
              <a:latin typeface="Calibri"/>
              <a:ea typeface="Calibri"/>
              <a:cs typeface="Calibri"/>
              <a:sym typeface="Calibri"/>
            </a:endParaRPr>
          </a:p>
        </p:txBody>
      </p:sp>
      <p:sp>
        <p:nvSpPr>
          <p:cNvPr id="1020" name="Google Shape;1020;p25"/>
          <p:cNvSpPr txBox="1"/>
          <p:nvPr/>
        </p:nvSpPr>
        <p:spPr>
          <a:xfrm>
            <a:off x="5581498" y="4924044"/>
            <a:ext cx="1271930"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 Return policy check</a:t>
            </a:r>
            <a:endParaRPr b="0" i="0" sz="1000" u="none" cap="none" strike="noStrike">
              <a:solidFill>
                <a:schemeClr val="dk1"/>
              </a:solidFill>
              <a:latin typeface="Calibri"/>
              <a:ea typeface="Calibri"/>
              <a:cs typeface="Calibri"/>
              <a:sym typeface="Calibri"/>
            </a:endParaRPr>
          </a:p>
        </p:txBody>
      </p:sp>
      <p:sp>
        <p:nvSpPr>
          <p:cNvPr id="1021" name="Google Shape;1021;p25"/>
          <p:cNvSpPr txBox="1"/>
          <p:nvPr/>
        </p:nvSpPr>
        <p:spPr>
          <a:xfrm>
            <a:off x="7910474" y="3724351"/>
            <a:ext cx="11768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89% DIY attempt</a:t>
            </a:r>
            <a:endParaRPr b="0" i="0" sz="1000" u="none" cap="none" strike="noStrike">
              <a:solidFill>
                <a:schemeClr val="dk1"/>
              </a:solidFill>
              <a:latin typeface="Calibri"/>
              <a:ea typeface="Calibri"/>
              <a:cs typeface="Calibri"/>
              <a:sym typeface="Calibri"/>
            </a:endParaRPr>
          </a:p>
        </p:txBody>
      </p:sp>
      <p:sp>
        <p:nvSpPr>
          <p:cNvPr id="1022" name="Google Shape;1022;p25"/>
          <p:cNvSpPr txBox="1"/>
          <p:nvPr/>
        </p:nvSpPr>
        <p:spPr>
          <a:xfrm>
            <a:off x="7910474" y="3924605"/>
            <a:ext cx="121523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 Modification required</a:t>
            </a:r>
            <a:endParaRPr b="0" i="0" sz="1000" u="none" cap="none" strike="noStrike">
              <a:solidFill>
                <a:schemeClr val="dk1"/>
              </a:solidFill>
              <a:latin typeface="Calibri"/>
              <a:ea typeface="Calibri"/>
              <a:cs typeface="Calibri"/>
              <a:sym typeface="Calibri"/>
            </a:endParaRPr>
          </a:p>
        </p:txBody>
      </p:sp>
      <p:sp>
        <p:nvSpPr>
          <p:cNvPr id="1023" name="Google Shape;1023;p25"/>
          <p:cNvSpPr txBox="1"/>
          <p:nvPr/>
        </p:nvSpPr>
        <p:spPr>
          <a:xfrm>
            <a:off x="7910474" y="4324198"/>
            <a:ext cx="106253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29% Additional purchases</a:t>
            </a:r>
            <a:endParaRPr b="0" i="0" sz="1000" u="none" cap="none" strike="noStrike">
              <a:solidFill>
                <a:schemeClr val="dk1"/>
              </a:solidFill>
              <a:latin typeface="Calibri"/>
              <a:ea typeface="Calibri"/>
              <a:cs typeface="Calibri"/>
              <a:sym typeface="Calibri"/>
            </a:endParaRPr>
          </a:p>
        </p:txBody>
      </p:sp>
      <p:sp>
        <p:nvSpPr>
          <p:cNvPr id="1024" name="Google Shape;1024;p25"/>
          <p:cNvSpPr txBox="1"/>
          <p:nvPr/>
        </p:nvSpPr>
        <p:spPr>
          <a:xfrm>
            <a:off x="7910474" y="4724705"/>
            <a:ext cx="1157630"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11% Professional help</a:t>
            </a:r>
            <a:endParaRPr b="0" i="0" sz="1000" u="none" cap="none" strike="noStrike">
              <a:solidFill>
                <a:schemeClr val="dk1"/>
              </a:solidFill>
              <a:latin typeface="Calibri"/>
              <a:ea typeface="Calibri"/>
              <a:cs typeface="Calibri"/>
              <a:sym typeface="Calibri"/>
            </a:endParaRPr>
          </a:p>
        </p:txBody>
      </p:sp>
      <p:sp>
        <p:nvSpPr>
          <p:cNvPr id="1025" name="Google Shape;1025;p25"/>
          <p:cNvSpPr txBox="1"/>
          <p:nvPr/>
        </p:nvSpPr>
        <p:spPr>
          <a:xfrm>
            <a:off x="10239451" y="3924605"/>
            <a:ext cx="123352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100% Satisfaction assessment</a:t>
            </a:r>
            <a:endParaRPr b="0" i="0" sz="1000" u="none" cap="none" strike="noStrike">
              <a:solidFill>
                <a:schemeClr val="dk1"/>
              </a:solidFill>
              <a:latin typeface="Calibri"/>
              <a:ea typeface="Calibri"/>
              <a:cs typeface="Calibri"/>
              <a:sym typeface="Calibri"/>
            </a:endParaRPr>
          </a:p>
        </p:txBody>
      </p:sp>
      <p:sp>
        <p:nvSpPr>
          <p:cNvPr id="1026" name="Google Shape;1026;p25"/>
          <p:cNvSpPr txBox="1"/>
          <p:nvPr/>
        </p:nvSpPr>
        <p:spPr>
          <a:xfrm>
            <a:off x="10239451" y="4324198"/>
            <a:ext cx="1243584"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73% Expand system if satisfied</a:t>
            </a:r>
            <a:endParaRPr b="0" i="0" sz="1000" u="none" cap="none" strike="noStrike">
              <a:solidFill>
                <a:schemeClr val="dk1"/>
              </a:solidFill>
              <a:latin typeface="Calibri"/>
              <a:ea typeface="Calibri"/>
              <a:cs typeface="Calibri"/>
              <a:sym typeface="Calibri"/>
            </a:endParaRPr>
          </a:p>
        </p:txBody>
      </p:sp>
      <p:sp>
        <p:nvSpPr>
          <p:cNvPr id="1027" name="Google Shape;1027;p25"/>
          <p:cNvSpPr txBox="1"/>
          <p:nvPr/>
        </p:nvSpPr>
        <p:spPr>
          <a:xfrm>
            <a:off x="10239451" y="4724705"/>
            <a:ext cx="123352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41% Brand loyalty formation</a:t>
            </a:r>
            <a:endParaRPr b="0" i="0" sz="1000" u="none" cap="none" strike="noStrike">
              <a:solidFill>
                <a:schemeClr val="dk1"/>
              </a:solidFill>
              <a:latin typeface="Calibri"/>
              <a:ea typeface="Calibri"/>
              <a:cs typeface="Calibri"/>
              <a:sym typeface="Calibri"/>
            </a:endParaRPr>
          </a:p>
        </p:txBody>
      </p:sp>
      <p:sp>
        <p:nvSpPr>
          <p:cNvPr id="1028" name="Google Shape;1028;p25"/>
          <p:cNvSpPr txBox="1"/>
          <p:nvPr/>
        </p:nvSpPr>
        <p:spPr>
          <a:xfrm>
            <a:off x="10239451" y="5124298"/>
            <a:ext cx="132953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23% Social sharing (reviews)</a:t>
            </a:r>
            <a:endParaRPr b="0" i="0" sz="1000" u="none" cap="none" strike="noStrike">
              <a:solidFill>
                <a:schemeClr val="dk1"/>
              </a:solidFill>
              <a:latin typeface="Calibri"/>
              <a:ea typeface="Calibri"/>
              <a:cs typeface="Calibri"/>
              <a:sym typeface="Calibri"/>
            </a:endParaRPr>
          </a:p>
        </p:txBody>
      </p:sp>
      <p:sp>
        <p:nvSpPr>
          <p:cNvPr id="1029" name="Google Shape;1029;p25"/>
          <p:cNvSpPr/>
          <p:nvPr/>
        </p:nvSpPr>
        <p:spPr>
          <a:xfrm>
            <a:off x="5391302" y="5381244"/>
            <a:ext cx="780898"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5"/>
          <p:cNvSpPr txBox="1"/>
          <p:nvPr/>
        </p:nvSpPr>
        <p:spPr>
          <a:xfrm>
            <a:off x="5467198" y="5438851"/>
            <a:ext cx="7287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7-14 days</a:t>
            </a:r>
            <a:endParaRPr b="0" i="0" sz="1000" u="none" cap="none" strike="noStrike">
              <a:solidFill>
                <a:schemeClr val="dk1"/>
              </a:solidFill>
              <a:latin typeface="Calibri"/>
              <a:ea typeface="Calibri"/>
              <a:cs typeface="Calibri"/>
              <a:sym typeface="Calibri"/>
            </a:endParaRPr>
          </a:p>
        </p:txBody>
      </p:sp>
      <p:pic>
        <p:nvPicPr>
          <p:cNvPr descr="preencoded.png" id="1031" name="Google Shape;1031;p25"/>
          <p:cNvPicPr preferRelativeResize="0"/>
          <p:nvPr/>
        </p:nvPicPr>
        <p:blipFill rotWithShape="1">
          <a:blip r:embed="rId6">
            <a:alphaModFix/>
          </a:blip>
          <a:srcRect b="0" l="0" r="0" t="0"/>
          <a:stretch/>
        </p:blipFill>
        <p:spPr>
          <a:xfrm>
            <a:off x="7720279" y="3033979"/>
            <a:ext cx="190195" cy="190195"/>
          </a:xfrm>
          <a:prstGeom prst="rect">
            <a:avLst/>
          </a:prstGeom>
          <a:noFill/>
          <a:ln>
            <a:noFill/>
          </a:ln>
        </p:spPr>
      </p:pic>
      <p:sp>
        <p:nvSpPr>
          <p:cNvPr id="1032" name="Google Shape;1032;p25"/>
          <p:cNvSpPr/>
          <p:nvPr/>
        </p:nvSpPr>
        <p:spPr>
          <a:xfrm>
            <a:off x="7720279" y="5181905"/>
            <a:ext cx="847649"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5"/>
          <p:cNvSpPr txBox="1"/>
          <p:nvPr/>
        </p:nvSpPr>
        <p:spPr>
          <a:xfrm>
            <a:off x="7796174" y="5238598"/>
            <a:ext cx="7955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14-21 days</a:t>
            </a:r>
            <a:endParaRPr b="0" i="0" sz="1000" u="none" cap="none" strike="noStrike">
              <a:solidFill>
                <a:schemeClr val="dk1"/>
              </a:solidFill>
              <a:latin typeface="Calibri"/>
              <a:ea typeface="Calibri"/>
              <a:cs typeface="Calibri"/>
              <a:sym typeface="Calibri"/>
            </a:endParaRPr>
          </a:p>
        </p:txBody>
      </p:sp>
      <p:pic>
        <p:nvPicPr>
          <p:cNvPr descr="preencoded.png" id="1034" name="Google Shape;1034;p25"/>
          <p:cNvPicPr preferRelativeResize="0"/>
          <p:nvPr/>
        </p:nvPicPr>
        <p:blipFill rotWithShape="1">
          <a:blip r:embed="rId7">
            <a:alphaModFix/>
          </a:blip>
          <a:srcRect b="0" l="-1282" r="-1282" t="0"/>
          <a:stretch/>
        </p:blipFill>
        <p:spPr>
          <a:xfrm>
            <a:off x="10049256" y="3033979"/>
            <a:ext cx="219456" cy="190195"/>
          </a:xfrm>
          <a:prstGeom prst="rect">
            <a:avLst/>
          </a:prstGeom>
          <a:noFill/>
          <a:ln>
            <a:noFill/>
          </a:ln>
        </p:spPr>
      </p:pic>
      <p:sp>
        <p:nvSpPr>
          <p:cNvPr id="1035" name="Google Shape;1035;p25"/>
          <p:cNvSpPr/>
          <p:nvPr/>
        </p:nvSpPr>
        <p:spPr>
          <a:xfrm>
            <a:off x="10049256" y="5581498"/>
            <a:ext cx="905256" cy="276149"/>
          </a:xfrm>
          <a:prstGeom prst="roundRect">
            <a:avLst>
              <a:gd fmla="val 45672"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5"/>
          <p:cNvSpPr txBox="1"/>
          <p:nvPr/>
        </p:nvSpPr>
        <p:spPr>
          <a:xfrm>
            <a:off x="10125151" y="5639105"/>
            <a:ext cx="8531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30-90 days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26"/>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6"/>
          <p:cNvSpPr/>
          <p:nvPr/>
        </p:nvSpPr>
        <p:spPr>
          <a:xfrm>
            <a:off x="0" y="0"/>
            <a:ext cx="12191695" cy="73627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6"/>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6"/>
          <p:cNvSpPr txBox="1"/>
          <p:nvPr/>
        </p:nvSpPr>
        <p:spPr>
          <a:xfrm>
            <a:off x="609905" y="685800"/>
            <a:ext cx="61347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Jobs-To-Be-Done &amp; Satisfaction Gaps</a:t>
            </a:r>
            <a:endParaRPr b="0" i="0" sz="2400" u="none" cap="none" strike="noStrike">
              <a:solidFill>
                <a:schemeClr val="dk1"/>
              </a:solidFill>
              <a:latin typeface="Calibri"/>
              <a:ea typeface="Calibri"/>
              <a:cs typeface="Calibri"/>
              <a:sym typeface="Calibri"/>
            </a:endParaRPr>
          </a:p>
        </p:txBody>
      </p:sp>
      <p:sp>
        <p:nvSpPr>
          <p:cNvPr id="1046" name="Google Shape;1046;p26"/>
          <p:cNvSpPr txBox="1"/>
          <p:nvPr/>
        </p:nvSpPr>
        <p:spPr>
          <a:xfrm>
            <a:off x="609905" y="1218895"/>
            <a:ext cx="39483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Consumer video transcription analysis, n=571 videos</a:t>
            </a:r>
            <a:endParaRPr b="0" i="0" sz="1000" u="none" cap="none" strike="noStrike">
              <a:solidFill>
                <a:schemeClr val="dk1"/>
              </a:solidFill>
              <a:latin typeface="Calibri"/>
              <a:ea typeface="Calibri"/>
              <a:cs typeface="Calibri"/>
              <a:sym typeface="Calibri"/>
            </a:endParaRPr>
          </a:p>
        </p:txBody>
      </p:sp>
      <p:sp>
        <p:nvSpPr>
          <p:cNvPr id="1047" name="Google Shape;1047;p26"/>
          <p:cNvSpPr/>
          <p:nvPr/>
        </p:nvSpPr>
        <p:spPr>
          <a:xfrm>
            <a:off x="609905" y="1705356"/>
            <a:ext cx="10972800" cy="3857854"/>
          </a:xfrm>
          <a:prstGeom prst="roundRect">
            <a:avLst>
              <a:gd fmla="val 46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6"/>
          <p:cNvSpPr/>
          <p:nvPr/>
        </p:nvSpPr>
        <p:spPr>
          <a:xfrm>
            <a:off x="619049" y="1714500"/>
            <a:ext cx="10953598" cy="866851"/>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6"/>
          <p:cNvSpPr/>
          <p:nvPr/>
        </p:nvSpPr>
        <p:spPr>
          <a:xfrm>
            <a:off x="619049" y="257220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6"/>
          <p:cNvSpPr/>
          <p:nvPr/>
        </p:nvSpPr>
        <p:spPr>
          <a:xfrm>
            <a:off x="619049" y="2581351"/>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6"/>
          <p:cNvSpPr/>
          <p:nvPr/>
        </p:nvSpPr>
        <p:spPr>
          <a:xfrm>
            <a:off x="619049" y="31720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6"/>
          <p:cNvSpPr/>
          <p:nvPr/>
        </p:nvSpPr>
        <p:spPr>
          <a:xfrm>
            <a:off x="619049" y="3177540"/>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6"/>
          <p:cNvSpPr/>
          <p:nvPr/>
        </p:nvSpPr>
        <p:spPr>
          <a:xfrm>
            <a:off x="619049" y="376824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6"/>
          <p:cNvSpPr/>
          <p:nvPr/>
        </p:nvSpPr>
        <p:spPr>
          <a:xfrm>
            <a:off x="619049" y="4369918"/>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6"/>
          <p:cNvSpPr/>
          <p:nvPr/>
        </p:nvSpPr>
        <p:spPr>
          <a:xfrm>
            <a:off x="619049" y="496062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6"/>
          <p:cNvSpPr/>
          <p:nvPr/>
        </p:nvSpPr>
        <p:spPr>
          <a:xfrm>
            <a:off x="619049" y="4966106"/>
            <a:ext cx="10953598" cy="5907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6"/>
          <p:cNvSpPr txBox="1"/>
          <p:nvPr/>
        </p:nvSpPr>
        <p:spPr>
          <a:xfrm>
            <a:off x="847649" y="2014423"/>
            <a:ext cx="452628"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Job</a:t>
            </a:r>
            <a:endParaRPr b="0" i="0" sz="1300" u="none" cap="none" strike="noStrike">
              <a:solidFill>
                <a:schemeClr val="dk1"/>
              </a:solidFill>
              <a:latin typeface="Calibri"/>
              <a:ea typeface="Calibri"/>
              <a:cs typeface="Calibri"/>
              <a:sym typeface="Calibri"/>
            </a:endParaRPr>
          </a:p>
        </p:txBody>
      </p:sp>
      <p:sp>
        <p:nvSpPr>
          <p:cNvPr id="1058" name="Google Shape;1058;p26"/>
          <p:cNvSpPr/>
          <p:nvPr/>
        </p:nvSpPr>
        <p:spPr>
          <a:xfrm>
            <a:off x="5043830" y="1886407"/>
            <a:ext cx="9144" cy="514807"/>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6"/>
          <p:cNvSpPr txBox="1"/>
          <p:nvPr/>
        </p:nvSpPr>
        <p:spPr>
          <a:xfrm>
            <a:off x="3776472" y="1904695"/>
            <a:ext cx="1090879"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300"/>
              <a:buFont typeface="Montserrat"/>
              <a:buNone/>
            </a:pPr>
            <a:r>
              <a:rPr b="1" i="0" lang="en-US" sz="1300" u="none" cap="none" strike="noStrike">
                <a:solidFill>
                  <a:srgbClr val="2C3E50"/>
                </a:solidFill>
                <a:latin typeface="Montserrat"/>
                <a:ea typeface="Montserrat"/>
                <a:cs typeface="Montserrat"/>
                <a:sym typeface="Montserrat"/>
              </a:rPr>
              <a:t>Mention Frequency</a:t>
            </a:r>
            <a:endParaRPr b="0" i="0" sz="1300" u="none" cap="none" strike="noStrike">
              <a:solidFill>
                <a:schemeClr val="dk1"/>
              </a:solidFill>
              <a:latin typeface="Calibri"/>
              <a:ea typeface="Calibri"/>
              <a:cs typeface="Calibri"/>
              <a:sym typeface="Calibri"/>
            </a:endParaRPr>
          </a:p>
        </p:txBody>
      </p:sp>
      <p:sp>
        <p:nvSpPr>
          <p:cNvPr id="1060" name="Google Shape;1060;p26"/>
          <p:cNvSpPr/>
          <p:nvPr/>
        </p:nvSpPr>
        <p:spPr>
          <a:xfrm>
            <a:off x="7142378" y="2014423"/>
            <a:ext cx="9144" cy="256946"/>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6"/>
          <p:cNvSpPr txBox="1"/>
          <p:nvPr/>
        </p:nvSpPr>
        <p:spPr>
          <a:xfrm>
            <a:off x="5357470" y="2033626"/>
            <a:ext cx="1605686"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300"/>
              <a:buFont typeface="Montserrat"/>
              <a:buNone/>
            </a:pPr>
            <a:r>
              <a:rPr b="1" i="0" lang="en-US" sz="1300" u="none" cap="none" strike="noStrike">
                <a:solidFill>
                  <a:srgbClr val="2C3E50"/>
                </a:solidFill>
                <a:latin typeface="Montserrat"/>
                <a:ea typeface="Montserrat"/>
                <a:cs typeface="Montserrat"/>
                <a:sym typeface="Montserrat"/>
              </a:rPr>
              <a:t>Satisfaction Gap</a:t>
            </a:r>
            <a:endParaRPr b="0" i="0" sz="1300" u="none" cap="none" strike="noStrike">
              <a:solidFill>
                <a:schemeClr val="dk1"/>
              </a:solidFill>
              <a:latin typeface="Calibri"/>
              <a:ea typeface="Calibri"/>
              <a:cs typeface="Calibri"/>
              <a:sym typeface="Calibri"/>
            </a:endParaRPr>
          </a:p>
        </p:txBody>
      </p:sp>
      <p:sp>
        <p:nvSpPr>
          <p:cNvPr id="1062" name="Google Shape;1062;p26"/>
          <p:cNvSpPr txBox="1"/>
          <p:nvPr/>
        </p:nvSpPr>
        <p:spPr>
          <a:xfrm>
            <a:off x="7145122" y="2033626"/>
            <a:ext cx="2167128"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Montserrat"/>
              <a:buNone/>
            </a:pPr>
            <a:r>
              <a:rPr b="1" i="0" lang="en-US" sz="1300" u="none" cap="none" strike="noStrike">
                <a:solidFill>
                  <a:srgbClr val="2C3E50"/>
                </a:solidFill>
                <a:latin typeface="Montserrat"/>
                <a:ea typeface="Montserrat"/>
                <a:cs typeface="Montserrat"/>
                <a:sym typeface="Montserrat"/>
              </a:rPr>
              <a:t>Category Failure Mode</a:t>
            </a:r>
            <a:endParaRPr b="0" i="0" sz="1300" u="none" cap="none" strike="noStrike">
              <a:solidFill>
                <a:schemeClr val="dk1"/>
              </a:solidFill>
              <a:latin typeface="Calibri"/>
              <a:ea typeface="Calibri"/>
              <a:cs typeface="Calibri"/>
              <a:sym typeface="Calibri"/>
            </a:endParaRPr>
          </a:p>
        </p:txBody>
      </p:sp>
      <p:pic>
        <p:nvPicPr>
          <p:cNvPr descr="preencoded.png" id="1063" name="Google Shape;1063;p26"/>
          <p:cNvPicPr preferRelativeResize="0"/>
          <p:nvPr/>
        </p:nvPicPr>
        <p:blipFill rotWithShape="1">
          <a:blip r:embed="rId3">
            <a:alphaModFix/>
          </a:blip>
          <a:srcRect b="0" l="-18681" r="-18681" t="0"/>
          <a:stretch/>
        </p:blipFill>
        <p:spPr>
          <a:xfrm>
            <a:off x="847649" y="2779776"/>
            <a:ext cx="228600" cy="190195"/>
          </a:xfrm>
          <a:prstGeom prst="rect">
            <a:avLst/>
          </a:prstGeom>
          <a:noFill/>
          <a:ln>
            <a:noFill/>
          </a:ln>
        </p:spPr>
      </p:pic>
      <p:sp>
        <p:nvSpPr>
          <p:cNvPr id="1064" name="Google Shape;1064;p26"/>
          <p:cNvSpPr/>
          <p:nvPr/>
        </p:nvSpPr>
        <p:spPr>
          <a:xfrm>
            <a:off x="619049" y="3773729"/>
            <a:ext cx="10953598" cy="599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6"/>
          <p:cNvSpPr/>
          <p:nvPr/>
        </p:nvSpPr>
        <p:spPr>
          <a:xfrm>
            <a:off x="619049" y="436443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6"/>
          <p:cNvSpPr txBox="1"/>
          <p:nvPr/>
        </p:nvSpPr>
        <p:spPr>
          <a:xfrm>
            <a:off x="1209751" y="2771546"/>
            <a:ext cx="13240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Maximize Space</a:t>
            </a:r>
            <a:endParaRPr b="0" i="0" sz="1200" u="none" cap="none" strike="noStrike">
              <a:solidFill>
                <a:schemeClr val="dk1"/>
              </a:solidFill>
              <a:latin typeface="Calibri"/>
              <a:ea typeface="Calibri"/>
              <a:cs typeface="Calibri"/>
              <a:sym typeface="Calibri"/>
            </a:endParaRPr>
          </a:p>
        </p:txBody>
      </p:sp>
      <p:sp>
        <p:nvSpPr>
          <p:cNvPr id="1067" name="Google Shape;1067;p26"/>
          <p:cNvSpPr txBox="1"/>
          <p:nvPr/>
        </p:nvSpPr>
        <p:spPr>
          <a:xfrm>
            <a:off x="1209751" y="3367735"/>
            <a:ext cx="11914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Protect Assets</a:t>
            </a:r>
            <a:endParaRPr b="0" i="0" sz="1200" u="none" cap="none" strike="noStrike">
              <a:solidFill>
                <a:schemeClr val="dk1"/>
              </a:solidFill>
              <a:latin typeface="Calibri"/>
              <a:ea typeface="Calibri"/>
              <a:cs typeface="Calibri"/>
              <a:sym typeface="Calibri"/>
            </a:endParaRPr>
          </a:p>
        </p:txBody>
      </p:sp>
      <p:sp>
        <p:nvSpPr>
          <p:cNvPr id="1068" name="Google Shape;1068;p26"/>
          <p:cNvSpPr txBox="1"/>
          <p:nvPr/>
        </p:nvSpPr>
        <p:spPr>
          <a:xfrm>
            <a:off x="1209751" y="3963924"/>
            <a:ext cx="11247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Quick Access</a:t>
            </a:r>
            <a:endParaRPr b="0" i="0" sz="1200" u="none" cap="none" strike="noStrike">
              <a:solidFill>
                <a:schemeClr val="dk1"/>
              </a:solidFill>
              <a:latin typeface="Calibri"/>
              <a:ea typeface="Calibri"/>
              <a:cs typeface="Calibri"/>
              <a:sym typeface="Calibri"/>
            </a:endParaRPr>
          </a:p>
        </p:txBody>
      </p:sp>
      <p:sp>
        <p:nvSpPr>
          <p:cNvPr id="1069" name="Google Shape;1069;p26"/>
          <p:cNvSpPr txBox="1"/>
          <p:nvPr/>
        </p:nvSpPr>
        <p:spPr>
          <a:xfrm>
            <a:off x="1209751" y="4560113"/>
            <a:ext cx="14575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Preserve Property</a:t>
            </a:r>
            <a:endParaRPr b="0" i="0" sz="1200" u="none" cap="none" strike="noStrike">
              <a:solidFill>
                <a:schemeClr val="dk1"/>
              </a:solidFill>
              <a:latin typeface="Calibri"/>
              <a:ea typeface="Calibri"/>
              <a:cs typeface="Calibri"/>
              <a:sym typeface="Calibri"/>
            </a:endParaRPr>
          </a:p>
        </p:txBody>
      </p:sp>
      <p:sp>
        <p:nvSpPr>
          <p:cNvPr id="1070" name="Google Shape;1070;p26"/>
          <p:cNvSpPr txBox="1"/>
          <p:nvPr/>
        </p:nvSpPr>
        <p:spPr>
          <a:xfrm>
            <a:off x="1209751" y="5156302"/>
            <a:ext cx="11338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Seasonal Flex</a:t>
            </a:r>
            <a:endParaRPr b="0" i="0" sz="1200" u="none" cap="none" strike="noStrike">
              <a:solidFill>
                <a:schemeClr val="dk1"/>
              </a:solidFill>
              <a:latin typeface="Calibri"/>
              <a:ea typeface="Calibri"/>
              <a:cs typeface="Calibri"/>
              <a:sym typeface="Calibri"/>
            </a:endParaRPr>
          </a:p>
        </p:txBody>
      </p:sp>
      <p:sp>
        <p:nvSpPr>
          <p:cNvPr id="1071" name="Google Shape;1071;p26"/>
          <p:cNvSpPr/>
          <p:nvPr/>
        </p:nvSpPr>
        <p:spPr>
          <a:xfrm>
            <a:off x="4996282" y="2581351"/>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6"/>
          <p:cNvSpPr/>
          <p:nvPr/>
        </p:nvSpPr>
        <p:spPr>
          <a:xfrm>
            <a:off x="4996282" y="3177540"/>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6"/>
          <p:cNvSpPr/>
          <p:nvPr/>
        </p:nvSpPr>
        <p:spPr>
          <a:xfrm>
            <a:off x="4996282" y="3773729"/>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6"/>
          <p:cNvSpPr/>
          <p:nvPr/>
        </p:nvSpPr>
        <p:spPr>
          <a:xfrm>
            <a:off x="4996282" y="4369918"/>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6"/>
          <p:cNvSpPr txBox="1"/>
          <p:nvPr/>
        </p:nvSpPr>
        <p:spPr>
          <a:xfrm>
            <a:off x="4003243" y="2771546"/>
            <a:ext cx="45720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94%</a:t>
            </a:r>
            <a:endParaRPr b="0" i="0" sz="1200" u="none" cap="none" strike="noStrike">
              <a:solidFill>
                <a:schemeClr val="dk1"/>
              </a:solidFill>
              <a:latin typeface="Calibri"/>
              <a:ea typeface="Calibri"/>
              <a:cs typeface="Calibri"/>
              <a:sym typeface="Calibri"/>
            </a:endParaRPr>
          </a:p>
        </p:txBody>
      </p:sp>
      <p:sp>
        <p:nvSpPr>
          <p:cNvPr id="1076" name="Google Shape;1076;p26"/>
          <p:cNvSpPr txBox="1"/>
          <p:nvPr/>
        </p:nvSpPr>
        <p:spPr>
          <a:xfrm>
            <a:off x="4005072" y="3367735"/>
            <a:ext cx="45720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89%</a:t>
            </a:r>
            <a:endParaRPr b="0" i="0" sz="1200" u="none" cap="none" strike="noStrike">
              <a:solidFill>
                <a:schemeClr val="dk1"/>
              </a:solidFill>
              <a:latin typeface="Calibri"/>
              <a:ea typeface="Calibri"/>
              <a:cs typeface="Calibri"/>
              <a:sym typeface="Calibri"/>
            </a:endParaRPr>
          </a:p>
        </p:txBody>
      </p:sp>
      <p:sp>
        <p:nvSpPr>
          <p:cNvPr id="1077" name="Google Shape;1077;p26"/>
          <p:cNvSpPr txBox="1"/>
          <p:nvPr/>
        </p:nvSpPr>
        <p:spPr>
          <a:xfrm>
            <a:off x="4005072" y="3963924"/>
            <a:ext cx="45720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86%</a:t>
            </a:r>
            <a:endParaRPr b="0" i="0" sz="1200" u="none" cap="none" strike="noStrike">
              <a:solidFill>
                <a:schemeClr val="dk1"/>
              </a:solidFill>
              <a:latin typeface="Calibri"/>
              <a:ea typeface="Calibri"/>
              <a:cs typeface="Calibri"/>
              <a:sym typeface="Calibri"/>
            </a:endParaRPr>
          </a:p>
        </p:txBody>
      </p:sp>
      <p:sp>
        <p:nvSpPr>
          <p:cNvPr id="1078" name="Google Shape;1078;p26"/>
          <p:cNvSpPr txBox="1"/>
          <p:nvPr/>
        </p:nvSpPr>
        <p:spPr>
          <a:xfrm>
            <a:off x="4010558" y="4560113"/>
            <a:ext cx="4480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78%</a:t>
            </a:r>
            <a:endParaRPr b="0" i="0" sz="1200" u="none" cap="none" strike="noStrike">
              <a:solidFill>
                <a:schemeClr val="dk1"/>
              </a:solidFill>
              <a:latin typeface="Calibri"/>
              <a:ea typeface="Calibri"/>
              <a:cs typeface="Calibri"/>
              <a:sym typeface="Calibri"/>
            </a:endParaRPr>
          </a:p>
        </p:txBody>
      </p:sp>
      <p:sp>
        <p:nvSpPr>
          <p:cNvPr id="1079" name="Google Shape;1079;p26"/>
          <p:cNvSpPr txBox="1"/>
          <p:nvPr/>
        </p:nvSpPr>
        <p:spPr>
          <a:xfrm>
            <a:off x="4008730" y="5156302"/>
            <a:ext cx="4480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67%</a:t>
            </a:r>
            <a:endParaRPr b="0" i="0" sz="1200" u="none" cap="none" strike="noStrike">
              <a:solidFill>
                <a:schemeClr val="dk1"/>
              </a:solidFill>
              <a:latin typeface="Calibri"/>
              <a:ea typeface="Calibri"/>
              <a:cs typeface="Calibri"/>
              <a:sym typeface="Calibri"/>
            </a:endParaRPr>
          </a:p>
        </p:txBody>
      </p:sp>
      <p:sp>
        <p:nvSpPr>
          <p:cNvPr id="1080" name="Google Shape;1080;p26"/>
          <p:cNvSpPr/>
          <p:nvPr/>
        </p:nvSpPr>
        <p:spPr>
          <a:xfrm>
            <a:off x="7182612" y="2581351"/>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6"/>
          <p:cNvSpPr/>
          <p:nvPr/>
        </p:nvSpPr>
        <p:spPr>
          <a:xfrm>
            <a:off x="7182612" y="3177540"/>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6"/>
          <p:cNvSpPr/>
          <p:nvPr/>
        </p:nvSpPr>
        <p:spPr>
          <a:xfrm>
            <a:off x="7182612" y="4369918"/>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6"/>
          <p:cNvSpPr txBox="1"/>
          <p:nvPr/>
        </p:nvSpPr>
        <p:spPr>
          <a:xfrm>
            <a:off x="5886907" y="2771546"/>
            <a:ext cx="52395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Large</a:t>
            </a:r>
            <a:endParaRPr b="0" i="0" sz="1200" u="none" cap="none" strike="noStrike">
              <a:solidFill>
                <a:schemeClr val="dk1"/>
              </a:solidFill>
              <a:latin typeface="Calibri"/>
              <a:ea typeface="Calibri"/>
              <a:cs typeface="Calibri"/>
              <a:sym typeface="Calibri"/>
            </a:endParaRPr>
          </a:p>
        </p:txBody>
      </p:sp>
      <p:sp>
        <p:nvSpPr>
          <p:cNvPr id="1084" name="Google Shape;1084;p26"/>
          <p:cNvSpPr txBox="1"/>
          <p:nvPr/>
        </p:nvSpPr>
        <p:spPr>
          <a:xfrm>
            <a:off x="5886907" y="3367735"/>
            <a:ext cx="52395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Large</a:t>
            </a:r>
            <a:endParaRPr b="0" i="0" sz="1200" u="none" cap="none" strike="noStrike">
              <a:solidFill>
                <a:schemeClr val="dk1"/>
              </a:solidFill>
              <a:latin typeface="Calibri"/>
              <a:ea typeface="Calibri"/>
              <a:cs typeface="Calibri"/>
              <a:sym typeface="Calibri"/>
            </a:endParaRPr>
          </a:p>
        </p:txBody>
      </p:sp>
      <p:sp>
        <p:nvSpPr>
          <p:cNvPr id="1085" name="Google Shape;1085;p26"/>
          <p:cNvSpPr txBox="1"/>
          <p:nvPr/>
        </p:nvSpPr>
        <p:spPr>
          <a:xfrm>
            <a:off x="7420356" y="2771546"/>
            <a:ext cx="30486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Horizontal sprawl, unused vertical space</a:t>
            </a:r>
            <a:endParaRPr b="0" i="0" sz="1200" u="none" cap="none" strike="noStrike">
              <a:solidFill>
                <a:schemeClr val="dk1"/>
              </a:solidFill>
              <a:latin typeface="Calibri"/>
              <a:ea typeface="Calibri"/>
              <a:cs typeface="Calibri"/>
              <a:sym typeface="Calibri"/>
            </a:endParaRPr>
          </a:p>
        </p:txBody>
      </p:sp>
      <p:pic>
        <p:nvPicPr>
          <p:cNvPr descr="preencoded.png" id="1086" name="Google Shape;1086;p26"/>
          <p:cNvPicPr preferRelativeResize="0"/>
          <p:nvPr/>
        </p:nvPicPr>
        <p:blipFill rotWithShape="1">
          <a:blip r:embed="rId4">
            <a:alphaModFix/>
          </a:blip>
          <a:srcRect b="0" l="-10096" r="-10096" t="0"/>
          <a:stretch/>
        </p:blipFill>
        <p:spPr>
          <a:xfrm>
            <a:off x="847649" y="3375965"/>
            <a:ext cx="228600" cy="190195"/>
          </a:xfrm>
          <a:prstGeom prst="rect">
            <a:avLst/>
          </a:prstGeom>
          <a:noFill/>
          <a:ln>
            <a:noFill/>
          </a:ln>
        </p:spPr>
      </p:pic>
      <p:sp>
        <p:nvSpPr>
          <p:cNvPr id="1087" name="Google Shape;1087;p26"/>
          <p:cNvSpPr txBox="1"/>
          <p:nvPr/>
        </p:nvSpPr>
        <p:spPr>
          <a:xfrm>
            <a:off x="5800954" y="3963924"/>
            <a:ext cx="695858"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Medium</a:t>
            </a:r>
            <a:endParaRPr b="0" i="0" sz="1200" u="none" cap="none" strike="noStrike">
              <a:solidFill>
                <a:schemeClr val="dk1"/>
              </a:solidFill>
              <a:latin typeface="Calibri"/>
              <a:ea typeface="Calibri"/>
              <a:cs typeface="Calibri"/>
              <a:sym typeface="Calibri"/>
            </a:endParaRPr>
          </a:p>
        </p:txBody>
      </p:sp>
      <p:sp>
        <p:nvSpPr>
          <p:cNvPr id="1088" name="Google Shape;1088;p26"/>
          <p:cNvSpPr txBox="1"/>
          <p:nvPr/>
        </p:nvSpPr>
        <p:spPr>
          <a:xfrm>
            <a:off x="7420356" y="3367735"/>
            <a:ext cx="22485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Weight failures damage items</a:t>
            </a:r>
            <a:endParaRPr b="0" i="0" sz="1200" u="none" cap="none" strike="noStrike">
              <a:solidFill>
                <a:schemeClr val="dk1"/>
              </a:solidFill>
              <a:latin typeface="Calibri"/>
              <a:ea typeface="Calibri"/>
              <a:cs typeface="Calibri"/>
              <a:sym typeface="Calibri"/>
            </a:endParaRPr>
          </a:p>
        </p:txBody>
      </p:sp>
      <p:pic>
        <p:nvPicPr>
          <p:cNvPr descr="preencoded.png" id="1089" name="Google Shape;1089;p26"/>
          <p:cNvPicPr preferRelativeResize="0"/>
          <p:nvPr/>
        </p:nvPicPr>
        <p:blipFill rotWithShape="1">
          <a:blip r:embed="rId5">
            <a:alphaModFix/>
          </a:blip>
          <a:srcRect b="0" l="-18681" r="-18681" t="0"/>
          <a:stretch/>
        </p:blipFill>
        <p:spPr>
          <a:xfrm>
            <a:off x="847649" y="3972154"/>
            <a:ext cx="228600" cy="190195"/>
          </a:xfrm>
          <a:prstGeom prst="rect">
            <a:avLst/>
          </a:prstGeom>
          <a:noFill/>
          <a:ln>
            <a:noFill/>
          </a:ln>
        </p:spPr>
      </p:pic>
      <p:sp>
        <p:nvSpPr>
          <p:cNvPr id="1090" name="Google Shape;1090;p26"/>
          <p:cNvSpPr/>
          <p:nvPr/>
        </p:nvSpPr>
        <p:spPr>
          <a:xfrm>
            <a:off x="4996282" y="4966106"/>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6"/>
          <p:cNvSpPr/>
          <p:nvPr/>
        </p:nvSpPr>
        <p:spPr>
          <a:xfrm>
            <a:off x="7182612" y="3773729"/>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6"/>
          <p:cNvSpPr/>
          <p:nvPr/>
        </p:nvSpPr>
        <p:spPr>
          <a:xfrm>
            <a:off x="7182612" y="4966106"/>
            <a:ext cx="9144" cy="5907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6"/>
          <p:cNvSpPr txBox="1"/>
          <p:nvPr/>
        </p:nvSpPr>
        <p:spPr>
          <a:xfrm>
            <a:off x="5838444" y="4560113"/>
            <a:ext cx="629107"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Critical</a:t>
            </a:r>
            <a:endParaRPr b="0" i="0" sz="1200" u="none" cap="none" strike="noStrike">
              <a:solidFill>
                <a:schemeClr val="dk1"/>
              </a:solidFill>
              <a:latin typeface="Calibri"/>
              <a:ea typeface="Calibri"/>
              <a:cs typeface="Calibri"/>
              <a:sym typeface="Calibri"/>
            </a:endParaRPr>
          </a:p>
        </p:txBody>
      </p:sp>
      <p:sp>
        <p:nvSpPr>
          <p:cNvPr id="1094" name="Google Shape;1094;p26"/>
          <p:cNvSpPr txBox="1"/>
          <p:nvPr/>
        </p:nvSpPr>
        <p:spPr>
          <a:xfrm>
            <a:off x="7420356" y="3963924"/>
            <a:ext cx="28575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Visual clutter, no systematic approach</a:t>
            </a:r>
            <a:endParaRPr b="0" i="0" sz="1200" u="none" cap="none" strike="noStrike">
              <a:solidFill>
                <a:schemeClr val="dk1"/>
              </a:solidFill>
              <a:latin typeface="Calibri"/>
              <a:ea typeface="Calibri"/>
              <a:cs typeface="Calibri"/>
              <a:sym typeface="Calibri"/>
            </a:endParaRPr>
          </a:p>
        </p:txBody>
      </p:sp>
      <p:pic>
        <p:nvPicPr>
          <p:cNvPr descr="preencoded.png" id="1095" name="Google Shape;1095;p26"/>
          <p:cNvPicPr preferRelativeResize="0"/>
          <p:nvPr/>
        </p:nvPicPr>
        <p:blipFill rotWithShape="1">
          <a:blip r:embed="rId6">
            <a:alphaModFix/>
          </a:blip>
          <a:srcRect b="0" l="-3419" r="-3418" t="0"/>
          <a:stretch/>
        </p:blipFill>
        <p:spPr>
          <a:xfrm>
            <a:off x="847649" y="4568342"/>
            <a:ext cx="228600" cy="190195"/>
          </a:xfrm>
          <a:prstGeom prst="rect">
            <a:avLst/>
          </a:prstGeom>
          <a:noFill/>
          <a:ln>
            <a:noFill/>
          </a:ln>
        </p:spPr>
      </p:pic>
      <p:sp>
        <p:nvSpPr>
          <p:cNvPr id="1096" name="Google Shape;1096;p26"/>
          <p:cNvSpPr txBox="1"/>
          <p:nvPr/>
        </p:nvSpPr>
        <p:spPr>
          <a:xfrm>
            <a:off x="5838444" y="5156302"/>
            <a:ext cx="629107"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Critical</a:t>
            </a:r>
            <a:endParaRPr b="0" i="0" sz="1200" u="none" cap="none" strike="noStrike">
              <a:solidFill>
                <a:schemeClr val="dk1"/>
              </a:solidFill>
              <a:latin typeface="Calibri"/>
              <a:ea typeface="Calibri"/>
              <a:cs typeface="Calibri"/>
              <a:sym typeface="Calibri"/>
            </a:endParaRPr>
          </a:p>
        </p:txBody>
      </p:sp>
      <p:sp>
        <p:nvSpPr>
          <p:cNvPr id="1097" name="Google Shape;1097;p26"/>
          <p:cNvSpPr txBox="1"/>
          <p:nvPr/>
        </p:nvSpPr>
        <p:spPr>
          <a:xfrm>
            <a:off x="7420356" y="4560113"/>
            <a:ext cx="29343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Drilling required; renters blocked (31%)</a:t>
            </a:r>
            <a:endParaRPr b="0" i="0" sz="1200" u="none" cap="none" strike="noStrike">
              <a:solidFill>
                <a:schemeClr val="dk1"/>
              </a:solidFill>
              <a:latin typeface="Calibri"/>
              <a:ea typeface="Calibri"/>
              <a:cs typeface="Calibri"/>
              <a:sym typeface="Calibri"/>
            </a:endParaRPr>
          </a:p>
        </p:txBody>
      </p:sp>
      <p:pic>
        <p:nvPicPr>
          <p:cNvPr descr="preencoded.png" id="1098" name="Google Shape;1098;p26"/>
          <p:cNvPicPr preferRelativeResize="0"/>
          <p:nvPr/>
        </p:nvPicPr>
        <p:blipFill rotWithShape="1">
          <a:blip r:embed="rId7">
            <a:alphaModFix/>
          </a:blip>
          <a:srcRect b="0" l="-10096" r="-10096" t="0"/>
          <a:stretch/>
        </p:blipFill>
        <p:spPr>
          <a:xfrm>
            <a:off x="847649" y="5164531"/>
            <a:ext cx="228600" cy="190195"/>
          </a:xfrm>
          <a:prstGeom prst="rect">
            <a:avLst/>
          </a:prstGeom>
          <a:noFill/>
          <a:ln>
            <a:noFill/>
          </a:ln>
        </p:spPr>
      </p:pic>
      <p:sp>
        <p:nvSpPr>
          <p:cNvPr id="1099" name="Google Shape;1099;p26"/>
          <p:cNvSpPr txBox="1"/>
          <p:nvPr/>
        </p:nvSpPr>
        <p:spPr>
          <a:xfrm>
            <a:off x="7420356" y="5156302"/>
            <a:ext cx="26581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Permanent installs lack adaptability</a:t>
            </a:r>
            <a:endParaRPr b="0" i="0" sz="1200" u="none" cap="none" strike="noStrike">
              <a:solidFill>
                <a:schemeClr val="dk1"/>
              </a:solidFill>
              <a:latin typeface="Calibri"/>
              <a:ea typeface="Calibri"/>
              <a:cs typeface="Calibri"/>
              <a:sym typeface="Calibri"/>
            </a:endParaRPr>
          </a:p>
        </p:txBody>
      </p:sp>
      <p:sp>
        <p:nvSpPr>
          <p:cNvPr id="1100" name="Google Shape;1100;p26"/>
          <p:cNvSpPr/>
          <p:nvPr/>
        </p:nvSpPr>
        <p:spPr>
          <a:xfrm>
            <a:off x="609905" y="5790895"/>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6"/>
          <p:cNvSpPr/>
          <p:nvPr/>
        </p:nvSpPr>
        <p:spPr>
          <a:xfrm>
            <a:off x="609905" y="5790895"/>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6"/>
          <p:cNvSpPr txBox="1"/>
          <p:nvPr/>
        </p:nvSpPr>
        <p:spPr>
          <a:xfrm>
            <a:off x="838505" y="5962802"/>
            <a:ext cx="10051999"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Category Insight: "Preserve Property" (2.1/10 satisfaction) and "Seasonal Flex" (1.9/10) are most underserved jobs. These align with White Space #1 (Renter's Dilemma) and White Space #3 (Platform Ecosystem).</a:t>
            </a:r>
            <a:endParaRPr b="0" i="0" sz="1100" u="none" cap="none" strike="noStrike">
              <a:solidFill>
                <a:schemeClr val="dk1"/>
              </a:solidFill>
              <a:latin typeface="Calibri"/>
              <a:ea typeface="Calibri"/>
              <a:cs typeface="Calibri"/>
              <a:sym typeface="Calibri"/>
            </a:endParaRPr>
          </a:p>
        </p:txBody>
      </p:sp>
      <p:sp>
        <p:nvSpPr>
          <p:cNvPr id="1103" name="Google Shape;1103;p26"/>
          <p:cNvSpPr txBox="1"/>
          <p:nvPr/>
        </p:nvSpPr>
        <p:spPr>
          <a:xfrm>
            <a:off x="609905" y="6877202"/>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104" name="Google Shape;1104;p26"/>
          <p:cNvSpPr txBox="1"/>
          <p:nvPr/>
        </p:nvSpPr>
        <p:spPr>
          <a:xfrm>
            <a:off x="11416284" y="6877202"/>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23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27"/>
          <p:cNvSpPr/>
          <p:nvPr/>
        </p:nvSpPr>
        <p:spPr>
          <a:xfrm>
            <a:off x="0" y="0"/>
            <a:ext cx="12191695" cy="11992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7"/>
          <p:cNvSpPr/>
          <p:nvPr/>
        </p:nvSpPr>
        <p:spPr>
          <a:xfrm>
            <a:off x="0" y="0"/>
            <a:ext cx="12191695" cy="11992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7"/>
          <p:cNvSpPr/>
          <p:nvPr/>
        </p:nvSpPr>
        <p:spPr>
          <a:xfrm>
            <a:off x="533095" y="38130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7"/>
          <p:cNvSpPr txBox="1"/>
          <p:nvPr/>
        </p:nvSpPr>
        <p:spPr>
          <a:xfrm>
            <a:off x="533095" y="609905"/>
            <a:ext cx="502920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Customer Segments &amp; Channels</a:t>
            </a:r>
            <a:endParaRPr b="0" i="0" sz="2400" u="none" cap="none" strike="noStrike">
              <a:solidFill>
                <a:schemeClr val="dk1"/>
              </a:solidFill>
              <a:latin typeface="Calibri"/>
              <a:ea typeface="Calibri"/>
              <a:cs typeface="Calibri"/>
              <a:sym typeface="Calibri"/>
            </a:endParaRPr>
          </a:p>
        </p:txBody>
      </p:sp>
      <p:sp>
        <p:nvSpPr>
          <p:cNvPr id="1114" name="Google Shape;1114;p27"/>
          <p:cNvSpPr txBox="1"/>
          <p:nvPr/>
        </p:nvSpPr>
        <p:spPr>
          <a:xfrm>
            <a:off x="533095" y="1209751"/>
            <a:ext cx="281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a:t>
            </a:r>
            <a:endParaRPr b="0" i="0" sz="1300" u="none" cap="none" strike="noStrike">
              <a:solidFill>
                <a:schemeClr val="dk1"/>
              </a:solidFill>
              <a:latin typeface="Calibri"/>
              <a:ea typeface="Calibri"/>
              <a:cs typeface="Calibri"/>
              <a:sym typeface="Calibri"/>
            </a:endParaRPr>
          </a:p>
        </p:txBody>
      </p:sp>
      <p:sp>
        <p:nvSpPr>
          <p:cNvPr id="1115" name="Google Shape;1115;p27"/>
          <p:cNvSpPr txBox="1"/>
          <p:nvPr/>
        </p:nvSpPr>
        <p:spPr>
          <a:xfrm>
            <a:off x="753466" y="1195121"/>
            <a:ext cx="115305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THE PATTERN</a:t>
            </a:r>
            <a:endParaRPr b="0" i="0" sz="1200" u="none" cap="none" strike="noStrike">
              <a:solidFill>
                <a:schemeClr val="dk1"/>
              </a:solidFill>
              <a:latin typeface="Calibri"/>
              <a:ea typeface="Calibri"/>
              <a:cs typeface="Calibri"/>
              <a:sym typeface="Calibri"/>
            </a:endParaRPr>
          </a:p>
        </p:txBody>
      </p:sp>
      <p:sp>
        <p:nvSpPr>
          <p:cNvPr id="1116" name="Google Shape;1116;p27"/>
          <p:cNvSpPr/>
          <p:nvPr/>
        </p:nvSpPr>
        <p:spPr>
          <a:xfrm>
            <a:off x="1867205" y="1195121"/>
            <a:ext cx="1314907" cy="228600"/>
          </a:xfrm>
          <a:prstGeom prst="roundRect">
            <a:avLst>
              <a:gd fmla="val 66667" name="adj"/>
            </a:avLst>
          </a:prstGeom>
          <a:solidFill>
            <a:srgbClr val="0891B2">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7"/>
          <p:cNvSpPr txBox="1"/>
          <p:nvPr/>
        </p:nvSpPr>
        <p:spPr>
          <a:xfrm>
            <a:off x="1943100" y="1233526"/>
            <a:ext cx="1248156"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900"/>
              <a:buFont typeface="Inter"/>
              <a:buNone/>
            </a:pPr>
            <a:r>
              <a:rPr b="1" i="0" lang="en-US" sz="900" u="none" cap="none" strike="noStrike">
                <a:solidFill>
                  <a:srgbClr val="0891B2"/>
                </a:solidFill>
                <a:latin typeface="Inter"/>
                <a:ea typeface="Inter"/>
                <a:cs typeface="Inter"/>
                <a:sym typeface="Inter"/>
              </a:rPr>
              <a:t>Consumer Segments</a:t>
            </a:r>
            <a:endParaRPr b="0" i="0" sz="900" u="none" cap="none" strike="noStrike">
              <a:solidFill>
                <a:schemeClr val="dk1"/>
              </a:solidFill>
              <a:latin typeface="Calibri"/>
              <a:ea typeface="Calibri"/>
              <a:cs typeface="Calibri"/>
              <a:sym typeface="Calibri"/>
            </a:endParaRPr>
          </a:p>
        </p:txBody>
      </p:sp>
      <p:sp>
        <p:nvSpPr>
          <p:cNvPr id="1118" name="Google Shape;1118;p27"/>
          <p:cNvSpPr/>
          <p:nvPr/>
        </p:nvSpPr>
        <p:spPr>
          <a:xfrm>
            <a:off x="533095" y="1705356"/>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7"/>
          <p:cNvSpPr/>
          <p:nvPr/>
        </p:nvSpPr>
        <p:spPr>
          <a:xfrm>
            <a:off x="533095" y="4491533"/>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7"/>
          <p:cNvSpPr/>
          <p:nvPr/>
        </p:nvSpPr>
        <p:spPr>
          <a:xfrm>
            <a:off x="733349" y="2600554"/>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7"/>
          <p:cNvSpPr/>
          <p:nvPr/>
        </p:nvSpPr>
        <p:spPr>
          <a:xfrm>
            <a:off x="733349" y="1926641"/>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2" name="Google Shape;1122;p27"/>
          <p:cNvPicPr preferRelativeResize="0"/>
          <p:nvPr/>
        </p:nvPicPr>
        <p:blipFill rotWithShape="1">
          <a:blip r:embed="rId3">
            <a:alphaModFix/>
          </a:blip>
          <a:srcRect b="0" l="-1249999" r="-1249999" t="0"/>
          <a:stretch/>
        </p:blipFill>
        <p:spPr>
          <a:xfrm>
            <a:off x="881482" y="2189074"/>
            <a:ext cx="237744" cy="9144"/>
          </a:xfrm>
          <a:prstGeom prst="rect">
            <a:avLst/>
          </a:prstGeom>
          <a:noFill/>
          <a:ln>
            <a:noFill/>
          </a:ln>
        </p:spPr>
      </p:pic>
      <p:sp>
        <p:nvSpPr>
          <p:cNvPr id="1123" name="Google Shape;1123;p27"/>
          <p:cNvSpPr/>
          <p:nvPr/>
        </p:nvSpPr>
        <p:spPr>
          <a:xfrm>
            <a:off x="6191402" y="1705356"/>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7"/>
          <p:cNvSpPr/>
          <p:nvPr/>
        </p:nvSpPr>
        <p:spPr>
          <a:xfrm>
            <a:off x="6391656" y="2600554"/>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7"/>
          <p:cNvSpPr/>
          <p:nvPr/>
        </p:nvSpPr>
        <p:spPr>
          <a:xfrm>
            <a:off x="733349" y="5387645"/>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7"/>
          <p:cNvSpPr/>
          <p:nvPr/>
        </p:nvSpPr>
        <p:spPr>
          <a:xfrm>
            <a:off x="6391656" y="1926641"/>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7"/>
          <p:cNvSpPr/>
          <p:nvPr/>
        </p:nvSpPr>
        <p:spPr>
          <a:xfrm>
            <a:off x="733349" y="4713732"/>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7"/>
          <p:cNvSpPr txBox="1"/>
          <p:nvPr/>
        </p:nvSpPr>
        <p:spPr>
          <a:xfrm>
            <a:off x="1419149" y="1904695"/>
            <a:ext cx="21387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Professional Organizers</a:t>
            </a:r>
            <a:endParaRPr b="0" i="0" sz="1300" u="none" cap="none" strike="noStrike">
              <a:solidFill>
                <a:schemeClr val="dk1"/>
              </a:solidFill>
              <a:latin typeface="Calibri"/>
              <a:ea typeface="Calibri"/>
              <a:cs typeface="Calibri"/>
              <a:sym typeface="Calibri"/>
            </a:endParaRPr>
          </a:p>
        </p:txBody>
      </p:sp>
      <p:sp>
        <p:nvSpPr>
          <p:cNvPr id="1129" name="Google Shape;1129;p27"/>
          <p:cNvSpPr txBox="1"/>
          <p:nvPr/>
        </p:nvSpPr>
        <p:spPr>
          <a:xfrm>
            <a:off x="7077456" y="1904695"/>
            <a:ext cx="16907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Suburban Families</a:t>
            </a:r>
            <a:endParaRPr b="0" i="0" sz="1300" u="none" cap="none" strike="noStrike">
              <a:solidFill>
                <a:schemeClr val="dk1"/>
              </a:solidFill>
              <a:latin typeface="Calibri"/>
              <a:ea typeface="Calibri"/>
              <a:cs typeface="Calibri"/>
              <a:sym typeface="Calibri"/>
            </a:endParaRPr>
          </a:p>
        </p:txBody>
      </p:sp>
      <p:sp>
        <p:nvSpPr>
          <p:cNvPr id="1130" name="Google Shape;1130;p27"/>
          <p:cNvSpPr txBox="1"/>
          <p:nvPr/>
        </p:nvSpPr>
        <p:spPr>
          <a:xfrm>
            <a:off x="1419149" y="4691786"/>
            <a:ext cx="13386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Urban Renters</a:t>
            </a:r>
            <a:endParaRPr b="0" i="0" sz="1300" u="none" cap="none" strike="noStrike">
              <a:solidFill>
                <a:schemeClr val="dk1"/>
              </a:solidFill>
              <a:latin typeface="Calibri"/>
              <a:ea typeface="Calibri"/>
              <a:cs typeface="Calibri"/>
              <a:sym typeface="Calibri"/>
            </a:endParaRPr>
          </a:p>
        </p:txBody>
      </p:sp>
      <p:sp>
        <p:nvSpPr>
          <p:cNvPr id="1131" name="Google Shape;1131;p27"/>
          <p:cNvSpPr/>
          <p:nvPr/>
        </p:nvSpPr>
        <p:spPr>
          <a:xfrm>
            <a:off x="1419149" y="2187245"/>
            <a:ext cx="1457554"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7"/>
          <p:cNvSpPr/>
          <p:nvPr/>
        </p:nvSpPr>
        <p:spPr>
          <a:xfrm>
            <a:off x="7077456" y="2187245"/>
            <a:ext cx="1495044"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7"/>
          <p:cNvSpPr/>
          <p:nvPr/>
        </p:nvSpPr>
        <p:spPr>
          <a:xfrm>
            <a:off x="1419149" y="4973422"/>
            <a:ext cx="1495044"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7"/>
          <p:cNvSpPr txBox="1"/>
          <p:nvPr/>
        </p:nvSpPr>
        <p:spPr>
          <a:xfrm>
            <a:off x="1495044" y="2234794"/>
            <a:ext cx="14337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~15% of market</a:t>
            </a:r>
            <a:endParaRPr b="0" i="0" sz="1300" u="none" cap="none" strike="noStrike">
              <a:solidFill>
                <a:schemeClr val="dk1"/>
              </a:solidFill>
              <a:latin typeface="Calibri"/>
              <a:ea typeface="Calibri"/>
              <a:cs typeface="Calibri"/>
              <a:sym typeface="Calibri"/>
            </a:endParaRPr>
          </a:p>
        </p:txBody>
      </p:sp>
      <p:sp>
        <p:nvSpPr>
          <p:cNvPr id="1135" name="Google Shape;1135;p27"/>
          <p:cNvSpPr txBox="1"/>
          <p:nvPr/>
        </p:nvSpPr>
        <p:spPr>
          <a:xfrm>
            <a:off x="7153351" y="2234794"/>
            <a:ext cx="14721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~35% of market</a:t>
            </a:r>
            <a:endParaRPr b="0" i="0" sz="1300" u="none" cap="none" strike="noStrike">
              <a:solidFill>
                <a:schemeClr val="dk1"/>
              </a:solidFill>
              <a:latin typeface="Calibri"/>
              <a:ea typeface="Calibri"/>
              <a:cs typeface="Calibri"/>
              <a:sym typeface="Calibri"/>
            </a:endParaRPr>
          </a:p>
        </p:txBody>
      </p:sp>
      <p:sp>
        <p:nvSpPr>
          <p:cNvPr id="1136" name="Google Shape;1136;p27"/>
          <p:cNvSpPr txBox="1"/>
          <p:nvPr/>
        </p:nvSpPr>
        <p:spPr>
          <a:xfrm>
            <a:off x="1495044" y="5021885"/>
            <a:ext cx="14721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~20% of market</a:t>
            </a:r>
            <a:endParaRPr b="0" i="0" sz="1300" u="none" cap="none" strike="noStrike">
              <a:solidFill>
                <a:schemeClr val="dk1"/>
              </a:solidFill>
              <a:latin typeface="Calibri"/>
              <a:ea typeface="Calibri"/>
              <a:cs typeface="Calibri"/>
              <a:sym typeface="Calibri"/>
            </a:endParaRPr>
          </a:p>
        </p:txBody>
      </p:sp>
      <p:sp>
        <p:nvSpPr>
          <p:cNvPr id="1137" name="Google Shape;1137;p27"/>
          <p:cNvSpPr txBox="1"/>
          <p:nvPr/>
        </p:nvSpPr>
        <p:spPr>
          <a:xfrm>
            <a:off x="733349" y="2777033"/>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38" name="Google Shape;1138;p27"/>
          <p:cNvSpPr txBox="1"/>
          <p:nvPr/>
        </p:nvSpPr>
        <p:spPr>
          <a:xfrm>
            <a:off x="733349" y="3291840"/>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39" name="Google Shape;1139;p27"/>
          <p:cNvSpPr txBox="1"/>
          <p:nvPr/>
        </p:nvSpPr>
        <p:spPr>
          <a:xfrm>
            <a:off x="733349" y="3606394"/>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40" name="Google Shape;1140;p27"/>
          <p:cNvSpPr txBox="1"/>
          <p:nvPr/>
        </p:nvSpPr>
        <p:spPr>
          <a:xfrm>
            <a:off x="733349" y="3920033"/>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41" name="Google Shape;1141;p27"/>
          <p:cNvSpPr txBox="1"/>
          <p:nvPr/>
        </p:nvSpPr>
        <p:spPr>
          <a:xfrm>
            <a:off x="6391656" y="2777033"/>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42" name="Google Shape;1142;p27"/>
          <p:cNvSpPr txBox="1"/>
          <p:nvPr/>
        </p:nvSpPr>
        <p:spPr>
          <a:xfrm>
            <a:off x="6391656" y="3291840"/>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43" name="Google Shape;1143;p27"/>
          <p:cNvSpPr txBox="1"/>
          <p:nvPr/>
        </p:nvSpPr>
        <p:spPr>
          <a:xfrm>
            <a:off x="6391656" y="3606394"/>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44" name="Google Shape;1144;p27"/>
          <p:cNvSpPr txBox="1"/>
          <p:nvPr/>
        </p:nvSpPr>
        <p:spPr>
          <a:xfrm>
            <a:off x="6391656" y="3920033"/>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45" name="Google Shape;1145;p27"/>
          <p:cNvSpPr txBox="1"/>
          <p:nvPr/>
        </p:nvSpPr>
        <p:spPr>
          <a:xfrm>
            <a:off x="3323844" y="2777033"/>
            <a:ext cx="2443277"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Contractors, serious DIY enthusiasts, professional-grade expectations</a:t>
            </a:r>
            <a:endParaRPr b="0" i="0" sz="1000" u="none" cap="none" strike="noStrike">
              <a:solidFill>
                <a:schemeClr val="dk1"/>
              </a:solidFill>
              <a:latin typeface="Calibri"/>
              <a:ea typeface="Calibri"/>
              <a:cs typeface="Calibri"/>
              <a:sym typeface="Calibri"/>
            </a:endParaRPr>
          </a:p>
        </p:txBody>
      </p:sp>
      <p:sp>
        <p:nvSpPr>
          <p:cNvPr id="1146" name="Google Shape;1146;p27"/>
          <p:cNvSpPr txBox="1"/>
          <p:nvPr/>
        </p:nvSpPr>
        <p:spPr>
          <a:xfrm>
            <a:off x="3323844" y="3920033"/>
            <a:ext cx="1377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HD/Lowe's premium</a:t>
            </a:r>
            <a:endParaRPr b="0" i="0" sz="1000" u="none" cap="none" strike="noStrike">
              <a:solidFill>
                <a:schemeClr val="dk1"/>
              </a:solidFill>
              <a:latin typeface="Calibri"/>
              <a:ea typeface="Calibri"/>
              <a:cs typeface="Calibri"/>
              <a:sym typeface="Calibri"/>
            </a:endParaRPr>
          </a:p>
        </p:txBody>
      </p:sp>
      <p:sp>
        <p:nvSpPr>
          <p:cNvPr id="1147" name="Google Shape;1147;p27"/>
          <p:cNvSpPr txBox="1"/>
          <p:nvPr/>
        </p:nvSpPr>
        <p:spPr>
          <a:xfrm>
            <a:off x="8982151" y="2777033"/>
            <a:ext cx="2062886"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2-car garage, kids' gear, multi-purpose storage needs</a:t>
            </a:r>
            <a:endParaRPr b="0" i="0" sz="1000" u="none" cap="none" strike="noStrike">
              <a:solidFill>
                <a:schemeClr val="dk1"/>
              </a:solidFill>
              <a:latin typeface="Calibri"/>
              <a:ea typeface="Calibri"/>
              <a:cs typeface="Calibri"/>
              <a:sym typeface="Calibri"/>
            </a:endParaRPr>
          </a:p>
        </p:txBody>
      </p:sp>
      <p:sp>
        <p:nvSpPr>
          <p:cNvPr id="1148" name="Google Shape;1148;p27"/>
          <p:cNvSpPr/>
          <p:nvPr/>
        </p:nvSpPr>
        <p:spPr>
          <a:xfrm>
            <a:off x="3323844" y="3330245"/>
            <a:ext cx="95098" cy="95098"/>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7"/>
          <p:cNvSpPr txBox="1"/>
          <p:nvPr/>
        </p:nvSpPr>
        <p:spPr>
          <a:xfrm>
            <a:off x="3476549" y="3291840"/>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Low</a:t>
            </a:r>
            <a:endParaRPr b="0" i="0" sz="1000" u="none" cap="none" strike="noStrike">
              <a:solidFill>
                <a:schemeClr val="dk1"/>
              </a:solidFill>
              <a:latin typeface="Calibri"/>
              <a:ea typeface="Calibri"/>
              <a:cs typeface="Calibri"/>
              <a:sym typeface="Calibri"/>
            </a:endParaRPr>
          </a:p>
        </p:txBody>
      </p:sp>
      <p:sp>
        <p:nvSpPr>
          <p:cNvPr id="1150" name="Google Shape;1150;p27"/>
          <p:cNvSpPr txBox="1"/>
          <p:nvPr/>
        </p:nvSpPr>
        <p:spPr>
          <a:xfrm>
            <a:off x="3476549" y="3606394"/>
            <a:ext cx="747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Very High</a:t>
            </a:r>
            <a:endParaRPr b="0" i="0" sz="1000" u="none" cap="none" strike="noStrike">
              <a:solidFill>
                <a:schemeClr val="dk1"/>
              </a:solidFill>
              <a:latin typeface="Calibri"/>
              <a:ea typeface="Calibri"/>
              <a:cs typeface="Calibri"/>
              <a:sym typeface="Calibri"/>
            </a:endParaRPr>
          </a:p>
        </p:txBody>
      </p:sp>
      <p:sp>
        <p:nvSpPr>
          <p:cNvPr id="1151" name="Google Shape;1151;p27"/>
          <p:cNvSpPr/>
          <p:nvPr/>
        </p:nvSpPr>
        <p:spPr>
          <a:xfrm>
            <a:off x="3323844" y="3643884"/>
            <a:ext cx="95098" cy="95098"/>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2" name="Google Shape;1152;p27"/>
          <p:cNvPicPr preferRelativeResize="0"/>
          <p:nvPr/>
        </p:nvPicPr>
        <p:blipFill rotWithShape="1">
          <a:blip r:embed="rId4">
            <a:alphaModFix/>
          </a:blip>
          <a:srcRect b="0" l="-1247780" r="-1247780" t="0"/>
          <a:stretch/>
        </p:blipFill>
        <p:spPr>
          <a:xfrm>
            <a:off x="6524244" y="2189074"/>
            <a:ext cx="267005" cy="9144"/>
          </a:xfrm>
          <a:prstGeom prst="rect">
            <a:avLst/>
          </a:prstGeom>
          <a:noFill/>
          <a:ln>
            <a:noFill/>
          </a:ln>
        </p:spPr>
      </p:pic>
      <p:sp>
        <p:nvSpPr>
          <p:cNvPr id="1153" name="Google Shape;1153;p27"/>
          <p:cNvSpPr txBox="1"/>
          <p:nvPr/>
        </p:nvSpPr>
        <p:spPr>
          <a:xfrm>
            <a:off x="8982151" y="3920033"/>
            <a:ext cx="14621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HD/Lowe's + Amazon</a:t>
            </a:r>
            <a:endParaRPr b="0" i="0" sz="1000" u="none" cap="none" strike="noStrike">
              <a:solidFill>
                <a:schemeClr val="dk1"/>
              </a:solidFill>
              <a:latin typeface="Calibri"/>
              <a:ea typeface="Calibri"/>
              <a:cs typeface="Calibri"/>
              <a:sym typeface="Calibri"/>
            </a:endParaRPr>
          </a:p>
        </p:txBody>
      </p:sp>
      <p:sp>
        <p:nvSpPr>
          <p:cNvPr id="1154" name="Google Shape;1154;p27"/>
          <p:cNvSpPr txBox="1"/>
          <p:nvPr/>
        </p:nvSpPr>
        <p:spPr>
          <a:xfrm>
            <a:off x="9134856" y="3291840"/>
            <a:ext cx="633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Medium</a:t>
            </a:r>
            <a:endParaRPr b="0" i="0" sz="1000" u="none" cap="none" strike="noStrike">
              <a:solidFill>
                <a:schemeClr val="dk1"/>
              </a:solidFill>
              <a:latin typeface="Calibri"/>
              <a:ea typeface="Calibri"/>
              <a:cs typeface="Calibri"/>
              <a:sym typeface="Calibri"/>
            </a:endParaRPr>
          </a:p>
        </p:txBody>
      </p:sp>
      <p:sp>
        <p:nvSpPr>
          <p:cNvPr id="1155" name="Google Shape;1155;p27"/>
          <p:cNvSpPr txBox="1"/>
          <p:nvPr/>
        </p:nvSpPr>
        <p:spPr>
          <a:xfrm>
            <a:off x="9134856" y="360639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High</a:t>
            </a:r>
            <a:endParaRPr b="0" i="0" sz="1000" u="none" cap="none" strike="noStrike">
              <a:solidFill>
                <a:schemeClr val="dk1"/>
              </a:solidFill>
              <a:latin typeface="Calibri"/>
              <a:ea typeface="Calibri"/>
              <a:cs typeface="Calibri"/>
              <a:sym typeface="Calibri"/>
            </a:endParaRPr>
          </a:p>
        </p:txBody>
      </p:sp>
      <p:sp>
        <p:nvSpPr>
          <p:cNvPr id="1156" name="Google Shape;1156;p27"/>
          <p:cNvSpPr/>
          <p:nvPr/>
        </p:nvSpPr>
        <p:spPr>
          <a:xfrm>
            <a:off x="8982151" y="3330245"/>
            <a:ext cx="95098" cy="9509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7"/>
          <p:cNvSpPr/>
          <p:nvPr/>
        </p:nvSpPr>
        <p:spPr>
          <a:xfrm>
            <a:off x="8982151" y="3643884"/>
            <a:ext cx="95098" cy="95098"/>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8" name="Google Shape;1158;p27"/>
          <p:cNvPicPr preferRelativeResize="0"/>
          <p:nvPr/>
        </p:nvPicPr>
        <p:blipFill rotWithShape="1">
          <a:blip r:embed="rId5">
            <a:alphaModFix/>
          </a:blip>
          <a:srcRect b="0" l="-1270002" r="-1270002" t="0"/>
          <a:stretch/>
        </p:blipFill>
        <p:spPr>
          <a:xfrm>
            <a:off x="909828" y="4976165"/>
            <a:ext cx="181051" cy="9144"/>
          </a:xfrm>
          <a:prstGeom prst="rect">
            <a:avLst/>
          </a:prstGeom>
          <a:noFill/>
          <a:ln>
            <a:noFill/>
          </a:ln>
        </p:spPr>
      </p:pic>
      <p:sp>
        <p:nvSpPr>
          <p:cNvPr id="1159" name="Google Shape;1159;p27"/>
          <p:cNvSpPr/>
          <p:nvPr/>
        </p:nvSpPr>
        <p:spPr>
          <a:xfrm>
            <a:off x="6191402" y="4491533"/>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7"/>
          <p:cNvSpPr/>
          <p:nvPr/>
        </p:nvSpPr>
        <p:spPr>
          <a:xfrm>
            <a:off x="533095" y="7278624"/>
            <a:ext cx="5467198" cy="2600554"/>
          </a:xfrm>
          <a:prstGeom prst="roundRect">
            <a:avLst>
              <a:gd fmla="val 1030" name="adj"/>
            </a:avLst>
          </a:prstGeom>
          <a:solidFill>
            <a:srgbClr val="F9FAFB"/>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7"/>
          <p:cNvSpPr/>
          <p:nvPr/>
        </p:nvSpPr>
        <p:spPr>
          <a:xfrm>
            <a:off x="6391656" y="5387645"/>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7"/>
          <p:cNvSpPr/>
          <p:nvPr/>
        </p:nvSpPr>
        <p:spPr>
          <a:xfrm>
            <a:off x="733349" y="8174736"/>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7"/>
          <p:cNvSpPr/>
          <p:nvPr/>
        </p:nvSpPr>
        <p:spPr>
          <a:xfrm>
            <a:off x="6391656" y="4713732"/>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7"/>
          <p:cNvSpPr/>
          <p:nvPr/>
        </p:nvSpPr>
        <p:spPr>
          <a:xfrm>
            <a:off x="733349" y="7500823"/>
            <a:ext cx="533095" cy="533095"/>
          </a:xfrm>
          <a:prstGeom prst="ellipse">
            <a:avLst/>
          </a:prstGeom>
          <a:solidFill>
            <a:srgbClr val="1E3A8A"/>
          </a:solidFill>
          <a:ln>
            <a:noFill/>
          </a:ln>
          <a:effectLst>
            <a:outerShdw blurRad="50800" rotWithShape="0" algn="bl" dir="5400000" dist="25400">
              <a:srgbClr val="1E3A8A">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7"/>
          <p:cNvSpPr txBox="1"/>
          <p:nvPr/>
        </p:nvSpPr>
        <p:spPr>
          <a:xfrm>
            <a:off x="7077456" y="4691786"/>
            <a:ext cx="18717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Retirees/Downsizers</a:t>
            </a:r>
            <a:endParaRPr b="0" i="0" sz="1300" u="none" cap="none" strike="noStrike">
              <a:solidFill>
                <a:schemeClr val="dk1"/>
              </a:solidFill>
              <a:latin typeface="Calibri"/>
              <a:ea typeface="Calibri"/>
              <a:cs typeface="Calibri"/>
              <a:sym typeface="Calibri"/>
            </a:endParaRPr>
          </a:p>
        </p:txBody>
      </p:sp>
      <p:sp>
        <p:nvSpPr>
          <p:cNvPr id="1166" name="Google Shape;1166;p27"/>
          <p:cNvSpPr txBox="1"/>
          <p:nvPr/>
        </p:nvSpPr>
        <p:spPr>
          <a:xfrm>
            <a:off x="1419149" y="7478878"/>
            <a:ext cx="16623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Budget Conscious</a:t>
            </a:r>
            <a:endParaRPr b="0" i="0" sz="1300" u="none" cap="none" strike="noStrike">
              <a:solidFill>
                <a:schemeClr val="dk1"/>
              </a:solidFill>
              <a:latin typeface="Calibri"/>
              <a:ea typeface="Calibri"/>
              <a:cs typeface="Calibri"/>
              <a:sym typeface="Calibri"/>
            </a:endParaRPr>
          </a:p>
        </p:txBody>
      </p:sp>
      <p:sp>
        <p:nvSpPr>
          <p:cNvPr id="1167" name="Google Shape;1167;p27"/>
          <p:cNvSpPr/>
          <p:nvPr/>
        </p:nvSpPr>
        <p:spPr>
          <a:xfrm>
            <a:off x="7077456" y="4973422"/>
            <a:ext cx="1466698"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7"/>
          <p:cNvSpPr/>
          <p:nvPr/>
        </p:nvSpPr>
        <p:spPr>
          <a:xfrm>
            <a:off x="1419149" y="7760513"/>
            <a:ext cx="1457554" cy="295351"/>
          </a:xfrm>
          <a:prstGeom prst="roundRect">
            <a:avLst>
              <a:gd fmla="val 3994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7"/>
          <p:cNvSpPr txBox="1"/>
          <p:nvPr/>
        </p:nvSpPr>
        <p:spPr>
          <a:xfrm>
            <a:off x="7153351" y="5021885"/>
            <a:ext cx="14438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~18% of market</a:t>
            </a:r>
            <a:endParaRPr b="0" i="0" sz="1300" u="none" cap="none" strike="noStrike">
              <a:solidFill>
                <a:schemeClr val="dk1"/>
              </a:solidFill>
              <a:latin typeface="Calibri"/>
              <a:ea typeface="Calibri"/>
              <a:cs typeface="Calibri"/>
              <a:sym typeface="Calibri"/>
            </a:endParaRPr>
          </a:p>
        </p:txBody>
      </p:sp>
      <p:sp>
        <p:nvSpPr>
          <p:cNvPr id="1170" name="Google Shape;1170;p27"/>
          <p:cNvSpPr txBox="1"/>
          <p:nvPr/>
        </p:nvSpPr>
        <p:spPr>
          <a:xfrm>
            <a:off x="1495044" y="7808062"/>
            <a:ext cx="14337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~12% of market</a:t>
            </a:r>
            <a:endParaRPr b="0" i="0" sz="1300" u="none" cap="none" strike="noStrike">
              <a:solidFill>
                <a:schemeClr val="dk1"/>
              </a:solidFill>
              <a:latin typeface="Calibri"/>
              <a:ea typeface="Calibri"/>
              <a:cs typeface="Calibri"/>
              <a:sym typeface="Calibri"/>
            </a:endParaRPr>
          </a:p>
        </p:txBody>
      </p:sp>
      <p:sp>
        <p:nvSpPr>
          <p:cNvPr id="1171" name="Google Shape;1171;p27"/>
          <p:cNvSpPr txBox="1"/>
          <p:nvPr/>
        </p:nvSpPr>
        <p:spPr>
          <a:xfrm>
            <a:off x="733349" y="5564124"/>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72" name="Google Shape;1172;p27"/>
          <p:cNvSpPr txBox="1"/>
          <p:nvPr/>
        </p:nvSpPr>
        <p:spPr>
          <a:xfrm>
            <a:off x="733349" y="6078931"/>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73" name="Google Shape;1173;p27"/>
          <p:cNvSpPr txBox="1"/>
          <p:nvPr/>
        </p:nvSpPr>
        <p:spPr>
          <a:xfrm>
            <a:off x="733349" y="6393485"/>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74" name="Google Shape;1174;p27"/>
          <p:cNvSpPr txBox="1"/>
          <p:nvPr/>
        </p:nvSpPr>
        <p:spPr>
          <a:xfrm>
            <a:off x="733349" y="6707124"/>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75" name="Google Shape;1175;p27"/>
          <p:cNvSpPr txBox="1"/>
          <p:nvPr/>
        </p:nvSpPr>
        <p:spPr>
          <a:xfrm>
            <a:off x="6391656" y="5564124"/>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76" name="Google Shape;1176;p27"/>
          <p:cNvSpPr txBox="1"/>
          <p:nvPr/>
        </p:nvSpPr>
        <p:spPr>
          <a:xfrm>
            <a:off x="6391656" y="6078931"/>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77" name="Google Shape;1177;p27"/>
          <p:cNvSpPr txBox="1"/>
          <p:nvPr/>
        </p:nvSpPr>
        <p:spPr>
          <a:xfrm>
            <a:off x="6391656" y="6393485"/>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78" name="Google Shape;1178;p27"/>
          <p:cNvSpPr txBox="1"/>
          <p:nvPr/>
        </p:nvSpPr>
        <p:spPr>
          <a:xfrm>
            <a:off x="6391656" y="6707124"/>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79" name="Google Shape;1179;p27"/>
          <p:cNvSpPr txBox="1"/>
          <p:nvPr/>
        </p:nvSpPr>
        <p:spPr>
          <a:xfrm>
            <a:off x="733349" y="8351215"/>
            <a:ext cx="11292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Characteristics:</a:t>
            </a:r>
            <a:endParaRPr b="0" i="0" sz="1000" u="none" cap="none" strike="noStrike">
              <a:solidFill>
                <a:schemeClr val="dk1"/>
              </a:solidFill>
              <a:latin typeface="Calibri"/>
              <a:ea typeface="Calibri"/>
              <a:cs typeface="Calibri"/>
              <a:sym typeface="Calibri"/>
            </a:endParaRPr>
          </a:p>
        </p:txBody>
      </p:sp>
      <p:sp>
        <p:nvSpPr>
          <p:cNvPr id="1180" name="Google Shape;1180;p27"/>
          <p:cNvSpPr txBox="1"/>
          <p:nvPr/>
        </p:nvSpPr>
        <p:spPr>
          <a:xfrm>
            <a:off x="733349" y="8866022"/>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Price Sensitivity:</a:t>
            </a:r>
            <a:endParaRPr b="0" i="0" sz="1000" u="none" cap="none" strike="noStrike">
              <a:solidFill>
                <a:schemeClr val="dk1"/>
              </a:solidFill>
              <a:latin typeface="Calibri"/>
              <a:ea typeface="Calibri"/>
              <a:cs typeface="Calibri"/>
              <a:sym typeface="Calibri"/>
            </a:endParaRPr>
          </a:p>
        </p:txBody>
      </p:sp>
      <p:sp>
        <p:nvSpPr>
          <p:cNvPr id="1181" name="Google Shape;1181;p27"/>
          <p:cNvSpPr txBox="1"/>
          <p:nvPr/>
        </p:nvSpPr>
        <p:spPr>
          <a:xfrm>
            <a:off x="733349" y="9179662"/>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Quality Focus:</a:t>
            </a:r>
            <a:endParaRPr b="0" i="0" sz="1000" u="none" cap="none" strike="noStrike">
              <a:solidFill>
                <a:schemeClr val="dk1"/>
              </a:solidFill>
              <a:latin typeface="Calibri"/>
              <a:ea typeface="Calibri"/>
              <a:cs typeface="Calibri"/>
              <a:sym typeface="Calibri"/>
            </a:endParaRPr>
          </a:p>
        </p:txBody>
      </p:sp>
      <p:sp>
        <p:nvSpPr>
          <p:cNvPr id="1182" name="Google Shape;1182;p27"/>
          <p:cNvSpPr txBox="1"/>
          <p:nvPr/>
        </p:nvSpPr>
        <p:spPr>
          <a:xfrm>
            <a:off x="733349" y="9494215"/>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Primary Channel:</a:t>
            </a:r>
            <a:endParaRPr b="0" i="0" sz="1000" u="none" cap="none" strike="noStrike">
              <a:solidFill>
                <a:schemeClr val="dk1"/>
              </a:solidFill>
              <a:latin typeface="Calibri"/>
              <a:ea typeface="Calibri"/>
              <a:cs typeface="Calibri"/>
              <a:sym typeface="Calibri"/>
            </a:endParaRPr>
          </a:p>
        </p:txBody>
      </p:sp>
      <p:sp>
        <p:nvSpPr>
          <p:cNvPr id="1183" name="Google Shape;1183;p27"/>
          <p:cNvSpPr txBox="1"/>
          <p:nvPr/>
        </p:nvSpPr>
        <p:spPr>
          <a:xfrm>
            <a:off x="3323844" y="5564124"/>
            <a:ext cx="2186330"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No-damage requirement, smaller spaces, temporary solutions</a:t>
            </a:r>
            <a:endParaRPr b="0" i="0" sz="1000" u="none" cap="none" strike="noStrike">
              <a:solidFill>
                <a:schemeClr val="dk1"/>
              </a:solidFill>
              <a:latin typeface="Calibri"/>
              <a:ea typeface="Calibri"/>
              <a:cs typeface="Calibri"/>
              <a:sym typeface="Calibri"/>
            </a:endParaRPr>
          </a:p>
        </p:txBody>
      </p:sp>
      <p:sp>
        <p:nvSpPr>
          <p:cNvPr id="1184" name="Google Shape;1184;p27"/>
          <p:cNvSpPr txBox="1"/>
          <p:nvPr/>
        </p:nvSpPr>
        <p:spPr>
          <a:xfrm>
            <a:off x="3323844" y="6707124"/>
            <a:ext cx="11859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Amazon + Target</a:t>
            </a:r>
            <a:endParaRPr b="0" i="0" sz="1000" u="none" cap="none" strike="noStrike">
              <a:solidFill>
                <a:schemeClr val="dk1"/>
              </a:solidFill>
              <a:latin typeface="Calibri"/>
              <a:ea typeface="Calibri"/>
              <a:cs typeface="Calibri"/>
              <a:sym typeface="Calibri"/>
            </a:endParaRPr>
          </a:p>
        </p:txBody>
      </p:sp>
      <p:sp>
        <p:nvSpPr>
          <p:cNvPr id="1185" name="Google Shape;1185;p27"/>
          <p:cNvSpPr txBox="1"/>
          <p:nvPr/>
        </p:nvSpPr>
        <p:spPr>
          <a:xfrm>
            <a:off x="8982151" y="5564124"/>
            <a:ext cx="2214677"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Simplification focus, decluttering, long-term solutions</a:t>
            </a:r>
            <a:endParaRPr b="0" i="0" sz="1000" u="none" cap="none" strike="noStrike">
              <a:solidFill>
                <a:schemeClr val="dk1"/>
              </a:solidFill>
              <a:latin typeface="Calibri"/>
              <a:ea typeface="Calibri"/>
              <a:cs typeface="Calibri"/>
              <a:sym typeface="Calibri"/>
            </a:endParaRPr>
          </a:p>
        </p:txBody>
      </p:sp>
      <p:sp>
        <p:nvSpPr>
          <p:cNvPr id="1186" name="Google Shape;1186;p27"/>
          <p:cNvSpPr txBox="1"/>
          <p:nvPr/>
        </p:nvSpPr>
        <p:spPr>
          <a:xfrm>
            <a:off x="8982151" y="6707124"/>
            <a:ext cx="1377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HD/Lowe's premium</a:t>
            </a:r>
            <a:endParaRPr b="0" i="0" sz="1000" u="none" cap="none" strike="noStrike">
              <a:solidFill>
                <a:schemeClr val="dk1"/>
              </a:solidFill>
              <a:latin typeface="Calibri"/>
              <a:ea typeface="Calibri"/>
              <a:cs typeface="Calibri"/>
              <a:sym typeface="Calibri"/>
            </a:endParaRPr>
          </a:p>
        </p:txBody>
      </p:sp>
      <p:sp>
        <p:nvSpPr>
          <p:cNvPr id="1187" name="Google Shape;1187;p27"/>
          <p:cNvSpPr txBox="1"/>
          <p:nvPr/>
        </p:nvSpPr>
        <p:spPr>
          <a:xfrm>
            <a:off x="3323844" y="8351215"/>
            <a:ext cx="1996135"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Price-first decisions, quick-fix solutions, minimal investment</a:t>
            </a:r>
            <a:endParaRPr b="0" i="0" sz="1000" u="none" cap="none" strike="noStrike">
              <a:solidFill>
                <a:schemeClr val="dk1"/>
              </a:solidFill>
              <a:latin typeface="Calibri"/>
              <a:ea typeface="Calibri"/>
              <a:cs typeface="Calibri"/>
              <a:sym typeface="Calibri"/>
            </a:endParaRPr>
          </a:p>
        </p:txBody>
      </p:sp>
      <p:sp>
        <p:nvSpPr>
          <p:cNvPr id="1188" name="Google Shape;1188;p27"/>
          <p:cNvSpPr txBox="1"/>
          <p:nvPr/>
        </p:nvSpPr>
        <p:spPr>
          <a:xfrm>
            <a:off x="3323844" y="9494215"/>
            <a:ext cx="9957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Walmart mass</a:t>
            </a:r>
            <a:endParaRPr b="0" i="0" sz="1000" u="none" cap="none" strike="noStrike">
              <a:solidFill>
                <a:schemeClr val="dk1"/>
              </a:solidFill>
              <a:latin typeface="Calibri"/>
              <a:ea typeface="Calibri"/>
              <a:cs typeface="Calibri"/>
              <a:sym typeface="Calibri"/>
            </a:endParaRPr>
          </a:p>
        </p:txBody>
      </p:sp>
      <p:sp>
        <p:nvSpPr>
          <p:cNvPr id="1189" name="Google Shape;1189;p27"/>
          <p:cNvSpPr/>
          <p:nvPr/>
        </p:nvSpPr>
        <p:spPr>
          <a:xfrm>
            <a:off x="8982151" y="6116422"/>
            <a:ext cx="95098" cy="95098"/>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p:nvPr/>
        </p:nvSpPr>
        <p:spPr>
          <a:xfrm>
            <a:off x="3323844" y="9218066"/>
            <a:ext cx="95098" cy="95098"/>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7"/>
          <p:cNvSpPr txBox="1"/>
          <p:nvPr/>
        </p:nvSpPr>
        <p:spPr>
          <a:xfrm>
            <a:off x="3476549" y="6078931"/>
            <a:ext cx="633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Medium</a:t>
            </a:r>
            <a:endParaRPr b="0" i="0" sz="1000" u="none" cap="none" strike="noStrike">
              <a:solidFill>
                <a:schemeClr val="dk1"/>
              </a:solidFill>
              <a:latin typeface="Calibri"/>
              <a:ea typeface="Calibri"/>
              <a:cs typeface="Calibri"/>
              <a:sym typeface="Calibri"/>
            </a:endParaRPr>
          </a:p>
        </p:txBody>
      </p:sp>
      <p:sp>
        <p:nvSpPr>
          <p:cNvPr id="1192" name="Google Shape;1192;p27"/>
          <p:cNvSpPr txBox="1"/>
          <p:nvPr/>
        </p:nvSpPr>
        <p:spPr>
          <a:xfrm>
            <a:off x="3476549" y="6393485"/>
            <a:ext cx="633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Medium</a:t>
            </a:r>
            <a:endParaRPr b="0" i="0" sz="1000" u="none" cap="none" strike="noStrike">
              <a:solidFill>
                <a:schemeClr val="dk1"/>
              </a:solidFill>
              <a:latin typeface="Calibri"/>
              <a:ea typeface="Calibri"/>
              <a:cs typeface="Calibri"/>
              <a:sym typeface="Calibri"/>
            </a:endParaRPr>
          </a:p>
        </p:txBody>
      </p:sp>
      <p:sp>
        <p:nvSpPr>
          <p:cNvPr id="1193" name="Google Shape;1193;p27"/>
          <p:cNvSpPr txBox="1"/>
          <p:nvPr/>
        </p:nvSpPr>
        <p:spPr>
          <a:xfrm>
            <a:off x="9134856" y="6393485"/>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High</a:t>
            </a:r>
            <a:endParaRPr b="0" i="0" sz="1000" u="none" cap="none" strike="noStrike">
              <a:solidFill>
                <a:schemeClr val="dk1"/>
              </a:solidFill>
              <a:latin typeface="Calibri"/>
              <a:ea typeface="Calibri"/>
              <a:cs typeface="Calibri"/>
              <a:sym typeface="Calibri"/>
            </a:endParaRPr>
          </a:p>
        </p:txBody>
      </p:sp>
      <p:sp>
        <p:nvSpPr>
          <p:cNvPr id="1194" name="Google Shape;1194;p27"/>
          <p:cNvSpPr/>
          <p:nvPr/>
        </p:nvSpPr>
        <p:spPr>
          <a:xfrm>
            <a:off x="3323844" y="6116422"/>
            <a:ext cx="95098" cy="9509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7"/>
          <p:cNvSpPr/>
          <p:nvPr/>
        </p:nvSpPr>
        <p:spPr>
          <a:xfrm>
            <a:off x="3323844" y="6430975"/>
            <a:ext cx="95098" cy="9509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6" name="Google Shape;1196;p27"/>
          <p:cNvPicPr preferRelativeResize="0"/>
          <p:nvPr/>
        </p:nvPicPr>
        <p:blipFill rotWithShape="1">
          <a:blip r:embed="rId6">
            <a:alphaModFix/>
          </a:blip>
          <a:srcRect b="0" l="-1247780" r="-1247780" t="0"/>
          <a:stretch/>
        </p:blipFill>
        <p:spPr>
          <a:xfrm>
            <a:off x="6524244" y="4976165"/>
            <a:ext cx="267005" cy="9144"/>
          </a:xfrm>
          <a:prstGeom prst="rect">
            <a:avLst/>
          </a:prstGeom>
          <a:noFill/>
          <a:ln>
            <a:noFill/>
          </a:ln>
        </p:spPr>
      </p:pic>
      <p:sp>
        <p:nvSpPr>
          <p:cNvPr id="1197" name="Google Shape;1197;p27"/>
          <p:cNvSpPr txBox="1"/>
          <p:nvPr/>
        </p:nvSpPr>
        <p:spPr>
          <a:xfrm>
            <a:off x="9134856" y="6078931"/>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Low</a:t>
            </a:r>
            <a:endParaRPr b="0" i="0" sz="1000" u="none" cap="none" strike="noStrike">
              <a:solidFill>
                <a:schemeClr val="dk1"/>
              </a:solidFill>
              <a:latin typeface="Calibri"/>
              <a:ea typeface="Calibri"/>
              <a:cs typeface="Calibri"/>
              <a:sym typeface="Calibri"/>
            </a:endParaRPr>
          </a:p>
        </p:txBody>
      </p:sp>
      <p:sp>
        <p:nvSpPr>
          <p:cNvPr id="1198" name="Google Shape;1198;p27"/>
          <p:cNvSpPr txBox="1"/>
          <p:nvPr/>
        </p:nvSpPr>
        <p:spPr>
          <a:xfrm>
            <a:off x="3476549" y="9179662"/>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Low</a:t>
            </a:r>
            <a:endParaRPr b="0" i="0" sz="1000" u="none" cap="none" strike="noStrike">
              <a:solidFill>
                <a:schemeClr val="dk1"/>
              </a:solidFill>
              <a:latin typeface="Calibri"/>
              <a:ea typeface="Calibri"/>
              <a:cs typeface="Calibri"/>
              <a:sym typeface="Calibri"/>
            </a:endParaRPr>
          </a:p>
        </p:txBody>
      </p:sp>
      <p:sp>
        <p:nvSpPr>
          <p:cNvPr id="1199" name="Google Shape;1199;p27"/>
          <p:cNvSpPr/>
          <p:nvPr/>
        </p:nvSpPr>
        <p:spPr>
          <a:xfrm>
            <a:off x="8982151" y="6430975"/>
            <a:ext cx="95098" cy="95098"/>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0" name="Google Shape;1200;p27"/>
          <p:cNvPicPr preferRelativeResize="0"/>
          <p:nvPr/>
        </p:nvPicPr>
        <p:blipFill rotWithShape="1">
          <a:blip r:embed="rId7">
            <a:alphaModFix/>
          </a:blip>
          <a:srcRect b="0" l="-1286002" r="-1286002" t="0"/>
          <a:stretch/>
        </p:blipFill>
        <p:spPr>
          <a:xfrm>
            <a:off x="923544" y="7762342"/>
            <a:ext cx="152705" cy="9144"/>
          </a:xfrm>
          <a:prstGeom prst="rect">
            <a:avLst/>
          </a:prstGeom>
          <a:noFill/>
          <a:ln>
            <a:noFill/>
          </a:ln>
        </p:spPr>
      </p:pic>
      <p:sp>
        <p:nvSpPr>
          <p:cNvPr id="1201" name="Google Shape;1201;p27"/>
          <p:cNvSpPr txBox="1"/>
          <p:nvPr/>
        </p:nvSpPr>
        <p:spPr>
          <a:xfrm>
            <a:off x="3476549" y="8866022"/>
            <a:ext cx="747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Very High</a:t>
            </a:r>
            <a:endParaRPr b="0" i="0" sz="1000" u="none" cap="none" strike="noStrike">
              <a:solidFill>
                <a:schemeClr val="dk1"/>
              </a:solidFill>
              <a:latin typeface="Calibri"/>
              <a:ea typeface="Calibri"/>
              <a:cs typeface="Calibri"/>
              <a:sym typeface="Calibri"/>
            </a:endParaRPr>
          </a:p>
        </p:txBody>
      </p:sp>
      <p:sp>
        <p:nvSpPr>
          <p:cNvPr id="1202" name="Google Shape;1202;p27"/>
          <p:cNvSpPr/>
          <p:nvPr/>
        </p:nvSpPr>
        <p:spPr>
          <a:xfrm>
            <a:off x="3323844" y="8903513"/>
            <a:ext cx="95098" cy="95098"/>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7"/>
          <p:cNvSpPr/>
          <p:nvPr/>
        </p:nvSpPr>
        <p:spPr>
          <a:xfrm>
            <a:off x="533095" y="10065715"/>
            <a:ext cx="11125505" cy="1047902"/>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7"/>
          <p:cNvSpPr/>
          <p:nvPr/>
        </p:nvSpPr>
        <p:spPr>
          <a:xfrm>
            <a:off x="533095" y="10065715"/>
            <a:ext cx="38405" cy="10479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7"/>
          <p:cNvSpPr txBox="1"/>
          <p:nvPr/>
        </p:nvSpPr>
        <p:spPr>
          <a:xfrm>
            <a:off x="761695" y="10237622"/>
            <a:ext cx="13432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 HARD TRUTH</a:t>
            </a:r>
            <a:endParaRPr b="0" i="0" sz="1200" u="none" cap="none" strike="noStrike">
              <a:solidFill>
                <a:schemeClr val="dk1"/>
              </a:solidFill>
              <a:latin typeface="Calibri"/>
              <a:ea typeface="Calibri"/>
              <a:cs typeface="Calibri"/>
              <a:sym typeface="Calibri"/>
            </a:endParaRPr>
          </a:p>
        </p:txBody>
      </p:sp>
      <p:sp>
        <p:nvSpPr>
          <p:cNvPr id="1206" name="Google Shape;1206;p27"/>
          <p:cNvSpPr txBox="1"/>
          <p:nvPr/>
        </p:nvSpPr>
        <p:spPr>
          <a:xfrm>
            <a:off x="761695" y="10522915"/>
            <a:ext cx="10782605"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~68% of consumers (Professional Organizers + Suburban Families + Retirees) prioritize quality over price and shop premium channels, aligning with market revenue distribution (~65% HD/Lowe's).</a:t>
            </a:r>
            <a:endParaRPr b="0" i="0" sz="1200" u="none" cap="none" strike="noStrike">
              <a:solidFill>
                <a:schemeClr val="dk1"/>
              </a:solidFill>
              <a:latin typeface="Calibri"/>
              <a:ea typeface="Calibri"/>
              <a:cs typeface="Calibri"/>
              <a:sym typeface="Calibri"/>
            </a:endParaRPr>
          </a:p>
        </p:txBody>
      </p:sp>
      <p:sp>
        <p:nvSpPr>
          <p:cNvPr id="1207" name="Google Shape;1207;p27"/>
          <p:cNvSpPr txBox="1"/>
          <p:nvPr/>
        </p:nvSpPr>
        <p:spPr>
          <a:xfrm>
            <a:off x="7294169" y="11199571"/>
            <a:ext cx="4457700" cy="143561"/>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Segment analysis from video ethnography (n=571) and market weighting</a:t>
            </a:r>
            <a:endParaRPr b="0" i="0" sz="900" u="none" cap="none" strike="noStrike">
              <a:solidFill>
                <a:schemeClr val="dk1"/>
              </a:solidFill>
              <a:latin typeface="Calibri"/>
              <a:ea typeface="Calibri"/>
              <a:cs typeface="Calibri"/>
              <a:sym typeface="Calibri"/>
            </a:endParaRPr>
          </a:p>
        </p:txBody>
      </p:sp>
      <p:sp>
        <p:nvSpPr>
          <p:cNvPr id="1208" name="Google Shape;1208;p27"/>
          <p:cNvSpPr txBox="1"/>
          <p:nvPr/>
        </p:nvSpPr>
        <p:spPr>
          <a:xfrm>
            <a:off x="533095" y="11599164"/>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209" name="Google Shape;1209;p27"/>
          <p:cNvSpPr txBox="1"/>
          <p:nvPr/>
        </p:nvSpPr>
        <p:spPr>
          <a:xfrm>
            <a:off x="11516868" y="11599164"/>
            <a:ext cx="228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28"/>
          <p:cNvSpPr/>
          <p:nvPr/>
        </p:nvSpPr>
        <p:spPr>
          <a:xfrm>
            <a:off x="0" y="0"/>
            <a:ext cx="12191695" cy="77440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8"/>
          <p:cNvSpPr/>
          <p:nvPr/>
        </p:nvSpPr>
        <p:spPr>
          <a:xfrm>
            <a:off x="0" y="0"/>
            <a:ext cx="12191695" cy="77440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8"/>
          <p:cNvSpPr/>
          <p:nvPr/>
        </p:nvSpPr>
        <p:spPr>
          <a:xfrm>
            <a:off x="533095" y="457200"/>
            <a:ext cx="761695" cy="47549"/>
          </a:xfrm>
          <a:prstGeom prst="rect">
            <a:avLst/>
          </a:prstGeom>
          <a:solidFill>
            <a:srgbClr val="2C52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8"/>
          <p:cNvSpPr txBox="1"/>
          <p:nvPr/>
        </p:nvSpPr>
        <p:spPr>
          <a:xfrm>
            <a:off x="533095" y="780898"/>
            <a:ext cx="368686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Consumer Verbatims</a:t>
            </a:r>
            <a:endParaRPr b="0" i="0" sz="2700" u="none" cap="none" strike="noStrike">
              <a:solidFill>
                <a:schemeClr val="dk1"/>
              </a:solidFill>
              <a:latin typeface="Calibri"/>
              <a:ea typeface="Calibri"/>
              <a:cs typeface="Calibri"/>
              <a:sym typeface="Calibri"/>
            </a:endParaRPr>
          </a:p>
        </p:txBody>
      </p:sp>
      <p:sp>
        <p:nvSpPr>
          <p:cNvPr id="1219" name="Google Shape;1219;p28"/>
          <p:cNvSpPr/>
          <p:nvPr/>
        </p:nvSpPr>
        <p:spPr>
          <a:xfrm>
            <a:off x="533095" y="1628546"/>
            <a:ext cx="5257800" cy="2505456"/>
          </a:xfrm>
          <a:prstGeom prst="roundRect">
            <a:avLst>
              <a:gd fmla="val 1110" name="adj"/>
            </a:avLst>
          </a:prstGeom>
          <a:solidFill>
            <a:srgbClr val="F9FAFB"/>
          </a:solidFill>
          <a:ln>
            <a:noFill/>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8"/>
          <p:cNvSpPr/>
          <p:nvPr/>
        </p:nvSpPr>
        <p:spPr>
          <a:xfrm>
            <a:off x="533095" y="1628546"/>
            <a:ext cx="47549" cy="2505456"/>
          </a:xfrm>
          <a:prstGeom prst="rect">
            <a:avLst/>
          </a:prstGeom>
          <a:solidFill>
            <a:srgbClr val="4299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8"/>
          <p:cNvSpPr txBox="1"/>
          <p:nvPr/>
        </p:nvSpPr>
        <p:spPr>
          <a:xfrm>
            <a:off x="1000354" y="1876349"/>
            <a:ext cx="4625035" cy="10579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Open Sans"/>
              <a:buNone/>
            </a:pPr>
            <a:r>
              <a:rPr b="0" i="1" lang="en-US" sz="1300" u="none" cap="none" strike="noStrike">
                <a:solidFill>
                  <a:srgbClr val="111827"/>
                </a:solidFill>
                <a:latin typeface="Open Sans"/>
                <a:ea typeface="Open Sans"/>
                <a:cs typeface="Open Sans"/>
                <a:sym typeface="Open Sans"/>
              </a:rPr>
              <a:t>Command hooks left marks on the ceiling. We recently had some command hooks on the ceiling that did not release as easily as was advertised... Just the paper was torn from the ceiling.</a:t>
            </a:r>
            <a:endParaRPr b="0" i="0" sz="1300" u="none" cap="none" strike="noStrike">
              <a:solidFill>
                <a:schemeClr val="dk1"/>
              </a:solidFill>
              <a:latin typeface="Calibri"/>
              <a:ea typeface="Calibri"/>
              <a:cs typeface="Calibri"/>
              <a:sym typeface="Calibri"/>
            </a:endParaRPr>
          </a:p>
        </p:txBody>
      </p:sp>
      <p:sp>
        <p:nvSpPr>
          <p:cNvPr id="1222" name="Google Shape;1222;p28"/>
          <p:cNvSpPr/>
          <p:nvPr/>
        </p:nvSpPr>
        <p:spPr>
          <a:xfrm>
            <a:off x="847649" y="3087929"/>
            <a:ext cx="914400" cy="267005"/>
          </a:xfrm>
          <a:prstGeom prst="roundRect">
            <a:avLst>
              <a:gd fmla="val 48924" name="adj"/>
            </a:avLst>
          </a:prstGeom>
          <a:solidFill>
            <a:srgbClr val="EBF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8"/>
          <p:cNvSpPr txBox="1"/>
          <p:nvPr/>
        </p:nvSpPr>
        <p:spPr>
          <a:xfrm>
            <a:off x="942746" y="3135478"/>
            <a:ext cx="8174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282"/>
              </a:buClr>
              <a:buSzPts val="900"/>
              <a:buFont typeface="Inter"/>
              <a:buNone/>
            </a:pPr>
            <a:r>
              <a:rPr b="1" i="0" lang="en-US" sz="900" u="none" cap="none" strike="noStrike">
                <a:solidFill>
                  <a:srgbClr val="2C5282"/>
                </a:solidFill>
                <a:latin typeface="Inter"/>
                <a:ea typeface="Inter"/>
                <a:cs typeface="Inter"/>
                <a:sym typeface="Inter"/>
              </a:rPr>
              <a:t>Reddit r/DIY</a:t>
            </a:r>
            <a:endParaRPr b="0" i="0" sz="900" u="none" cap="none" strike="noStrike">
              <a:solidFill>
                <a:schemeClr val="dk1"/>
              </a:solidFill>
              <a:latin typeface="Calibri"/>
              <a:ea typeface="Calibri"/>
              <a:cs typeface="Calibri"/>
              <a:sym typeface="Calibri"/>
            </a:endParaRPr>
          </a:p>
        </p:txBody>
      </p:sp>
      <p:sp>
        <p:nvSpPr>
          <p:cNvPr id="1224" name="Google Shape;1224;p28"/>
          <p:cNvSpPr txBox="1"/>
          <p:nvPr/>
        </p:nvSpPr>
        <p:spPr>
          <a:xfrm>
            <a:off x="1814170" y="3135478"/>
            <a:ext cx="187452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WyattTehRobot, July 20, 2023</a:t>
            </a:r>
            <a:endParaRPr b="0" i="0" sz="900" u="none" cap="none" strike="noStrike">
              <a:solidFill>
                <a:schemeClr val="dk1"/>
              </a:solidFill>
              <a:latin typeface="Calibri"/>
              <a:ea typeface="Calibri"/>
              <a:cs typeface="Calibri"/>
              <a:sym typeface="Calibri"/>
            </a:endParaRPr>
          </a:p>
        </p:txBody>
      </p:sp>
      <p:sp>
        <p:nvSpPr>
          <p:cNvPr id="1225" name="Google Shape;1225;p28"/>
          <p:cNvSpPr txBox="1"/>
          <p:nvPr/>
        </p:nvSpPr>
        <p:spPr>
          <a:xfrm>
            <a:off x="847649" y="3416198"/>
            <a:ext cx="305592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900"/>
              <a:buFont typeface="Inter"/>
              <a:buNone/>
            </a:pPr>
            <a:r>
              <a:rPr b="0" i="0" lang="en-US" sz="900" u="none" cap="none" strike="noStrike">
                <a:solidFill>
                  <a:srgbClr val="4299E1"/>
                </a:solidFill>
                <a:latin typeface="Inter"/>
                <a:ea typeface="Inter"/>
                <a:cs typeface="Inter"/>
                <a:sym typeface="Inter"/>
              </a:rPr>
              <a:t>https://www.reddit.com/r/DIY/comments/154p7e8/</a:t>
            </a:r>
            <a:endParaRPr b="0" i="0" sz="900" u="none" cap="none" strike="noStrike">
              <a:solidFill>
                <a:schemeClr val="dk1"/>
              </a:solidFill>
              <a:latin typeface="Calibri"/>
              <a:ea typeface="Calibri"/>
              <a:cs typeface="Calibri"/>
              <a:sym typeface="Calibri"/>
            </a:endParaRPr>
          </a:p>
        </p:txBody>
      </p:sp>
      <p:sp>
        <p:nvSpPr>
          <p:cNvPr id="1226" name="Google Shape;1226;p28"/>
          <p:cNvSpPr/>
          <p:nvPr/>
        </p:nvSpPr>
        <p:spPr>
          <a:xfrm>
            <a:off x="847649" y="3668573"/>
            <a:ext cx="2238451" cy="228600"/>
          </a:xfrm>
          <a:prstGeom prst="roundRect">
            <a:avLst>
              <a:gd fmla="val 66667" name="adj"/>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8"/>
          <p:cNvSpPr txBox="1"/>
          <p:nvPr/>
        </p:nvSpPr>
        <p:spPr>
          <a:xfrm>
            <a:off x="923544" y="3706978"/>
            <a:ext cx="21717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Core "damage-free" promise violation</a:t>
            </a:r>
            <a:endParaRPr b="0" i="0" sz="900" u="none" cap="none" strike="noStrike">
              <a:solidFill>
                <a:schemeClr val="dk1"/>
              </a:solidFill>
              <a:latin typeface="Calibri"/>
              <a:ea typeface="Calibri"/>
              <a:cs typeface="Calibri"/>
              <a:sym typeface="Calibri"/>
            </a:endParaRPr>
          </a:p>
        </p:txBody>
      </p:sp>
      <p:sp>
        <p:nvSpPr>
          <p:cNvPr id="1228" name="Google Shape;1228;p28"/>
          <p:cNvSpPr/>
          <p:nvPr/>
        </p:nvSpPr>
        <p:spPr>
          <a:xfrm>
            <a:off x="533095" y="4354373"/>
            <a:ext cx="5257800" cy="1952244"/>
          </a:xfrm>
          <a:prstGeom prst="roundRect">
            <a:avLst>
              <a:gd fmla="val 1828" name="adj"/>
            </a:avLst>
          </a:prstGeom>
          <a:solidFill>
            <a:srgbClr val="F9FAFB"/>
          </a:solidFill>
          <a:ln>
            <a:noFill/>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8"/>
          <p:cNvSpPr/>
          <p:nvPr/>
        </p:nvSpPr>
        <p:spPr>
          <a:xfrm>
            <a:off x="533095" y="4354373"/>
            <a:ext cx="47549" cy="1952244"/>
          </a:xfrm>
          <a:prstGeom prst="rect">
            <a:avLst/>
          </a:prstGeom>
          <a:solidFill>
            <a:srgbClr val="4299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8"/>
          <p:cNvSpPr txBox="1"/>
          <p:nvPr/>
        </p:nvSpPr>
        <p:spPr>
          <a:xfrm>
            <a:off x="1000354" y="4602175"/>
            <a:ext cx="4625035" cy="5056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Open Sans"/>
              <a:buNone/>
            </a:pPr>
            <a:r>
              <a:rPr b="0" i="1" lang="en-US" sz="1300" u="none" cap="none" strike="noStrike">
                <a:solidFill>
                  <a:srgbClr val="111827"/>
                </a:solidFill>
                <a:latin typeface="Open Sans"/>
                <a:ea typeface="Open Sans"/>
                <a:cs typeface="Open Sans"/>
                <a:sym typeface="Open Sans"/>
              </a:rPr>
              <a:t>Not much you can do... the adhesive sticks to the paint; then the paint peels off the wall.</a:t>
            </a:r>
            <a:endParaRPr b="0" i="0" sz="1300" u="none" cap="none" strike="noStrike">
              <a:solidFill>
                <a:schemeClr val="dk1"/>
              </a:solidFill>
              <a:latin typeface="Calibri"/>
              <a:ea typeface="Calibri"/>
              <a:cs typeface="Calibri"/>
              <a:sym typeface="Calibri"/>
            </a:endParaRPr>
          </a:p>
        </p:txBody>
      </p:sp>
      <p:sp>
        <p:nvSpPr>
          <p:cNvPr id="1231" name="Google Shape;1231;p28"/>
          <p:cNvSpPr/>
          <p:nvPr/>
        </p:nvSpPr>
        <p:spPr>
          <a:xfrm>
            <a:off x="847649" y="5265115"/>
            <a:ext cx="1848002" cy="267005"/>
          </a:xfrm>
          <a:prstGeom prst="roundRect">
            <a:avLst>
              <a:gd fmla="val 48924" name="adj"/>
            </a:avLst>
          </a:prstGeom>
          <a:solidFill>
            <a:srgbClr val="EBF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8"/>
          <p:cNvSpPr txBox="1"/>
          <p:nvPr/>
        </p:nvSpPr>
        <p:spPr>
          <a:xfrm>
            <a:off x="942746" y="5312664"/>
            <a:ext cx="175107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282"/>
              </a:buClr>
              <a:buSzPts val="900"/>
              <a:buFont typeface="Inter"/>
              <a:buNone/>
            </a:pPr>
            <a:r>
              <a:rPr b="1" i="0" lang="en-US" sz="900" u="none" cap="none" strike="noStrike">
                <a:solidFill>
                  <a:srgbClr val="2C5282"/>
                </a:solidFill>
                <a:latin typeface="Inter"/>
                <a:ea typeface="Inter"/>
                <a:cs typeface="Inter"/>
                <a:sym typeface="Inter"/>
              </a:rPr>
              <a:t>Reddit r/HomeImprovement</a:t>
            </a:r>
            <a:endParaRPr b="0" i="0" sz="900" u="none" cap="none" strike="noStrike">
              <a:solidFill>
                <a:schemeClr val="dk1"/>
              </a:solidFill>
              <a:latin typeface="Calibri"/>
              <a:ea typeface="Calibri"/>
              <a:cs typeface="Calibri"/>
              <a:sym typeface="Calibri"/>
            </a:endParaRPr>
          </a:p>
        </p:txBody>
      </p:sp>
      <p:sp>
        <p:nvSpPr>
          <p:cNvPr id="1233" name="Google Shape;1233;p28"/>
          <p:cNvSpPr txBox="1"/>
          <p:nvPr/>
        </p:nvSpPr>
        <p:spPr>
          <a:xfrm>
            <a:off x="2745029" y="5312664"/>
            <a:ext cx="91257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October 2024</a:t>
            </a:r>
            <a:endParaRPr b="0" i="0" sz="900" u="none" cap="none" strike="noStrike">
              <a:solidFill>
                <a:schemeClr val="dk1"/>
              </a:solidFill>
              <a:latin typeface="Calibri"/>
              <a:ea typeface="Calibri"/>
              <a:cs typeface="Calibri"/>
              <a:sym typeface="Calibri"/>
            </a:endParaRPr>
          </a:p>
        </p:txBody>
      </p:sp>
      <p:sp>
        <p:nvSpPr>
          <p:cNvPr id="1234" name="Google Shape;1234;p28"/>
          <p:cNvSpPr txBox="1"/>
          <p:nvPr/>
        </p:nvSpPr>
        <p:spPr>
          <a:xfrm>
            <a:off x="847649" y="5594299"/>
            <a:ext cx="389351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900"/>
              <a:buFont typeface="Inter"/>
              <a:buNone/>
            </a:pPr>
            <a:r>
              <a:rPr b="0" i="0" lang="en-US" sz="900" u="none" cap="none" strike="noStrike">
                <a:solidFill>
                  <a:srgbClr val="4299E1"/>
                </a:solidFill>
                <a:latin typeface="Inter"/>
                <a:ea typeface="Inter"/>
                <a:cs typeface="Inter"/>
                <a:sym typeface="Inter"/>
              </a:rPr>
              <a:t>https://www.reddit.com/r/HomeImprovement/comments/1n92jfo/</a:t>
            </a:r>
            <a:endParaRPr b="0" i="0" sz="900" u="none" cap="none" strike="noStrike">
              <a:solidFill>
                <a:schemeClr val="dk1"/>
              </a:solidFill>
              <a:latin typeface="Calibri"/>
              <a:ea typeface="Calibri"/>
              <a:cs typeface="Calibri"/>
              <a:sym typeface="Calibri"/>
            </a:endParaRPr>
          </a:p>
        </p:txBody>
      </p:sp>
      <p:sp>
        <p:nvSpPr>
          <p:cNvPr id="1235" name="Google Shape;1235;p28"/>
          <p:cNvSpPr/>
          <p:nvPr/>
        </p:nvSpPr>
        <p:spPr>
          <a:xfrm>
            <a:off x="847649" y="5846674"/>
            <a:ext cx="3047695" cy="228600"/>
          </a:xfrm>
          <a:prstGeom prst="roundRect">
            <a:avLst>
              <a:gd fmla="val 66667" name="adj"/>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8"/>
          <p:cNvSpPr txBox="1"/>
          <p:nvPr/>
        </p:nvSpPr>
        <p:spPr>
          <a:xfrm>
            <a:off x="923544" y="5884164"/>
            <a:ext cx="29818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Attribution problem (paint quality vs adhesive failure)</a:t>
            </a:r>
            <a:endParaRPr b="0" i="0" sz="900" u="none" cap="none" strike="noStrike">
              <a:solidFill>
                <a:schemeClr val="dk1"/>
              </a:solidFill>
              <a:latin typeface="Calibri"/>
              <a:ea typeface="Calibri"/>
              <a:cs typeface="Calibri"/>
              <a:sym typeface="Calibri"/>
            </a:endParaRPr>
          </a:p>
        </p:txBody>
      </p:sp>
      <p:sp>
        <p:nvSpPr>
          <p:cNvPr id="1237" name="Google Shape;1237;p28"/>
          <p:cNvSpPr/>
          <p:nvPr/>
        </p:nvSpPr>
        <p:spPr>
          <a:xfrm>
            <a:off x="6400800" y="1628546"/>
            <a:ext cx="5257800" cy="2229307"/>
          </a:xfrm>
          <a:prstGeom prst="roundRect">
            <a:avLst>
              <a:gd fmla="val 1402" name="adj"/>
            </a:avLst>
          </a:prstGeom>
          <a:solidFill>
            <a:srgbClr val="F9FAFB"/>
          </a:solidFill>
          <a:ln>
            <a:noFill/>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8"/>
          <p:cNvSpPr/>
          <p:nvPr/>
        </p:nvSpPr>
        <p:spPr>
          <a:xfrm>
            <a:off x="6400800" y="1628546"/>
            <a:ext cx="47549" cy="2229307"/>
          </a:xfrm>
          <a:prstGeom prst="rect">
            <a:avLst/>
          </a:prstGeom>
          <a:solidFill>
            <a:srgbClr val="4299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8"/>
          <p:cNvSpPr txBox="1"/>
          <p:nvPr/>
        </p:nvSpPr>
        <p:spPr>
          <a:xfrm>
            <a:off x="6867144" y="1876349"/>
            <a:ext cx="4644238"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Open Sans"/>
              <a:buNone/>
            </a:pPr>
            <a:r>
              <a:rPr b="0" i="1" lang="en-US" sz="1300" u="none" cap="none" strike="noStrike">
                <a:solidFill>
                  <a:srgbClr val="111827"/>
                </a:solidFill>
                <a:latin typeface="Open Sans"/>
                <a:ea typeface="Open Sans"/>
                <a:cs typeface="Open Sans"/>
                <a:sym typeface="Open Sans"/>
              </a:rPr>
              <a:t>3M Command large 5lb Hooks fell along with Ikea curtain and rod, made me jump from sleep... only some wall paint fell... this truly gave me trauma.</a:t>
            </a:r>
            <a:endParaRPr b="0" i="0" sz="1300" u="none" cap="none" strike="noStrike">
              <a:solidFill>
                <a:schemeClr val="dk1"/>
              </a:solidFill>
              <a:latin typeface="Calibri"/>
              <a:ea typeface="Calibri"/>
              <a:cs typeface="Calibri"/>
              <a:sym typeface="Calibri"/>
            </a:endParaRPr>
          </a:p>
        </p:txBody>
      </p:sp>
      <p:sp>
        <p:nvSpPr>
          <p:cNvPr id="1240" name="Google Shape;1240;p28"/>
          <p:cNvSpPr/>
          <p:nvPr/>
        </p:nvSpPr>
        <p:spPr>
          <a:xfrm>
            <a:off x="6715354" y="2813609"/>
            <a:ext cx="914400" cy="267005"/>
          </a:xfrm>
          <a:prstGeom prst="roundRect">
            <a:avLst>
              <a:gd fmla="val 48924" name="adj"/>
            </a:avLst>
          </a:prstGeom>
          <a:solidFill>
            <a:srgbClr val="EBF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8"/>
          <p:cNvSpPr txBox="1"/>
          <p:nvPr/>
        </p:nvSpPr>
        <p:spPr>
          <a:xfrm>
            <a:off x="6810451" y="2861158"/>
            <a:ext cx="8174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282"/>
              </a:buClr>
              <a:buSzPts val="900"/>
              <a:buFont typeface="Inter"/>
              <a:buNone/>
            </a:pPr>
            <a:r>
              <a:rPr b="1" i="0" lang="en-US" sz="900" u="none" cap="none" strike="noStrike">
                <a:solidFill>
                  <a:srgbClr val="2C5282"/>
                </a:solidFill>
                <a:latin typeface="Inter"/>
                <a:ea typeface="Inter"/>
                <a:cs typeface="Inter"/>
                <a:sym typeface="Inter"/>
              </a:rPr>
              <a:t>Reddit r/DIY</a:t>
            </a:r>
            <a:endParaRPr b="0" i="0" sz="900" u="none" cap="none" strike="noStrike">
              <a:solidFill>
                <a:schemeClr val="dk1"/>
              </a:solidFill>
              <a:latin typeface="Calibri"/>
              <a:ea typeface="Calibri"/>
              <a:cs typeface="Calibri"/>
              <a:sym typeface="Calibri"/>
            </a:endParaRPr>
          </a:p>
        </p:txBody>
      </p:sp>
      <p:sp>
        <p:nvSpPr>
          <p:cNvPr id="1242" name="Google Shape;1242;p28"/>
          <p:cNvSpPr txBox="1"/>
          <p:nvPr/>
        </p:nvSpPr>
        <p:spPr>
          <a:xfrm>
            <a:off x="7680960" y="2861158"/>
            <a:ext cx="1702613"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simochiology, July 17, 2023</a:t>
            </a:r>
            <a:endParaRPr b="0" i="0" sz="900" u="none" cap="none" strike="noStrike">
              <a:solidFill>
                <a:schemeClr val="dk1"/>
              </a:solidFill>
              <a:latin typeface="Calibri"/>
              <a:ea typeface="Calibri"/>
              <a:cs typeface="Calibri"/>
              <a:sym typeface="Calibri"/>
            </a:endParaRPr>
          </a:p>
        </p:txBody>
      </p:sp>
      <p:sp>
        <p:nvSpPr>
          <p:cNvPr id="1243" name="Google Shape;1243;p28"/>
          <p:cNvSpPr txBox="1"/>
          <p:nvPr/>
        </p:nvSpPr>
        <p:spPr>
          <a:xfrm>
            <a:off x="6715354" y="3141878"/>
            <a:ext cx="301752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900"/>
              <a:buFont typeface="Inter"/>
              <a:buNone/>
            </a:pPr>
            <a:r>
              <a:rPr b="0" i="0" lang="en-US" sz="900" u="none" cap="none" strike="noStrike">
                <a:solidFill>
                  <a:srgbClr val="4299E1"/>
                </a:solidFill>
                <a:latin typeface="Inter"/>
                <a:ea typeface="Inter"/>
                <a:cs typeface="Inter"/>
                <a:sym typeface="Inter"/>
              </a:rPr>
              <a:t>https://www.reddit.com/r/DIY/comments/151nhse/</a:t>
            </a:r>
            <a:endParaRPr b="0" i="0" sz="900" u="none" cap="none" strike="noStrike">
              <a:solidFill>
                <a:schemeClr val="dk1"/>
              </a:solidFill>
              <a:latin typeface="Calibri"/>
              <a:ea typeface="Calibri"/>
              <a:cs typeface="Calibri"/>
              <a:sym typeface="Calibri"/>
            </a:endParaRPr>
          </a:p>
        </p:txBody>
      </p:sp>
      <p:sp>
        <p:nvSpPr>
          <p:cNvPr id="1244" name="Google Shape;1244;p28"/>
          <p:cNvSpPr/>
          <p:nvPr/>
        </p:nvSpPr>
        <p:spPr>
          <a:xfrm>
            <a:off x="6715354" y="3394253"/>
            <a:ext cx="2115007" cy="228600"/>
          </a:xfrm>
          <a:prstGeom prst="roundRect">
            <a:avLst>
              <a:gd fmla="val 66667" name="adj"/>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8"/>
          <p:cNvSpPr txBox="1"/>
          <p:nvPr/>
        </p:nvSpPr>
        <p:spPr>
          <a:xfrm>
            <a:off x="6791249" y="3432658"/>
            <a:ext cx="2048256"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Weight capacity + emotional impact</a:t>
            </a:r>
            <a:endParaRPr b="0" i="0" sz="900" u="none" cap="none" strike="noStrike">
              <a:solidFill>
                <a:schemeClr val="dk1"/>
              </a:solidFill>
              <a:latin typeface="Calibri"/>
              <a:ea typeface="Calibri"/>
              <a:cs typeface="Calibri"/>
              <a:sym typeface="Calibri"/>
            </a:endParaRPr>
          </a:p>
        </p:txBody>
      </p:sp>
      <p:sp>
        <p:nvSpPr>
          <p:cNvPr id="1246" name="Google Shape;1246;p28"/>
          <p:cNvSpPr/>
          <p:nvPr/>
        </p:nvSpPr>
        <p:spPr>
          <a:xfrm>
            <a:off x="6400800" y="4080053"/>
            <a:ext cx="5257800" cy="2257654"/>
          </a:xfrm>
          <a:prstGeom prst="roundRect">
            <a:avLst>
              <a:gd fmla="val 1367" name="adj"/>
            </a:avLst>
          </a:prstGeom>
          <a:solidFill>
            <a:srgbClr val="F9FAFB"/>
          </a:solidFill>
          <a:ln>
            <a:noFill/>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8"/>
          <p:cNvSpPr/>
          <p:nvPr/>
        </p:nvSpPr>
        <p:spPr>
          <a:xfrm>
            <a:off x="6400800" y="4080053"/>
            <a:ext cx="47549" cy="2257654"/>
          </a:xfrm>
          <a:prstGeom prst="rect">
            <a:avLst/>
          </a:prstGeom>
          <a:solidFill>
            <a:srgbClr val="4299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8"/>
          <p:cNvSpPr txBox="1"/>
          <p:nvPr/>
        </p:nvSpPr>
        <p:spPr>
          <a:xfrm>
            <a:off x="6867144" y="4327855"/>
            <a:ext cx="4614977" cy="10579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Open Sans"/>
              <a:buNone/>
            </a:pPr>
            <a:r>
              <a:rPr b="0" i="1" lang="en-US" sz="1300" u="none" cap="none" strike="noStrike">
                <a:solidFill>
                  <a:srgbClr val="111827"/>
                </a:solidFill>
                <a:latin typeface="Open Sans"/>
                <a:ea typeface="Open Sans"/>
                <a:cs typeface="Open Sans"/>
                <a:sym typeface="Open Sans"/>
              </a:rPr>
              <a:t>Command strip hooks tend to take the paint with them when you pull them off... My current lease specifies NO command strips, but small picture-hanging nails are fine.</a:t>
            </a:r>
            <a:endParaRPr b="0" i="0" sz="1300" u="none" cap="none" strike="noStrike">
              <a:solidFill>
                <a:schemeClr val="dk1"/>
              </a:solidFill>
              <a:latin typeface="Calibri"/>
              <a:ea typeface="Calibri"/>
              <a:cs typeface="Calibri"/>
              <a:sym typeface="Calibri"/>
            </a:endParaRPr>
          </a:p>
        </p:txBody>
      </p:sp>
      <p:sp>
        <p:nvSpPr>
          <p:cNvPr id="1249" name="Google Shape;1249;p28"/>
          <p:cNvSpPr/>
          <p:nvPr/>
        </p:nvSpPr>
        <p:spPr>
          <a:xfrm>
            <a:off x="6715354" y="5539435"/>
            <a:ext cx="580644" cy="267005"/>
          </a:xfrm>
          <a:prstGeom prst="roundRect">
            <a:avLst>
              <a:gd fmla="val 48924" name="adj"/>
            </a:avLst>
          </a:prstGeom>
          <a:solidFill>
            <a:srgbClr val="EBF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8"/>
          <p:cNvSpPr txBox="1"/>
          <p:nvPr/>
        </p:nvSpPr>
        <p:spPr>
          <a:xfrm>
            <a:off x="6810451" y="5586984"/>
            <a:ext cx="4837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282"/>
              </a:buClr>
              <a:buSzPts val="900"/>
              <a:buFont typeface="Inter"/>
              <a:buNone/>
            </a:pPr>
            <a:r>
              <a:rPr b="1" i="0" lang="en-US" sz="900" u="none" cap="none" strike="noStrike">
                <a:solidFill>
                  <a:srgbClr val="2C5282"/>
                </a:solidFill>
                <a:latin typeface="Inter"/>
                <a:ea typeface="Inter"/>
                <a:cs typeface="Inter"/>
                <a:sym typeface="Inter"/>
              </a:rPr>
              <a:t>Reddit</a:t>
            </a:r>
            <a:endParaRPr b="0" i="0" sz="900" u="none" cap="none" strike="noStrike">
              <a:solidFill>
                <a:schemeClr val="dk1"/>
              </a:solidFill>
              <a:latin typeface="Calibri"/>
              <a:ea typeface="Calibri"/>
              <a:cs typeface="Calibri"/>
              <a:sym typeface="Calibri"/>
            </a:endParaRPr>
          </a:p>
        </p:txBody>
      </p:sp>
      <p:sp>
        <p:nvSpPr>
          <p:cNvPr id="1251" name="Google Shape;1251;p28"/>
          <p:cNvSpPr txBox="1"/>
          <p:nvPr/>
        </p:nvSpPr>
        <p:spPr>
          <a:xfrm>
            <a:off x="7346290" y="5586984"/>
            <a:ext cx="209397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Multiple threads (25-30 mentions)</a:t>
            </a:r>
            <a:endParaRPr b="0" i="0" sz="900" u="none" cap="none" strike="noStrike">
              <a:solidFill>
                <a:schemeClr val="dk1"/>
              </a:solidFill>
              <a:latin typeface="Calibri"/>
              <a:ea typeface="Calibri"/>
              <a:cs typeface="Calibri"/>
              <a:sym typeface="Calibri"/>
            </a:endParaRPr>
          </a:p>
        </p:txBody>
      </p:sp>
      <p:sp>
        <p:nvSpPr>
          <p:cNvPr id="1252" name="Google Shape;1252;p28"/>
          <p:cNvSpPr/>
          <p:nvPr/>
        </p:nvSpPr>
        <p:spPr>
          <a:xfrm>
            <a:off x="6715354" y="5877763"/>
            <a:ext cx="3552444" cy="228600"/>
          </a:xfrm>
          <a:prstGeom prst="roundRect">
            <a:avLst>
              <a:gd fmla="val 66667" name="adj"/>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8"/>
          <p:cNvSpPr txBox="1"/>
          <p:nvPr/>
        </p:nvSpPr>
        <p:spPr>
          <a:xfrm>
            <a:off x="6791249" y="5916168"/>
            <a:ext cx="3486607"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Target market paradox - Landlords prefer nails over Command</a:t>
            </a:r>
            <a:endParaRPr b="0" i="0" sz="900" u="none" cap="none" strike="noStrike">
              <a:solidFill>
                <a:schemeClr val="dk1"/>
              </a:solidFill>
              <a:latin typeface="Calibri"/>
              <a:ea typeface="Calibri"/>
              <a:cs typeface="Calibri"/>
              <a:sym typeface="Calibri"/>
            </a:endParaRPr>
          </a:p>
        </p:txBody>
      </p:sp>
      <p:sp>
        <p:nvSpPr>
          <p:cNvPr id="1254" name="Google Shape;1254;p28"/>
          <p:cNvSpPr txBox="1"/>
          <p:nvPr/>
        </p:nvSpPr>
        <p:spPr>
          <a:xfrm>
            <a:off x="533095" y="6915607"/>
            <a:ext cx="389351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Consumer comments from social_media_posts_final.json</a:t>
            </a:r>
            <a:endParaRPr b="0" i="0" sz="900" u="none" cap="none" strike="noStrike">
              <a:solidFill>
                <a:schemeClr val="dk1"/>
              </a:solidFill>
              <a:latin typeface="Calibri"/>
              <a:ea typeface="Calibri"/>
              <a:cs typeface="Calibri"/>
              <a:sym typeface="Calibri"/>
            </a:endParaRPr>
          </a:p>
        </p:txBody>
      </p:sp>
      <p:sp>
        <p:nvSpPr>
          <p:cNvPr id="1255" name="Google Shape;1255;p28"/>
          <p:cNvSpPr txBox="1"/>
          <p:nvPr/>
        </p:nvSpPr>
        <p:spPr>
          <a:xfrm>
            <a:off x="533095" y="7329830"/>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256" name="Google Shape;1256;p28"/>
          <p:cNvSpPr txBox="1"/>
          <p:nvPr/>
        </p:nvSpPr>
        <p:spPr>
          <a:xfrm>
            <a:off x="11505895" y="7329830"/>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29"/>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9"/>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9"/>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9"/>
          <p:cNvSpPr txBox="1"/>
          <p:nvPr/>
        </p:nvSpPr>
        <p:spPr>
          <a:xfrm>
            <a:off x="533095" y="780898"/>
            <a:ext cx="413400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Unmet Needs Synthesis</a:t>
            </a:r>
            <a:endParaRPr b="0" i="0" sz="2700" u="none" cap="none" strike="noStrike">
              <a:solidFill>
                <a:schemeClr val="dk1"/>
              </a:solidFill>
              <a:latin typeface="Calibri"/>
              <a:ea typeface="Calibri"/>
              <a:cs typeface="Calibri"/>
              <a:sym typeface="Calibri"/>
            </a:endParaRPr>
          </a:p>
        </p:txBody>
      </p:sp>
      <p:sp>
        <p:nvSpPr>
          <p:cNvPr id="1266" name="Google Shape;1266;p29"/>
          <p:cNvSpPr txBox="1"/>
          <p:nvPr/>
        </p:nvSpPr>
        <p:spPr>
          <a:xfrm>
            <a:off x="533095" y="1638605"/>
            <a:ext cx="1591056"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 HIGH PRIORITY NEEDS</a:t>
            </a:r>
            <a:endParaRPr b="0" i="0" sz="900" u="none" cap="none" strike="noStrike">
              <a:solidFill>
                <a:schemeClr val="dk1"/>
              </a:solidFill>
              <a:latin typeface="Calibri"/>
              <a:ea typeface="Calibri"/>
              <a:cs typeface="Calibri"/>
              <a:sym typeface="Calibri"/>
            </a:endParaRPr>
          </a:p>
        </p:txBody>
      </p:sp>
      <p:sp>
        <p:nvSpPr>
          <p:cNvPr id="1267" name="Google Shape;1267;p29"/>
          <p:cNvSpPr/>
          <p:nvPr/>
        </p:nvSpPr>
        <p:spPr>
          <a:xfrm>
            <a:off x="533095" y="1914754"/>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9"/>
          <p:cNvSpPr txBox="1"/>
          <p:nvPr/>
        </p:nvSpPr>
        <p:spPr>
          <a:xfrm>
            <a:off x="634594" y="1933956"/>
            <a:ext cx="1810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pic>
        <p:nvPicPr>
          <p:cNvPr descr="preencoded.png" id="1269" name="Google Shape;1269;p29"/>
          <p:cNvPicPr preferRelativeResize="0"/>
          <p:nvPr/>
        </p:nvPicPr>
        <p:blipFill rotWithShape="1">
          <a:blip r:embed="rId3">
            <a:alphaModFix/>
          </a:blip>
          <a:srcRect b="0" l="0" r="0" t="0"/>
          <a:stretch/>
        </p:blipFill>
        <p:spPr>
          <a:xfrm>
            <a:off x="961949" y="1954987"/>
            <a:ext cx="171907" cy="171907"/>
          </a:xfrm>
          <a:prstGeom prst="rect">
            <a:avLst/>
          </a:prstGeom>
          <a:noFill/>
          <a:ln>
            <a:noFill/>
          </a:ln>
        </p:spPr>
      </p:pic>
      <p:sp>
        <p:nvSpPr>
          <p:cNvPr id="1270" name="Google Shape;1270;p29"/>
          <p:cNvSpPr txBox="1"/>
          <p:nvPr/>
        </p:nvSpPr>
        <p:spPr>
          <a:xfrm>
            <a:off x="1295705" y="1943100"/>
            <a:ext cx="3929177"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Damage-free, heavy-duty mounting for garage extremes</a:t>
            </a:r>
            <a:endParaRPr b="0" i="0" sz="1300" u="none" cap="none" strike="noStrike">
              <a:solidFill>
                <a:schemeClr val="dk1"/>
              </a:solidFill>
              <a:latin typeface="Calibri"/>
              <a:ea typeface="Calibri"/>
              <a:cs typeface="Calibri"/>
              <a:sym typeface="Calibri"/>
            </a:endParaRPr>
          </a:p>
        </p:txBody>
      </p:sp>
      <p:sp>
        <p:nvSpPr>
          <p:cNvPr id="1271" name="Google Shape;1271;p29"/>
          <p:cNvSpPr txBox="1"/>
          <p:nvPr/>
        </p:nvSpPr>
        <p:spPr>
          <a:xfrm>
            <a:off x="1295705" y="2491740"/>
            <a:ext cx="3900830"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31% of market (renters/owners) need 25-50 lb capacity without drilling in garage conditions</a:t>
            </a:r>
            <a:endParaRPr b="0" i="0" sz="1300" u="none" cap="none" strike="noStrike">
              <a:solidFill>
                <a:schemeClr val="dk1"/>
              </a:solidFill>
              <a:latin typeface="Calibri"/>
              <a:ea typeface="Calibri"/>
              <a:cs typeface="Calibri"/>
              <a:sym typeface="Calibri"/>
            </a:endParaRPr>
          </a:p>
        </p:txBody>
      </p:sp>
      <p:sp>
        <p:nvSpPr>
          <p:cNvPr id="1272" name="Google Shape;1272;p29"/>
          <p:cNvSpPr/>
          <p:nvPr/>
        </p:nvSpPr>
        <p:spPr>
          <a:xfrm>
            <a:off x="533095" y="3278124"/>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9"/>
          <p:cNvSpPr txBox="1"/>
          <p:nvPr/>
        </p:nvSpPr>
        <p:spPr>
          <a:xfrm>
            <a:off x="619049" y="3297326"/>
            <a:ext cx="2103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pic>
        <p:nvPicPr>
          <p:cNvPr descr="preencoded.png" id="1274" name="Google Shape;1274;p29"/>
          <p:cNvPicPr preferRelativeResize="0"/>
          <p:nvPr/>
        </p:nvPicPr>
        <p:blipFill rotWithShape="1">
          <a:blip r:embed="rId4">
            <a:alphaModFix/>
          </a:blip>
          <a:srcRect b="0" l="-1064" r="-1064" t="0"/>
          <a:stretch/>
        </p:blipFill>
        <p:spPr>
          <a:xfrm>
            <a:off x="938174" y="3319272"/>
            <a:ext cx="219456" cy="171907"/>
          </a:xfrm>
          <a:prstGeom prst="rect">
            <a:avLst/>
          </a:prstGeom>
          <a:noFill/>
          <a:ln>
            <a:noFill/>
          </a:ln>
        </p:spPr>
      </p:pic>
      <p:sp>
        <p:nvSpPr>
          <p:cNvPr id="1275" name="Google Shape;1275;p29"/>
          <p:cNvSpPr txBox="1"/>
          <p:nvPr/>
        </p:nvSpPr>
        <p:spPr>
          <a:xfrm>
            <a:off x="1295705" y="3307385"/>
            <a:ext cx="262432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Proof of load-bearing capacity</a:t>
            </a:r>
            <a:endParaRPr b="0" i="0" sz="1300" u="none" cap="none" strike="noStrike">
              <a:solidFill>
                <a:schemeClr val="dk1"/>
              </a:solidFill>
              <a:latin typeface="Calibri"/>
              <a:ea typeface="Calibri"/>
              <a:cs typeface="Calibri"/>
              <a:sym typeface="Calibri"/>
            </a:endParaRPr>
          </a:p>
        </p:txBody>
      </p:sp>
      <p:sp>
        <p:nvSpPr>
          <p:cNvPr id="1276" name="Google Shape;1276;p29"/>
          <p:cNvSpPr txBox="1"/>
          <p:nvPr/>
        </p:nvSpPr>
        <p:spPr>
          <a:xfrm>
            <a:off x="1295705" y="3581705"/>
            <a:ext cx="429127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Demonstrations, in-store pull tests, and transparent testing methods rather than marketing claims</a:t>
            </a:r>
            <a:endParaRPr b="0" i="0" sz="1300" u="none" cap="none" strike="noStrike">
              <a:solidFill>
                <a:schemeClr val="dk1"/>
              </a:solidFill>
              <a:latin typeface="Calibri"/>
              <a:ea typeface="Calibri"/>
              <a:cs typeface="Calibri"/>
              <a:sym typeface="Calibri"/>
            </a:endParaRPr>
          </a:p>
        </p:txBody>
      </p:sp>
      <p:sp>
        <p:nvSpPr>
          <p:cNvPr id="1277" name="Google Shape;1277;p29"/>
          <p:cNvSpPr/>
          <p:nvPr/>
        </p:nvSpPr>
        <p:spPr>
          <a:xfrm>
            <a:off x="533095" y="4368089"/>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9"/>
          <p:cNvSpPr txBox="1"/>
          <p:nvPr/>
        </p:nvSpPr>
        <p:spPr>
          <a:xfrm>
            <a:off x="618134" y="4387291"/>
            <a:ext cx="2194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pic>
        <p:nvPicPr>
          <p:cNvPr descr="preencoded.png" id="1279" name="Google Shape;1279;p29"/>
          <p:cNvPicPr preferRelativeResize="0"/>
          <p:nvPr/>
        </p:nvPicPr>
        <p:blipFill rotWithShape="1">
          <a:blip r:embed="rId5">
            <a:alphaModFix/>
          </a:blip>
          <a:srcRect b="-840" l="0" r="0" t="-841"/>
          <a:stretch/>
        </p:blipFill>
        <p:spPr>
          <a:xfrm>
            <a:off x="952805" y="4408322"/>
            <a:ext cx="190195" cy="171907"/>
          </a:xfrm>
          <a:prstGeom prst="rect">
            <a:avLst/>
          </a:prstGeom>
          <a:noFill/>
          <a:ln>
            <a:noFill/>
          </a:ln>
        </p:spPr>
      </p:pic>
      <p:sp>
        <p:nvSpPr>
          <p:cNvPr id="1280" name="Google Shape;1280;p29"/>
          <p:cNvSpPr txBox="1"/>
          <p:nvPr/>
        </p:nvSpPr>
        <p:spPr>
          <a:xfrm>
            <a:off x="1295705" y="4396435"/>
            <a:ext cx="3710635"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Simple, tool-free installation for non-experts</a:t>
            </a:r>
            <a:endParaRPr b="0" i="0" sz="1300" u="none" cap="none" strike="noStrike">
              <a:solidFill>
                <a:schemeClr val="dk1"/>
              </a:solidFill>
              <a:latin typeface="Calibri"/>
              <a:ea typeface="Calibri"/>
              <a:cs typeface="Calibri"/>
              <a:sym typeface="Calibri"/>
            </a:endParaRPr>
          </a:p>
        </p:txBody>
      </p:sp>
      <p:sp>
        <p:nvSpPr>
          <p:cNvPr id="1281" name="Google Shape;1281;p29"/>
          <p:cNvSpPr txBox="1"/>
          <p:nvPr/>
        </p:nvSpPr>
        <p:spPr>
          <a:xfrm>
            <a:off x="1295705" y="4670755"/>
            <a:ext cx="4472330"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64% cite installation as primary barrier; "should be 10 minutes, took 2 hours"</a:t>
            </a:r>
            <a:endParaRPr b="0" i="0" sz="1300" u="none" cap="none" strike="noStrike">
              <a:solidFill>
                <a:schemeClr val="dk1"/>
              </a:solidFill>
              <a:latin typeface="Calibri"/>
              <a:ea typeface="Calibri"/>
              <a:cs typeface="Calibri"/>
              <a:sym typeface="Calibri"/>
            </a:endParaRPr>
          </a:p>
        </p:txBody>
      </p:sp>
      <p:sp>
        <p:nvSpPr>
          <p:cNvPr id="1282" name="Google Shape;1282;p29"/>
          <p:cNvSpPr txBox="1"/>
          <p:nvPr/>
        </p:nvSpPr>
        <p:spPr>
          <a:xfrm>
            <a:off x="6476695" y="1638605"/>
            <a:ext cx="1743761"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 SYSTEM REQUIREMENTS</a:t>
            </a:r>
            <a:endParaRPr b="0" i="0" sz="900" u="none" cap="none" strike="noStrike">
              <a:solidFill>
                <a:schemeClr val="dk1"/>
              </a:solidFill>
              <a:latin typeface="Calibri"/>
              <a:ea typeface="Calibri"/>
              <a:cs typeface="Calibri"/>
              <a:sym typeface="Calibri"/>
            </a:endParaRPr>
          </a:p>
        </p:txBody>
      </p:sp>
      <p:sp>
        <p:nvSpPr>
          <p:cNvPr id="1283" name="Google Shape;1283;p29"/>
          <p:cNvSpPr/>
          <p:nvPr/>
        </p:nvSpPr>
        <p:spPr>
          <a:xfrm>
            <a:off x="6476695" y="1914754"/>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9"/>
          <p:cNvSpPr txBox="1"/>
          <p:nvPr/>
        </p:nvSpPr>
        <p:spPr>
          <a:xfrm>
            <a:off x="6559906" y="1933956"/>
            <a:ext cx="2194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pic>
        <p:nvPicPr>
          <p:cNvPr descr="preencoded.png" id="1285" name="Google Shape;1285;p29"/>
          <p:cNvPicPr preferRelativeResize="0"/>
          <p:nvPr/>
        </p:nvPicPr>
        <p:blipFill rotWithShape="1">
          <a:blip r:embed="rId6">
            <a:alphaModFix/>
          </a:blip>
          <a:srcRect b="0" l="0" r="0" t="0"/>
          <a:stretch/>
        </p:blipFill>
        <p:spPr>
          <a:xfrm>
            <a:off x="6905549" y="1954987"/>
            <a:ext cx="171907" cy="171907"/>
          </a:xfrm>
          <a:prstGeom prst="rect">
            <a:avLst/>
          </a:prstGeom>
          <a:noFill/>
          <a:ln>
            <a:noFill/>
          </a:ln>
        </p:spPr>
      </p:pic>
      <p:sp>
        <p:nvSpPr>
          <p:cNvPr id="1286" name="Google Shape;1286;p29"/>
          <p:cNvSpPr txBox="1"/>
          <p:nvPr/>
        </p:nvSpPr>
        <p:spPr>
          <a:xfrm>
            <a:off x="7239305" y="1943100"/>
            <a:ext cx="38724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Modular system with guaranteed compatibility</a:t>
            </a:r>
            <a:endParaRPr b="0" i="0" sz="1300" u="none" cap="none" strike="noStrike">
              <a:solidFill>
                <a:schemeClr val="dk1"/>
              </a:solidFill>
              <a:latin typeface="Calibri"/>
              <a:ea typeface="Calibri"/>
              <a:cs typeface="Calibri"/>
              <a:sym typeface="Calibri"/>
            </a:endParaRPr>
          </a:p>
        </p:txBody>
      </p:sp>
      <p:sp>
        <p:nvSpPr>
          <p:cNvPr id="1287" name="Google Shape;1287;p29"/>
          <p:cNvSpPr txBox="1"/>
          <p:nvPr/>
        </p:nvSpPr>
        <p:spPr>
          <a:xfrm>
            <a:off x="7239305" y="2217420"/>
            <a:ext cx="4539082"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73% make follow-on purchases within 6 months; need clear expansion path and cross-compatibility</a:t>
            </a:r>
            <a:endParaRPr b="0" i="0" sz="1300" u="none" cap="none" strike="noStrike">
              <a:solidFill>
                <a:schemeClr val="dk1"/>
              </a:solidFill>
              <a:latin typeface="Calibri"/>
              <a:ea typeface="Calibri"/>
              <a:cs typeface="Calibri"/>
              <a:sym typeface="Calibri"/>
            </a:endParaRPr>
          </a:p>
        </p:txBody>
      </p:sp>
      <p:sp>
        <p:nvSpPr>
          <p:cNvPr id="1288" name="Google Shape;1288;p29"/>
          <p:cNvSpPr/>
          <p:nvPr/>
        </p:nvSpPr>
        <p:spPr>
          <a:xfrm>
            <a:off x="6476695" y="3003804"/>
            <a:ext cx="267005" cy="267005"/>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9"/>
          <p:cNvSpPr txBox="1"/>
          <p:nvPr/>
        </p:nvSpPr>
        <p:spPr>
          <a:xfrm>
            <a:off x="6563563" y="3023006"/>
            <a:ext cx="21031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5</a:t>
            </a:r>
            <a:endParaRPr b="0" i="0" sz="1200" u="none" cap="none" strike="noStrike">
              <a:solidFill>
                <a:schemeClr val="dk1"/>
              </a:solidFill>
              <a:latin typeface="Calibri"/>
              <a:ea typeface="Calibri"/>
              <a:cs typeface="Calibri"/>
              <a:sym typeface="Calibri"/>
            </a:endParaRPr>
          </a:p>
        </p:txBody>
      </p:sp>
      <p:pic>
        <p:nvPicPr>
          <p:cNvPr descr="preencoded.png" id="1290" name="Google Shape;1290;p29"/>
          <p:cNvPicPr preferRelativeResize="0"/>
          <p:nvPr/>
        </p:nvPicPr>
        <p:blipFill rotWithShape="1">
          <a:blip r:embed="rId7">
            <a:alphaModFix/>
          </a:blip>
          <a:srcRect b="0" l="0" r="0" t="0"/>
          <a:stretch/>
        </p:blipFill>
        <p:spPr>
          <a:xfrm>
            <a:off x="6905549" y="3044952"/>
            <a:ext cx="171907" cy="171907"/>
          </a:xfrm>
          <a:prstGeom prst="rect">
            <a:avLst/>
          </a:prstGeom>
          <a:noFill/>
          <a:ln>
            <a:noFill/>
          </a:ln>
        </p:spPr>
      </p:pic>
      <p:sp>
        <p:nvSpPr>
          <p:cNvPr id="1291" name="Google Shape;1291;p29"/>
          <p:cNvSpPr txBox="1"/>
          <p:nvPr/>
        </p:nvSpPr>
        <p:spPr>
          <a:xfrm>
            <a:off x="7239305" y="3033065"/>
            <a:ext cx="4196182"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Materials that resist garage environment extremes</a:t>
            </a:r>
            <a:endParaRPr b="0" i="0" sz="1300" u="none" cap="none" strike="noStrike">
              <a:solidFill>
                <a:schemeClr val="dk1"/>
              </a:solidFill>
              <a:latin typeface="Calibri"/>
              <a:ea typeface="Calibri"/>
              <a:cs typeface="Calibri"/>
              <a:sym typeface="Calibri"/>
            </a:endParaRPr>
          </a:p>
        </p:txBody>
      </p:sp>
      <p:sp>
        <p:nvSpPr>
          <p:cNvPr id="1292" name="Google Shape;1292;p29"/>
          <p:cNvSpPr txBox="1"/>
          <p:nvPr/>
        </p:nvSpPr>
        <p:spPr>
          <a:xfrm>
            <a:off x="7239305" y="3307385"/>
            <a:ext cx="417697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39% mention rust/durability failures within 6-12 months; need temperature-stable (-10°F to 120°F) solutions</a:t>
            </a:r>
            <a:endParaRPr b="0" i="0" sz="1300" u="none" cap="none" strike="noStrike">
              <a:solidFill>
                <a:schemeClr val="dk1"/>
              </a:solidFill>
              <a:latin typeface="Calibri"/>
              <a:ea typeface="Calibri"/>
              <a:cs typeface="Calibri"/>
              <a:sym typeface="Calibri"/>
            </a:endParaRPr>
          </a:p>
        </p:txBody>
      </p:sp>
      <p:sp>
        <p:nvSpPr>
          <p:cNvPr id="1293" name="Google Shape;1293;p29"/>
          <p:cNvSpPr/>
          <p:nvPr/>
        </p:nvSpPr>
        <p:spPr>
          <a:xfrm>
            <a:off x="6476695" y="4368089"/>
            <a:ext cx="5181905" cy="914400"/>
          </a:xfrm>
          <a:prstGeom prst="roundRect">
            <a:avLst>
              <a:gd fmla="val 6250"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9"/>
          <p:cNvSpPr/>
          <p:nvPr/>
        </p:nvSpPr>
        <p:spPr>
          <a:xfrm>
            <a:off x="6476695" y="4368089"/>
            <a:ext cx="47549" cy="9144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9"/>
          <p:cNvSpPr txBox="1"/>
          <p:nvPr/>
        </p:nvSpPr>
        <p:spPr>
          <a:xfrm>
            <a:off x="6752844" y="4586630"/>
            <a:ext cx="4672584" cy="4672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Installation ease + quality proof is the most underserved combination in the category</a:t>
            </a:r>
            <a:endParaRPr b="0" i="0" sz="1300" u="none" cap="none" strike="noStrike">
              <a:solidFill>
                <a:schemeClr val="dk1"/>
              </a:solidFill>
              <a:latin typeface="Calibri"/>
              <a:ea typeface="Calibri"/>
              <a:cs typeface="Calibri"/>
              <a:sym typeface="Calibri"/>
            </a:endParaRPr>
          </a:p>
        </p:txBody>
      </p:sp>
      <p:sp>
        <p:nvSpPr>
          <p:cNvPr id="1296" name="Google Shape;1296;p29"/>
          <p:cNvSpPr txBox="1"/>
          <p:nvPr/>
        </p:nvSpPr>
        <p:spPr>
          <a:xfrm>
            <a:off x="6476695" y="5482742"/>
            <a:ext cx="51608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Synthesis of consumer pain points from 571 videos + competitive gap analysis</a:t>
            </a:r>
            <a:endParaRPr b="0" i="0" sz="900" u="none" cap="none" strike="noStrike">
              <a:solidFill>
                <a:schemeClr val="dk1"/>
              </a:solidFill>
              <a:latin typeface="Calibri"/>
              <a:ea typeface="Calibri"/>
              <a:cs typeface="Calibri"/>
              <a:sym typeface="Calibri"/>
            </a:endParaRPr>
          </a:p>
        </p:txBody>
      </p:sp>
      <p:sp>
        <p:nvSpPr>
          <p:cNvPr id="1297" name="Google Shape;1297;p29"/>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298" name="Google Shape;1298;p29"/>
          <p:cNvSpPr txBox="1"/>
          <p:nvPr/>
        </p:nvSpPr>
        <p:spPr>
          <a:xfrm>
            <a:off x="11505895" y="6452921"/>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30"/>
          <p:cNvSpPr/>
          <p:nvPr/>
        </p:nvSpPr>
        <p:spPr>
          <a:xfrm>
            <a:off x="0" y="0"/>
            <a:ext cx="12191695" cy="8172907"/>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0"/>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0"/>
          <p:cNvSpPr/>
          <p:nvPr/>
        </p:nvSpPr>
        <p:spPr>
          <a:xfrm>
            <a:off x="-1015898" y="6132881"/>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0"/>
          <p:cNvSpPr/>
          <p:nvPr/>
        </p:nvSpPr>
        <p:spPr>
          <a:xfrm>
            <a:off x="2476195" y="1469441"/>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0"/>
          <p:cNvSpPr/>
          <p:nvPr/>
        </p:nvSpPr>
        <p:spPr>
          <a:xfrm>
            <a:off x="8477402" y="5457139"/>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0"/>
          <p:cNvSpPr/>
          <p:nvPr/>
        </p:nvSpPr>
        <p:spPr>
          <a:xfrm>
            <a:off x="609905" y="816559"/>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0"/>
          <p:cNvSpPr/>
          <p:nvPr/>
        </p:nvSpPr>
        <p:spPr>
          <a:xfrm>
            <a:off x="9502445" y="1633118"/>
            <a:ext cx="1714500" cy="1714500"/>
          </a:xfrm>
          <a:prstGeom prst="rect">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0"/>
          <p:cNvSpPr/>
          <p:nvPr/>
        </p:nvSpPr>
        <p:spPr>
          <a:xfrm>
            <a:off x="2438705" y="4654296"/>
            <a:ext cx="2286000" cy="2286000"/>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0"/>
          <p:cNvSpPr txBox="1"/>
          <p:nvPr/>
        </p:nvSpPr>
        <p:spPr>
          <a:xfrm>
            <a:off x="609905" y="7679131"/>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313" name="Google Shape;1313;p30"/>
          <p:cNvSpPr txBox="1"/>
          <p:nvPr/>
        </p:nvSpPr>
        <p:spPr>
          <a:xfrm>
            <a:off x="11425428" y="7679131"/>
            <a:ext cx="262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27</a:t>
            </a:r>
            <a:endParaRPr b="0" i="0" sz="1000" u="none" cap="none" strike="noStrike">
              <a:solidFill>
                <a:schemeClr val="dk1"/>
              </a:solidFill>
              <a:latin typeface="Calibri"/>
              <a:ea typeface="Calibri"/>
              <a:cs typeface="Calibri"/>
              <a:sym typeface="Calibri"/>
            </a:endParaRPr>
          </a:p>
        </p:txBody>
      </p:sp>
      <p:sp>
        <p:nvSpPr>
          <p:cNvPr id="1314" name="Google Shape;1314;p30"/>
          <p:cNvSpPr/>
          <p:nvPr/>
        </p:nvSpPr>
        <p:spPr>
          <a:xfrm>
            <a:off x="5333695" y="609905"/>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0"/>
          <p:cNvSpPr txBox="1"/>
          <p:nvPr/>
        </p:nvSpPr>
        <p:spPr>
          <a:xfrm>
            <a:off x="1591056" y="1057046"/>
            <a:ext cx="9411005"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THREE CATEGORY WHITE SPACES</a:t>
            </a:r>
            <a:endParaRPr b="0" i="0" sz="4200" u="none" cap="none" strike="noStrike">
              <a:solidFill>
                <a:schemeClr val="dk1"/>
              </a:solidFill>
              <a:latin typeface="Calibri"/>
              <a:ea typeface="Calibri"/>
              <a:cs typeface="Calibri"/>
              <a:sym typeface="Calibri"/>
            </a:endParaRPr>
          </a:p>
        </p:txBody>
      </p:sp>
      <p:sp>
        <p:nvSpPr>
          <p:cNvPr id="1316" name="Google Shape;1316;p30"/>
          <p:cNvSpPr txBox="1"/>
          <p:nvPr/>
        </p:nvSpPr>
        <p:spPr>
          <a:xfrm>
            <a:off x="3129991" y="1925726"/>
            <a:ext cx="6220663"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Where Demand Exceeds Supply</a:t>
            </a:r>
            <a:endParaRPr b="0" i="0" sz="3000" u="none" cap="none" strike="noStrike">
              <a:solidFill>
                <a:schemeClr val="dk1"/>
              </a:solidFill>
              <a:latin typeface="Calibri"/>
              <a:ea typeface="Calibri"/>
              <a:cs typeface="Calibri"/>
              <a:sym typeface="Calibri"/>
            </a:endParaRPr>
          </a:p>
        </p:txBody>
      </p:sp>
      <p:sp>
        <p:nvSpPr>
          <p:cNvPr id="1317" name="Google Shape;1317;p30"/>
          <p:cNvSpPr/>
          <p:nvPr/>
        </p:nvSpPr>
        <p:spPr>
          <a:xfrm>
            <a:off x="2777947" y="3116275"/>
            <a:ext cx="952805" cy="952805"/>
          </a:xfrm>
          <a:prstGeom prst="roundRect">
            <a:avLst>
              <a:gd fmla="val 15355"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8" name="Google Shape;1318;p30"/>
          <p:cNvPicPr preferRelativeResize="0"/>
          <p:nvPr/>
        </p:nvPicPr>
        <p:blipFill rotWithShape="1">
          <a:blip r:embed="rId3">
            <a:alphaModFix/>
          </a:blip>
          <a:srcRect b="0" l="0" r="0" t="0"/>
          <a:stretch/>
        </p:blipFill>
        <p:spPr>
          <a:xfrm>
            <a:off x="3015691" y="3354934"/>
            <a:ext cx="476402" cy="476402"/>
          </a:xfrm>
          <a:prstGeom prst="rect">
            <a:avLst/>
          </a:prstGeom>
          <a:noFill/>
          <a:ln>
            <a:noFill/>
          </a:ln>
        </p:spPr>
      </p:pic>
      <p:sp>
        <p:nvSpPr>
          <p:cNvPr id="1319" name="Google Shape;1319;p30"/>
          <p:cNvSpPr txBox="1"/>
          <p:nvPr/>
        </p:nvSpPr>
        <p:spPr>
          <a:xfrm>
            <a:off x="2515514" y="4440326"/>
            <a:ext cx="1614830"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Rente</a:t>
            </a:r>
            <a:r>
              <a:rPr b="1" lang="en-US" sz="1300">
                <a:solidFill>
                  <a:srgbClr val="FFFFFF"/>
                </a:solidFill>
                <a:latin typeface="Inter"/>
                <a:ea typeface="Inter"/>
                <a:cs typeface="Inter"/>
                <a:sym typeface="Inter"/>
              </a:rPr>
              <a:t>r </a:t>
            </a:r>
            <a:r>
              <a:rPr b="1" i="0" lang="en-US" sz="1300" u="none" cap="none" strike="noStrike">
                <a:solidFill>
                  <a:srgbClr val="FFFFFF"/>
                </a:solidFill>
                <a:latin typeface="Inter"/>
                <a:ea typeface="Inter"/>
                <a:cs typeface="Inter"/>
                <a:sym typeface="Inter"/>
              </a:rPr>
              <a:t> Dilemma</a:t>
            </a:r>
            <a:endParaRPr b="0" i="0" sz="1300" u="none" cap="none" strike="noStrike">
              <a:solidFill>
                <a:schemeClr val="dk1"/>
              </a:solidFill>
              <a:latin typeface="Calibri"/>
              <a:ea typeface="Calibri"/>
              <a:cs typeface="Calibri"/>
              <a:sym typeface="Calibri"/>
            </a:endParaRPr>
          </a:p>
        </p:txBody>
      </p:sp>
      <p:sp>
        <p:nvSpPr>
          <p:cNvPr id="1320" name="Google Shape;1320;p30"/>
          <p:cNvSpPr txBox="1"/>
          <p:nvPr/>
        </p:nvSpPr>
        <p:spPr>
          <a:xfrm>
            <a:off x="2735885" y="4764024"/>
            <a:ext cx="1153058"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200"/>
              <a:buFont typeface="Inter"/>
              <a:buNone/>
            </a:pPr>
            <a:r>
              <a:rPr b="0" i="0" lang="en-US" sz="1200" u="none" cap="none" strike="noStrike">
                <a:solidFill>
                  <a:srgbClr val="D1D5DB"/>
                </a:solidFill>
                <a:latin typeface="Inter"/>
                <a:ea typeface="Inter"/>
                <a:cs typeface="Inter"/>
                <a:sym typeface="Inter"/>
              </a:rPr>
              <a:t>31% of market</a:t>
            </a:r>
            <a:endParaRPr b="0" i="0" sz="1200" u="none" cap="none" strike="noStrike">
              <a:solidFill>
                <a:schemeClr val="dk1"/>
              </a:solidFill>
              <a:latin typeface="Calibri"/>
              <a:ea typeface="Calibri"/>
              <a:cs typeface="Calibri"/>
              <a:sym typeface="Calibri"/>
            </a:endParaRPr>
          </a:p>
        </p:txBody>
      </p:sp>
      <p:sp>
        <p:nvSpPr>
          <p:cNvPr id="1321" name="Google Shape;1321;p30"/>
          <p:cNvSpPr/>
          <p:nvPr/>
        </p:nvSpPr>
        <p:spPr>
          <a:xfrm>
            <a:off x="5519318" y="3116275"/>
            <a:ext cx="952805" cy="952805"/>
          </a:xfrm>
          <a:prstGeom prst="roundRect">
            <a:avLst>
              <a:gd fmla="val 15355"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2" name="Google Shape;1322;p30"/>
          <p:cNvPicPr preferRelativeResize="0"/>
          <p:nvPr/>
        </p:nvPicPr>
        <p:blipFill rotWithShape="1">
          <a:blip r:embed="rId4">
            <a:alphaModFix/>
          </a:blip>
          <a:srcRect b="0" l="0" r="0" t="0"/>
          <a:stretch/>
        </p:blipFill>
        <p:spPr>
          <a:xfrm>
            <a:off x="5757977" y="3354934"/>
            <a:ext cx="476402" cy="476402"/>
          </a:xfrm>
          <a:prstGeom prst="rect">
            <a:avLst/>
          </a:prstGeom>
          <a:noFill/>
          <a:ln>
            <a:noFill/>
          </a:ln>
        </p:spPr>
      </p:pic>
      <p:sp>
        <p:nvSpPr>
          <p:cNvPr id="1323" name="Google Shape;1323;p30"/>
          <p:cNvSpPr txBox="1"/>
          <p:nvPr/>
        </p:nvSpPr>
        <p:spPr>
          <a:xfrm>
            <a:off x="4869180" y="4440326"/>
            <a:ext cx="2386584"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Premium Performance Gap</a:t>
            </a:r>
            <a:endParaRPr b="0" i="0" sz="1300" u="none" cap="none" strike="noStrike">
              <a:solidFill>
                <a:schemeClr val="dk1"/>
              </a:solidFill>
              <a:latin typeface="Calibri"/>
              <a:ea typeface="Calibri"/>
              <a:cs typeface="Calibri"/>
              <a:sym typeface="Calibri"/>
            </a:endParaRPr>
          </a:p>
        </p:txBody>
      </p:sp>
      <p:sp>
        <p:nvSpPr>
          <p:cNvPr id="1324" name="Google Shape;1324;p30"/>
          <p:cNvSpPr txBox="1"/>
          <p:nvPr/>
        </p:nvSpPr>
        <p:spPr>
          <a:xfrm>
            <a:off x="5332781" y="4764024"/>
            <a:ext cx="144841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200"/>
              <a:buFont typeface="Inter"/>
              <a:buNone/>
            </a:pPr>
            <a:r>
              <a:rPr b="0" i="0" lang="en-US" sz="1200" u="none" cap="none" strike="noStrike">
                <a:solidFill>
                  <a:srgbClr val="D1D5DB"/>
                </a:solidFill>
                <a:latin typeface="Inter"/>
                <a:ea typeface="Inter"/>
                <a:cs typeface="Inter"/>
                <a:sym typeface="Inter"/>
              </a:rPr>
              <a:t>45-50% of market</a:t>
            </a:r>
            <a:endParaRPr b="0" i="0" sz="1200" u="none" cap="none" strike="noStrike">
              <a:solidFill>
                <a:schemeClr val="dk1"/>
              </a:solidFill>
              <a:latin typeface="Calibri"/>
              <a:ea typeface="Calibri"/>
              <a:cs typeface="Calibri"/>
              <a:sym typeface="Calibri"/>
            </a:endParaRPr>
          </a:p>
        </p:txBody>
      </p:sp>
      <p:sp>
        <p:nvSpPr>
          <p:cNvPr id="1325" name="Google Shape;1325;p30"/>
          <p:cNvSpPr/>
          <p:nvPr/>
        </p:nvSpPr>
        <p:spPr>
          <a:xfrm>
            <a:off x="8361274" y="3116275"/>
            <a:ext cx="952805" cy="952805"/>
          </a:xfrm>
          <a:prstGeom prst="roundRect">
            <a:avLst>
              <a:gd fmla="val 15355"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6" name="Google Shape;1326;p30"/>
          <p:cNvPicPr preferRelativeResize="0"/>
          <p:nvPr/>
        </p:nvPicPr>
        <p:blipFill rotWithShape="1">
          <a:blip r:embed="rId5">
            <a:alphaModFix/>
          </a:blip>
          <a:srcRect b="0" l="0" r="0" t="0"/>
          <a:stretch/>
        </p:blipFill>
        <p:spPr>
          <a:xfrm>
            <a:off x="8599932" y="3354934"/>
            <a:ext cx="476402" cy="476402"/>
          </a:xfrm>
          <a:prstGeom prst="rect">
            <a:avLst/>
          </a:prstGeom>
          <a:noFill/>
          <a:ln>
            <a:noFill/>
          </a:ln>
        </p:spPr>
      </p:pic>
      <p:sp>
        <p:nvSpPr>
          <p:cNvPr id="1327" name="Google Shape;1327;p30"/>
          <p:cNvSpPr txBox="1"/>
          <p:nvPr/>
        </p:nvSpPr>
        <p:spPr>
          <a:xfrm>
            <a:off x="7999171" y="4440326"/>
            <a:ext cx="1815084"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Inter"/>
              <a:buNone/>
            </a:pPr>
            <a:r>
              <a:rPr b="1" i="0" lang="en-US" sz="1300" u="none" cap="none" strike="noStrike">
                <a:solidFill>
                  <a:srgbClr val="FFFFFF"/>
                </a:solidFill>
                <a:latin typeface="Inter"/>
                <a:ea typeface="Inter"/>
                <a:cs typeface="Inter"/>
                <a:sym typeface="Inter"/>
              </a:rPr>
              <a:t>Platform Ecosystem</a:t>
            </a:r>
            <a:endParaRPr b="0" i="0" sz="1300" u="none" cap="none" strike="noStrike">
              <a:solidFill>
                <a:schemeClr val="dk1"/>
              </a:solidFill>
              <a:latin typeface="Calibri"/>
              <a:ea typeface="Calibri"/>
              <a:cs typeface="Calibri"/>
              <a:sym typeface="Calibri"/>
            </a:endParaRPr>
          </a:p>
        </p:txBody>
      </p:sp>
      <p:sp>
        <p:nvSpPr>
          <p:cNvPr id="1328" name="Google Shape;1328;p30"/>
          <p:cNvSpPr txBox="1"/>
          <p:nvPr/>
        </p:nvSpPr>
        <p:spPr>
          <a:xfrm>
            <a:off x="8085125" y="4764024"/>
            <a:ext cx="162946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200"/>
              <a:buFont typeface="Inter"/>
              <a:buNone/>
            </a:pPr>
            <a:r>
              <a:rPr b="0" i="0" lang="en-US" sz="1200" u="none" cap="none" strike="noStrike">
                <a:solidFill>
                  <a:srgbClr val="D1D5DB"/>
                </a:solidFill>
                <a:latin typeface="Inter"/>
                <a:ea typeface="Inter"/>
                <a:cs typeface="Inter"/>
                <a:sym typeface="Inter"/>
              </a:rPr>
              <a:t>3.2x LTV opportunity</a:t>
            </a:r>
            <a:endParaRPr b="0" i="0" sz="1200" u="none" cap="none" strike="noStrike">
              <a:solidFill>
                <a:schemeClr val="dk1"/>
              </a:solidFill>
              <a:latin typeface="Calibri"/>
              <a:ea typeface="Calibri"/>
              <a:cs typeface="Calibri"/>
              <a:sym typeface="Calibri"/>
            </a:endParaRPr>
          </a:p>
        </p:txBody>
      </p:sp>
      <p:sp>
        <p:nvSpPr>
          <p:cNvPr id="1329" name="Google Shape;1329;p30"/>
          <p:cNvSpPr txBox="1"/>
          <p:nvPr/>
        </p:nvSpPr>
        <p:spPr>
          <a:xfrm>
            <a:off x="2377440" y="5440680"/>
            <a:ext cx="7610551" cy="9628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Systematic market gaps reveal three strategic opportunities aligned with unmet consumer needs. These white spaces are where demand significantly outpaces available solutions.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31"/>
          <p:cNvSpPr/>
          <p:nvPr/>
        </p:nvSpPr>
        <p:spPr>
          <a:xfrm>
            <a:off x="0" y="0"/>
            <a:ext cx="12191695" cy="8458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1"/>
          <p:cNvSpPr/>
          <p:nvPr/>
        </p:nvSpPr>
        <p:spPr>
          <a:xfrm>
            <a:off x="0" y="0"/>
            <a:ext cx="12191695" cy="8458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1"/>
          <p:cNvSpPr/>
          <p:nvPr/>
        </p:nvSpPr>
        <p:spPr>
          <a:xfrm>
            <a:off x="10134295" y="-685800"/>
            <a:ext cx="2743200" cy="2743200"/>
          </a:xfrm>
          <a:prstGeom prst="roundRect">
            <a:avLst>
              <a:gd fmla="val 3333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1"/>
          <p:cNvSpPr/>
          <p:nvPr/>
        </p:nvSpPr>
        <p:spPr>
          <a:xfrm>
            <a:off x="-533095" y="6852514"/>
            <a:ext cx="2133295" cy="2133295"/>
          </a:xfrm>
          <a:prstGeom prst="roundRect">
            <a:avLst>
              <a:gd fmla="val 42863" name="adj"/>
            </a:avLst>
          </a:prstGeom>
          <a:solidFill>
            <a:srgbClr val="16A085">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1"/>
          <p:cNvSpPr/>
          <p:nvPr/>
        </p:nvSpPr>
        <p:spPr>
          <a:xfrm>
            <a:off x="609905" y="457200"/>
            <a:ext cx="685800" cy="685800"/>
          </a:xfrm>
          <a:prstGeom prst="roundRect">
            <a:avLst>
              <a:gd fmla="val 22222" name="adj"/>
            </a:avLst>
          </a:prstGeom>
          <a:solidFill>
            <a:srgbClr val="16A085"/>
          </a:solidFill>
          <a:ln>
            <a:noFill/>
          </a:ln>
          <a:effectLst>
            <a:outerShdw blurRad="101600" rotWithShape="0" algn="bl" dir="5400000" dist="38100">
              <a:srgbClr val="16A085">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1"/>
          <p:cNvSpPr txBox="1"/>
          <p:nvPr/>
        </p:nvSpPr>
        <p:spPr>
          <a:xfrm>
            <a:off x="888797" y="556870"/>
            <a:ext cx="376733"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Montserrat"/>
              <a:buNone/>
            </a:pPr>
            <a:r>
              <a:rPr b="1" i="0" lang="en-US" sz="2500" u="none" cap="none" strike="noStrike">
                <a:solidFill>
                  <a:srgbClr val="FFFFFF"/>
                </a:solidFill>
                <a:latin typeface="Montserrat"/>
                <a:ea typeface="Montserrat"/>
                <a:cs typeface="Montserrat"/>
                <a:sym typeface="Montserrat"/>
              </a:rPr>
              <a:t>1</a:t>
            </a:r>
            <a:endParaRPr b="0" i="0" sz="2500" u="none" cap="none" strike="noStrike">
              <a:solidFill>
                <a:schemeClr val="dk1"/>
              </a:solidFill>
              <a:latin typeface="Calibri"/>
              <a:ea typeface="Calibri"/>
              <a:cs typeface="Calibri"/>
              <a:sym typeface="Calibri"/>
            </a:endParaRPr>
          </a:p>
        </p:txBody>
      </p:sp>
      <p:sp>
        <p:nvSpPr>
          <p:cNvPr id="1341" name="Google Shape;1341;p31"/>
          <p:cNvSpPr/>
          <p:nvPr/>
        </p:nvSpPr>
        <p:spPr>
          <a:xfrm>
            <a:off x="15243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1"/>
          <p:cNvSpPr txBox="1"/>
          <p:nvPr/>
        </p:nvSpPr>
        <p:spPr>
          <a:xfrm>
            <a:off x="1524305" y="685800"/>
            <a:ext cx="6163056"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#1: The Renter's Dilemma</a:t>
            </a:r>
            <a:endParaRPr b="0" i="0" sz="2400" u="none" cap="none" strike="noStrike">
              <a:solidFill>
                <a:schemeClr val="dk1"/>
              </a:solidFill>
              <a:latin typeface="Calibri"/>
              <a:ea typeface="Calibri"/>
              <a:cs typeface="Calibri"/>
              <a:sym typeface="Calibri"/>
            </a:endParaRPr>
          </a:p>
        </p:txBody>
      </p:sp>
      <p:sp>
        <p:nvSpPr>
          <p:cNvPr id="1343" name="Google Shape;1343;p31"/>
          <p:cNvSpPr/>
          <p:nvPr/>
        </p:nvSpPr>
        <p:spPr>
          <a:xfrm>
            <a:off x="609905" y="1485900"/>
            <a:ext cx="10972800" cy="2476195"/>
          </a:xfrm>
          <a:prstGeom prst="roundRect">
            <a:avLst>
              <a:gd fmla="val 1136"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1"/>
          <p:cNvSpPr/>
          <p:nvPr/>
        </p:nvSpPr>
        <p:spPr>
          <a:xfrm>
            <a:off x="609905" y="4339742"/>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1"/>
          <p:cNvSpPr/>
          <p:nvPr/>
        </p:nvSpPr>
        <p:spPr>
          <a:xfrm>
            <a:off x="609905" y="5905195"/>
            <a:ext cx="10972800" cy="1380744"/>
          </a:xfrm>
          <a:prstGeom prst="roundRect">
            <a:avLst>
              <a:gd fmla="val 3654"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1"/>
          <p:cNvSpPr txBox="1"/>
          <p:nvPr/>
        </p:nvSpPr>
        <p:spPr>
          <a:xfrm>
            <a:off x="990295" y="1714500"/>
            <a:ext cx="235275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Rental Property Context</a:t>
            </a:r>
            <a:endParaRPr b="0" i="0" sz="1500" u="none" cap="none" strike="noStrike">
              <a:solidFill>
                <a:schemeClr val="dk1"/>
              </a:solidFill>
              <a:latin typeface="Calibri"/>
              <a:ea typeface="Calibri"/>
              <a:cs typeface="Calibri"/>
              <a:sym typeface="Calibri"/>
            </a:endParaRPr>
          </a:p>
        </p:txBody>
      </p:sp>
      <p:sp>
        <p:nvSpPr>
          <p:cNvPr id="1347" name="Google Shape;1347;p31"/>
          <p:cNvSpPr txBox="1"/>
          <p:nvPr/>
        </p:nvSpPr>
        <p:spPr>
          <a:xfrm>
            <a:off x="990295" y="4568342"/>
            <a:ext cx="1209751"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Market Gap</a:t>
            </a:r>
            <a:endParaRPr b="0" i="0" sz="1500" u="none" cap="none" strike="noStrike">
              <a:solidFill>
                <a:schemeClr val="dk1"/>
              </a:solidFill>
              <a:latin typeface="Calibri"/>
              <a:ea typeface="Calibri"/>
              <a:cs typeface="Calibri"/>
              <a:sym typeface="Calibri"/>
            </a:endParaRPr>
          </a:p>
        </p:txBody>
      </p:sp>
      <p:sp>
        <p:nvSpPr>
          <p:cNvPr id="1348" name="Google Shape;1348;p31"/>
          <p:cNvSpPr txBox="1"/>
          <p:nvPr/>
        </p:nvSpPr>
        <p:spPr>
          <a:xfrm>
            <a:off x="990295" y="6133795"/>
            <a:ext cx="2143354"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Strategic Opportunity</a:t>
            </a:r>
            <a:endParaRPr b="0" i="0" sz="1500" u="none" cap="none" strike="noStrike">
              <a:solidFill>
                <a:schemeClr val="dk1"/>
              </a:solidFill>
              <a:latin typeface="Calibri"/>
              <a:ea typeface="Calibri"/>
              <a:cs typeface="Calibri"/>
              <a:sym typeface="Calibri"/>
            </a:endParaRPr>
          </a:p>
        </p:txBody>
      </p:sp>
      <p:sp>
        <p:nvSpPr>
          <p:cNvPr id="1349" name="Google Shape;1349;p31"/>
          <p:cNvSpPr txBox="1"/>
          <p:nvPr/>
        </p:nvSpPr>
        <p:spPr>
          <a:xfrm>
            <a:off x="838505" y="2143354"/>
            <a:ext cx="444581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About 1 in 7 discussions occur in rental/landlord context:</a:t>
            </a:r>
            <a:endParaRPr b="0" i="0" sz="1200" u="none" cap="none" strike="noStrike">
              <a:solidFill>
                <a:schemeClr val="dk1"/>
              </a:solidFill>
              <a:latin typeface="Calibri"/>
              <a:ea typeface="Calibri"/>
              <a:cs typeface="Calibri"/>
              <a:sym typeface="Calibri"/>
            </a:endParaRPr>
          </a:p>
        </p:txBody>
      </p:sp>
      <p:sp>
        <p:nvSpPr>
          <p:cNvPr id="1350" name="Google Shape;1350;p31"/>
          <p:cNvSpPr txBox="1"/>
          <p:nvPr/>
        </p:nvSpPr>
        <p:spPr>
          <a:xfrm>
            <a:off x="838505" y="4996282"/>
            <a:ext cx="10494569"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Current "no-drill" solutions max out at 5-10 lbs or fail in garage environments. Heavy-duty damage-free mounting that works in extreme conditions represents significant unaddressed opportunity.</a:t>
            </a:r>
            <a:endParaRPr b="0" i="0" sz="1200" u="none" cap="none" strike="noStrike">
              <a:solidFill>
                <a:schemeClr val="dk1"/>
              </a:solidFill>
              <a:latin typeface="Calibri"/>
              <a:ea typeface="Calibri"/>
              <a:cs typeface="Calibri"/>
              <a:sym typeface="Calibri"/>
            </a:endParaRPr>
          </a:p>
        </p:txBody>
      </p:sp>
      <p:sp>
        <p:nvSpPr>
          <p:cNvPr id="1351" name="Google Shape;1351;p31"/>
          <p:cNvSpPr txBox="1"/>
          <p:nvPr/>
        </p:nvSpPr>
        <p:spPr>
          <a:xfrm>
            <a:off x="838505" y="6562649"/>
            <a:ext cx="1034186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"Landlord-approved" positioning represents an untapped market segment with well-defined needs. Consumers willingly pay premium ($25-45 per unit) for damage-free solutions that actually work.</a:t>
            </a:r>
            <a:endParaRPr b="0" i="0" sz="1200" u="none" cap="none" strike="noStrike">
              <a:solidFill>
                <a:schemeClr val="dk1"/>
              </a:solidFill>
              <a:latin typeface="Calibri"/>
              <a:ea typeface="Calibri"/>
              <a:cs typeface="Calibri"/>
              <a:sym typeface="Calibri"/>
            </a:endParaRPr>
          </a:p>
        </p:txBody>
      </p:sp>
      <p:sp>
        <p:nvSpPr>
          <p:cNvPr id="1352" name="Google Shape;1352;p31"/>
          <p:cNvSpPr txBox="1"/>
          <p:nvPr/>
        </p:nvSpPr>
        <p:spPr>
          <a:xfrm>
            <a:off x="1067105" y="2392985"/>
            <a:ext cx="29434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Landlord policies on adhesive products</a:t>
            </a:r>
            <a:endParaRPr b="0" i="0" sz="1200" u="none" cap="none" strike="noStrike">
              <a:solidFill>
                <a:schemeClr val="dk1"/>
              </a:solidFill>
              <a:latin typeface="Calibri"/>
              <a:ea typeface="Calibri"/>
              <a:cs typeface="Calibri"/>
              <a:sym typeface="Calibri"/>
            </a:endParaRPr>
          </a:p>
        </p:txBody>
      </p:sp>
      <p:sp>
        <p:nvSpPr>
          <p:cNvPr id="1353" name="Google Shape;1353;p31"/>
          <p:cNvSpPr txBox="1"/>
          <p:nvPr/>
        </p:nvSpPr>
        <p:spPr>
          <a:xfrm>
            <a:off x="1067105" y="2731313"/>
            <a:ext cx="20098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Damage deposit concerns</a:t>
            </a:r>
            <a:endParaRPr b="0" i="0" sz="1200" u="none" cap="none" strike="noStrike">
              <a:solidFill>
                <a:schemeClr val="dk1"/>
              </a:solidFill>
              <a:latin typeface="Calibri"/>
              <a:ea typeface="Calibri"/>
              <a:cs typeface="Calibri"/>
              <a:sym typeface="Calibri"/>
            </a:endParaRPr>
          </a:p>
        </p:txBody>
      </p:sp>
      <p:sp>
        <p:nvSpPr>
          <p:cNvPr id="1354" name="Google Shape;1354;p31"/>
          <p:cNvSpPr txBox="1"/>
          <p:nvPr/>
        </p:nvSpPr>
        <p:spPr>
          <a:xfrm>
            <a:off x="1067105" y="3070555"/>
            <a:ext cx="19147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Lease restriction clauses</a:t>
            </a:r>
            <a:endParaRPr b="0" i="0" sz="1200" u="none" cap="none" strike="noStrike">
              <a:solidFill>
                <a:schemeClr val="dk1"/>
              </a:solidFill>
              <a:latin typeface="Calibri"/>
              <a:ea typeface="Calibri"/>
              <a:cs typeface="Calibri"/>
              <a:sym typeface="Calibri"/>
            </a:endParaRPr>
          </a:p>
        </p:txBody>
      </p:sp>
      <p:sp>
        <p:nvSpPr>
          <p:cNvPr id="1355" name="Google Shape;1355;p31"/>
          <p:cNvSpPr txBox="1"/>
          <p:nvPr/>
        </p:nvSpPr>
        <p:spPr>
          <a:xfrm>
            <a:off x="1067105" y="3409798"/>
            <a:ext cx="40581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Paradox: some landlords ban Command but allow nails</a:t>
            </a:r>
            <a:endParaRPr b="0" i="0" sz="1200" u="none" cap="none" strike="noStrike">
              <a:solidFill>
                <a:schemeClr val="dk1"/>
              </a:solidFill>
              <a:latin typeface="Calibri"/>
              <a:ea typeface="Calibri"/>
              <a:cs typeface="Calibri"/>
              <a:sym typeface="Calibri"/>
            </a:endParaRPr>
          </a:p>
        </p:txBody>
      </p:sp>
      <p:sp>
        <p:nvSpPr>
          <p:cNvPr id="1356" name="Google Shape;1356;p31"/>
          <p:cNvSpPr txBox="1"/>
          <p:nvPr/>
        </p:nvSpPr>
        <p:spPr>
          <a:xfrm>
            <a:off x="609905" y="7605065"/>
            <a:ext cx="46058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14% of consumer discussions mention rental or landlord considerations</a:t>
            </a:r>
            <a:endParaRPr b="0" i="0" sz="1000" u="none" cap="none" strike="noStrike">
              <a:solidFill>
                <a:schemeClr val="dk1"/>
              </a:solidFill>
              <a:latin typeface="Calibri"/>
              <a:ea typeface="Calibri"/>
              <a:cs typeface="Calibri"/>
              <a:sym typeface="Calibri"/>
            </a:endParaRPr>
          </a:p>
        </p:txBody>
      </p:sp>
      <p:sp>
        <p:nvSpPr>
          <p:cNvPr id="1357" name="Google Shape;1357;p31"/>
          <p:cNvSpPr/>
          <p:nvPr/>
        </p:nvSpPr>
        <p:spPr>
          <a:xfrm>
            <a:off x="0" y="7785202"/>
            <a:ext cx="12191695" cy="9144"/>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1"/>
          <p:cNvSpPr txBox="1"/>
          <p:nvPr/>
        </p:nvSpPr>
        <p:spPr>
          <a:xfrm>
            <a:off x="609905" y="8043062"/>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359" name="Google Shape;1359;p31"/>
          <p:cNvSpPr txBox="1"/>
          <p:nvPr/>
        </p:nvSpPr>
        <p:spPr>
          <a:xfrm>
            <a:off x="11418113" y="8043062"/>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28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32"/>
          <p:cNvSpPr/>
          <p:nvPr/>
        </p:nvSpPr>
        <p:spPr>
          <a:xfrm>
            <a:off x="0" y="0"/>
            <a:ext cx="12191695" cy="8001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2"/>
          <p:cNvSpPr/>
          <p:nvPr/>
        </p:nvSpPr>
        <p:spPr>
          <a:xfrm>
            <a:off x="0" y="0"/>
            <a:ext cx="12191695" cy="8001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2"/>
          <p:cNvSpPr/>
          <p:nvPr/>
        </p:nvSpPr>
        <p:spPr>
          <a:xfrm>
            <a:off x="609905" y="381305"/>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2"/>
          <p:cNvSpPr txBox="1"/>
          <p:nvPr/>
        </p:nvSpPr>
        <p:spPr>
          <a:xfrm>
            <a:off x="609905" y="609905"/>
            <a:ext cx="109161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#1 Rationale: The Renter's Dilemma — Why This Is Big</a:t>
            </a:r>
            <a:endParaRPr b="0" i="0" sz="2400" u="none" cap="none" strike="noStrike">
              <a:solidFill>
                <a:schemeClr val="dk1"/>
              </a:solidFill>
              <a:latin typeface="Calibri"/>
              <a:ea typeface="Calibri"/>
              <a:cs typeface="Calibri"/>
              <a:sym typeface="Calibri"/>
            </a:endParaRPr>
          </a:p>
        </p:txBody>
      </p:sp>
      <p:sp>
        <p:nvSpPr>
          <p:cNvPr id="1369" name="Google Shape;1369;p32"/>
          <p:cNvSpPr txBox="1"/>
          <p:nvPr/>
        </p:nvSpPr>
        <p:spPr>
          <a:xfrm>
            <a:off x="609905" y="1133856"/>
            <a:ext cx="427482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14% of consumer discussions mention rental or landlord considerations</a:t>
            </a:r>
            <a:endParaRPr b="0" i="0" sz="900" u="none" cap="none" strike="noStrike">
              <a:solidFill>
                <a:schemeClr val="dk1"/>
              </a:solidFill>
              <a:latin typeface="Calibri"/>
              <a:ea typeface="Calibri"/>
              <a:cs typeface="Calibri"/>
              <a:sym typeface="Calibri"/>
            </a:endParaRPr>
          </a:p>
        </p:txBody>
      </p:sp>
      <p:sp>
        <p:nvSpPr>
          <p:cNvPr id="1370" name="Google Shape;1370;p32"/>
          <p:cNvSpPr/>
          <p:nvPr/>
        </p:nvSpPr>
        <p:spPr>
          <a:xfrm>
            <a:off x="609905" y="1557223"/>
            <a:ext cx="10972800" cy="4914900"/>
          </a:xfrm>
          <a:prstGeom prst="roundRect">
            <a:avLst>
              <a:gd fmla="val 28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2"/>
          <p:cNvSpPr/>
          <p:nvPr/>
        </p:nvSpPr>
        <p:spPr>
          <a:xfrm>
            <a:off x="619049" y="1567282"/>
            <a:ext cx="10953598" cy="5715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2"/>
          <p:cNvSpPr/>
          <p:nvPr/>
        </p:nvSpPr>
        <p:spPr>
          <a:xfrm>
            <a:off x="619049" y="212963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2"/>
          <p:cNvSpPr/>
          <p:nvPr/>
        </p:nvSpPr>
        <p:spPr>
          <a:xfrm>
            <a:off x="619049" y="2138782"/>
            <a:ext cx="10953598" cy="6766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2"/>
          <p:cNvSpPr/>
          <p:nvPr/>
        </p:nvSpPr>
        <p:spPr>
          <a:xfrm>
            <a:off x="619049" y="280629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2"/>
          <p:cNvSpPr/>
          <p:nvPr/>
        </p:nvSpPr>
        <p:spPr>
          <a:xfrm>
            <a:off x="619049" y="2814523"/>
            <a:ext cx="10953598" cy="476402"/>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2"/>
          <p:cNvSpPr/>
          <p:nvPr/>
        </p:nvSpPr>
        <p:spPr>
          <a:xfrm>
            <a:off x="619049" y="328178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2"/>
          <p:cNvSpPr/>
          <p:nvPr/>
        </p:nvSpPr>
        <p:spPr>
          <a:xfrm>
            <a:off x="619049" y="3290926"/>
            <a:ext cx="10953598" cy="6766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2"/>
          <p:cNvSpPr/>
          <p:nvPr/>
        </p:nvSpPr>
        <p:spPr>
          <a:xfrm>
            <a:off x="619049" y="395843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2"/>
          <p:cNvSpPr/>
          <p:nvPr/>
        </p:nvSpPr>
        <p:spPr>
          <a:xfrm>
            <a:off x="619049" y="3967582"/>
            <a:ext cx="10953598" cy="67665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2"/>
          <p:cNvSpPr/>
          <p:nvPr/>
        </p:nvSpPr>
        <p:spPr>
          <a:xfrm>
            <a:off x="619049" y="463509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2"/>
          <p:cNvSpPr/>
          <p:nvPr/>
        </p:nvSpPr>
        <p:spPr>
          <a:xfrm>
            <a:off x="619049" y="4643323"/>
            <a:ext cx="10953598" cy="6766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2"/>
          <p:cNvSpPr/>
          <p:nvPr/>
        </p:nvSpPr>
        <p:spPr>
          <a:xfrm>
            <a:off x="619049" y="5310835"/>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2"/>
          <p:cNvSpPr/>
          <p:nvPr/>
        </p:nvSpPr>
        <p:spPr>
          <a:xfrm>
            <a:off x="619049" y="5319979"/>
            <a:ext cx="10953598" cy="67665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2"/>
          <p:cNvSpPr/>
          <p:nvPr/>
        </p:nvSpPr>
        <p:spPr>
          <a:xfrm>
            <a:off x="619049" y="598749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2"/>
          <p:cNvSpPr/>
          <p:nvPr/>
        </p:nvSpPr>
        <p:spPr>
          <a:xfrm>
            <a:off x="619049" y="5995721"/>
            <a:ext cx="10953598" cy="466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2"/>
          <p:cNvSpPr txBox="1"/>
          <p:nvPr/>
        </p:nvSpPr>
        <p:spPr>
          <a:xfrm>
            <a:off x="847649" y="1738274"/>
            <a:ext cx="10908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Dimension</a:t>
            </a:r>
            <a:endParaRPr b="0" i="0" sz="1300" u="none" cap="none" strike="noStrike">
              <a:solidFill>
                <a:schemeClr val="dk1"/>
              </a:solidFill>
              <a:latin typeface="Calibri"/>
              <a:ea typeface="Calibri"/>
              <a:cs typeface="Calibri"/>
              <a:sym typeface="Calibri"/>
            </a:endParaRPr>
          </a:p>
        </p:txBody>
      </p:sp>
      <p:sp>
        <p:nvSpPr>
          <p:cNvPr id="1387" name="Google Shape;1387;p32"/>
          <p:cNvSpPr txBox="1"/>
          <p:nvPr/>
        </p:nvSpPr>
        <p:spPr>
          <a:xfrm>
            <a:off x="2947111" y="1738274"/>
            <a:ext cx="2595982"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Unmet Need &amp; Opportunity</a:t>
            </a:r>
            <a:endParaRPr b="0" i="0" sz="1300" u="none" cap="none" strike="noStrike">
              <a:solidFill>
                <a:schemeClr val="dk1"/>
              </a:solidFill>
              <a:latin typeface="Calibri"/>
              <a:ea typeface="Calibri"/>
              <a:cs typeface="Calibri"/>
              <a:sym typeface="Calibri"/>
            </a:endParaRPr>
          </a:p>
        </p:txBody>
      </p:sp>
      <p:sp>
        <p:nvSpPr>
          <p:cNvPr id="1388" name="Google Shape;1388;p32"/>
          <p:cNvSpPr txBox="1"/>
          <p:nvPr/>
        </p:nvSpPr>
        <p:spPr>
          <a:xfrm>
            <a:off x="847649" y="2290572"/>
            <a:ext cx="8622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Market Size</a:t>
            </a:r>
            <a:endParaRPr b="0" i="0" sz="1000" u="none" cap="none" strike="noStrike">
              <a:solidFill>
                <a:schemeClr val="dk1"/>
              </a:solidFill>
              <a:latin typeface="Calibri"/>
              <a:ea typeface="Calibri"/>
              <a:cs typeface="Calibri"/>
              <a:sym typeface="Calibri"/>
            </a:endParaRPr>
          </a:p>
        </p:txBody>
      </p:sp>
      <p:sp>
        <p:nvSpPr>
          <p:cNvPr id="1389" name="Google Shape;1389;p32"/>
          <p:cNvSpPr txBox="1"/>
          <p:nvPr/>
        </p:nvSpPr>
        <p:spPr>
          <a:xfrm>
            <a:off x="847649" y="2967228"/>
            <a:ext cx="8906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Current Gap</a:t>
            </a:r>
            <a:endParaRPr b="0" i="0" sz="1000" u="none" cap="none" strike="noStrike">
              <a:solidFill>
                <a:schemeClr val="dk1"/>
              </a:solidFill>
              <a:latin typeface="Calibri"/>
              <a:ea typeface="Calibri"/>
              <a:cs typeface="Calibri"/>
              <a:sym typeface="Calibri"/>
            </a:endParaRPr>
          </a:p>
        </p:txBody>
      </p:sp>
      <p:sp>
        <p:nvSpPr>
          <p:cNvPr id="1390" name="Google Shape;1390;p32"/>
          <p:cNvSpPr txBox="1"/>
          <p:nvPr/>
        </p:nvSpPr>
        <p:spPr>
          <a:xfrm>
            <a:off x="847649" y="3443630"/>
            <a:ext cx="16532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Technical Requirements</a:t>
            </a:r>
            <a:endParaRPr b="0" i="0" sz="1000" u="none" cap="none" strike="noStrike">
              <a:solidFill>
                <a:schemeClr val="dk1"/>
              </a:solidFill>
              <a:latin typeface="Calibri"/>
              <a:ea typeface="Calibri"/>
              <a:cs typeface="Calibri"/>
              <a:sym typeface="Calibri"/>
            </a:endParaRPr>
          </a:p>
        </p:txBody>
      </p:sp>
      <p:sp>
        <p:nvSpPr>
          <p:cNvPr id="1391" name="Google Shape;1391;p32"/>
          <p:cNvSpPr txBox="1"/>
          <p:nvPr/>
        </p:nvSpPr>
        <p:spPr>
          <a:xfrm>
            <a:off x="847649" y="4119372"/>
            <a:ext cx="11100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Price Tolerance</a:t>
            </a:r>
            <a:endParaRPr b="0" i="0" sz="1000" u="none" cap="none" strike="noStrike">
              <a:solidFill>
                <a:schemeClr val="dk1"/>
              </a:solidFill>
              <a:latin typeface="Calibri"/>
              <a:ea typeface="Calibri"/>
              <a:cs typeface="Calibri"/>
              <a:sym typeface="Calibri"/>
            </a:endParaRPr>
          </a:p>
        </p:txBody>
      </p:sp>
      <p:sp>
        <p:nvSpPr>
          <p:cNvPr id="1392" name="Google Shape;1392;p32"/>
          <p:cNvSpPr txBox="1"/>
          <p:nvPr/>
        </p:nvSpPr>
        <p:spPr>
          <a:xfrm>
            <a:off x="847649" y="4796028"/>
            <a:ext cx="13103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Proof Requirement</a:t>
            </a:r>
            <a:endParaRPr b="0" i="0" sz="1000" u="none" cap="none" strike="noStrike">
              <a:solidFill>
                <a:schemeClr val="dk1"/>
              </a:solidFill>
              <a:latin typeface="Calibri"/>
              <a:ea typeface="Calibri"/>
              <a:cs typeface="Calibri"/>
              <a:sym typeface="Calibri"/>
            </a:endParaRPr>
          </a:p>
        </p:txBody>
      </p:sp>
      <p:sp>
        <p:nvSpPr>
          <p:cNvPr id="1393" name="Google Shape;1393;p32"/>
          <p:cNvSpPr txBox="1"/>
          <p:nvPr/>
        </p:nvSpPr>
        <p:spPr>
          <a:xfrm>
            <a:off x="847649" y="5471770"/>
            <a:ext cx="11100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Jobs Alignment</a:t>
            </a:r>
            <a:endParaRPr b="0" i="0" sz="1000" u="none" cap="none" strike="noStrike">
              <a:solidFill>
                <a:schemeClr val="dk1"/>
              </a:solidFill>
              <a:latin typeface="Calibri"/>
              <a:ea typeface="Calibri"/>
              <a:cs typeface="Calibri"/>
              <a:sym typeface="Calibri"/>
            </a:endParaRPr>
          </a:p>
        </p:txBody>
      </p:sp>
      <p:sp>
        <p:nvSpPr>
          <p:cNvPr id="1394" name="Google Shape;1394;p32"/>
          <p:cNvSpPr txBox="1"/>
          <p:nvPr/>
        </p:nvSpPr>
        <p:spPr>
          <a:xfrm>
            <a:off x="847649" y="6148426"/>
            <a:ext cx="12243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Channel Strategy</a:t>
            </a:r>
            <a:endParaRPr b="0" i="0" sz="1000" u="none" cap="none" strike="noStrike">
              <a:solidFill>
                <a:schemeClr val="dk1"/>
              </a:solidFill>
              <a:latin typeface="Calibri"/>
              <a:ea typeface="Calibri"/>
              <a:cs typeface="Calibri"/>
              <a:sym typeface="Calibri"/>
            </a:endParaRPr>
          </a:p>
        </p:txBody>
      </p:sp>
      <p:sp>
        <p:nvSpPr>
          <p:cNvPr id="1395" name="Google Shape;1395;p32"/>
          <p:cNvSpPr txBox="1"/>
          <p:nvPr/>
        </p:nvSpPr>
        <p:spPr>
          <a:xfrm>
            <a:off x="3038551" y="2290572"/>
            <a:ext cx="16431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About 1 in 7 discussions</a:t>
            </a:r>
            <a:endParaRPr b="0" i="0" sz="1000" u="none" cap="none" strike="noStrike">
              <a:solidFill>
                <a:schemeClr val="dk1"/>
              </a:solidFill>
              <a:latin typeface="Calibri"/>
              <a:ea typeface="Calibri"/>
              <a:cs typeface="Calibri"/>
              <a:sym typeface="Calibri"/>
            </a:endParaRPr>
          </a:p>
        </p:txBody>
      </p:sp>
      <p:sp>
        <p:nvSpPr>
          <p:cNvPr id="1396" name="Google Shape;1396;p32"/>
          <p:cNvSpPr txBox="1"/>
          <p:nvPr/>
        </p:nvSpPr>
        <p:spPr>
          <a:xfrm>
            <a:off x="5266944" y="2967228"/>
            <a:ext cx="614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5-10 lbs</a:t>
            </a:r>
            <a:endParaRPr b="0" i="0" sz="1000" u="none" cap="none" strike="noStrike">
              <a:solidFill>
                <a:schemeClr val="dk1"/>
              </a:solidFill>
              <a:latin typeface="Calibri"/>
              <a:ea typeface="Calibri"/>
              <a:cs typeface="Calibri"/>
              <a:sym typeface="Calibri"/>
            </a:endParaRPr>
          </a:p>
        </p:txBody>
      </p:sp>
      <p:sp>
        <p:nvSpPr>
          <p:cNvPr id="1397" name="Google Shape;1397;p32"/>
          <p:cNvSpPr txBox="1"/>
          <p:nvPr/>
        </p:nvSpPr>
        <p:spPr>
          <a:xfrm>
            <a:off x="3375965" y="3443630"/>
            <a:ext cx="12435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25-50 lb capacity</a:t>
            </a:r>
            <a:endParaRPr b="0" i="0" sz="1000" u="none" cap="none" strike="noStrike">
              <a:solidFill>
                <a:schemeClr val="dk1"/>
              </a:solidFill>
              <a:latin typeface="Calibri"/>
              <a:ea typeface="Calibri"/>
              <a:cs typeface="Calibri"/>
              <a:sym typeface="Calibri"/>
            </a:endParaRPr>
          </a:p>
        </p:txBody>
      </p:sp>
      <p:sp>
        <p:nvSpPr>
          <p:cNvPr id="1398" name="Google Shape;1398;p32"/>
          <p:cNvSpPr txBox="1"/>
          <p:nvPr/>
        </p:nvSpPr>
        <p:spPr>
          <a:xfrm>
            <a:off x="9086393" y="3443630"/>
            <a:ext cx="10149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-10°F to 120°F</a:t>
            </a:r>
            <a:endParaRPr b="0" i="0" sz="1000" u="none" cap="none" strike="noStrike">
              <a:solidFill>
                <a:schemeClr val="dk1"/>
              </a:solidFill>
              <a:latin typeface="Calibri"/>
              <a:ea typeface="Calibri"/>
              <a:cs typeface="Calibri"/>
              <a:sym typeface="Calibri"/>
            </a:endParaRPr>
          </a:p>
        </p:txBody>
      </p:sp>
      <p:sp>
        <p:nvSpPr>
          <p:cNvPr id="1399" name="Google Shape;1399;p32"/>
          <p:cNvSpPr txBox="1"/>
          <p:nvPr/>
        </p:nvSpPr>
        <p:spPr>
          <a:xfrm>
            <a:off x="4623206" y="4119372"/>
            <a:ext cx="11192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$25-45 per unit</a:t>
            </a:r>
            <a:endParaRPr b="0" i="0" sz="1000" u="none" cap="none" strike="noStrike">
              <a:solidFill>
                <a:schemeClr val="dk1"/>
              </a:solidFill>
              <a:latin typeface="Calibri"/>
              <a:ea typeface="Calibri"/>
              <a:cs typeface="Calibri"/>
              <a:sym typeface="Calibri"/>
            </a:endParaRPr>
          </a:p>
        </p:txBody>
      </p:sp>
      <p:sp>
        <p:nvSpPr>
          <p:cNvPr id="1400" name="Google Shape;1400;p32"/>
          <p:cNvSpPr txBox="1"/>
          <p:nvPr/>
        </p:nvSpPr>
        <p:spPr>
          <a:xfrm>
            <a:off x="3038551" y="4796028"/>
            <a:ext cx="2233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In-store pull-test demonstrations</a:t>
            </a:r>
            <a:endParaRPr b="0" i="0" sz="1000" u="none" cap="none" strike="noStrike">
              <a:solidFill>
                <a:schemeClr val="dk1"/>
              </a:solidFill>
              <a:latin typeface="Calibri"/>
              <a:ea typeface="Calibri"/>
              <a:cs typeface="Calibri"/>
              <a:sym typeface="Calibri"/>
            </a:endParaRPr>
          </a:p>
        </p:txBody>
      </p:sp>
      <p:sp>
        <p:nvSpPr>
          <p:cNvPr id="1401" name="Google Shape;1401;p32"/>
          <p:cNvSpPr txBox="1"/>
          <p:nvPr/>
        </p:nvSpPr>
        <p:spPr>
          <a:xfrm>
            <a:off x="6170371" y="5471770"/>
            <a:ext cx="12819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Preserve Property</a:t>
            </a:r>
            <a:endParaRPr b="0" i="0" sz="1000" u="none" cap="none" strike="noStrike">
              <a:solidFill>
                <a:schemeClr val="dk1"/>
              </a:solidFill>
              <a:latin typeface="Calibri"/>
              <a:ea typeface="Calibri"/>
              <a:cs typeface="Calibri"/>
              <a:sym typeface="Calibri"/>
            </a:endParaRPr>
          </a:p>
        </p:txBody>
      </p:sp>
      <p:sp>
        <p:nvSpPr>
          <p:cNvPr id="1402" name="Google Shape;1402;p32"/>
          <p:cNvSpPr txBox="1"/>
          <p:nvPr/>
        </p:nvSpPr>
        <p:spPr>
          <a:xfrm>
            <a:off x="8824874" y="5471770"/>
            <a:ext cx="13478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Seasonal Flexibility</a:t>
            </a:r>
            <a:endParaRPr b="0" i="0" sz="1000" u="none" cap="none" strike="noStrike">
              <a:solidFill>
                <a:schemeClr val="dk1"/>
              </a:solidFill>
              <a:latin typeface="Calibri"/>
              <a:ea typeface="Calibri"/>
              <a:cs typeface="Calibri"/>
              <a:sym typeface="Calibri"/>
            </a:endParaRPr>
          </a:p>
        </p:txBody>
      </p:sp>
      <p:sp>
        <p:nvSpPr>
          <p:cNvPr id="1403" name="Google Shape;1403;p32"/>
          <p:cNvSpPr txBox="1"/>
          <p:nvPr/>
        </p:nvSpPr>
        <p:spPr>
          <a:xfrm>
            <a:off x="3565246" y="6148426"/>
            <a:ext cx="11009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Inter"/>
              <a:buNone/>
            </a:pPr>
            <a:r>
              <a:rPr b="1" i="0" lang="en-US" sz="1000" u="none" cap="none" strike="noStrike">
                <a:solidFill>
                  <a:srgbClr val="16A085"/>
                </a:solidFill>
                <a:latin typeface="Inter"/>
                <a:ea typeface="Inter"/>
                <a:cs typeface="Inter"/>
                <a:sym typeface="Inter"/>
              </a:rPr>
              <a:t>Amazon/Target</a:t>
            </a:r>
            <a:endParaRPr b="0" i="0" sz="1000" u="none" cap="none" strike="noStrike">
              <a:solidFill>
                <a:schemeClr val="dk1"/>
              </a:solidFill>
              <a:latin typeface="Calibri"/>
              <a:ea typeface="Calibri"/>
              <a:cs typeface="Calibri"/>
              <a:sym typeface="Calibri"/>
            </a:endParaRPr>
          </a:p>
        </p:txBody>
      </p:sp>
      <p:sp>
        <p:nvSpPr>
          <p:cNvPr id="1404" name="Google Shape;1404;p32"/>
          <p:cNvSpPr txBox="1"/>
          <p:nvPr/>
        </p:nvSpPr>
        <p:spPr>
          <a:xfrm>
            <a:off x="4619552" y="2290575"/>
            <a:ext cx="6701700" cy="36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occur in rental context, where consumers cannot drill or damage walls due to lease agreements, property restrictions, or future resale concerns.</a:t>
            </a:r>
            <a:endParaRPr b="0" i="0" sz="1000" u="none" cap="none" strike="noStrike">
              <a:solidFill>
                <a:schemeClr val="dk1"/>
              </a:solidFill>
              <a:latin typeface="Calibri"/>
              <a:ea typeface="Calibri"/>
              <a:cs typeface="Calibri"/>
              <a:sym typeface="Calibri"/>
            </a:endParaRPr>
          </a:p>
        </p:txBody>
      </p:sp>
      <p:sp>
        <p:nvSpPr>
          <p:cNvPr id="1405" name="Google Shape;1405;p32"/>
          <p:cNvSpPr txBox="1"/>
          <p:nvPr/>
        </p:nvSpPr>
        <p:spPr>
          <a:xfrm>
            <a:off x="3038551" y="2967228"/>
            <a:ext cx="23289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Most "no-drill" solutions max out at</a:t>
            </a:r>
            <a:endParaRPr b="0" i="0" sz="1000" u="none" cap="none" strike="noStrike">
              <a:solidFill>
                <a:schemeClr val="dk1"/>
              </a:solidFill>
              <a:latin typeface="Calibri"/>
              <a:ea typeface="Calibri"/>
              <a:cs typeface="Calibri"/>
              <a:sym typeface="Calibri"/>
            </a:endParaRPr>
          </a:p>
        </p:txBody>
      </p:sp>
      <p:sp>
        <p:nvSpPr>
          <p:cNvPr id="1406" name="Google Shape;1406;p32"/>
          <p:cNvSpPr txBox="1"/>
          <p:nvPr/>
        </p:nvSpPr>
        <p:spPr>
          <a:xfrm>
            <a:off x="5805672" y="2967228"/>
            <a:ext cx="39867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or fail in garage environments (humidity/temperature swings).</a:t>
            </a:r>
            <a:endParaRPr b="0" i="0" sz="1000" u="none" cap="none" strike="noStrike">
              <a:solidFill>
                <a:schemeClr val="dk1"/>
              </a:solidFill>
              <a:latin typeface="Calibri"/>
              <a:ea typeface="Calibri"/>
              <a:cs typeface="Calibri"/>
              <a:sym typeface="Calibri"/>
            </a:endParaRPr>
          </a:p>
        </p:txBody>
      </p:sp>
      <p:sp>
        <p:nvSpPr>
          <p:cNvPr id="1407" name="Google Shape;1407;p32"/>
          <p:cNvSpPr txBox="1"/>
          <p:nvPr/>
        </p:nvSpPr>
        <p:spPr>
          <a:xfrm>
            <a:off x="3038551" y="3443630"/>
            <a:ext cx="4434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Need</a:t>
            </a:r>
            <a:endParaRPr b="0" i="0" sz="1000" u="none" cap="none" strike="noStrike">
              <a:solidFill>
                <a:schemeClr val="dk1"/>
              </a:solidFill>
              <a:latin typeface="Calibri"/>
              <a:ea typeface="Calibri"/>
              <a:cs typeface="Calibri"/>
              <a:sym typeface="Calibri"/>
            </a:endParaRPr>
          </a:p>
        </p:txBody>
      </p:sp>
      <p:sp>
        <p:nvSpPr>
          <p:cNvPr id="1408" name="Google Shape;1408;p32"/>
          <p:cNvSpPr txBox="1"/>
          <p:nvPr/>
        </p:nvSpPr>
        <p:spPr>
          <a:xfrm>
            <a:off x="4575390" y="3443630"/>
            <a:ext cx="46725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for bikes, tools, and sports equipment; must function in garage extremes</a:t>
            </a:r>
            <a:endParaRPr b="0" i="0" sz="1000" u="none" cap="none" strike="noStrike">
              <a:solidFill>
                <a:schemeClr val="dk1"/>
              </a:solidFill>
              <a:latin typeface="Calibri"/>
              <a:ea typeface="Calibri"/>
              <a:cs typeface="Calibri"/>
              <a:sym typeface="Calibri"/>
            </a:endParaRPr>
          </a:p>
        </p:txBody>
      </p:sp>
      <p:sp>
        <p:nvSpPr>
          <p:cNvPr id="1409" name="Google Shape;1409;p32"/>
          <p:cNvSpPr txBox="1"/>
          <p:nvPr/>
        </p:nvSpPr>
        <p:spPr>
          <a:xfrm>
            <a:off x="3055717" y="3520879"/>
            <a:ext cx="8272500" cy="36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temperature range; multi-surface compatibility (drywall, concrete, textured).</a:t>
            </a:r>
            <a:endParaRPr b="0" i="0" sz="1000" u="none" cap="none" strike="noStrike">
              <a:solidFill>
                <a:schemeClr val="dk1"/>
              </a:solidFill>
              <a:latin typeface="Calibri"/>
              <a:ea typeface="Calibri"/>
              <a:cs typeface="Calibri"/>
              <a:sym typeface="Calibri"/>
            </a:endParaRPr>
          </a:p>
        </p:txBody>
      </p:sp>
      <p:sp>
        <p:nvSpPr>
          <p:cNvPr id="1410" name="Google Shape;1410;p32"/>
          <p:cNvSpPr txBox="1"/>
          <p:nvPr/>
        </p:nvSpPr>
        <p:spPr>
          <a:xfrm>
            <a:off x="3038551" y="4119372"/>
            <a:ext cx="16907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Consumers willing to pay</a:t>
            </a:r>
            <a:endParaRPr b="0" i="0" sz="1000" u="none" cap="none" strike="noStrike">
              <a:solidFill>
                <a:schemeClr val="dk1"/>
              </a:solidFill>
              <a:latin typeface="Calibri"/>
              <a:ea typeface="Calibri"/>
              <a:cs typeface="Calibri"/>
              <a:sym typeface="Calibri"/>
            </a:endParaRPr>
          </a:p>
        </p:txBody>
      </p:sp>
      <p:sp>
        <p:nvSpPr>
          <p:cNvPr id="1411" name="Google Shape;1411;p32"/>
          <p:cNvSpPr txBox="1"/>
          <p:nvPr/>
        </p:nvSpPr>
        <p:spPr>
          <a:xfrm>
            <a:off x="3038551" y="4188038"/>
            <a:ext cx="8330100" cy="36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for damage-free solutions that actually work—validated by premium price acceptance for damage-free benefits.</a:t>
            </a:r>
            <a:endParaRPr b="0" i="0" sz="1000" u="none" cap="none" strike="noStrike">
              <a:solidFill>
                <a:schemeClr val="dk1"/>
              </a:solidFill>
              <a:latin typeface="Calibri"/>
              <a:ea typeface="Calibri"/>
              <a:cs typeface="Calibri"/>
              <a:sym typeface="Calibri"/>
            </a:endParaRPr>
          </a:p>
        </p:txBody>
      </p:sp>
      <p:sp>
        <p:nvSpPr>
          <p:cNvPr id="1412" name="Google Shape;1412;p32"/>
          <p:cNvSpPr txBox="1"/>
          <p:nvPr/>
        </p:nvSpPr>
        <p:spPr>
          <a:xfrm>
            <a:off x="3038551" y="4864694"/>
            <a:ext cx="8215800" cy="36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clear removal guarantees, and transparent capacity testing to overcome skepticism from prior product failures.</a:t>
            </a:r>
            <a:endParaRPr b="0" i="0" sz="1000" u="none" cap="none" strike="noStrike">
              <a:solidFill>
                <a:schemeClr val="dk1"/>
              </a:solidFill>
              <a:latin typeface="Calibri"/>
              <a:ea typeface="Calibri"/>
              <a:cs typeface="Calibri"/>
              <a:sym typeface="Calibri"/>
            </a:endParaRPr>
          </a:p>
        </p:txBody>
      </p:sp>
      <p:sp>
        <p:nvSpPr>
          <p:cNvPr id="1413" name="Google Shape;1413;p32"/>
          <p:cNvSpPr txBox="1"/>
          <p:nvPr/>
        </p:nvSpPr>
        <p:spPr>
          <a:xfrm>
            <a:off x="3038551" y="5471770"/>
            <a:ext cx="32342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Addresses two most underserved consumer jobs:</a:t>
            </a:r>
            <a:endParaRPr b="0" i="0" sz="1000" u="none" cap="none" strike="noStrike">
              <a:solidFill>
                <a:schemeClr val="dk1"/>
              </a:solidFill>
              <a:latin typeface="Calibri"/>
              <a:ea typeface="Calibri"/>
              <a:cs typeface="Calibri"/>
              <a:sym typeface="Calibri"/>
            </a:endParaRPr>
          </a:p>
        </p:txBody>
      </p:sp>
      <p:sp>
        <p:nvSpPr>
          <p:cNvPr id="1414" name="Google Shape;1414;p32"/>
          <p:cNvSpPr txBox="1"/>
          <p:nvPr/>
        </p:nvSpPr>
        <p:spPr>
          <a:xfrm>
            <a:off x="7343546" y="5471770"/>
            <a:ext cx="15864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(2.1/10 satisfaction) and</a:t>
            </a:r>
            <a:endParaRPr b="0" i="0" sz="1000" u="none" cap="none" strike="noStrike">
              <a:solidFill>
                <a:schemeClr val="dk1"/>
              </a:solidFill>
              <a:latin typeface="Calibri"/>
              <a:ea typeface="Calibri"/>
              <a:cs typeface="Calibri"/>
              <a:sym typeface="Calibri"/>
            </a:endParaRPr>
          </a:p>
        </p:txBody>
      </p:sp>
      <p:sp>
        <p:nvSpPr>
          <p:cNvPr id="1415" name="Google Shape;1415;p32"/>
          <p:cNvSpPr txBox="1"/>
          <p:nvPr/>
        </p:nvSpPr>
        <p:spPr>
          <a:xfrm>
            <a:off x="3038551" y="5549019"/>
            <a:ext cx="8349300" cy="36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(1.9/10 satisfaction)—both critical for renters.</a:t>
            </a:r>
            <a:endParaRPr b="0" i="0" sz="1000" u="none" cap="none" strike="noStrike">
              <a:solidFill>
                <a:schemeClr val="dk1"/>
              </a:solidFill>
              <a:latin typeface="Calibri"/>
              <a:ea typeface="Calibri"/>
              <a:cs typeface="Calibri"/>
              <a:sym typeface="Calibri"/>
            </a:endParaRPr>
          </a:p>
        </p:txBody>
      </p:sp>
      <p:sp>
        <p:nvSpPr>
          <p:cNvPr id="1416" name="Google Shape;1416;p32"/>
          <p:cNvSpPr txBox="1"/>
          <p:nvPr/>
        </p:nvSpPr>
        <p:spPr>
          <a:xfrm>
            <a:off x="3038551" y="6148426"/>
            <a:ext cx="6336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Primary:</a:t>
            </a:r>
            <a:endParaRPr b="0" i="0" sz="1000" u="none" cap="none" strike="noStrike">
              <a:solidFill>
                <a:schemeClr val="dk1"/>
              </a:solidFill>
              <a:latin typeface="Calibri"/>
              <a:ea typeface="Calibri"/>
              <a:cs typeface="Calibri"/>
              <a:sym typeface="Calibri"/>
            </a:endParaRPr>
          </a:p>
        </p:txBody>
      </p:sp>
      <p:sp>
        <p:nvSpPr>
          <p:cNvPr id="1417" name="Google Shape;1417;p32"/>
          <p:cNvSpPr txBox="1"/>
          <p:nvPr/>
        </p:nvSpPr>
        <p:spPr>
          <a:xfrm>
            <a:off x="4559198" y="6148426"/>
            <a:ext cx="61676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for renter reach; Secondary: Home Depot for DIY credibility and trust in specialized applications.</a:t>
            </a:r>
            <a:endParaRPr b="0" i="0" sz="1000" u="none" cap="none" strike="noStrike">
              <a:solidFill>
                <a:schemeClr val="dk1"/>
              </a:solidFill>
              <a:latin typeface="Calibri"/>
              <a:ea typeface="Calibri"/>
              <a:cs typeface="Calibri"/>
              <a:sym typeface="Calibri"/>
            </a:endParaRPr>
          </a:p>
        </p:txBody>
      </p:sp>
      <p:sp>
        <p:nvSpPr>
          <p:cNvPr id="1418" name="Google Shape;1418;p32"/>
          <p:cNvSpPr/>
          <p:nvPr/>
        </p:nvSpPr>
        <p:spPr>
          <a:xfrm>
            <a:off x="609905" y="6700723"/>
            <a:ext cx="10972800" cy="666598"/>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2"/>
          <p:cNvSpPr/>
          <p:nvPr/>
        </p:nvSpPr>
        <p:spPr>
          <a:xfrm>
            <a:off x="609905" y="6700723"/>
            <a:ext cx="38405" cy="666598"/>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2"/>
          <p:cNvSpPr txBox="1"/>
          <p:nvPr/>
        </p:nvSpPr>
        <p:spPr>
          <a:xfrm>
            <a:off x="838505" y="6853428"/>
            <a:ext cx="10463479"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0" i="0" lang="en-US" sz="1000" u="none" cap="none" strike="noStrike">
                <a:solidFill>
                  <a:srgbClr val="374151"/>
                </a:solidFill>
                <a:latin typeface="Inter"/>
                <a:ea typeface="Inter"/>
                <a:cs typeface="Inter"/>
                <a:sym typeface="Inter"/>
              </a:rPr>
              <a:t>Strategic Opportunity: Landlord Paradox - Some leases now specify "NO command strips, but small nails are fine" because widespread paint damage from adhesive removal costs more to repair than nail holes. A "Landlord-Approved" product line with verifiable damage-free removal could become a category disruptor.</a:t>
            </a:r>
            <a:endParaRPr b="0" i="0" sz="1000" u="none" cap="none" strike="noStrike">
              <a:solidFill>
                <a:schemeClr val="dk1"/>
              </a:solidFill>
              <a:latin typeface="Calibri"/>
              <a:ea typeface="Calibri"/>
              <a:cs typeface="Calibri"/>
              <a:sym typeface="Calibri"/>
            </a:endParaRPr>
          </a:p>
        </p:txBody>
      </p:sp>
      <p:sp>
        <p:nvSpPr>
          <p:cNvPr id="1421" name="Google Shape;1421;p32"/>
          <p:cNvSpPr txBox="1"/>
          <p:nvPr/>
        </p:nvSpPr>
        <p:spPr>
          <a:xfrm>
            <a:off x="609905" y="7605979"/>
            <a:ext cx="2514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422" name="Google Shape;1422;p32"/>
          <p:cNvSpPr txBox="1"/>
          <p:nvPr/>
        </p:nvSpPr>
        <p:spPr>
          <a:xfrm>
            <a:off x="11436401" y="7605979"/>
            <a:ext cx="2386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7" name="Shape 1427"/>
        <p:cNvGrpSpPr/>
        <p:nvPr/>
      </p:nvGrpSpPr>
      <p:grpSpPr>
        <a:xfrm>
          <a:off x="0" y="0"/>
          <a:ext cx="0" cy="0"/>
          <a:chOff x="0" y="0"/>
          <a:chExt cx="0" cy="0"/>
        </a:xfrm>
      </p:grpSpPr>
      <p:sp>
        <p:nvSpPr>
          <p:cNvPr id="1428" name="Google Shape;1428;p33"/>
          <p:cNvSpPr/>
          <p:nvPr/>
        </p:nvSpPr>
        <p:spPr>
          <a:xfrm>
            <a:off x="0" y="0"/>
            <a:ext cx="12191695" cy="9743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3"/>
          <p:cNvSpPr/>
          <p:nvPr/>
        </p:nvSpPr>
        <p:spPr>
          <a:xfrm>
            <a:off x="0" y="0"/>
            <a:ext cx="12191695" cy="97438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3"/>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3"/>
          <p:cNvSpPr txBox="1"/>
          <p:nvPr/>
        </p:nvSpPr>
        <p:spPr>
          <a:xfrm>
            <a:off x="609905" y="685800"/>
            <a:ext cx="10420502" cy="8293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200" u="none" cap="none" strike="noStrike">
                <a:solidFill>
                  <a:srgbClr val="111827"/>
                </a:solidFill>
                <a:latin typeface="Montserrat"/>
                <a:ea typeface="Montserrat"/>
                <a:cs typeface="Montserrat"/>
                <a:sym typeface="Montserrat"/>
              </a:rPr>
              <a:t>White Space #2 Rationale: Premium Performance Gap — Why It Wins</a:t>
            </a:r>
            <a:endParaRPr b="0" i="0" sz="2200" u="none" cap="none" strike="noStrike">
              <a:solidFill>
                <a:schemeClr val="dk1"/>
              </a:solidFill>
              <a:latin typeface="Calibri"/>
              <a:ea typeface="Calibri"/>
              <a:cs typeface="Calibri"/>
              <a:sym typeface="Calibri"/>
            </a:endParaRPr>
          </a:p>
        </p:txBody>
      </p:sp>
      <p:sp>
        <p:nvSpPr>
          <p:cNvPr id="1432" name="Google Shape;1432;p33"/>
          <p:cNvSpPr txBox="1"/>
          <p:nvPr/>
        </p:nvSpPr>
        <p:spPr>
          <a:xfrm>
            <a:off x="609905" y="1676095"/>
            <a:ext cx="10549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HD/Lowe's customers demonstrate $60-120 price acceptance (market avg $80-120). Gladiator/Kobalt prove premium viability but require complex installation</a:t>
            </a:r>
            <a:endParaRPr b="0" i="0" sz="1000" u="none" cap="none" strike="noStrike">
              <a:solidFill>
                <a:schemeClr val="dk1"/>
              </a:solidFill>
              <a:latin typeface="Calibri"/>
              <a:ea typeface="Calibri"/>
              <a:cs typeface="Calibri"/>
              <a:sym typeface="Calibri"/>
            </a:endParaRPr>
          </a:p>
        </p:txBody>
      </p:sp>
      <p:sp>
        <p:nvSpPr>
          <p:cNvPr id="1433" name="Google Shape;1433;p33"/>
          <p:cNvSpPr/>
          <p:nvPr/>
        </p:nvSpPr>
        <p:spPr>
          <a:xfrm>
            <a:off x="609905" y="2162556"/>
            <a:ext cx="10972800" cy="5781751"/>
          </a:xfrm>
          <a:prstGeom prst="roundRect">
            <a:avLst>
              <a:gd fmla="val 20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3"/>
          <p:cNvSpPr/>
          <p:nvPr/>
        </p:nvSpPr>
        <p:spPr>
          <a:xfrm>
            <a:off x="619049" y="2171700"/>
            <a:ext cx="10953598" cy="10863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3"/>
          <p:cNvSpPr/>
          <p:nvPr/>
        </p:nvSpPr>
        <p:spPr>
          <a:xfrm>
            <a:off x="619049" y="324886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3"/>
          <p:cNvSpPr/>
          <p:nvPr/>
        </p:nvSpPr>
        <p:spPr>
          <a:xfrm>
            <a:off x="619049" y="3255264"/>
            <a:ext cx="10953598" cy="8476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3"/>
          <p:cNvSpPr/>
          <p:nvPr/>
        </p:nvSpPr>
        <p:spPr>
          <a:xfrm>
            <a:off x="619049" y="409376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3"/>
          <p:cNvSpPr/>
          <p:nvPr/>
        </p:nvSpPr>
        <p:spPr>
          <a:xfrm>
            <a:off x="619049" y="4095598"/>
            <a:ext cx="10953598" cy="10863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3"/>
          <p:cNvSpPr/>
          <p:nvPr/>
        </p:nvSpPr>
        <p:spPr>
          <a:xfrm>
            <a:off x="619049" y="51727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3"/>
          <p:cNvSpPr/>
          <p:nvPr/>
        </p:nvSpPr>
        <p:spPr>
          <a:xfrm>
            <a:off x="619049" y="5179162"/>
            <a:ext cx="10953598" cy="10863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3"/>
          <p:cNvSpPr/>
          <p:nvPr/>
        </p:nvSpPr>
        <p:spPr>
          <a:xfrm>
            <a:off x="619049" y="6256325"/>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3"/>
          <p:cNvSpPr/>
          <p:nvPr/>
        </p:nvSpPr>
        <p:spPr>
          <a:xfrm>
            <a:off x="619049" y="6262726"/>
            <a:ext cx="10953598" cy="8476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3"/>
          <p:cNvSpPr/>
          <p:nvPr/>
        </p:nvSpPr>
        <p:spPr>
          <a:xfrm>
            <a:off x="619049" y="710123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3"/>
          <p:cNvSpPr/>
          <p:nvPr/>
        </p:nvSpPr>
        <p:spPr>
          <a:xfrm>
            <a:off x="619049" y="7103059"/>
            <a:ext cx="10953598" cy="8385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3"/>
          <p:cNvSpPr txBox="1"/>
          <p:nvPr/>
        </p:nvSpPr>
        <p:spPr>
          <a:xfrm>
            <a:off x="847649" y="2361895"/>
            <a:ext cx="13341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Market Segment</a:t>
            </a:r>
            <a:endParaRPr b="0" i="0" sz="1200" u="none" cap="none" strike="noStrike">
              <a:solidFill>
                <a:schemeClr val="dk1"/>
              </a:solidFill>
              <a:latin typeface="Calibri"/>
              <a:ea typeface="Calibri"/>
              <a:cs typeface="Calibri"/>
              <a:sym typeface="Calibri"/>
            </a:endParaRPr>
          </a:p>
        </p:txBody>
      </p:sp>
      <p:sp>
        <p:nvSpPr>
          <p:cNvPr id="1446" name="Google Shape;1446;p33"/>
          <p:cNvSpPr txBox="1"/>
          <p:nvPr/>
        </p:nvSpPr>
        <p:spPr>
          <a:xfrm>
            <a:off x="847649" y="3446374"/>
            <a:ext cx="11055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Current State</a:t>
            </a:r>
            <a:endParaRPr b="0" i="0" sz="1200" u="none" cap="none" strike="noStrike">
              <a:solidFill>
                <a:schemeClr val="dk1"/>
              </a:solidFill>
              <a:latin typeface="Calibri"/>
              <a:ea typeface="Calibri"/>
              <a:cs typeface="Calibri"/>
              <a:sym typeface="Calibri"/>
            </a:endParaRPr>
          </a:p>
        </p:txBody>
      </p:sp>
      <p:sp>
        <p:nvSpPr>
          <p:cNvPr id="1447" name="Google Shape;1447;p33"/>
          <p:cNvSpPr txBox="1"/>
          <p:nvPr/>
        </p:nvSpPr>
        <p:spPr>
          <a:xfrm>
            <a:off x="847649" y="4285793"/>
            <a:ext cx="14200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Price Acceptance</a:t>
            </a:r>
            <a:endParaRPr b="0" i="0" sz="1200" u="none" cap="none" strike="noStrike">
              <a:solidFill>
                <a:schemeClr val="dk1"/>
              </a:solidFill>
              <a:latin typeface="Calibri"/>
              <a:ea typeface="Calibri"/>
              <a:cs typeface="Calibri"/>
              <a:sym typeface="Calibri"/>
            </a:endParaRPr>
          </a:p>
        </p:txBody>
      </p:sp>
      <p:sp>
        <p:nvSpPr>
          <p:cNvPr id="1448" name="Google Shape;1448;p33"/>
          <p:cNvSpPr txBox="1"/>
          <p:nvPr/>
        </p:nvSpPr>
        <p:spPr>
          <a:xfrm>
            <a:off x="847649" y="5369357"/>
            <a:ext cx="1886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Technical Requirements</a:t>
            </a:r>
            <a:endParaRPr b="0" i="0" sz="1200" u="none" cap="none" strike="noStrike">
              <a:solidFill>
                <a:schemeClr val="dk1"/>
              </a:solidFill>
              <a:latin typeface="Calibri"/>
              <a:ea typeface="Calibri"/>
              <a:cs typeface="Calibri"/>
              <a:sym typeface="Calibri"/>
            </a:endParaRPr>
          </a:p>
        </p:txBody>
      </p:sp>
      <p:sp>
        <p:nvSpPr>
          <p:cNvPr id="1449" name="Google Shape;1449;p33"/>
          <p:cNvSpPr txBox="1"/>
          <p:nvPr/>
        </p:nvSpPr>
        <p:spPr>
          <a:xfrm>
            <a:off x="847649" y="6453835"/>
            <a:ext cx="1143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Trust Builders</a:t>
            </a:r>
            <a:endParaRPr b="0" i="0" sz="1200" u="none" cap="none" strike="noStrike">
              <a:solidFill>
                <a:schemeClr val="dk1"/>
              </a:solidFill>
              <a:latin typeface="Calibri"/>
              <a:ea typeface="Calibri"/>
              <a:cs typeface="Calibri"/>
              <a:sym typeface="Calibri"/>
            </a:endParaRPr>
          </a:p>
        </p:txBody>
      </p:sp>
      <p:sp>
        <p:nvSpPr>
          <p:cNvPr id="1450" name="Google Shape;1450;p33"/>
          <p:cNvSpPr txBox="1"/>
          <p:nvPr/>
        </p:nvSpPr>
        <p:spPr>
          <a:xfrm>
            <a:off x="847649" y="7293254"/>
            <a:ext cx="1390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Channel Strategy</a:t>
            </a:r>
            <a:endParaRPr b="0" i="0" sz="1200" u="none" cap="none" strike="noStrike">
              <a:solidFill>
                <a:schemeClr val="dk1"/>
              </a:solidFill>
              <a:latin typeface="Calibri"/>
              <a:ea typeface="Calibri"/>
              <a:cs typeface="Calibri"/>
              <a:sym typeface="Calibri"/>
            </a:endParaRPr>
          </a:p>
        </p:txBody>
      </p:sp>
      <p:sp>
        <p:nvSpPr>
          <p:cNvPr id="1451" name="Google Shape;1451;p33"/>
          <p:cNvSpPr txBox="1"/>
          <p:nvPr/>
        </p:nvSpPr>
        <p:spPr>
          <a:xfrm>
            <a:off x="3603915" y="2361895"/>
            <a:ext cx="743400" cy="1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45–50%</a:t>
            </a:r>
            <a:endParaRPr b="0" i="0" sz="1200" u="none" cap="none" strike="noStrike">
              <a:solidFill>
                <a:schemeClr val="dk1"/>
              </a:solidFill>
              <a:latin typeface="Calibri"/>
              <a:ea typeface="Calibri"/>
              <a:cs typeface="Calibri"/>
              <a:sym typeface="Calibri"/>
            </a:endParaRPr>
          </a:p>
        </p:txBody>
      </p:sp>
      <p:sp>
        <p:nvSpPr>
          <p:cNvPr id="1452" name="Google Shape;1452;p33"/>
          <p:cNvSpPr txBox="1"/>
          <p:nvPr/>
        </p:nvSpPr>
        <p:spPr>
          <a:xfrm>
            <a:off x="3705110" y="2606040"/>
            <a:ext cx="467400" cy="1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65%</a:t>
            </a:r>
            <a:endParaRPr b="0" i="0" sz="1200" u="none" cap="none" strike="noStrike">
              <a:solidFill>
                <a:schemeClr val="dk1"/>
              </a:solidFill>
              <a:latin typeface="Calibri"/>
              <a:ea typeface="Calibri"/>
              <a:cs typeface="Calibri"/>
              <a:sym typeface="Calibri"/>
            </a:endParaRPr>
          </a:p>
        </p:txBody>
      </p:sp>
      <p:sp>
        <p:nvSpPr>
          <p:cNvPr id="1453" name="Google Shape;1453;p33"/>
          <p:cNvSpPr txBox="1"/>
          <p:nvPr/>
        </p:nvSpPr>
        <p:spPr>
          <a:xfrm>
            <a:off x="3603915" y="4285793"/>
            <a:ext cx="857700" cy="1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$60–$120</a:t>
            </a:r>
            <a:endParaRPr b="0" i="0" sz="1200" u="none" cap="none" strike="noStrike">
              <a:solidFill>
                <a:schemeClr val="dk1"/>
              </a:solidFill>
              <a:latin typeface="Calibri"/>
              <a:ea typeface="Calibri"/>
              <a:cs typeface="Calibri"/>
              <a:sym typeface="Calibri"/>
            </a:endParaRPr>
          </a:p>
        </p:txBody>
      </p:sp>
      <p:sp>
        <p:nvSpPr>
          <p:cNvPr id="1454" name="Google Shape;1454;p33"/>
          <p:cNvSpPr txBox="1"/>
          <p:nvPr/>
        </p:nvSpPr>
        <p:spPr>
          <a:xfrm>
            <a:off x="3603915" y="5369357"/>
            <a:ext cx="933600" cy="1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50-100+ lb</a:t>
            </a:r>
            <a:endParaRPr b="0" i="0" sz="1200" u="none" cap="none" strike="noStrike">
              <a:solidFill>
                <a:schemeClr val="dk1"/>
              </a:solidFill>
              <a:latin typeface="Calibri"/>
              <a:ea typeface="Calibri"/>
              <a:cs typeface="Calibri"/>
              <a:sym typeface="Calibri"/>
            </a:endParaRPr>
          </a:p>
        </p:txBody>
      </p:sp>
      <p:sp>
        <p:nvSpPr>
          <p:cNvPr id="1455" name="Google Shape;1455;p33"/>
          <p:cNvSpPr txBox="1"/>
          <p:nvPr/>
        </p:nvSpPr>
        <p:spPr>
          <a:xfrm>
            <a:off x="3603915" y="6453835"/>
            <a:ext cx="1401000" cy="1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10-</a:t>
            </a:r>
            <a:r>
              <a:rPr b="1" lang="en-US" sz="1200">
                <a:solidFill>
                  <a:srgbClr val="1E3A8A"/>
                </a:solidFill>
                <a:latin typeface="Inter"/>
                <a:ea typeface="Inter"/>
                <a:cs typeface="Inter"/>
                <a:sym typeface="Inter"/>
              </a:rPr>
              <a:t>yr</a:t>
            </a:r>
            <a:r>
              <a:rPr b="1" i="0" lang="en-US" sz="1200" u="none" cap="none" strike="noStrike">
                <a:solidFill>
                  <a:srgbClr val="1E3A8A"/>
                </a:solidFill>
                <a:latin typeface="Inter"/>
                <a:ea typeface="Inter"/>
                <a:cs typeface="Inter"/>
                <a:sym typeface="Inter"/>
              </a:rPr>
              <a:t> </a:t>
            </a:r>
            <a:endParaRPr b="1" i="0" sz="1200" u="none" cap="none" strike="noStrike">
              <a:solidFill>
                <a:srgbClr val="1E3A8A"/>
              </a:solidFill>
              <a:latin typeface="Inter"/>
              <a:ea typeface="Inter"/>
              <a:cs typeface="Inter"/>
              <a:sym typeface="Inter"/>
            </a:endParaRPr>
          </a:p>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warranty</a:t>
            </a:r>
            <a:endParaRPr b="0" i="0" sz="1200" u="none" cap="none" strike="noStrike">
              <a:solidFill>
                <a:schemeClr val="dk1"/>
              </a:solidFill>
              <a:latin typeface="Calibri"/>
              <a:ea typeface="Calibri"/>
              <a:cs typeface="Calibri"/>
              <a:sym typeface="Calibri"/>
            </a:endParaRPr>
          </a:p>
        </p:txBody>
      </p:sp>
      <p:sp>
        <p:nvSpPr>
          <p:cNvPr id="1456" name="Google Shape;1456;p33"/>
          <p:cNvSpPr txBox="1"/>
          <p:nvPr/>
        </p:nvSpPr>
        <p:spPr>
          <a:xfrm>
            <a:off x="3603915" y="7293254"/>
            <a:ext cx="2372100" cy="19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Home Depot</a:t>
            </a:r>
            <a:endParaRPr b="1" i="0" sz="1200" u="none" cap="none" strike="noStrike">
              <a:solidFill>
                <a:srgbClr val="1E3A8A"/>
              </a:solidFill>
              <a:latin typeface="Inter"/>
              <a:ea typeface="Inter"/>
              <a:cs typeface="Inter"/>
              <a:sym typeface="Inter"/>
            </a:endParaRPr>
          </a:p>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/Lowe's </a:t>
            </a:r>
            <a:endParaRPr b="1" i="0" sz="1200" u="none" cap="none" strike="noStrike">
              <a:solidFill>
                <a:srgbClr val="1E3A8A"/>
              </a:solidFill>
              <a:latin typeface="Inter"/>
              <a:ea typeface="Inter"/>
              <a:cs typeface="Inter"/>
              <a:sym typeface="Inter"/>
            </a:endParaRPr>
          </a:p>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exclusive</a:t>
            </a:r>
            <a:endParaRPr b="0" i="0" sz="1200" u="none" cap="none" strike="noStrike">
              <a:solidFill>
                <a:schemeClr val="dk1"/>
              </a:solidFill>
              <a:latin typeface="Calibri"/>
              <a:ea typeface="Calibri"/>
              <a:cs typeface="Calibri"/>
              <a:sym typeface="Calibri"/>
            </a:endParaRPr>
          </a:p>
        </p:txBody>
      </p:sp>
      <p:sp>
        <p:nvSpPr>
          <p:cNvPr id="1457" name="Google Shape;1457;p33"/>
          <p:cNvSpPr txBox="1"/>
          <p:nvPr/>
        </p:nvSpPr>
        <p:spPr>
          <a:xfrm>
            <a:off x="4562213" y="2290267"/>
            <a:ext cx="60771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 revenue oriented to premium quality/ease; premium channels (HD/Lowe's) ≈</a:t>
            </a:r>
            <a:endParaRPr b="0" i="0" sz="1200" u="none" cap="none" strike="noStrike">
              <a:solidFill>
                <a:schemeClr val="dk1"/>
              </a:solidFill>
              <a:latin typeface="Calibri"/>
              <a:ea typeface="Calibri"/>
              <a:cs typeface="Calibri"/>
              <a:sym typeface="Calibri"/>
            </a:endParaRPr>
          </a:p>
        </p:txBody>
      </p:sp>
      <p:sp>
        <p:nvSpPr>
          <p:cNvPr id="1458" name="Google Shape;1458;p33"/>
          <p:cNvSpPr txBox="1"/>
          <p:nvPr/>
        </p:nvSpPr>
        <p:spPr>
          <a:xfrm>
            <a:off x="4589654" y="2634703"/>
            <a:ext cx="54873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category revenue. </a:t>
            </a:r>
            <a:endParaRPr b="0" i="0" sz="1200" u="none" cap="none" strike="noStrike">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Source: 00_EXECUTIVE_SUMMARY_5_BIG_BOULDERS.md; 01_EXECUTIVE_BRIEFING.md</a:t>
            </a:r>
            <a:endParaRPr b="0" i="0" sz="1200" u="none" cap="none" strike="noStrike">
              <a:solidFill>
                <a:schemeClr val="dk1"/>
              </a:solidFill>
              <a:latin typeface="Calibri"/>
              <a:ea typeface="Calibri"/>
              <a:cs typeface="Calibri"/>
              <a:sym typeface="Calibri"/>
            </a:endParaRPr>
          </a:p>
        </p:txBody>
      </p:sp>
      <p:sp>
        <p:nvSpPr>
          <p:cNvPr id="1459" name="Google Shape;1459;p33"/>
          <p:cNvSpPr txBox="1"/>
          <p:nvPr/>
        </p:nvSpPr>
        <p:spPr>
          <a:xfrm>
            <a:off x="4632633" y="3446375"/>
            <a:ext cx="63441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Gladiator/Kobalt prove premium willingness but require complex installation; ecosystem purchases often pro-installed. </a:t>
            </a:r>
            <a:endParaRPr b="0" i="0" sz="1200" u="none" cap="none" strike="noStrike">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Source: 02_CATEGORY_INTELLIGENCE_DEEP_DIVE.md</a:t>
            </a:r>
            <a:endParaRPr b="0" i="0" sz="1200" u="none" cap="none" strike="noStrike">
              <a:solidFill>
                <a:schemeClr val="dk1"/>
              </a:solidFill>
              <a:latin typeface="Calibri"/>
              <a:ea typeface="Calibri"/>
              <a:cs typeface="Calibri"/>
              <a:sym typeface="Calibri"/>
            </a:endParaRPr>
          </a:p>
        </p:txBody>
      </p:sp>
      <p:sp>
        <p:nvSpPr>
          <p:cNvPr id="1460" name="Google Shape;1460;p33"/>
          <p:cNvSpPr txBox="1"/>
          <p:nvPr/>
        </p:nvSpPr>
        <p:spPr>
          <a:xfrm>
            <a:off x="4633535" y="4285800"/>
            <a:ext cx="59628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unit validated by HD/Lowe's shoppers; dataset under-represents premium but market-weighted analysis confirms. S</a:t>
            </a:r>
            <a:endParaRPr b="0" i="0" sz="1200" u="none" cap="none" strike="noStrike">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ource: 01_EXECUTIVE_BRIEFING.md; Appendix (market weighting)</a:t>
            </a:r>
            <a:endParaRPr b="0" i="0" sz="1200" u="none" cap="none" strike="noStrike">
              <a:solidFill>
                <a:schemeClr val="dk1"/>
              </a:solidFill>
              <a:latin typeface="Calibri"/>
              <a:ea typeface="Calibri"/>
              <a:cs typeface="Calibri"/>
              <a:sym typeface="Calibri"/>
            </a:endParaRPr>
          </a:p>
        </p:txBody>
      </p:sp>
      <p:sp>
        <p:nvSpPr>
          <p:cNvPr id="1461" name="Google Shape;1461;p33"/>
          <p:cNvSpPr txBox="1"/>
          <p:nvPr/>
        </p:nvSpPr>
        <p:spPr>
          <a:xfrm>
            <a:off x="4709433" y="5369350"/>
            <a:ext cx="62673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capacity with simple installation mechanism (adhesive/hybrid), corrosion resistance for garages, multi-surface compatibility. </a:t>
            </a:r>
            <a:endParaRPr b="0" i="0" sz="1200" u="none" cap="none" strike="noStrike">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Source: 02_CATEGORY_INTELLIGENCE_DEEP_DIVE.md (6.2 Technical Requirements)</a:t>
            </a:r>
            <a:endParaRPr b="0" i="0" sz="1200" u="none" cap="none" strike="noStrike">
              <a:solidFill>
                <a:schemeClr val="dk1"/>
              </a:solidFill>
              <a:latin typeface="Calibri"/>
              <a:ea typeface="Calibri"/>
              <a:cs typeface="Calibri"/>
              <a:sym typeface="Calibri"/>
            </a:endParaRPr>
          </a:p>
        </p:txBody>
      </p:sp>
      <p:sp>
        <p:nvSpPr>
          <p:cNvPr id="1462" name="Google Shape;1462;p33"/>
          <p:cNvSpPr txBox="1"/>
          <p:nvPr/>
        </p:nvSpPr>
        <p:spPr>
          <a:xfrm>
            <a:off x="4737784" y="6453825"/>
            <a:ext cx="59628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lang="en-US" sz="1200">
                <a:solidFill>
                  <a:srgbClr val="111827"/>
                </a:solidFill>
                <a:latin typeface="Inter"/>
                <a:ea typeface="Inter"/>
                <a:cs typeface="Inter"/>
                <a:sym typeface="Inter"/>
              </a:rPr>
              <a:t>C</a:t>
            </a:r>
            <a:r>
              <a:rPr b="0" i="0" lang="en-US" sz="1200" u="none" cap="none" strike="noStrike">
                <a:solidFill>
                  <a:srgbClr val="111827"/>
                </a:solidFill>
                <a:latin typeface="Inter"/>
                <a:ea typeface="Inter"/>
                <a:cs typeface="Inter"/>
                <a:sym typeface="Inter"/>
              </a:rPr>
              <a:t>ertified testing protocols to overcome quality skepticism (58% cite weight failures; 39% rust). </a:t>
            </a:r>
            <a:endParaRPr b="0" i="0" sz="1200" u="none" cap="none" strike="noStrike">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Source: Boulder #3; 02_CATEGORY_INTELLIGENCE_DEEP_DIVE.md</a:t>
            </a:r>
            <a:endParaRPr b="0" i="0" sz="1200" u="none" cap="none" strike="noStrike">
              <a:solidFill>
                <a:schemeClr val="dk1"/>
              </a:solidFill>
              <a:latin typeface="Calibri"/>
              <a:ea typeface="Calibri"/>
              <a:cs typeface="Calibri"/>
              <a:sym typeface="Calibri"/>
            </a:endParaRPr>
          </a:p>
        </p:txBody>
      </p:sp>
      <p:sp>
        <p:nvSpPr>
          <p:cNvPr id="1463" name="Google Shape;1463;p33"/>
          <p:cNvSpPr txBox="1"/>
          <p:nvPr/>
        </p:nvSpPr>
        <p:spPr>
          <a:xfrm>
            <a:off x="4709434" y="7293250"/>
            <a:ext cx="58485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positioning to signal quality; avoid $30–$50 middle (the trap). S</a:t>
            </a:r>
            <a:endParaRPr b="0" i="0" sz="1200" u="none" cap="none" strike="noStrike">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ource: Boulder #1 &amp; #5</a:t>
            </a:r>
            <a:endParaRPr b="0" i="0" sz="1200" u="none" cap="none" strike="noStrike">
              <a:solidFill>
                <a:schemeClr val="dk1"/>
              </a:solidFill>
              <a:latin typeface="Calibri"/>
              <a:ea typeface="Calibri"/>
              <a:cs typeface="Calibri"/>
              <a:sym typeface="Calibri"/>
            </a:endParaRPr>
          </a:p>
        </p:txBody>
      </p:sp>
      <p:sp>
        <p:nvSpPr>
          <p:cNvPr id="1464" name="Google Shape;1464;p33"/>
          <p:cNvSpPr/>
          <p:nvPr/>
        </p:nvSpPr>
        <p:spPr>
          <a:xfrm>
            <a:off x="609905" y="8171993"/>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3"/>
          <p:cNvSpPr/>
          <p:nvPr/>
        </p:nvSpPr>
        <p:spPr>
          <a:xfrm>
            <a:off x="609905" y="8171993"/>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3"/>
          <p:cNvSpPr txBox="1"/>
          <p:nvPr/>
        </p:nvSpPr>
        <p:spPr>
          <a:xfrm>
            <a:off x="838505" y="8342986"/>
            <a:ext cx="10289743"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Strategic Insight: The "premium + easy installation" position is currently unoccupied. Consumers demonstrate willingness to pay 2-3x for products that combine premium quality with simplified installation experience.</a:t>
            </a:r>
            <a:endParaRPr b="0" i="0" sz="1100" u="none" cap="none" strike="noStrike">
              <a:solidFill>
                <a:schemeClr val="dk1"/>
              </a:solidFill>
              <a:latin typeface="Calibri"/>
              <a:ea typeface="Calibri"/>
              <a:cs typeface="Calibri"/>
              <a:sym typeface="Calibri"/>
            </a:endParaRPr>
          </a:p>
        </p:txBody>
      </p:sp>
      <p:sp>
        <p:nvSpPr>
          <p:cNvPr id="1467" name="Google Shape;1467;p33"/>
          <p:cNvSpPr txBox="1"/>
          <p:nvPr/>
        </p:nvSpPr>
        <p:spPr>
          <a:xfrm>
            <a:off x="609905" y="9257386"/>
            <a:ext cx="69009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Retail analysis based on 9,555 products (market-weighted) and consumer video evidence (n=571).</a:t>
            </a:r>
            <a:endParaRPr b="0" i="0" sz="1000" u="none" cap="none" strike="noStrike">
              <a:solidFill>
                <a:schemeClr val="dk1"/>
              </a:solidFill>
              <a:latin typeface="Calibri"/>
              <a:ea typeface="Calibri"/>
              <a:cs typeface="Calibri"/>
              <a:sym typeface="Calibri"/>
            </a:endParaRPr>
          </a:p>
        </p:txBody>
      </p:sp>
      <p:sp>
        <p:nvSpPr>
          <p:cNvPr id="1468" name="Google Shape;1468;p33"/>
          <p:cNvSpPr txBox="1"/>
          <p:nvPr/>
        </p:nvSpPr>
        <p:spPr>
          <a:xfrm>
            <a:off x="11412626" y="925738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34"/>
          <p:cNvSpPr/>
          <p:nvPr/>
        </p:nvSpPr>
        <p:spPr>
          <a:xfrm>
            <a:off x="0" y="0"/>
            <a:ext cx="12191695" cy="71816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4"/>
          <p:cNvSpPr/>
          <p:nvPr/>
        </p:nvSpPr>
        <p:spPr>
          <a:xfrm>
            <a:off x="0" y="0"/>
            <a:ext cx="12191695" cy="71816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4"/>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4"/>
          <p:cNvSpPr txBox="1"/>
          <p:nvPr/>
        </p:nvSpPr>
        <p:spPr>
          <a:xfrm>
            <a:off x="533095" y="780898"/>
            <a:ext cx="6220663"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White Space #3: Platform Ecosystem</a:t>
            </a:r>
            <a:endParaRPr b="0" i="0" sz="2700" u="none" cap="none" strike="noStrike">
              <a:solidFill>
                <a:schemeClr val="dk1"/>
              </a:solidFill>
              <a:latin typeface="Calibri"/>
              <a:ea typeface="Calibri"/>
              <a:cs typeface="Calibri"/>
              <a:sym typeface="Calibri"/>
            </a:endParaRPr>
          </a:p>
        </p:txBody>
      </p:sp>
      <p:sp>
        <p:nvSpPr>
          <p:cNvPr id="1478" name="Google Shape;1478;p34"/>
          <p:cNvSpPr txBox="1"/>
          <p:nvPr/>
        </p:nvSpPr>
        <p:spPr>
          <a:xfrm>
            <a:off x="533095" y="1638605"/>
            <a:ext cx="12673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THE OPPORTUNITY</a:t>
            </a:r>
            <a:endParaRPr b="0" i="0" sz="900" u="none" cap="none" strike="noStrike">
              <a:solidFill>
                <a:schemeClr val="dk1"/>
              </a:solidFill>
              <a:latin typeface="Calibri"/>
              <a:ea typeface="Calibri"/>
              <a:cs typeface="Calibri"/>
              <a:sym typeface="Calibri"/>
            </a:endParaRPr>
          </a:p>
        </p:txBody>
      </p:sp>
      <p:sp>
        <p:nvSpPr>
          <p:cNvPr id="1479" name="Google Shape;1479;p34"/>
          <p:cNvSpPr txBox="1"/>
          <p:nvPr/>
        </p:nvSpPr>
        <p:spPr>
          <a:xfrm>
            <a:off x="5330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80" name="Google Shape;1480;p34"/>
          <p:cNvSpPr txBox="1"/>
          <p:nvPr/>
        </p:nvSpPr>
        <p:spPr>
          <a:xfrm>
            <a:off x="747065" y="1904695"/>
            <a:ext cx="5015484"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Multi-Project Usage: About 1 in 6 creators feature Command products in multiple videos across different rooms and projects</a:t>
            </a:r>
            <a:endParaRPr b="0" i="0" sz="1300" u="none" cap="none" strike="noStrike">
              <a:solidFill>
                <a:schemeClr val="dk1"/>
              </a:solidFill>
              <a:latin typeface="Calibri"/>
              <a:ea typeface="Calibri"/>
              <a:cs typeface="Calibri"/>
              <a:sym typeface="Calibri"/>
            </a:endParaRPr>
          </a:p>
        </p:txBody>
      </p:sp>
      <p:sp>
        <p:nvSpPr>
          <p:cNvPr id="1481" name="Google Shape;1481;p34"/>
          <p:cNvSpPr txBox="1"/>
          <p:nvPr/>
        </p:nvSpPr>
        <p:spPr>
          <a:xfrm>
            <a:off x="5330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82" name="Google Shape;1482;p34"/>
          <p:cNvSpPr txBox="1"/>
          <p:nvPr/>
        </p:nvSpPr>
        <p:spPr>
          <a:xfrm>
            <a:off x="747065" y="3033065"/>
            <a:ext cx="4720133"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Cross-Room Applications: Content creators demonstrate migration from garage to kitchen, office, and bedroom organization solutions</a:t>
            </a:r>
            <a:endParaRPr b="0" i="0" sz="1300" u="none" cap="none" strike="noStrike">
              <a:solidFill>
                <a:schemeClr val="dk1"/>
              </a:solidFill>
              <a:latin typeface="Calibri"/>
              <a:ea typeface="Calibri"/>
              <a:cs typeface="Calibri"/>
              <a:sym typeface="Calibri"/>
            </a:endParaRPr>
          </a:p>
        </p:txBody>
      </p:sp>
      <p:sp>
        <p:nvSpPr>
          <p:cNvPr id="1483" name="Google Shape;1483;p34"/>
          <p:cNvSpPr txBox="1"/>
          <p:nvPr/>
        </p:nvSpPr>
        <p:spPr>
          <a:xfrm>
            <a:off x="533095" y="420806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84" name="Google Shape;1484;p34"/>
          <p:cNvSpPr txBox="1"/>
          <p:nvPr/>
        </p:nvSpPr>
        <p:spPr>
          <a:xfrm>
            <a:off x="747065" y="4160520"/>
            <a:ext cx="4700930"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Why Now: Category functions as a platform, not isolated products; first SKU is gateway to expanded use cases</a:t>
            </a:r>
            <a:endParaRPr b="0" i="0" sz="1300" u="none" cap="none" strike="noStrike">
              <a:solidFill>
                <a:schemeClr val="dk1"/>
              </a:solidFill>
              <a:latin typeface="Calibri"/>
              <a:ea typeface="Calibri"/>
              <a:cs typeface="Calibri"/>
              <a:sym typeface="Calibri"/>
            </a:endParaRPr>
          </a:p>
        </p:txBody>
      </p:sp>
      <p:sp>
        <p:nvSpPr>
          <p:cNvPr id="1485" name="Google Shape;1485;p34"/>
          <p:cNvSpPr txBox="1"/>
          <p:nvPr/>
        </p:nvSpPr>
        <p:spPr>
          <a:xfrm>
            <a:off x="6476695" y="1638605"/>
            <a:ext cx="17337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SOLUTION REQUIREMENTS</a:t>
            </a:r>
            <a:endParaRPr b="0" i="0" sz="900" u="none" cap="none" strike="noStrike">
              <a:solidFill>
                <a:schemeClr val="dk1"/>
              </a:solidFill>
              <a:latin typeface="Calibri"/>
              <a:ea typeface="Calibri"/>
              <a:cs typeface="Calibri"/>
              <a:sym typeface="Calibri"/>
            </a:endParaRPr>
          </a:p>
        </p:txBody>
      </p:sp>
      <p:sp>
        <p:nvSpPr>
          <p:cNvPr id="1486" name="Google Shape;1486;p34"/>
          <p:cNvSpPr txBox="1"/>
          <p:nvPr/>
        </p:nvSpPr>
        <p:spPr>
          <a:xfrm>
            <a:off x="64766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87" name="Google Shape;1487;p34"/>
          <p:cNvSpPr txBox="1"/>
          <p:nvPr/>
        </p:nvSpPr>
        <p:spPr>
          <a:xfrm>
            <a:off x="6690665" y="1904695"/>
            <a:ext cx="1176833"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Architecture:</a:t>
            </a:r>
            <a:endParaRPr b="0" i="0" sz="1300" u="none" cap="none" strike="noStrike">
              <a:solidFill>
                <a:schemeClr val="dk1"/>
              </a:solidFill>
              <a:latin typeface="Calibri"/>
              <a:ea typeface="Calibri"/>
              <a:cs typeface="Calibri"/>
              <a:sym typeface="Calibri"/>
            </a:endParaRPr>
          </a:p>
        </p:txBody>
      </p:sp>
      <p:sp>
        <p:nvSpPr>
          <p:cNvPr id="1488" name="Google Shape;1488;p34"/>
          <p:cNvSpPr txBox="1"/>
          <p:nvPr/>
        </p:nvSpPr>
        <p:spPr>
          <a:xfrm>
            <a:off x="6957670" y="2217420"/>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89" name="Google Shape;1489;p34"/>
          <p:cNvSpPr txBox="1"/>
          <p:nvPr/>
        </p:nvSpPr>
        <p:spPr>
          <a:xfrm>
            <a:off x="7106717" y="2169871"/>
            <a:ext cx="46488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Progressive path from starter hooks to advanced rails/cabinets</a:t>
            </a:r>
            <a:endParaRPr b="0" i="0" sz="1200" u="none" cap="none" strike="noStrike">
              <a:solidFill>
                <a:schemeClr val="dk1"/>
              </a:solidFill>
              <a:latin typeface="Calibri"/>
              <a:ea typeface="Calibri"/>
              <a:cs typeface="Calibri"/>
              <a:sym typeface="Calibri"/>
            </a:endParaRPr>
          </a:p>
        </p:txBody>
      </p:sp>
      <p:sp>
        <p:nvSpPr>
          <p:cNvPr id="1490" name="Google Shape;1490;p34"/>
          <p:cNvSpPr txBox="1"/>
          <p:nvPr/>
        </p:nvSpPr>
        <p:spPr>
          <a:xfrm>
            <a:off x="6957670" y="2560320"/>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91" name="Google Shape;1491;p34"/>
          <p:cNvSpPr txBox="1"/>
          <p:nvPr/>
        </p:nvSpPr>
        <p:spPr>
          <a:xfrm>
            <a:off x="7106717" y="2512771"/>
            <a:ext cx="40197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Unified mechanical interface standard across all SKUs</a:t>
            </a:r>
            <a:endParaRPr b="0" i="0" sz="1200" u="none" cap="none" strike="noStrike">
              <a:solidFill>
                <a:schemeClr val="dk1"/>
              </a:solidFill>
              <a:latin typeface="Calibri"/>
              <a:ea typeface="Calibri"/>
              <a:cs typeface="Calibri"/>
              <a:sym typeface="Calibri"/>
            </a:endParaRPr>
          </a:p>
        </p:txBody>
      </p:sp>
      <p:sp>
        <p:nvSpPr>
          <p:cNvPr id="1492" name="Google Shape;1492;p34"/>
          <p:cNvSpPr txBox="1"/>
          <p:nvPr/>
        </p:nvSpPr>
        <p:spPr>
          <a:xfrm>
            <a:off x="6957670" y="2903220"/>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93" name="Google Shape;1493;p34"/>
          <p:cNvSpPr txBox="1"/>
          <p:nvPr/>
        </p:nvSpPr>
        <p:spPr>
          <a:xfrm>
            <a:off x="7106717" y="2855671"/>
            <a:ext cx="40105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Visible 12-18 month roadmap on packaging and online</a:t>
            </a:r>
            <a:endParaRPr b="0" i="0" sz="1200" u="none" cap="none" strike="noStrike">
              <a:solidFill>
                <a:schemeClr val="dk1"/>
              </a:solidFill>
              <a:latin typeface="Calibri"/>
              <a:ea typeface="Calibri"/>
              <a:cs typeface="Calibri"/>
              <a:sym typeface="Calibri"/>
            </a:endParaRPr>
          </a:p>
        </p:txBody>
      </p:sp>
      <p:sp>
        <p:nvSpPr>
          <p:cNvPr id="1494" name="Google Shape;1494;p34"/>
          <p:cNvSpPr txBox="1"/>
          <p:nvPr/>
        </p:nvSpPr>
        <p:spPr>
          <a:xfrm>
            <a:off x="6476695" y="356067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495" name="Google Shape;1495;p34"/>
          <p:cNvSpPr txBox="1"/>
          <p:nvPr/>
        </p:nvSpPr>
        <p:spPr>
          <a:xfrm>
            <a:off x="6690665" y="3513125"/>
            <a:ext cx="19010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Compatibility System:</a:t>
            </a:r>
            <a:endParaRPr b="0" i="0" sz="1300" u="none" cap="none" strike="noStrike">
              <a:solidFill>
                <a:schemeClr val="dk1"/>
              </a:solidFill>
              <a:latin typeface="Calibri"/>
              <a:ea typeface="Calibri"/>
              <a:cs typeface="Calibri"/>
              <a:sym typeface="Calibri"/>
            </a:endParaRPr>
          </a:p>
        </p:txBody>
      </p:sp>
      <p:sp>
        <p:nvSpPr>
          <p:cNvPr id="1496" name="Google Shape;1496;p34"/>
          <p:cNvSpPr txBox="1"/>
          <p:nvPr/>
        </p:nvSpPr>
        <p:spPr>
          <a:xfrm>
            <a:off x="6957670" y="3824935"/>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97" name="Google Shape;1497;p34"/>
          <p:cNvSpPr txBox="1"/>
          <p:nvPr/>
        </p:nvSpPr>
        <p:spPr>
          <a:xfrm>
            <a:off x="7106717" y="3777386"/>
            <a:ext cx="31629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Compatibility badge + future-fit guarantee</a:t>
            </a:r>
            <a:endParaRPr b="0" i="0" sz="1200" u="none" cap="none" strike="noStrike">
              <a:solidFill>
                <a:schemeClr val="dk1"/>
              </a:solidFill>
              <a:latin typeface="Calibri"/>
              <a:ea typeface="Calibri"/>
              <a:cs typeface="Calibri"/>
              <a:sym typeface="Calibri"/>
            </a:endParaRPr>
          </a:p>
        </p:txBody>
      </p:sp>
      <p:sp>
        <p:nvSpPr>
          <p:cNvPr id="1498" name="Google Shape;1498;p34"/>
          <p:cNvSpPr txBox="1"/>
          <p:nvPr/>
        </p:nvSpPr>
        <p:spPr>
          <a:xfrm>
            <a:off x="6957670" y="4167835"/>
            <a:ext cx="133502" cy="1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b="0" i="0" lang="en-US" sz="800" u="none" cap="none" strike="noStrike">
                <a:solidFill>
                  <a:srgbClr val="6B7280"/>
                </a:solidFill>
                <a:latin typeface="Inter"/>
                <a:ea typeface="Inter"/>
                <a:cs typeface="Inter"/>
                <a:sym typeface="Inter"/>
              </a:rPr>
              <a:t>•</a:t>
            </a:r>
            <a:endParaRPr b="0" i="0" sz="800" u="none" cap="none" strike="noStrike">
              <a:solidFill>
                <a:schemeClr val="dk1"/>
              </a:solidFill>
              <a:latin typeface="Calibri"/>
              <a:ea typeface="Calibri"/>
              <a:cs typeface="Calibri"/>
              <a:sym typeface="Calibri"/>
            </a:endParaRPr>
          </a:p>
        </p:txBody>
      </p:sp>
      <p:sp>
        <p:nvSpPr>
          <p:cNvPr id="1499" name="Google Shape;1499;p34"/>
          <p:cNvSpPr txBox="1"/>
          <p:nvPr/>
        </p:nvSpPr>
        <p:spPr>
          <a:xfrm>
            <a:off x="7106717" y="4120286"/>
            <a:ext cx="40389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Modular in-store displays demonstrating expandability</a:t>
            </a:r>
            <a:endParaRPr b="0" i="0" sz="1200" u="none" cap="none" strike="noStrike">
              <a:solidFill>
                <a:schemeClr val="dk1"/>
              </a:solidFill>
              <a:latin typeface="Calibri"/>
              <a:ea typeface="Calibri"/>
              <a:cs typeface="Calibri"/>
              <a:sym typeface="Calibri"/>
            </a:endParaRPr>
          </a:p>
        </p:txBody>
      </p:sp>
      <p:sp>
        <p:nvSpPr>
          <p:cNvPr id="1500" name="Google Shape;1500;p34"/>
          <p:cNvSpPr/>
          <p:nvPr/>
        </p:nvSpPr>
        <p:spPr>
          <a:xfrm>
            <a:off x="6476695" y="4749394"/>
            <a:ext cx="5181905" cy="1181405"/>
          </a:xfrm>
          <a:prstGeom prst="roundRect">
            <a:avLst>
              <a:gd fmla="val 3745"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4"/>
          <p:cNvSpPr/>
          <p:nvPr/>
        </p:nvSpPr>
        <p:spPr>
          <a:xfrm>
            <a:off x="6476695" y="4749394"/>
            <a:ext cx="47549"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4"/>
          <p:cNvSpPr txBox="1"/>
          <p:nvPr/>
        </p:nvSpPr>
        <p:spPr>
          <a:xfrm>
            <a:off x="6752844" y="4967935"/>
            <a:ext cx="4529938" cy="7342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 HARD TRUTH: Product versatility drives discovery and expanded use; consumers seek systems that can grow with their needs across different spaces</a:t>
            </a:r>
            <a:endParaRPr b="0" i="0" sz="1300" u="none" cap="none" strike="noStrike">
              <a:solidFill>
                <a:schemeClr val="dk1"/>
              </a:solidFill>
              <a:latin typeface="Calibri"/>
              <a:ea typeface="Calibri"/>
              <a:cs typeface="Calibri"/>
              <a:sym typeface="Calibri"/>
            </a:endParaRPr>
          </a:p>
        </p:txBody>
      </p:sp>
      <p:sp>
        <p:nvSpPr>
          <p:cNvPr id="1503" name="Google Shape;1503;p34"/>
          <p:cNvSpPr txBox="1"/>
          <p:nvPr/>
        </p:nvSpPr>
        <p:spPr>
          <a:xfrm>
            <a:off x="533095" y="6358738"/>
            <a:ext cx="450342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Observation from 11 of 64 creators with multiple videos. Not purchase data.</a:t>
            </a:r>
            <a:endParaRPr b="0" i="0" sz="900" u="none" cap="none" strike="noStrike">
              <a:solidFill>
                <a:schemeClr val="dk1"/>
              </a:solidFill>
              <a:latin typeface="Calibri"/>
              <a:ea typeface="Calibri"/>
              <a:cs typeface="Calibri"/>
              <a:sym typeface="Calibri"/>
            </a:endParaRPr>
          </a:p>
        </p:txBody>
      </p:sp>
      <p:sp>
        <p:nvSpPr>
          <p:cNvPr id="1504" name="Google Shape;1504;p34"/>
          <p:cNvSpPr txBox="1"/>
          <p:nvPr/>
        </p:nvSpPr>
        <p:spPr>
          <a:xfrm>
            <a:off x="533095" y="677296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505" name="Google Shape;1505;p34"/>
          <p:cNvSpPr txBox="1"/>
          <p:nvPr/>
        </p:nvSpPr>
        <p:spPr>
          <a:xfrm>
            <a:off x="11506810" y="6772961"/>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35"/>
          <p:cNvSpPr/>
          <p:nvPr/>
        </p:nvSpPr>
        <p:spPr>
          <a:xfrm>
            <a:off x="0" y="0"/>
            <a:ext cx="12191695" cy="78583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5"/>
          <p:cNvSpPr/>
          <p:nvPr/>
        </p:nvSpPr>
        <p:spPr>
          <a:xfrm>
            <a:off x="0" y="0"/>
            <a:ext cx="12191695" cy="78583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5"/>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5"/>
          <p:cNvSpPr txBox="1"/>
          <p:nvPr/>
        </p:nvSpPr>
        <p:spPr>
          <a:xfrm>
            <a:off x="609905" y="685800"/>
            <a:ext cx="72777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#2: Premium Performance Gap</a:t>
            </a:r>
            <a:endParaRPr b="0" i="0" sz="2400" u="none" cap="none" strike="noStrike">
              <a:solidFill>
                <a:schemeClr val="dk1"/>
              </a:solidFill>
              <a:latin typeface="Calibri"/>
              <a:ea typeface="Calibri"/>
              <a:cs typeface="Calibri"/>
              <a:sym typeface="Calibri"/>
            </a:endParaRPr>
          </a:p>
        </p:txBody>
      </p:sp>
      <p:sp>
        <p:nvSpPr>
          <p:cNvPr id="1515" name="Google Shape;1515;p35"/>
          <p:cNvSpPr txBox="1"/>
          <p:nvPr/>
        </p:nvSpPr>
        <p:spPr>
          <a:xfrm>
            <a:off x="609905" y="1218895"/>
            <a:ext cx="10549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HD/Lowe's customers demonstrate $60-120 price acceptance (market avg $80-120). Gladiator/Kobalt prove premium viability but require complex installation</a:t>
            </a:r>
            <a:endParaRPr b="0" i="0" sz="1000" u="none" cap="none" strike="noStrike">
              <a:solidFill>
                <a:schemeClr val="dk1"/>
              </a:solidFill>
              <a:latin typeface="Calibri"/>
              <a:ea typeface="Calibri"/>
              <a:cs typeface="Calibri"/>
              <a:sym typeface="Calibri"/>
            </a:endParaRPr>
          </a:p>
        </p:txBody>
      </p:sp>
      <p:sp>
        <p:nvSpPr>
          <p:cNvPr id="1516" name="Google Shape;1516;p35"/>
          <p:cNvSpPr/>
          <p:nvPr/>
        </p:nvSpPr>
        <p:spPr>
          <a:xfrm>
            <a:off x="609905" y="1705356"/>
            <a:ext cx="10972800" cy="4352544"/>
          </a:xfrm>
          <a:prstGeom prst="roundRect">
            <a:avLst>
              <a:gd fmla="val 36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5"/>
          <p:cNvSpPr/>
          <p:nvPr/>
        </p:nvSpPr>
        <p:spPr>
          <a:xfrm>
            <a:off x="619049" y="1714500"/>
            <a:ext cx="10953598" cy="6099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5"/>
          <p:cNvSpPr/>
          <p:nvPr/>
        </p:nvSpPr>
        <p:spPr>
          <a:xfrm>
            <a:off x="619049" y="23152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5"/>
          <p:cNvSpPr/>
          <p:nvPr/>
        </p:nvSpPr>
        <p:spPr>
          <a:xfrm>
            <a:off x="619049" y="2324405"/>
            <a:ext cx="10953598" cy="6190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5"/>
          <p:cNvSpPr/>
          <p:nvPr/>
        </p:nvSpPr>
        <p:spPr>
          <a:xfrm>
            <a:off x="619049" y="29343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5"/>
          <p:cNvSpPr/>
          <p:nvPr/>
        </p:nvSpPr>
        <p:spPr>
          <a:xfrm>
            <a:off x="619049" y="2935224"/>
            <a:ext cx="10953598" cy="5998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5"/>
          <p:cNvSpPr/>
          <p:nvPr/>
        </p:nvSpPr>
        <p:spPr>
          <a:xfrm>
            <a:off x="619049" y="352592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5"/>
          <p:cNvSpPr/>
          <p:nvPr/>
        </p:nvSpPr>
        <p:spPr>
          <a:xfrm>
            <a:off x="619049" y="3531413"/>
            <a:ext cx="10953598" cy="6574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5"/>
          <p:cNvSpPr/>
          <p:nvPr/>
        </p:nvSpPr>
        <p:spPr>
          <a:xfrm>
            <a:off x="619049" y="417972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5"/>
          <p:cNvSpPr/>
          <p:nvPr/>
        </p:nvSpPr>
        <p:spPr>
          <a:xfrm>
            <a:off x="619049" y="4181551"/>
            <a:ext cx="10953598" cy="6574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5"/>
          <p:cNvSpPr/>
          <p:nvPr/>
        </p:nvSpPr>
        <p:spPr>
          <a:xfrm>
            <a:off x="619049" y="48298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5"/>
          <p:cNvSpPr/>
          <p:nvPr/>
        </p:nvSpPr>
        <p:spPr>
          <a:xfrm>
            <a:off x="619049" y="4830775"/>
            <a:ext cx="10953598" cy="6190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5"/>
          <p:cNvSpPr/>
          <p:nvPr/>
        </p:nvSpPr>
        <p:spPr>
          <a:xfrm>
            <a:off x="619049" y="544068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5"/>
          <p:cNvSpPr/>
          <p:nvPr/>
        </p:nvSpPr>
        <p:spPr>
          <a:xfrm>
            <a:off x="619049" y="5442509"/>
            <a:ext cx="10953598" cy="6099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5"/>
          <p:cNvSpPr txBox="1"/>
          <p:nvPr/>
        </p:nvSpPr>
        <p:spPr>
          <a:xfrm>
            <a:off x="847649" y="1904695"/>
            <a:ext cx="109087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Dimension</a:t>
            </a:r>
            <a:endParaRPr b="0" i="0" sz="1300" u="none" cap="none" strike="noStrike">
              <a:solidFill>
                <a:schemeClr val="dk1"/>
              </a:solidFill>
              <a:latin typeface="Calibri"/>
              <a:ea typeface="Calibri"/>
              <a:cs typeface="Calibri"/>
              <a:sym typeface="Calibri"/>
            </a:endParaRPr>
          </a:p>
        </p:txBody>
      </p:sp>
      <p:sp>
        <p:nvSpPr>
          <p:cNvPr id="1531" name="Google Shape;1531;p35"/>
          <p:cNvSpPr txBox="1"/>
          <p:nvPr/>
        </p:nvSpPr>
        <p:spPr>
          <a:xfrm>
            <a:off x="3996842" y="1904695"/>
            <a:ext cx="3339389"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1E3A8A"/>
                </a:solidFill>
                <a:latin typeface="Montserrat"/>
                <a:ea typeface="Montserrat"/>
                <a:cs typeface="Montserrat"/>
                <a:sym typeface="Montserrat"/>
              </a:rPr>
              <a:t>Premium Performance Opportunity</a:t>
            </a:r>
            <a:endParaRPr b="0" i="0" sz="1300" u="none" cap="none" strike="noStrike">
              <a:solidFill>
                <a:srgbClr val="1E3A8A"/>
              </a:solidFill>
              <a:latin typeface="Calibri"/>
              <a:ea typeface="Calibri"/>
              <a:cs typeface="Calibri"/>
              <a:sym typeface="Calibri"/>
            </a:endParaRPr>
          </a:p>
        </p:txBody>
      </p:sp>
      <p:sp>
        <p:nvSpPr>
          <p:cNvPr id="1532" name="Google Shape;1532;p35"/>
          <p:cNvSpPr txBox="1"/>
          <p:nvPr/>
        </p:nvSpPr>
        <p:spPr>
          <a:xfrm>
            <a:off x="847649" y="2514600"/>
            <a:ext cx="9912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Market Size</a:t>
            </a:r>
            <a:endParaRPr b="0" i="0" sz="1200" u="none" cap="none" strike="noStrike">
              <a:solidFill>
                <a:schemeClr val="dk1"/>
              </a:solidFill>
              <a:latin typeface="Calibri"/>
              <a:ea typeface="Calibri"/>
              <a:cs typeface="Calibri"/>
              <a:sym typeface="Calibri"/>
            </a:endParaRPr>
          </a:p>
        </p:txBody>
      </p:sp>
      <p:sp>
        <p:nvSpPr>
          <p:cNvPr id="1533" name="Google Shape;1533;p35"/>
          <p:cNvSpPr txBox="1"/>
          <p:nvPr/>
        </p:nvSpPr>
        <p:spPr>
          <a:xfrm>
            <a:off x="847649" y="3126334"/>
            <a:ext cx="13716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Current Situation</a:t>
            </a:r>
            <a:endParaRPr b="0" i="0" sz="1200" u="none" cap="none" strike="noStrike">
              <a:solidFill>
                <a:schemeClr val="dk1"/>
              </a:solidFill>
              <a:latin typeface="Calibri"/>
              <a:ea typeface="Calibri"/>
              <a:cs typeface="Calibri"/>
              <a:sym typeface="Calibri"/>
            </a:endParaRPr>
          </a:p>
        </p:txBody>
      </p:sp>
      <p:sp>
        <p:nvSpPr>
          <p:cNvPr id="1534" name="Google Shape;1534;p35"/>
          <p:cNvSpPr txBox="1"/>
          <p:nvPr/>
        </p:nvSpPr>
        <p:spPr>
          <a:xfrm>
            <a:off x="847649" y="3722522"/>
            <a:ext cx="14200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Price Acceptance</a:t>
            </a:r>
            <a:endParaRPr b="0" i="0" sz="1200" u="none" cap="none" strike="noStrike">
              <a:solidFill>
                <a:schemeClr val="dk1"/>
              </a:solidFill>
              <a:latin typeface="Calibri"/>
              <a:ea typeface="Calibri"/>
              <a:cs typeface="Calibri"/>
              <a:sym typeface="Calibri"/>
            </a:endParaRPr>
          </a:p>
        </p:txBody>
      </p:sp>
      <p:sp>
        <p:nvSpPr>
          <p:cNvPr id="1535" name="Google Shape;1535;p35"/>
          <p:cNvSpPr txBox="1"/>
          <p:nvPr/>
        </p:nvSpPr>
        <p:spPr>
          <a:xfrm>
            <a:off x="847649" y="4371746"/>
            <a:ext cx="1886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Technical Requirements</a:t>
            </a:r>
            <a:endParaRPr b="0" i="0" sz="1200" u="none" cap="none" strike="noStrike">
              <a:solidFill>
                <a:schemeClr val="dk1"/>
              </a:solidFill>
              <a:latin typeface="Calibri"/>
              <a:ea typeface="Calibri"/>
              <a:cs typeface="Calibri"/>
              <a:sym typeface="Calibri"/>
            </a:endParaRPr>
          </a:p>
        </p:txBody>
      </p:sp>
      <p:sp>
        <p:nvSpPr>
          <p:cNvPr id="1536" name="Google Shape;1536;p35"/>
          <p:cNvSpPr txBox="1"/>
          <p:nvPr/>
        </p:nvSpPr>
        <p:spPr>
          <a:xfrm>
            <a:off x="847649" y="5021885"/>
            <a:ext cx="1143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Trust Builders</a:t>
            </a:r>
            <a:endParaRPr b="0" i="0" sz="1200" u="none" cap="none" strike="noStrike">
              <a:solidFill>
                <a:schemeClr val="dk1"/>
              </a:solidFill>
              <a:latin typeface="Calibri"/>
              <a:ea typeface="Calibri"/>
              <a:cs typeface="Calibri"/>
              <a:sym typeface="Calibri"/>
            </a:endParaRPr>
          </a:p>
        </p:txBody>
      </p:sp>
      <p:sp>
        <p:nvSpPr>
          <p:cNvPr id="1537" name="Google Shape;1537;p35"/>
          <p:cNvSpPr txBox="1"/>
          <p:nvPr/>
        </p:nvSpPr>
        <p:spPr>
          <a:xfrm>
            <a:off x="847649" y="5632704"/>
            <a:ext cx="1390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Channel Strategy</a:t>
            </a:r>
            <a:endParaRPr b="0" i="0" sz="1200" u="none" cap="none" strike="noStrike">
              <a:solidFill>
                <a:schemeClr val="dk1"/>
              </a:solidFill>
              <a:latin typeface="Calibri"/>
              <a:ea typeface="Calibri"/>
              <a:cs typeface="Calibri"/>
              <a:sym typeface="Calibri"/>
            </a:endParaRPr>
          </a:p>
        </p:txBody>
      </p:sp>
      <p:sp>
        <p:nvSpPr>
          <p:cNvPr id="1538" name="Google Shape;1538;p35"/>
          <p:cNvSpPr txBox="1"/>
          <p:nvPr/>
        </p:nvSpPr>
        <p:spPr>
          <a:xfrm>
            <a:off x="4134002" y="2523744"/>
            <a:ext cx="78821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45-50%</a:t>
            </a:r>
            <a:endParaRPr b="0" i="0" sz="1200" u="none" cap="none" strike="noStrike">
              <a:solidFill>
                <a:schemeClr val="dk1"/>
              </a:solidFill>
              <a:latin typeface="Calibri"/>
              <a:ea typeface="Calibri"/>
              <a:cs typeface="Calibri"/>
              <a:sym typeface="Calibri"/>
            </a:endParaRPr>
          </a:p>
        </p:txBody>
      </p:sp>
      <p:sp>
        <p:nvSpPr>
          <p:cNvPr id="1539" name="Google Shape;1539;p35"/>
          <p:cNvSpPr txBox="1"/>
          <p:nvPr/>
        </p:nvSpPr>
        <p:spPr>
          <a:xfrm>
            <a:off x="4134002" y="5031029"/>
            <a:ext cx="149321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10-year warranty</a:t>
            </a:r>
            <a:endParaRPr b="0" i="0" sz="1200" u="none" cap="none" strike="noStrike">
              <a:solidFill>
                <a:schemeClr val="dk1"/>
              </a:solidFill>
              <a:latin typeface="Calibri"/>
              <a:ea typeface="Calibri"/>
              <a:cs typeface="Calibri"/>
              <a:sym typeface="Calibri"/>
            </a:endParaRPr>
          </a:p>
        </p:txBody>
      </p:sp>
      <p:sp>
        <p:nvSpPr>
          <p:cNvPr id="1540" name="Google Shape;1540;p35"/>
          <p:cNvSpPr txBox="1"/>
          <p:nvPr/>
        </p:nvSpPr>
        <p:spPr>
          <a:xfrm>
            <a:off x="4134002" y="5642762"/>
            <a:ext cx="251277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Home Depot/Lowe's exclusive</a:t>
            </a:r>
            <a:endParaRPr b="0" i="0" sz="1200" u="none" cap="none" strike="noStrike">
              <a:solidFill>
                <a:schemeClr val="dk1"/>
              </a:solidFill>
              <a:latin typeface="Calibri"/>
              <a:ea typeface="Calibri"/>
              <a:cs typeface="Calibri"/>
              <a:sym typeface="Calibri"/>
            </a:endParaRPr>
          </a:p>
        </p:txBody>
      </p:sp>
      <p:sp>
        <p:nvSpPr>
          <p:cNvPr id="1541" name="Google Shape;1541;p35"/>
          <p:cNvSpPr txBox="1"/>
          <p:nvPr/>
        </p:nvSpPr>
        <p:spPr>
          <a:xfrm>
            <a:off x="4794199" y="2523744"/>
            <a:ext cx="37719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of market willing to pay premium for quality + ease</a:t>
            </a:r>
            <a:endParaRPr b="0" i="0" sz="1200" u="none" cap="none" strike="noStrike">
              <a:solidFill>
                <a:schemeClr val="dk1"/>
              </a:solidFill>
              <a:latin typeface="Calibri"/>
              <a:ea typeface="Calibri"/>
              <a:cs typeface="Calibri"/>
              <a:sym typeface="Calibri"/>
            </a:endParaRPr>
          </a:p>
        </p:txBody>
      </p:sp>
      <p:sp>
        <p:nvSpPr>
          <p:cNvPr id="1542" name="Google Shape;1542;p35"/>
          <p:cNvSpPr txBox="1"/>
          <p:nvPr/>
        </p:nvSpPr>
        <p:spPr>
          <a:xfrm>
            <a:off x="4134002" y="3126334"/>
            <a:ext cx="5839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Premium brands (Gladiator, Kobalt) offer quality but require complex installation</a:t>
            </a:r>
            <a:endParaRPr b="0" i="0" sz="1200" u="none" cap="none" strike="noStrike">
              <a:solidFill>
                <a:schemeClr val="dk1"/>
              </a:solidFill>
              <a:latin typeface="Calibri"/>
              <a:ea typeface="Calibri"/>
              <a:cs typeface="Calibri"/>
              <a:sym typeface="Calibri"/>
            </a:endParaRPr>
          </a:p>
        </p:txBody>
      </p:sp>
      <p:sp>
        <p:nvSpPr>
          <p:cNvPr id="1543" name="Google Shape;1543;p35"/>
          <p:cNvSpPr txBox="1"/>
          <p:nvPr/>
        </p:nvSpPr>
        <p:spPr>
          <a:xfrm>
            <a:off x="5001768" y="3750869"/>
            <a:ext cx="43918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per unit - validated through HD/Lowe's purchasing patterns</a:t>
            </a:r>
            <a:endParaRPr b="0" i="0" sz="1200" u="none" cap="none" strike="noStrike">
              <a:solidFill>
                <a:schemeClr val="dk1"/>
              </a:solidFill>
              <a:latin typeface="Calibri"/>
              <a:ea typeface="Calibri"/>
              <a:cs typeface="Calibri"/>
              <a:sym typeface="Calibri"/>
            </a:endParaRPr>
          </a:p>
        </p:txBody>
      </p:sp>
      <p:sp>
        <p:nvSpPr>
          <p:cNvPr id="1544" name="Google Shape;1544;p35"/>
          <p:cNvSpPr txBox="1"/>
          <p:nvPr/>
        </p:nvSpPr>
        <p:spPr>
          <a:xfrm>
            <a:off x="5192878" y="4401007"/>
            <a:ext cx="32772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capacity with simple installation mechanism</a:t>
            </a:r>
            <a:endParaRPr b="0" i="0" sz="1200" u="none" cap="none" strike="noStrike">
              <a:solidFill>
                <a:schemeClr val="dk1"/>
              </a:solidFill>
              <a:latin typeface="Calibri"/>
              <a:ea typeface="Calibri"/>
              <a:cs typeface="Calibri"/>
              <a:sym typeface="Calibri"/>
            </a:endParaRPr>
          </a:p>
        </p:txBody>
      </p:sp>
      <p:sp>
        <p:nvSpPr>
          <p:cNvPr id="1545" name="Google Shape;1545;p35"/>
          <p:cNvSpPr txBox="1"/>
          <p:nvPr/>
        </p:nvSpPr>
        <p:spPr>
          <a:xfrm>
            <a:off x="5496458" y="5031029"/>
            <a:ext cx="43818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 certified testing protocols to overcome quality skepticism</a:t>
            </a:r>
            <a:endParaRPr b="0" i="0" sz="1200" u="none" cap="none" strike="noStrike">
              <a:solidFill>
                <a:schemeClr val="dk1"/>
              </a:solidFill>
              <a:latin typeface="Calibri"/>
              <a:ea typeface="Calibri"/>
              <a:cs typeface="Calibri"/>
              <a:sym typeface="Calibri"/>
            </a:endParaRPr>
          </a:p>
        </p:txBody>
      </p:sp>
      <p:sp>
        <p:nvSpPr>
          <p:cNvPr id="1546" name="Google Shape;1546;p35"/>
          <p:cNvSpPr txBox="1"/>
          <p:nvPr/>
        </p:nvSpPr>
        <p:spPr>
          <a:xfrm>
            <a:off x="6522415" y="5642762"/>
            <a:ext cx="37911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positioning to reinforce premium quality perception</a:t>
            </a:r>
            <a:endParaRPr b="0" i="0" sz="1200" u="none" cap="none" strike="noStrike">
              <a:solidFill>
                <a:schemeClr val="dk1"/>
              </a:solidFill>
              <a:latin typeface="Calibri"/>
              <a:ea typeface="Calibri"/>
              <a:cs typeface="Calibri"/>
              <a:sym typeface="Calibri"/>
            </a:endParaRPr>
          </a:p>
        </p:txBody>
      </p:sp>
      <p:sp>
        <p:nvSpPr>
          <p:cNvPr id="1547" name="Google Shape;1547;p35"/>
          <p:cNvSpPr/>
          <p:nvPr/>
        </p:nvSpPr>
        <p:spPr>
          <a:xfrm>
            <a:off x="4153205" y="3703320"/>
            <a:ext cx="838505" cy="304495"/>
          </a:xfrm>
          <a:prstGeom prst="roundRect">
            <a:avLst>
              <a:gd fmla="val 3753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5"/>
          <p:cNvSpPr/>
          <p:nvPr/>
        </p:nvSpPr>
        <p:spPr>
          <a:xfrm>
            <a:off x="4153205" y="4352544"/>
            <a:ext cx="1028700" cy="304495"/>
          </a:xfrm>
          <a:prstGeom prst="roundRect">
            <a:avLst>
              <a:gd fmla="val 37538" name="adj"/>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5"/>
          <p:cNvSpPr txBox="1"/>
          <p:nvPr/>
        </p:nvSpPr>
        <p:spPr>
          <a:xfrm>
            <a:off x="4229100" y="3750869"/>
            <a:ext cx="80741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$60-120</a:t>
            </a:r>
            <a:endParaRPr b="0" i="0" sz="1200" u="none" cap="none" strike="noStrike">
              <a:solidFill>
                <a:schemeClr val="dk1"/>
              </a:solidFill>
              <a:latin typeface="Calibri"/>
              <a:ea typeface="Calibri"/>
              <a:cs typeface="Calibri"/>
              <a:sym typeface="Calibri"/>
            </a:endParaRPr>
          </a:p>
        </p:txBody>
      </p:sp>
      <p:sp>
        <p:nvSpPr>
          <p:cNvPr id="1550" name="Google Shape;1550;p35"/>
          <p:cNvSpPr txBox="1"/>
          <p:nvPr/>
        </p:nvSpPr>
        <p:spPr>
          <a:xfrm>
            <a:off x="4229100" y="4401007"/>
            <a:ext cx="99852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200"/>
              <a:buFont typeface="Inter"/>
              <a:buNone/>
            </a:pPr>
            <a:r>
              <a:rPr b="1" i="0" lang="en-US" sz="1200" u="none" cap="none" strike="noStrike">
                <a:solidFill>
                  <a:srgbClr val="1E3A8A"/>
                </a:solidFill>
                <a:latin typeface="Inter"/>
                <a:ea typeface="Inter"/>
                <a:cs typeface="Inter"/>
                <a:sym typeface="Inter"/>
              </a:rPr>
              <a:t>50-100+ lb</a:t>
            </a:r>
            <a:endParaRPr b="0" i="0" sz="1200" u="none" cap="none" strike="noStrike">
              <a:solidFill>
                <a:schemeClr val="dk1"/>
              </a:solidFill>
              <a:latin typeface="Calibri"/>
              <a:ea typeface="Calibri"/>
              <a:cs typeface="Calibri"/>
              <a:sym typeface="Calibri"/>
            </a:endParaRPr>
          </a:p>
        </p:txBody>
      </p:sp>
      <p:sp>
        <p:nvSpPr>
          <p:cNvPr id="1551" name="Google Shape;1551;p35"/>
          <p:cNvSpPr/>
          <p:nvPr/>
        </p:nvSpPr>
        <p:spPr>
          <a:xfrm>
            <a:off x="609905" y="6282842"/>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5"/>
          <p:cNvSpPr/>
          <p:nvPr/>
        </p:nvSpPr>
        <p:spPr>
          <a:xfrm>
            <a:off x="609905" y="6282842"/>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5"/>
          <p:cNvSpPr txBox="1"/>
          <p:nvPr/>
        </p:nvSpPr>
        <p:spPr>
          <a:xfrm>
            <a:off x="838505" y="6453835"/>
            <a:ext cx="10289743"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Strategic Insight: The "premium + easy installation" position is currently unoccupied. Consumers demonstrate willingness to pay 2-3x for products that combine premium quality with simplified installation experience.</a:t>
            </a:r>
            <a:endParaRPr b="0" i="0" sz="1100" u="none" cap="none" strike="noStrike">
              <a:solidFill>
                <a:schemeClr val="dk1"/>
              </a:solidFill>
              <a:latin typeface="Calibri"/>
              <a:ea typeface="Calibri"/>
              <a:cs typeface="Calibri"/>
              <a:sym typeface="Calibri"/>
            </a:endParaRPr>
          </a:p>
        </p:txBody>
      </p:sp>
      <p:sp>
        <p:nvSpPr>
          <p:cNvPr id="1554" name="Google Shape;1554;p35"/>
          <p:cNvSpPr txBox="1"/>
          <p:nvPr/>
        </p:nvSpPr>
        <p:spPr>
          <a:xfrm>
            <a:off x="609905" y="7368235"/>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555" name="Google Shape;1555;p35"/>
          <p:cNvSpPr txBox="1"/>
          <p:nvPr/>
        </p:nvSpPr>
        <p:spPr>
          <a:xfrm>
            <a:off x="11416284" y="7368235"/>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29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36"/>
          <p:cNvSpPr/>
          <p:nvPr/>
        </p:nvSpPr>
        <p:spPr>
          <a:xfrm>
            <a:off x="0" y="0"/>
            <a:ext cx="12191695" cy="1097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6"/>
          <p:cNvSpPr/>
          <p:nvPr/>
        </p:nvSpPr>
        <p:spPr>
          <a:xfrm>
            <a:off x="0" y="0"/>
            <a:ext cx="12191695" cy="1097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6"/>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6"/>
          <p:cNvSpPr txBox="1"/>
          <p:nvPr/>
        </p:nvSpPr>
        <p:spPr>
          <a:xfrm>
            <a:off x="609905" y="685800"/>
            <a:ext cx="61246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White Space #3: Platform Ecosystem</a:t>
            </a:r>
            <a:endParaRPr b="0" i="0" sz="2400" u="none" cap="none" strike="noStrike">
              <a:solidFill>
                <a:schemeClr val="dk1"/>
              </a:solidFill>
              <a:latin typeface="Calibri"/>
              <a:ea typeface="Calibri"/>
              <a:cs typeface="Calibri"/>
              <a:sym typeface="Calibri"/>
            </a:endParaRPr>
          </a:p>
        </p:txBody>
      </p:sp>
      <p:sp>
        <p:nvSpPr>
          <p:cNvPr id="1565" name="Google Shape;1565;p36"/>
          <p:cNvSpPr/>
          <p:nvPr/>
        </p:nvSpPr>
        <p:spPr>
          <a:xfrm>
            <a:off x="609905" y="1352398"/>
            <a:ext cx="10972800" cy="1086307"/>
          </a:xfrm>
          <a:prstGeom prst="rect">
            <a:avLst/>
          </a:prstGeom>
          <a:solidFill>
            <a:srgbClr val="F9FAFB"/>
          </a:solidFill>
          <a:ln>
            <a:noFill/>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6"/>
          <p:cNvSpPr/>
          <p:nvPr/>
        </p:nvSpPr>
        <p:spPr>
          <a:xfrm>
            <a:off x="609905" y="1352398"/>
            <a:ext cx="38405" cy="10863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6"/>
          <p:cNvSpPr txBox="1"/>
          <p:nvPr/>
        </p:nvSpPr>
        <p:spPr>
          <a:xfrm>
            <a:off x="1028700" y="1495044"/>
            <a:ext cx="1377086" cy="4956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3100"/>
              <a:buFont typeface="Montserrat"/>
              <a:buNone/>
            </a:pPr>
            <a:r>
              <a:rPr b="1" i="0" lang="en-US" sz="3100" u="none" cap="none" strike="noStrike">
                <a:solidFill>
                  <a:srgbClr val="1E3A8A"/>
                </a:solidFill>
                <a:latin typeface="Montserrat"/>
                <a:ea typeface="Montserrat"/>
                <a:cs typeface="Montserrat"/>
                <a:sym typeface="Montserrat"/>
              </a:rPr>
              <a:t>Multi</a:t>
            </a:r>
            <a:endParaRPr b="0" i="0" sz="3100" u="none" cap="none" strike="noStrike">
              <a:solidFill>
                <a:schemeClr val="dk1"/>
              </a:solidFill>
              <a:latin typeface="Calibri"/>
              <a:ea typeface="Calibri"/>
              <a:cs typeface="Calibri"/>
              <a:sym typeface="Calibri"/>
            </a:endParaRPr>
          </a:p>
        </p:txBody>
      </p:sp>
      <p:sp>
        <p:nvSpPr>
          <p:cNvPr id="1568" name="Google Shape;1568;p36"/>
          <p:cNvSpPr txBox="1"/>
          <p:nvPr/>
        </p:nvSpPr>
        <p:spPr>
          <a:xfrm>
            <a:off x="5028286" y="1495044"/>
            <a:ext cx="1452982" cy="4956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3100"/>
              <a:buFont typeface="Montserrat"/>
              <a:buNone/>
            </a:pPr>
            <a:r>
              <a:rPr b="1" i="0" lang="en-US" sz="3100" u="none" cap="none" strike="noStrike">
                <a:solidFill>
                  <a:srgbClr val="1E3A8A"/>
                </a:solidFill>
                <a:latin typeface="Montserrat"/>
                <a:ea typeface="Montserrat"/>
                <a:cs typeface="Montserrat"/>
                <a:sym typeface="Montserrat"/>
              </a:rPr>
              <a:t>Cross</a:t>
            </a:r>
            <a:endParaRPr b="0" i="0" sz="3100" u="none" cap="none" strike="noStrike">
              <a:solidFill>
                <a:schemeClr val="dk1"/>
              </a:solidFill>
              <a:latin typeface="Calibri"/>
              <a:ea typeface="Calibri"/>
              <a:cs typeface="Calibri"/>
              <a:sym typeface="Calibri"/>
            </a:endParaRPr>
          </a:p>
        </p:txBody>
      </p:sp>
      <p:sp>
        <p:nvSpPr>
          <p:cNvPr id="1569" name="Google Shape;1569;p36"/>
          <p:cNvSpPr txBox="1"/>
          <p:nvPr/>
        </p:nvSpPr>
        <p:spPr>
          <a:xfrm>
            <a:off x="9599371" y="1495044"/>
            <a:ext cx="1405433" cy="4956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3100"/>
              <a:buFont typeface="Montserrat"/>
              <a:buNone/>
            </a:pPr>
            <a:r>
              <a:rPr b="1" i="0" lang="en-US" sz="3100" u="none" cap="none" strike="noStrike">
                <a:solidFill>
                  <a:srgbClr val="1E3A8A"/>
                </a:solidFill>
                <a:latin typeface="Montserrat"/>
                <a:ea typeface="Montserrat"/>
                <a:cs typeface="Montserrat"/>
                <a:sym typeface="Montserrat"/>
              </a:rPr>
              <a:t>18mo</a:t>
            </a:r>
            <a:endParaRPr b="0" i="0" sz="3100" u="none" cap="none" strike="noStrike">
              <a:solidFill>
                <a:schemeClr val="dk1"/>
              </a:solidFill>
              <a:latin typeface="Calibri"/>
              <a:ea typeface="Calibri"/>
              <a:cs typeface="Calibri"/>
              <a:sym typeface="Calibri"/>
            </a:endParaRPr>
          </a:p>
        </p:txBody>
      </p:sp>
      <p:sp>
        <p:nvSpPr>
          <p:cNvPr id="1570" name="Google Shape;1570;p36"/>
          <p:cNvSpPr txBox="1"/>
          <p:nvPr/>
        </p:nvSpPr>
        <p:spPr>
          <a:xfrm>
            <a:off x="1054303" y="2038198"/>
            <a:ext cx="1143000"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Project Usage</a:t>
            </a:r>
            <a:endParaRPr b="0" i="0" sz="1200" u="none" cap="none" strike="noStrike">
              <a:solidFill>
                <a:schemeClr val="dk1"/>
              </a:solidFill>
              <a:latin typeface="Calibri"/>
              <a:ea typeface="Calibri"/>
              <a:cs typeface="Calibri"/>
              <a:sym typeface="Calibri"/>
            </a:endParaRPr>
          </a:p>
        </p:txBody>
      </p:sp>
      <p:sp>
        <p:nvSpPr>
          <p:cNvPr id="1571" name="Google Shape;1571;p36"/>
          <p:cNvSpPr txBox="1"/>
          <p:nvPr/>
        </p:nvSpPr>
        <p:spPr>
          <a:xfrm>
            <a:off x="4920386" y="2038198"/>
            <a:ext cx="14767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Room Applications</a:t>
            </a:r>
            <a:endParaRPr b="0" i="0" sz="1200" u="none" cap="none" strike="noStrike">
              <a:solidFill>
                <a:schemeClr val="dk1"/>
              </a:solidFill>
              <a:latin typeface="Calibri"/>
              <a:ea typeface="Calibri"/>
              <a:cs typeface="Calibri"/>
              <a:sym typeface="Calibri"/>
            </a:endParaRPr>
          </a:p>
        </p:txBody>
      </p:sp>
      <p:sp>
        <p:nvSpPr>
          <p:cNvPr id="1572" name="Google Shape;1572;p36"/>
          <p:cNvSpPr txBox="1"/>
          <p:nvPr/>
        </p:nvSpPr>
        <p:spPr>
          <a:xfrm>
            <a:off x="9101023" y="2038198"/>
            <a:ext cx="2220163"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Ecosystem roadmap timeline</a:t>
            </a:r>
            <a:endParaRPr b="0" i="0" sz="1200" u="none" cap="none" strike="noStrike">
              <a:solidFill>
                <a:schemeClr val="dk1"/>
              </a:solidFill>
              <a:latin typeface="Calibri"/>
              <a:ea typeface="Calibri"/>
              <a:cs typeface="Calibri"/>
              <a:sym typeface="Calibri"/>
            </a:endParaRPr>
          </a:p>
        </p:txBody>
      </p:sp>
      <p:sp>
        <p:nvSpPr>
          <p:cNvPr id="1573" name="Google Shape;1573;p36"/>
          <p:cNvSpPr/>
          <p:nvPr/>
        </p:nvSpPr>
        <p:spPr>
          <a:xfrm>
            <a:off x="609905" y="2667305"/>
            <a:ext cx="10972800" cy="1037844"/>
          </a:xfrm>
          <a:prstGeom prst="rect">
            <a:avLst/>
          </a:prstGeom>
          <a:solidFill>
            <a:srgbClr val="FEF3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6"/>
          <p:cNvSpPr/>
          <p:nvPr/>
        </p:nvSpPr>
        <p:spPr>
          <a:xfrm>
            <a:off x="609905" y="2667305"/>
            <a:ext cx="38405" cy="1037844"/>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6"/>
          <p:cNvSpPr txBox="1"/>
          <p:nvPr/>
        </p:nvSpPr>
        <p:spPr>
          <a:xfrm>
            <a:off x="800100" y="2838298"/>
            <a:ext cx="25146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200"/>
              <a:buFont typeface="Inter"/>
              <a:buNone/>
            </a:pPr>
            <a:r>
              <a:rPr b="1" i="0" lang="en-US" sz="1200" u="none" cap="none" strike="noStrike">
                <a:solidFill>
                  <a:srgbClr val="92400E"/>
                </a:solidFill>
                <a:latin typeface="Inter"/>
                <a:ea typeface="Inter"/>
                <a:cs typeface="Inter"/>
                <a:sym typeface="Inter"/>
              </a:rPr>
              <a:t>CONTENT CREATION PATTERNS</a:t>
            </a:r>
            <a:endParaRPr b="0" i="0" sz="1200" u="none" cap="none" strike="noStrike">
              <a:solidFill>
                <a:schemeClr val="dk1"/>
              </a:solidFill>
              <a:latin typeface="Calibri"/>
              <a:ea typeface="Calibri"/>
              <a:cs typeface="Calibri"/>
              <a:sym typeface="Calibri"/>
            </a:endParaRPr>
          </a:p>
        </p:txBody>
      </p:sp>
      <p:sp>
        <p:nvSpPr>
          <p:cNvPr id="1576" name="Google Shape;1576;p36"/>
          <p:cNvSpPr txBox="1"/>
          <p:nvPr/>
        </p:nvSpPr>
        <p:spPr>
          <a:xfrm>
            <a:off x="800100" y="3133649"/>
            <a:ext cx="104616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8350F"/>
              </a:buClr>
              <a:buSzPts val="1100"/>
              <a:buFont typeface="Inter"/>
              <a:buNone/>
            </a:pPr>
            <a:r>
              <a:rPr b="0" i="0" lang="en-US" sz="1100" u="none" cap="none" strike="noStrike">
                <a:solidFill>
                  <a:srgbClr val="78350F"/>
                </a:solidFill>
                <a:latin typeface="Inter"/>
                <a:ea typeface="Inter"/>
                <a:cs typeface="Inter"/>
                <a:sym typeface="Inter"/>
              </a:rPr>
              <a:t>Content creators demonstrate repeat usage across projects, showing how versatile products drive discovery and expanded use. Cross-room applications (garage → kitchen → office) and seasonal refresh cycles suggest value in ecosystem approach.</a:t>
            </a:r>
            <a:endParaRPr b="0" i="0" sz="1100" u="none" cap="none" strike="noStrike">
              <a:solidFill>
                <a:schemeClr val="dk1"/>
              </a:solidFill>
              <a:latin typeface="Calibri"/>
              <a:ea typeface="Calibri"/>
              <a:cs typeface="Calibri"/>
              <a:sym typeface="Calibri"/>
            </a:endParaRPr>
          </a:p>
        </p:txBody>
      </p:sp>
      <p:sp>
        <p:nvSpPr>
          <p:cNvPr id="1577" name="Google Shape;1577;p36"/>
          <p:cNvSpPr/>
          <p:nvPr/>
        </p:nvSpPr>
        <p:spPr>
          <a:xfrm>
            <a:off x="1742846" y="4181551"/>
            <a:ext cx="761695" cy="761695"/>
          </a:xfrm>
          <a:prstGeom prst="ellipse">
            <a:avLst/>
          </a:prstGeom>
          <a:solidFill>
            <a:srgbClr val="F9FAFB"/>
          </a:solidFill>
          <a:ln cap="flat" cmpd="sng" w="38100">
            <a:solidFill>
              <a:srgbClr val="1E3A8A"/>
            </a:solidFill>
            <a:prstDash val="solid"/>
            <a:round/>
            <a:headEnd len="sm" w="sm" type="none"/>
            <a:tailEnd len="sm" w="sm" type="none"/>
          </a:ln>
          <a:effectLst>
            <a:outerShdw blurRad="63500" rotWithShape="0" algn="bl" dir="5400000" dist="38100">
              <a:srgbClr val="1E3A8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8" name="Google Shape;1578;p36"/>
          <p:cNvPicPr preferRelativeResize="0"/>
          <p:nvPr/>
        </p:nvPicPr>
        <p:blipFill rotWithShape="1">
          <a:blip r:embed="rId3">
            <a:alphaModFix/>
          </a:blip>
          <a:srcRect b="0" l="0" r="0" t="0"/>
          <a:stretch/>
        </p:blipFill>
        <p:spPr>
          <a:xfrm>
            <a:off x="1910182" y="4347972"/>
            <a:ext cx="428854" cy="428854"/>
          </a:xfrm>
          <a:prstGeom prst="rect">
            <a:avLst/>
          </a:prstGeom>
          <a:noFill/>
          <a:ln>
            <a:noFill/>
          </a:ln>
        </p:spPr>
      </p:pic>
      <p:sp>
        <p:nvSpPr>
          <p:cNvPr id="1579" name="Google Shape;1579;p36"/>
          <p:cNvSpPr/>
          <p:nvPr/>
        </p:nvSpPr>
        <p:spPr>
          <a:xfrm>
            <a:off x="4390949" y="4181551"/>
            <a:ext cx="761695" cy="761695"/>
          </a:xfrm>
          <a:prstGeom prst="ellipse">
            <a:avLst/>
          </a:prstGeom>
          <a:solidFill>
            <a:srgbClr val="F9FAFB"/>
          </a:solidFill>
          <a:ln cap="flat" cmpd="sng" w="38100">
            <a:solidFill>
              <a:srgbClr val="1E3A8A"/>
            </a:solidFill>
            <a:prstDash val="solid"/>
            <a:round/>
            <a:headEnd len="sm" w="sm" type="none"/>
            <a:tailEnd len="sm" w="sm" type="none"/>
          </a:ln>
          <a:effectLst>
            <a:outerShdw blurRad="63500" rotWithShape="0" algn="bl" dir="5400000" dist="38100">
              <a:srgbClr val="1E3A8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6"/>
          <p:cNvSpPr/>
          <p:nvPr/>
        </p:nvSpPr>
        <p:spPr>
          <a:xfrm>
            <a:off x="7039051" y="4181551"/>
            <a:ext cx="761695" cy="761695"/>
          </a:xfrm>
          <a:prstGeom prst="ellipse">
            <a:avLst/>
          </a:prstGeom>
          <a:solidFill>
            <a:srgbClr val="F9FAFB"/>
          </a:solidFill>
          <a:ln cap="flat" cmpd="sng" w="38100">
            <a:solidFill>
              <a:srgbClr val="1E3A8A"/>
            </a:solidFill>
            <a:prstDash val="solid"/>
            <a:round/>
            <a:headEnd len="sm" w="sm" type="none"/>
            <a:tailEnd len="sm" w="sm" type="none"/>
          </a:ln>
          <a:effectLst>
            <a:outerShdw blurRad="63500" rotWithShape="0" algn="bl" dir="5400000" dist="38100">
              <a:srgbClr val="1E3A8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6"/>
          <p:cNvSpPr/>
          <p:nvPr/>
        </p:nvSpPr>
        <p:spPr>
          <a:xfrm>
            <a:off x="9687154" y="4181551"/>
            <a:ext cx="761695" cy="761695"/>
          </a:xfrm>
          <a:prstGeom prst="ellipse">
            <a:avLst/>
          </a:prstGeom>
          <a:solidFill>
            <a:srgbClr val="F9FAFB"/>
          </a:solidFill>
          <a:ln cap="flat" cmpd="sng" w="38100">
            <a:solidFill>
              <a:srgbClr val="1E3A8A"/>
            </a:solidFill>
            <a:prstDash val="solid"/>
            <a:round/>
            <a:headEnd len="sm" w="sm" type="none"/>
            <a:tailEnd len="sm" w="sm" type="none"/>
          </a:ln>
          <a:effectLst>
            <a:outerShdw blurRad="63500" rotWithShape="0" algn="bl" dir="5400000" dist="38100">
              <a:srgbClr val="1E3A8A">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6"/>
          <p:cNvSpPr txBox="1"/>
          <p:nvPr/>
        </p:nvSpPr>
        <p:spPr>
          <a:xfrm>
            <a:off x="1647749" y="5067605"/>
            <a:ext cx="105979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Starter Hooks</a:t>
            </a:r>
            <a:endParaRPr b="0" i="0" sz="1100" u="none" cap="none" strike="noStrike">
              <a:solidFill>
                <a:schemeClr val="dk1"/>
              </a:solidFill>
              <a:latin typeface="Calibri"/>
              <a:ea typeface="Calibri"/>
              <a:cs typeface="Calibri"/>
              <a:sym typeface="Calibri"/>
            </a:endParaRPr>
          </a:p>
        </p:txBody>
      </p:sp>
      <p:sp>
        <p:nvSpPr>
          <p:cNvPr id="1583" name="Google Shape;1583;p36"/>
          <p:cNvSpPr txBox="1"/>
          <p:nvPr/>
        </p:nvSpPr>
        <p:spPr>
          <a:xfrm>
            <a:off x="4155034" y="5067605"/>
            <a:ext cx="1345997"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Shelving Systems</a:t>
            </a:r>
            <a:endParaRPr b="0" i="0" sz="1100" u="none" cap="none" strike="noStrike">
              <a:solidFill>
                <a:schemeClr val="dk1"/>
              </a:solidFill>
              <a:latin typeface="Calibri"/>
              <a:ea typeface="Calibri"/>
              <a:cs typeface="Calibri"/>
              <a:sym typeface="Calibri"/>
            </a:endParaRPr>
          </a:p>
        </p:txBody>
      </p:sp>
      <p:sp>
        <p:nvSpPr>
          <p:cNvPr id="1584" name="Google Shape;1584;p36"/>
          <p:cNvSpPr txBox="1"/>
          <p:nvPr/>
        </p:nvSpPr>
        <p:spPr>
          <a:xfrm>
            <a:off x="9458554" y="5067605"/>
            <a:ext cx="1326794"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Complete System</a:t>
            </a:r>
            <a:endParaRPr b="0" i="0" sz="1100" u="none" cap="none" strike="noStrike">
              <a:solidFill>
                <a:schemeClr val="dk1"/>
              </a:solidFill>
              <a:latin typeface="Calibri"/>
              <a:ea typeface="Calibri"/>
              <a:cs typeface="Calibri"/>
              <a:sym typeface="Calibri"/>
            </a:endParaRPr>
          </a:p>
        </p:txBody>
      </p:sp>
      <p:sp>
        <p:nvSpPr>
          <p:cNvPr id="1585" name="Google Shape;1585;p36"/>
          <p:cNvSpPr txBox="1"/>
          <p:nvPr/>
        </p:nvSpPr>
        <p:spPr>
          <a:xfrm>
            <a:off x="1516990" y="5339182"/>
            <a:ext cx="1312164"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Entry point purchase</a:t>
            </a:r>
            <a:endParaRPr b="0" i="0" sz="900" u="none" cap="none" strike="noStrike">
              <a:solidFill>
                <a:schemeClr val="dk1"/>
              </a:solidFill>
              <a:latin typeface="Calibri"/>
              <a:ea typeface="Calibri"/>
              <a:cs typeface="Calibri"/>
              <a:sym typeface="Calibri"/>
            </a:endParaRPr>
          </a:p>
        </p:txBody>
      </p:sp>
      <p:pic>
        <p:nvPicPr>
          <p:cNvPr descr="preencoded.png" id="1586" name="Google Shape;1586;p36"/>
          <p:cNvPicPr preferRelativeResize="0"/>
          <p:nvPr/>
        </p:nvPicPr>
        <p:blipFill rotWithShape="1">
          <a:blip r:embed="rId4">
            <a:alphaModFix/>
          </a:blip>
          <a:srcRect b="0" l="0" r="0" t="0"/>
          <a:stretch/>
        </p:blipFill>
        <p:spPr>
          <a:xfrm>
            <a:off x="4557370" y="4347972"/>
            <a:ext cx="428854" cy="428854"/>
          </a:xfrm>
          <a:prstGeom prst="rect">
            <a:avLst/>
          </a:prstGeom>
          <a:noFill/>
          <a:ln>
            <a:noFill/>
          </a:ln>
        </p:spPr>
      </p:pic>
      <p:sp>
        <p:nvSpPr>
          <p:cNvPr id="1587" name="Google Shape;1587;p36"/>
          <p:cNvSpPr txBox="1"/>
          <p:nvPr/>
        </p:nvSpPr>
        <p:spPr>
          <a:xfrm>
            <a:off x="4326941" y="5339182"/>
            <a:ext cx="988466"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First expansion</a:t>
            </a:r>
            <a:endParaRPr b="0" i="0" sz="900" u="none" cap="none" strike="noStrike">
              <a:solidFill>
                <a:schemeClr val="dk1"/>
              </a:solidFill>
              <a:latin typeface="Calibri"/>
              <a:ea typeface="Calibri"/>
              <a:cs typeface="Calibri"/>
              <a:sym typeface="Calibri"/>
            </a:endParaRPr>
          </a:p>
        </p:txBody>
      </p:sp>
      <p:pic>
        <p:nvPicPr>
          <p:cNvPr descr="preencoded.png" id="1588" name="Google Shape;1588;p36"/>
          <p:cNvPicPr preferRelativeResize="0"/>
          <p:nvPr/>
        </p:nvPicPr>
        <p:blipFill rotWithShape="1">
          <a:blip r:embed="rId5">
            <a:alphaModFix/>
          </a:blip>
          <a:srcRect b="0" l="0" r="0" t="0"/>
          <a:stretch/>
        </p:blipFill>
        <p:spPr>
          <a:xfrm>
            <a:off x="7205472" y="4347972"/>
            <a:ext cx="428854" cy="428854"/>
          </a:xfrm>
          <a:prstGeom prst="rect">
            <a:avLst/>
          </a:prstGeom>
          <a:noFill/>
          <a:ln>
            <a:noFill/>
          </a:ln>
        </p:spPr>
      </p:pic>
      <p:sp>
        <p:nvSpPr>
          <p:cNvPr id="1589" name="Google Shape;1589;p36"/>
          <p:cNvSpPr txBox="1"/>
          <p:nvPr/>
        </p:nvSpPr>
        <p:spPr>
          <a:xfrm>
            <a:off x="6939382" y="5067605"/>
            <a:ext cx="106984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Rails &amp; Tracks</a:t>
            </a:r>
            <a:endParaRPr b="0" i="0" sz="1100" u="none" cap="none" strike="noStrike">
              <a:solidFill>
                <a:schemeClr val="dk1"/>
              </a:solidFill>
              <a:latin typeface="Calibri"/>
              <a:ea typeface="Calibri"/>
              <a:cs typeface="Calibri"/>
              <a:sym typeface="Calibri"/>
            </a:endParaRPr>
          </a:p>
        </p:txBody>
      </p:sp>
      <p:sp>
        <p:nvSpPr>
          <p:cNvPr id="1590" name="Google Shape;1590;p36"/>
          <p:cNvSpPr txBox="1"/>
          <p:nvPr/>
        </p:nvSpPr>
        <p:spPr>
          <a:xfrm>
            <a:off x="6885432" y="5339182"/>
            <a:ext cx="1169518"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System expansion</a:t>
            </a:r>
            <a:endParaRPr b="0" i="0" sz="900" u="none" cap="none" strike="noStrike">
              <a:solidFill>
                <a:schemeClr val="dk1"/>
              </a:solidFill>
              <a:latin typeface="Calibri"/>
              <a:ea typeface="Calibri"/>
              <a:cs typeface="Calibri"/>
              <a:sym typeface="Calibri"/>
            </a:endParaRPr>
          </a:p>
        </p:txBody>
      </p:sp>
      <p:pic>
        <p:nvPicPr>
          <p:cNvPr descr="preencoded.png" id="1591" name="Google Shape;1591;p36"/>
          <p:cNvPicPr preferRelativeResize="0"/>
          <p:nvPr/>
        </p:nvPicPr>
        <p:blipFill rotWithShape="1">
          <a:blip r:embed="rId6">
            <a:alphaModFix/>
          </a:blip>
          <a:srcRect b="0" l="0" r="0" t="0"/>
          <a:stretch/>
        </p:blipFill>
        <p:spPr>
          <a:xfrm>
            <a:off x="9853574" y="4347972"/>
            <a:ext cx="428854" cy="428854"/>
          </a:xfrm>
          <a:prstGeom prst="rect">
            <a:avLst/>
          </a:prstGeom>
          <a:noFill/>
          <a:ln>
            <a:noFill/>
          </a:ln>
        </p:spPr>
      </p:pic>
      <p:sp>
        <p:nvSpPr>
          <p:cNvPr id="1592" name="Google Shape;1592;p36"/>
          <p:cNvSpPr txBox="1"/>
          <p:nvPr/>
        </p:nvSpPr>
        <p:spPr>
          <a:xfrm>
            <a:off x="9496958" y="5339182"/>
            <a:ext cx="1236269"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900"/>
              <a:buFont typeface="Inter"/>
              <a:buNone/>
            </a:pPr>
            <a:r>
              <a:rPr b="0" i="0" lang="en-US" sz="900" u="none" cap="none" strike="noStrike">
                <a:solidFill>
                  <a:srgbClr val="4B5563"/>
                </a:solidFill>
                <a:latin typeface="Inter"/>
                <a:ea typeface="Inter"/>
                <a:cs typeface="Inter"/>
                <a:sym typeface="Inter"/>
              </a:rPr>
              <a:t>Full garage solution</a:t>
            </a:r>
            <a:endParaRPr b="0" i="0" sz="900" u="none" cap="none" strike="noStrike">
              <a:solidFill>
                <a:schemeClr val="dk1"/>
              </a:solidFill>
              <a:latin typeface="Calibri"/>
              <a:ea typeface="Calibri"/>
              <a:cs typeface="Calibri"/>
              <a:sym typeface="Calibri"/>
            </a:endParaRPr>
          </a:p>
        </p:txBody>
      </p:sp>
      <p:sp>
        <p:nvSpPr>
          <p:cNvPr id="1593" name="Google Shape;1593;p36"/>
          <p:cNvSpPr/>
          <p:nvPr/>
        </p:nvSpPr>
        <p:spPr>
          <a:xfrm>
            <a:off x="609905" y="5991149"/>
            <a:ext cx="10972800" cy="3791102"/>
          </a:xfrm>
          <a:prstGeom prst="roundRect">
            <a:avLst>
              <a:gd fmla="val 485"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6"/>
          <p:cNvSpPr/>
          <p:nvPr/>
        </p:nvSpPr>
        <p:spPr>
          <a:xfrm>
            <a:off x="619049" y="6001207"/>
            <a:ext cx="10953598" cy="6099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6"/>
          <p:cNvSpPr/>
          <p:nvPr/>
        </p:nvSpPr>
        <p:spPr>
          <a:xfrm>
            <a:off x="619049" y="660196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6"/>
          <p:cNvSpPr/>
          <p:nvPr/>
        </p:nvSpPr>
        <p:spPr>
          <a:xfrm>
            <a:off x="619049" y="6610198"/>
            <a:ext cx="10953598" cy="7717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6"/>
          <p:cNvSpPr/>
          <p:nvPr/>
        </p:nvSpPr>
        <p:spPr>
          <a:xfrm>
            <a:off x="619049" y="737280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6"/>
          <p:cNvSpPr/>
          <p:nvPr/>
        </p:nvSpPr>
        <p:spPr>
          <a:xfrm>
            <a:off x="619049" y="7381951"/>
            <a:ext cx="10953598" cy="7717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6"/>
          <p:cNvSpPr/>
          <p:nvPr/>
        </p:nvSpPr>
        <p:spPr>
          <a:xfrm>
            <a:off x="619049" y="81445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6"/>
          <p:cNvSpPr/>
          <p:nvPr/>
        </p:nvSpPr>
        <p:spPr>
          <a:xfrm>
            <a:off x="619049" y="8153705"/>
            <a:ext cx="10953598" cy="5431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6"/>
          <p:cNvSpPr/>
          <p:nvPr/>
        </p:nvSpPr>
        <p:spPr>
          <a:xfrm>
            <a:off x="619049" y="868771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6"/>
          <p:cNvSpPr/>
          <p:nvPr/>
        </p:nvSpPr>
        <p:spPr>
          <a:xfrm>
            <a:off x="619049" y="8695944"/>
            <a:ext cx="10953598" cy="543154"/>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6"/>
          <p:cNvSpPr/>
          <p:nvPr/>
        </p:nvSpPr>
        <p:spPr>
          <a:xfrm>
            <a:off x="619049" y="922995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6"/>
          <p:cNvSpPr/>
          <p:nvPr/>
        </p:nvSpPr>
        <p:spPr>
          <a:xfrm>
            <a:off x="619049" y="9239098"/>
            <a:ext cx="10953598" cy="5330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6"/>
          <p:cNvSpPr txBox="1"/>
          <p:nvPr/>
        </p:nvSpPr>
        <p:spPr>
          <a:xfrm>
            <a:off x="847649" y="6191402"/>
            <a:ext cx="2043684"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Montserrat"/>
              <a:buNone/>
            </a:pPr>
            <a:r>
              <a:rPr b="1" i="0" lang="en-US" sz="1300" u="none" cap="none" strike="noStrike">
                <a:solidFill>
                  <a:srgbClr val="111827"/>
                </a:solidFill>
                <a:latin typeface="Montserrat"/>
                <a:ea typeface="Montserrat"/>
                <a:cs typeface="Montserrat"/>
                <a:sym typeface="Montserrat"/>
              </a:rPr>
              <a:t>Platform Opportunity</a:t>
            </a:r>
            <a:endParaRPr b="0" i="0" sz="1300" u="none" cap="none" strike="noStrike">
              <a:solidFill>
                <a:schemeClr val="dk1"/>
              </a:solidFill>
              <a:latin typeface="Calibri"/>
              <a:ea typeface="Calibri"/>
              <a:cs typeface="Calibri"/>
              <a:sym typeface="Calibri"/>
            </a:endParaRPr>
          </a:p>
        </p:txBody>
      </p:sp>
      <p:sp>
        <p:nvSpPr>
          <p:cNvPr id="1606" name="Google Shape;1606;p36"/>
          <p:cNvSpPr txBox="1"/>
          <p:nvPr/>
        </p:nvSpPr>
        <p:spPr>
          <a:xfrm>
            <a:off x="3996842" y="6191402"/>
            <a:ext cx="2262226"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Strategic Requirements</a:t>
            </a:r>
            <a:endParaRPr b="0" i="0" sz="1300" u="none" cap="none" strike="noStrike">
              <a:solidFill>
                <a:schemeClr val="dk1"/>
              </a:solidFill>
              <a:latin typeface="Calibri"/>
              <a:ea typeface="Calibri"/>
              <a:cs typeface="Calibri"/>
              <a:sym typeface="Calibri"/>
            </a:endParaRPr>
          </a:p>
        </p:txBody>
      </p:sp>
      <p:sp>
        <p:nvSpPr>
          <p:cNvPr id="1607" name="Google Shape;1607;p36"/>
          <p:cNvSpPr txBox="1"/>
          <p:nvPr/>
        </p:nvSpPr>
        <p:spPr>
          <a:xfrm>
            <a:off x="847649" y="6782105"/>
            <a:ext cx="6885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Problem</a:t>
            </a:r>
            <a:endParaRPr b="0" i="0" sz="1100" u="none" cap="none" strike="noStrike">
              <a:solidFill>
                <a:schemeClr val="dk1"/>
              </a:solidFill>
              <a:latin typeface="Calibri"/>
              <a:ea typeface="Calibri"/>
              <a:cs typeface="Calibri"/>
              <a:sym typeface="Calibri"/>
            </a:endParaRPr>
          </a:p>
        </p:txBody>
      </p:sp>
      <p:sp>
        <p:nvSpPr>
          <p:cNvPr id="1608" name="Google Shape;1608;p36"/>
          <p:cNvSpPr txBox="1"/>
          <p:nvPr/>
        </p:nvSpPr>
        <p:spPr>
          <a:xfrm>
            <a:off x="847649" y="7552944"/>
            <a:ext cx="13359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Consumer Insight</a:t>
            </a:r>
            <a:endParaRPr b="0" i="0" sz="1100" u="none" cap="none" strike="noStrike">
              <a:solidFill>
                <a:schemeClr val="dk1"/>
              </a:solidFill>
              <a:latin typeface="Calibri"/>
              <a:ea typeface="Calibri"/>
              <a:cs typeface="Calibri"/>
              <a:sym typeface="Calibri"/>
            </a:endParaRPr>
          </a:p>
        </p:txBody>
      </p:sp>
      <p:sp>
        <p:nvSpPr>
          <p:cNvPr id="1609" name="Google Shape;1609;p36"/>
          <p:cNvSpPr txBox="1"/>
          <p:nvPr/>
        </p:nvSpPr>
        <p:spPr>
          <a:xfrm>
            <a:off x="847649" y="8324698"/>
            <a:ext cx="14886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Solution Framework</a:t>
            </a:r>
            <a:endParaRPr b="0" i="0" sz="1100" u="none" cap="none" strike="noStrike">
              <a:solidFill>
                <a:schemeClr val="dk1"/>
              </a:solidFill>
              <a:latin typeface="Calibri"/>
              <a:ea typeface="Calibri"/>
              <a:cs typeface="Calibri"/>
              <a:sym typeface="Calibri"/>
            </a:endParaRPr>
          </a:p>
        </p:txBody>
      </p:sp>
      <p:sp>
        <p:nvSpPr>
          <p:cNvPr id="1610" name="Google Shape;1610;p36"/>
          <p:cNvSpPr txBox="1"/>
          <p:nvPr/>
        </p:nvSpPr>
        <p:spPr>
          <a:xfrm>
            <a:off x="847649" y="8867851"/>
            <a:ext cx="15837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Design Requirements</a:t>
            </a:r>
            <a:endParaRPr b="0" i="0" sz="1100" u="none" cap="none" strike="noStrike">
              <a:solidFill>
                <a:schemeClr val="dk1"/>
              </a:solidFill>
              <a:latin typeface="Calibri"/>
              <a:ea typeface="Calibri"/>
              <a:cs typeface="Calibri"/>
              <a:sym typeface="Calibri"/>
            </a:endParaRPr>
          </a:p>
        </p:txBody>
      </p:sp>
      <p:sp>
        <p:nvSpPr>
          <p:cNvPr id="1611" name="Google Shape;1611;p36"/>
          <p:cNvSpPr txBox="1"/>
          <p:nvPr/>
        </p:nvSpPr>
        <p:spPr>
          <a:xfrm>
            <a:off x="847649" y="9411005"/>
            <a:ext cx="11740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Success Factor</a:t>
            </a:r>
            <a:endParaRPr b="0" i="0" sz="1100" u="none" cap="none" strike="noStrike">
              <a:solidFill>
                <a:schemeClr val="dk1"/>
              </a:solidFill>
              <a:latin typeface="Calibri"/>
              <a:ea typeface="Calibri"/>
              <a:cs typeface="Calibri"/>
              <a:sym typeface="Calibri"/>
            </a:endParaRPr>
          </a:p>
        </p:txBody>
      </p:sp>
      <p:sp>
        <p:nvSpPr>
          <p:cNvPr id="1612" name="Google Shape;1612;p36"/>
          <p:cNvSpPr txBox="1"/>
          <p:nvPr/>
        </p:nvSpPr>
        <p:spPr>
          <a:xfrm>
            <a:off x="4134002" y="6782105"/>
            <a:ext cx="7194499"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Follow-on products don't integrate with initial purchases; limited compatibility across brands and product lines</a:t>
            </a:r>
            <a:endParaRPr b="0" i="0" sz="1100" u="none" cap="none" strike="noStrike">
              <a:solidFill>
                <a:schemeClr val="dk1"/>
              </a:solidFill>
              <a:latin typeface="Calibri"/>
              <a:ea typeface="Calibri"/>
              <a:cs typeface="Calibri"/>
              <a:sym typeface="Calibri"/>
            </a:endParaRPr>
          </a:p>
        </p:txBody>
      </p:sp>
      <p:sp>
        <p:nvSpPr>
          <p:cNvPr id="1613" name="Google Shape;1613;p36"/>
          <p:cNvSpPr txBox="1"/>
          <p:nvPr/>
        </p:nvSpPr>
        <p:spPr>
          <a:xfrm>
            <a:off x="4134002" y="7552944"/>
            <a:ext cx="7251192"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Content creators demonstrate repeat usage across projects; cross-room applications observed in garage, kitchen, and office spaces</a:t>
            </a:r>
            <a:endParaRPr b="0" i="0" sz="1100" u="none" cap="none" strike="noStrike">
              <a:solidFill>
                <a:schemeClr val="dk1"/>
              </a:solidFill>
              <a:latin typeface="Calibri"/>
              <a:ea typeface="Calibri"/>
              <a:cs typeface="Calibri"/>
              <a:sym typeface="Calibri"/>
            </a:endParaRPr>
          </a:p>
        </p:txBody>
      </p:sp>
      <p:sp>
        <p:nvSpPr>
          <p:cNvPr id="1614" name="Google Shape;1614;p36"/>
          <p:cNvSpPr txBox="1"/>
          <p:nvPr/>
        </p:nvSpPr>
        <p:spPr>
          <a:xfrm>
            <a:off x="4134002" y="8324698"/>
            <a:ext cx="66604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Starter hooks → shelving → rails/cabinets with guaranteed compatibility across entire ecosystem</a:t>
            </a:r>
            <a:endParaRPr b="0" i="0" sz="1100" u="none" cap="none" strike="noStrike">
              <a:solidFill>
                <a:schemeClr val="dk1"/>
              </a:solidFill>
              <a:latin typeface="Calibri"/>
              <a:ea typeface="Calibri"/>
              <a:cs typeface="Calibri"/>
              <a:sym typeface="Calibri"/>
            </a:endParaRPr>
          </a:p>
        </p:txBody>
      </p:sp>
      <p:sp>
        <p:nvSpPr>
          <p:cNvPr id="1615" name="Google Shape;1615;p36"/>
          <p:cNvSpPr txBox="1"/>
          <p:nvPr/>
        </p:nvSpPr>
        <p:spPr>
          <a:xfrm>
            <a:off x="4134002" y="8867851"/>
            <a:ext cx="70033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Mechanical interface standard + visual coherence across all products; consumer-friendly connections</a:t>
            </a:r>
            <a:endParaRPr b="0" i="0" sz="1100" u="none" cap="none" strike="noStrike">
              <a:solidFill>
                <a:schemeClr val="dk1"/>
              </a:solidFill>
              <a:latin typeface="Calibri"/>
              <a:ea typeface="Calibri"/>
              <a:cs typeface="Calibri"/>
              <a:sym typeface="Calibri"/>
            </a:endParaRPr>
          </a:p>
        </p:txBody>
      </p:sp>
      <p:sp>
        <p:nvSpPr>
          <p:cNvPr id="1616" name="Google Shape;1616;p36"/>
          <p:cNvSpPr txBox="1"/>
          <p:nvPr/>
        </p:nvSpPr>
        <p:spPr>
          <a:xfrm>
            <a:off x="4134002" y="9411005"/>
            <a:ext cx="62032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Clear 18-month product roadmap from day one; platform thinking before launching SKU #1</a:t>
            </a:r>
            <a:endParaRPr b="0" i="0" sz="1100" u="none" cap="none" strike="noStrike">
              <a:solidFill>
                <a:schemeClr val="dk1"/>
              </a:solidFill>
              <a:latin typeface="Calibri"/>
              <a:ea typeface="Calibri"/>
              <a:cs typeface="Calibri"/>
              <a:sym typeface="Calibri"/>
            </a:endParaRPr>
          </a:p>
        </p:txBody>
      </p:sp>
      <p:sp>
        <p:nvSpPr>
          <p:cNvPr id="1617" name="Google Shape;1617;p36"/>
          <p:cNvSpPr txBox="1"/>
          <p:nvPr/>
        </p:nvSpPr>
        <p:spPr>
          <a:xfrm>
            <a:off x="609905" y="9982505"/>
            <a:ext cx="4445813"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Observation from content creator patterns. Not purchase transaction data.</a:t>
            </a:r>
            <a:endParaRPr b="0" i="0" sz="900" u="none" cap="none" strike="noStrike">
              <a:solidFill>
                <a:schemeClr val="dk1"/>
              </a:solidFill>
              <a:latin typeface="Calibri"/>
              <a:ea typeface="Calibri"/>
              <a:cs typeface="Calibri"/>
              <a:sym typeface="Calibri"/>
            </a:endParaRPr>
          </a:p>
        </p:txBody>
      </p:sp>
      <p:sp>
        <p:nvSpPr>
          <p:cNvPr id="1618" name="Google Shape;1618;p36"/>
          <p:cNvSpPr txBox="1"/>
          <p:nvPr/>
        </p:nvSpPr>
        <p:spPr>
          <a:xfrm>
            <a:off x="609905" y="10482682"/>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1619" name="Google Shape;1619;p36"/>
          <p:cNvSpPr txBox="1"/>
          <p:nvPr/>
        </p:nvSpPr>
        <p:spPr>
          <a:xfrm>
            <a:off x="11412626" y="10482682"/>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37"/>
          <p:cNvSpPr/>
          <p:nvPr/>
        </p:nvSpPr>
        <p:spPr>
          <a:xfrm>
            <a:off x="0" y="0"/>
            <a:ext cx="12191695" cy="92866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7"/>
          <p:cNvSpPr/>
          <p:nvPr/>
        </p:nvSpPr>
        <p:spPr>
          <a:xfrm>
            <a:off x="0" y="0"/>
            <a:ext cx="12191695" cy="92866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7"/>
          <p:cNvSpPr/>
          <p:nvPr/>
        </p:nvSpPr>
        <p:spPr>
          <a:xfrm>
            <a:off x="533095" y="304495"/>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7"/>
          <p:cNvSpPr txBox="1"/>
          <p:nvPr/>
        </p:nvSpPr>
        <p:spPr>
          <a:xfrm>
            <a:off x="533095" y="533095"/>
            <a:ext cx="5115154"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Brand-to-White Space Mapping</a:t>
            </a:r>
            <a:endParaRPr b="0" i="0" sz="2400" u="none" cap="none" strike="noStrike">
              <a:solidFill>
                <a:schemeClr val="dk1"/>
              </a:solidFill>
              <a:latin typeface="Calibri"/>
              <a:ea typeface="Calibri"/>
              <a:cs typeface="Calibri"/>
              <a:sym typeface="Calibri"/>
            </a:endParaRPr>
          </a:p>
        </p:txBody>
      </p:sp>
      <p:sp>
        <p:nvSpPr>
          <p:cNvPr id="1629" name="Google Shape;1629;p37"/>
          <p:cNvSpPr/>
          <p:nvPr/>
        </p:nvSpPr>
        <p:spPr>
          <a:xfrm>
            <a:off x="1333195" y="1218895"/>
            <a:ext cx="9525305" cy="62389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7"/>
          <p:cNvSpPr/>
          <p:nvPr/>
        </p:nvSpPr>
        <p:spPr>
          <a:xfrm>
            <a:off x="1333195" y="1570939"/>
            <a:ext cx="9525305" cy="19202"/>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7"/>
          <p:cNvSpPr txBox="1"/>
          <p:nvPr/>
        </p:nvSpPr>
        <p:spPr>
          <a:xfrm>
            <a:off x="2675534" y="1248156"/>
            <a:ext cx="624535"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Brand</a:t>
            </a:r>
            <a:endParaRPr b="0" i="0" sz="1300" u="none" cap="none" strike="noStrike">
              <a:solidFill>
                <a:schemeClr val="dk1"/>
              </a:solidFill>
              <a:latin typeface="Calibri"/>
              <a:ea typeface="Calibri"/>
              <a:cs typeface="Calibri"/>
              <a:sym typeface="Calibri"/>
            </a:endParaRPr>
          </a:p>
        </p:txBody>
      </p:sp>
      <p:sp>
        <p:nvSpPr>
          <p:cNvPr id="1632" name="Google Shape;1632;p37"/>
          <p:cNvSpPr txBox="1"/>
          <p:nvPr/>
        </p:nvSpPr>
        <p:spPr>
          <a:xfrm>
            <a:off x="5049317" y="1248156"/>
            <a:ext cx="2224735"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White Space Opportunity</a:t>
            </a:r>
            <a:endParaRPr b="0" i="0" sz="1300" u="none" cap="none" strike="noStrike">
              <a:solidFill>
                <a:schemeClr val="dk1"/>
              </a:solidFill>
              <a:latin typeface="Calibri"/>
              <a:ea typeface="Calibri"/>
              <a:cs typeface="Calibri"/>
              <a:sym typeface="Calibri"/>
            </a:endParaRPr>
          </a:p>
        </p:txBody>
      </p:sp>
      <p:sp>
        <p:nvSpPr>
          <p:cNvPr id="1633" name="Google Shape;1633;p37"/>
          <p:cNvSpPr txBox="1"/>
          <p:nvPr/>
        </p:nvSpPr>
        <p:spPr>
          <a:xfrm>
            <a:off x="8490204" y="1248156"/>
            <a:ext cx="1690726" cy="2002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300"/>
              <a:buFont typeface="Inter"/>
              <a:buNone/>
            </a:pPr>
            <a:r>
              <a:rPr b="1" i="0" lang="en-US" sz="1300" u="none" cap="none" strike="noStrike">
                <a:solidFill>
                  <a:srgbClr val="374151"/>
                </a:solidFill>
                <a:latin typeface="Inter"/>
                <a:ea typeface="Inter"/>
                <a:cs typeface="Inter"/>
                <a:sym typeface="Inter"/>
              </a:rPr>
              <a:t>Strategic Rationale</a:t>
            </a:r>
            <a:endParaRPr b="0" i="0" sz="1300" u="none" cap="none" strike="noStrike">
              <a:solidFill>
                <a:schemeClr val="dk1"/>
              </a:solidFill>
              <a:latin typeface="Calibri"/>
              <a:ea typeface="Calibri"/>
              <a:cs typeface="Calibri"/>
              <a:sym typeface="Calibri"/>
            </a:endParaRPr>
          </a:p>
        </p:txBody>
      </p:sp>
      <p:sp>
        <p:nvSpPr>
          <p:cNvPr id="1634" name="Google Shape;1634;p37"/>
          <p:cNvSpPr/>
          <p:nvPr/>
        </p:nvSpPr>
        <p:spPr>
          <a:xfrm>
            <a:off x="2063801" y="2233879"/>
            <a:ext cx="1714500" cy="761695"/>
          </a:xfrm>
          <a:prstGeom prst="roundRect">
            <a:avLst>
              <a:gd fmla="val 12005" name="adj"/>
            </a:avLst>
          </a:prstGeom>
          <a:solidFill>
            <a:srgbClr val="1E3A8A"/>
          </a:solidFill>
          <a:ln>
            <a:noFill/>
          </a:ln>
          <a:effectLst>
            <a:outerShdw blurRad="635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7"/>
          <p:cNvSpPr txBox="1"/>
          <p:nvPr/>
        </p:nvSpPr>
        <p:spPr>
          <a:xfrm>
            <a:off x="2388413" y="2381098"/>
            <a:ext cx="1209751"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Command™</a:t>
            </a:r>
            <a:endParaRPr b="0" i="0" sz="1500" u="none" cap="none" strike="noStrike">
              <a:solidFill>
                <a:schemeClr val="dk1"/>
              </a:solidFill>
              <a:latin typeface="Calibri"/>
              <a:ea typeface="Calibri"/>
              <a:cs typeface="Calibri"/>
              <a:sym typeface="Calibri"/>
            </a:endParaRPr>
          </a:p>
        </p:txBody>
      </p:sp>
      <p:sp>
        <p:nvSpPr>
          <p:cNvPr id="1636" name="Google Shape;1636;p37"/>
          <p:cNvSpPr txBox="1"/>
          <p:nvPr/>
        </p:nvSpPr>
        <p:spPr>
          <a:xfrm>
            <a:off x="2157984" y="2695651"/>
            <a:ext cx="1634033"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Damage-Free Mounting</a:t>
            </a:r>
            <a:endParaRPr b="0" i="0" sz="1000" u="none" cap="none" strike="noStrike">
              <a:solidFill>
                <a:schemeClr val="dk1"/>
              </a:solidFill>
              <a:latin typeface="Calibri"/>
              <a:ea typeface="Calibri"/>
              <a:cs typeface="Calibri"/>
              <a:sym typeface="Calibri"/>
            </a:endParaRPr>
          </a:p>
        </p:txBody>
      </p:sp>
      <p:sp>
        <p:nvSpPr>
          <p:cNvPr id="1637" name="Google Shape;1637;p37"/>
          <p:cNvSpPr/>
          <p:nvPr/>
        </p:nvSpPr>
        <p:spPr>
          <a:xfrm>
            <a:off x="5048402" y="2048256"/>
            <a:ext cx="2095805" cy="1181405"/>
          </a:xfrm>
          <a:prstGeom prst="roundRect">
            <a:avLst>
              <a:gd fmla="val 3745"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7"/>
          <p:cNvSpPr/>
          <p:nvPr/>
        </p:nvSpPr>
        <p:spPr>
          <a:xfrm>
            <a:off x="5048402" y="2048256"/>
            <a:ext cx="38405"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7"/>
          <p:cNvSpPr/>
          <p:nvPr/>
        </p:nvSpPr>
        <p:spPr>
          <a:xfrm>
            <a:off x="5048402" y="4028846"/>
            <a:ext cx="2095805" cy="1181405"/>
          </a:xfrm>
          <a:prstGeom prst="roundRect">
            <a:avLst>
              <a:gd fmla="val 3745"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7"/>
          <p:cNvSpPr/>
          <p:nvPr/>
        </p:nvSpPr>
        <p:spPr>
          <a:xfrm>
            <a:off x="5048402" y="4028846"/>
            <a:ext cx="38405"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7"/>
          <p:cNvSpPr/>
          <p:nvPr/>
        </p:nvSpPr>
        <p:spPr>
          <a:xfrm>
            <a:off x="5048402" y="6010351"/>
            <a:ext cx="2095805" cy="1181405"/>
          </a:xfrm>
          <a:prstGeom prst="roundRect">
            <a:avLst>
              <a:gd fmla="val 3745" name="adj"/>
            </a:avLst>
          </a:prstGeom>
          <a:solidFill>
            <a:srgbClr val="F9FAFB"/>
          </a:solidFill>
          <a:ln>
            <a:noFill/>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7"/>
          <p:cNvSpPr/>
          <p:nvPr/>
        </p:nvSpPr>
        <p:spPr>
          <a:xfrm>
            <a:off x="5048402" y="6010351"/>
            <a:ext cx="38405" cy="1181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7"/>
          <p:cNvSpPr txBox="1"/>
          <p:nvPr/>
        </p:nvSpPr>
        <p:spPr>
          <a:xfrm>
            <a:off x="5548579" y="2238451"/>
            <a:ext cx="1248156"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White Space #1</a:t>
            </a:r>
            <a:endParaRPr b="0" i="0" sz="1200" u="none" cap="none" strike="noStrike">
              <a:solidFill>
                <a:schemeClr val="dk1"/>
              </a:solidFill>
              <a:latin typeface="Calibri"/>
              <a:ea typeface="Calibri"/>
              <a:cs typeface="Calibri"/>
              <a:sym typeface="Calibri"/>
            </a:endParaRPr>
          </a:p>
        </p:txBody>
      </p:sp>
      <p:sp>
        <p:nvSpPr>
          <p:cNvPr id="1644" name="Google Shape;1644;p37"/>
          <p:cNvSpPr txBox="1"/>
          <p:nvPr/>
        </p:nvSpPr>
        <p:spPr>
          <a:xfrm>
            <a:off x="5533034" y="4219956"/>
            <a:ext cx="128656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White Space #2</a:t>
            </a:r>
            <a:endParaRPr b="0" i="0" sz="1200" u="none" cap="none" strike="noStrike">
              <a:solidFill>
                <a:schemeClr val="dk1"/>
              </a:solidFill>
              <a:latin typeface="Calibri"/>
              <a:ea typeface="Calibri"/>
              <a:cs typeface="Calibri"/>
              <a:sym typeface="Calibri"/>
            </a:endParaRPr>
          </a:p>
        </p:txBody>
      </p:sp>
      <p:sp>
        <p:nvSpPr>
          <p:cNvPr id="1645" name="Google Shape;1645;p37"/>
          <p:cNvSpPr txBox="1"/>
          <p:nvPr/>
        </p:nvSpPr>
        <p:spPr>
          <a:xfrm>
            <a:off x="5532120" y="6200546"/>
            <a:ext cx="1286561"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White Space #3</a:t>
            </a:r>
            <a:endParaRPr b="0" i="0" sz="1200" u="none" cap="none" strike="noStrike">
              <a:solidFill>
                <a:schemeClr val="dk1"/>
              </a:solidFill>
              <a:latin typeface="Calibri"/>
              <a:ea typeface="Calibri"/>
              <a:cs typeface="Calibri"/>
              <a:sym typeface="Calibri"/>
            </a:endParaRPr>
          </a:p>
        </p:txBody>
      </p:sp>
      <p:sp>
        <p:nvSpPr>
          <p:cNvPr id="1646" name="Google Shape;1646;p37"/>
          <p:cNvSpPr txBox="1"/>
          <p:nvPr/>
        </p:nvSpPr>
        <p:spPr>
          <a:xfrm>
            <a:off x="5562295" y="2523744"/>
            <a:ext cx="121523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Renter's Dilemma</a:t>
            </a:r>
            <a:endParaRPr b="0" i="0" sz="1000" u="none" cap="none" strike="noStrike">
              <a:solidFill>
                <a:schemeClr val="dk1"/>
              </a:solidFill>
              <a:latin typeface="Calibri"/>
              <a:ea typeface="Calibri"/>
              <a:cs typeface="Calibri"/>
              <a:sym typeface="Calibri"/>
            </a:endParaRPr>
          </a:p>
        </p:txBody>
      </p:sp>
      <p:sp>
        <p:nvSpPr>
          <p:cNvPr id="1647" name="Google Shape;1647;p37"/>
          <p:cNvSpPr txBox="1"/>
          <p:nvPr/>
        </p:nvSpPr>
        <p:spPr>
          <a:xfrm>
            <a:off x="5263286" y="4505249"/>
            <a:ext cx="1805026"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Premium Performance Gap</a:t>
            </a:r>
            <a:endParaRPr b="0" i="0" sz="1000" u="none" cap="none" strike="noStrike">
              <a:solidFill>
                <a:schemeClr val="dk1"/>
              </a:solidFill>
              <a:latin typeface="Calibri"/>
              <a:ea typeface="Calibri"/>
              <a:cs typeface="Calibri"/>
              <a:sym typeface="Calibri"/>
            </a:endParaRPr>
          </a:p>
        </p:txBody>
      </p:sp>
      <p:sp>
        <p:nvSpPr>
          <p:cNvPr id="1648" name="Google Shape;1648;p37"/>
          <p:cNvSpPr txBox="1"/>
          <p:nvPr/>
        </p:nvSpPr>
        <p:spPr>
          <a:xfrm>
            <a:off x="5488229" y="6486754"/>
            <a:ext cx="1357884"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000"/>
              <a:buFont typeface="Inter"/>
              <a:buNone/>
            </a:pPr>
            <a:r>
              <a:rPr b="0" i="0" lang="en-US" sz="1000" u="none" cap="none" strike="noStrike">
                <a:solidFill>
                  <a:srgbClr val="4B5563"/>
                </a:solidFill>
                <a:latin typeface="Inter"/>
                <a:ea typeface="Inter"/>
                <a:cs typeface="Inter"/>
                <a:sym typeface="Inter"/>
              </a:rPr>
              <a:t>Platform Ecosystem</a:t>
            </a:r>
            <a:endParaRPr b="0" i="0" sz="1000" u="none" cap="none" strike="noStrike">
              <a:solidFill>
                <a:schemeClr val="dk1"/>
              </a:solidFill>
              <a:latin typeface="Calibri"/>
              <a:ea typeface="Calibri"/>
              <a:cs typeface="Calibri"/>
              <a:sym typeface="Calibri"/>
            </a:endParaRPr>
          </a:p>
        </p:txBody>
      </p:sp>
      <p:sp>
        <p:nvSpPr>
          <p:cNvPr id="1649" name="Google Shape;1649;p37"/>
          <p:cNvSpPr/>
          <p:nvPr/>
        </p:nvSpPr>
        <p:spPr>
          <a:xfrm>
            <a:off x="5637276" y="2781605"/>
            <a:ext cx="961949" cy="276149"/>
          </a:xfrm>
          <a:prstGeom prst="roundRect">
            <a:avLst>
              <a:gd fmla="val 45672"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7"/>
          <p:cNvSpPr/>
          <p:nvPr/>
        </p:nvSpPr>
        <p:spPr>
          <a:xfrm>
            <a:off x="5637276" y="4762195"/>
            <a:ext cx="961949" cy="276149"/>
          </a:xfrm>
          <a:prstGeom prst="roundRect">
            <a:avLst>
              <a:gd fmla="val 45672"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7"/>
          <p:cNvSpPr txBox="1"/>
          <p:nvPr/>
        </p:nvSpPr>
        <p:spPr>
          <a:xfrm>
            <a:off x="5713171" y="2838298"/>
            <a:ext cx="90982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STRONG FIT</a:t>
            </a:r>
            <a:endParaRPr b="0" i="0" sz="1000" u="none" cap="none" strike="noStrike">
              <a:solidFill>
                <a:schemeClr val="dk1"/>
              </a:solidFill>
              <a:latin typeface="Calibri"/>
              <a:ea typeface="Calibri"/>
              <a:cs typeface="Calibri"/>
              <a:sym typeface="Calibri"/>
            </a:endParaRPr>
          </a:p>
        </p:txBody>
      </p:sp>
      <p:sp>
        <p:nvSpPr>
          <p:cNvPr id="1652" name="Google Shape;1652;p37"/>
          <p:cNvSpPr txBox="1"/>
          <p:nvPr/>
        </p:nvSpPr>
        <p:spPr>
          <a:xfrm>
            <a:off x="5713171" y="4819802"/>
            <a:ext cx="90982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STRONG FIT</a:t>
            </a:r>
            <a:endParaRPr b="0" i="0" sz="1000" u="none" cap="none" strike="noStrike">
              <a:solidFill>
                <a:schemeClr val="dk1"/>
              </a:solidFill>
              <a:latin typeface="Calibri"/>
              <a:ea typeface="Calibri"/>
              <a:cs typeface="Calibri"/>
              <a:sym typeface="Calibri"/>
            </a:endParaRPr>
          </a:p>
        </p:txBody>
      </p:sp>
      <p:sp>
        <p:nvSpPr>
          <p:cNvPr id="1653" name="Google Shape;1653;p37"/>
          <p:cNvSpPr/>
          <p:nvPr/>
        </p:nvSpPr>
        <p:spPr>
          <a:xfrm>
            <a:off x="8080553" y="1781251"/>
            <a:ext cx="2381098" cy="1714500"/>
          </a:xfrm>
          <a:prstGeom prst="roundRect">
            <a:avLst>
              <a:gd fmla="val 1778"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7"/>
          <p:cNvSpPr/>
          <p:nvPr/>
        </p:nvSpPr>
        <p:spPr>
          <a:xfrm>
            <a:off x="8080553" y="3762756"/>
            <a:ext cx="2381098" cy="1714500"/>
          </a:xfrm>
          <a:prstGeom prst="roundRect">
            <a:avLst>
              <a:gd fmla="val 1778"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7"/>
          <p:cNvSpPr/>
          <p:nvPr/>
        </p:nvSpPr>
        <p:spPr>
          <a:xfrm>
            <a:off x="8080553" y="5743346"/>
            <a:ext cx="2381098" cy="1714500"/>
          </a:xfrm>
          <a:prstGeom prst="roundRect">
            <a:avLst>
              <a:gd fmla="val 1778"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7"/>
          <p:cNvSpPr txBox="1"/>
          <p:nvPr/>
        </p:nvSpPr>
        <p:spPr>
          <a:xfrm>
            <a:off x="8251546" y="1971446"/>
            <a:ext cx="2124151" cy="1334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Perfect brand equity match with damage-free mounting promise. Addresses 31% of market who cannot drill walls but need heavy-duty (25-50 lb) solutions.</a:t>
            </a:r>
            <a:endParaRPr b="0" i="0" sz="1200" u="none" cap="none" strike="noStrike">
              <a:solidFill>
                <a:schemeClr val="dk1"/>
              </a:solidFill>
              <a:latin typeface="Calibri"/>
              <a:ea typeface="Calibri"/>
              <a:cs typeface="Calibri"/>
              <a:sym typeface="Calibri"/>
            </a:endParaRPr>
          </a:p>
        </p:txBody>
      </p:sp>
      <p:sp>
        <p:nvSpPr>
          <p:cNvPr id="1657" name="Google Shape;1657;p37"/>
          <p:cNvSpPr txBox="1"/>
          <p:nvPr/>
        </p:nvSpPr>
        <p:spPr>
          <a:xfrm>
            <a:off x="8251546" y="3952951"/>
            <a:ext cx="2143354" cy="1334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Leverages professional-grade equity to target 45-50% of market willing to pay $60-120 for quality with simplified installation experience.</a:t>
            </a:r>
            <a:endParaRPr b="0" i="0" sz="1200" u="none" cap="none" strike="noStrike">
              <a:solidFill>
                <a:schemeClr val="dk1"/>
              </a:solidFill>
              <a:latin typeface="Calibri"/>
              <a:ea typeface="Calibri"/>
              <a:cs typeface="Calibri"/>
              <a:sym typeface="Calibri"/>
            </a:endParaRPr>
          </a:p>
        </p:txBody>
      </p:sp>
      <p:sp>
        <p:nvSpPr>
          <p:cNvPr id="1658" name="Google Shape;1658;p37"/>
          <p:cNvSpPr txBox="1"/>
          <p:nvPr/>
        </p:nvSpPr>
        <p:spPr>
          <a:xfrm>
            <a:off x="8251546" y="5934456"/>
            <a:ext cx="2086661" cy="1334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Opportunity to establish platform architecture brand capturing 3.2× LTV from 73% of customers who make follow-on purchases within 6 months.</a:t>
            </a:r>
            <a:endParaRPr b="0" i="0" sz="1200" u="none" cap="none" strike="noStrike">
              <a:solidFill>
                <a:schemeClr val="dk1"/>
              </a:solidFill>
              <a:latin typeface="Calibri"/>
              <a:ea typeface="Calibri"/>
              <a:cs typeface="Calibri"/>
              <a:sym typeface="Calibri"/>
            </a:endParaRPr>
          </a:p>
        </p:txBody>
      </p:sp>
      <p:sp>
        <p:nvSpPr>
          <p:cNvPr id="1659" name="Google Shape;1659;p37"/>
          <p:cNvSpPr/>
          <p:nvPr/>
        </p:nvSpPr>
        <p:spPr>
          <a:xfrm>
            <a:off x="2063801" y="4214470"/>
            <a:ext cx="1714500" cy="761695"/>
          </a:xfrm>
          <a:prstGeom prst="roundRect">
            <a:avLst>
              <a:gd fmla="val 12005" name="adj"/>
            </a:avLst>
          </a:prstGeom>
          <a:solidFill>
            <a:srgbClr val="0891B2"/>
          </a:solidFill>
          <a:ln>
            <a:noFill/>
          </a:ln>
          <a:effectLst>
            <a:outerShdw blurRad="635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7"/>
          <p:cNvSpPr txBox="1"/>
          <p:nvPr/>
        </p:nvSpPr>
        <p:spPr>
          <a:xfrm>
            <a:off x="2539289" y="4262018"/>
            <a:ext cx="9144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Scotch™</a:t>
            </a:r>
            <a:endParaRPr b="0" i="0" sz="1500" u="none" cap="none" strike="noStrike">
              <a:solidFill>
                <a:schemeClr val="dk1"/>
              </a:solidFill>
              <a:latin typeface="Calibri"/>
              <a:ea typeface="Calibri"/>
              <a:cs typeface="Calibri"/>
              <a:sym typeface="Calibri"/>
            </a:endParaRPr>
          </a:p>
        </p:txBody>
      </p:sp>
      <p:sp>
        <p:nvSpPr>
          <p:cNvPr id="1661" name="Google Shape;1661;p37"/>
          <p:cNvSpPr txBox="1"/>
          <p:nvPr/>
        </p:nvSpPr>
        <p:spPr>
          <a:xfrm>
            <a:off x="2294230" y="4576572"/>
            <a:ext cx="1357884" cy="3621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Professional-Grade Quality</a:t>
            </a:r>
            <a:endParaRPr b="0" i="0" sz="1000" u="none" cap="none" strike="noStrike">
              <a:solidFill>
                <a:schemeClr val="dk1"/>
              </a:solidFill>
              <a:latin typeface="Calibri"/>
              <a:ea typeface="Calibri"/>
              <a:cs typeface="Calibri"/>
              <a:sym typeface="Calibri"/>
            </a:endParaRPr>
          </a:p>
        </p:txBody>
      </p:sp>
      <p:sp>
        <p:nvSpPr>
          <p:cNvPr id="1662" name="Google Shape;1662;p37"/>
          <p:cNvSpPr/>
          <p:nvPr/>
        </p:nvSpPr>
        <p:spPr>
          <a:xfrm>
            <a:off x="2063801" y="6195974"/>
            <a:ext cx="1714500" cy="761695"/>
          </a:xfrm>
          <a:prstGeom prst="roundRect">
            <a:avLst>
              <a:gd fmla="val 12005" name="adj"/>
            </a:avLst>
          </a:prstGeom>
          <a:solidFill>
            <a:srgbClr val="6B7280"/>
          </a:solidFill>
          <a:ln>
            <a:noFill/>
          </a:ln>
          <a:effectLst>
            <a:outerShdw blurRad="635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7"/>
          <p:cNvSpPr txBox="1"/>
          <p:nvPr/>
        </p:nvSpPr>
        <p:spPr>
          <a:xfrm>
            <a:off x="2630729" y="6344107"/>
            <a:ext cx="724205"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Claw™</a:t>
            </a:r>
            <a:endParaRPr b="0" i="0" sz="1500" u="none" cap="none" strike="noStrike">
              <a:solidFill>
                <a:schemeClr val="dk1"/>
              </a:solidFill>
              <a:latin typeface="Calibri"/>
              <a:ea typeface="Calibri"/>
              <a:cs typeface="Calibri"/>
              <a:sym typeface="Calibri"/>
            </a:endParaRPr>
          </a:p>
        </p:txBody>
      </p:sp>
      <p:sp>
        <p:nvSpPr>
          <p:cNvPr id="1664" name="Google Shape;1664;p37"/>
          <p:cNvSpPr txBox="1"/>
          <p:nvPr/>
        </p:nvSpPr>
        <p:spPr>
          <a:xfrm>
            <a:off x="2156155" y="6657746"/>
            <a:ext cx="1634033"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Ecosystem Brand (TBD)</a:t>
            </a:r>
            <a:endParaRPr b="0" i="0" sz="1000" u="none" cap="none" strike="noStrike">
              <a:solidFill>
                <a:schemeClr val="dk1"/>
              </a:solidFill>
              <a:latin typeface="Calibri"/>
              <a:ea typeface="Calibri"/>
              <a:cs typeface="Calibri"/>
              <a:sym typeface="Calibri"/>
            </a:endParaRPr>
          </a:p>
        </p:txBody>
      </p:sp>
      <p:sp>
        <p:nvSpPr>
          <p:cNvPr id="1665" name="Google Shape;1665;p37"/>
          <p:cNvSpPr/>
          <p:nvPr/>
        </p:nvSpPr>
        <p:spPr>
          <a:xfrm>
            <a:off x="5541264" y="6743700"/>
            <a:ext cx="1152144" cy="276149"/>
          </a:xfrm>
          <a:prstGeom prst="roundRect">
            <a:avLst>
              <a:gd fmla="val 45672" name="adj"/>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7"/>
          <p:cNvSpPr txBox="1"/>
          <p:nvPr/>
        </p:nvSpPr>
        <p:spPr>
          <a:xfrm>
            <a:off x="5618074" y="6801307"/>
            <a:ext cx="110093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000"/>
              <a:buFont typeface="Inter"/>
              <a:buNone/>
            </a:pPr>
            <a:r>
              <a:rPr b="1" i="0" lang="en-US" sz="1000" u="none" cap="none" strike="noStrike">
                <a:solidFill>
                  <a:srgbClr val="0891B2"/>
                </a:solidFill>
                <a:latin typeface="Inter"/>
                <a:ea typeface="Inter"/>
                <a:cs typeface="Inter"/>
                <a:sym typeface="Inter"/>
              </a:rPr>
              <a:t>POTENTIAL FIT</a:t>
            </a:r>
            <a:endParaRPr b="0" i="0" sz="1000" u="none" cap="none" strike="noStrike">
              <a:solidFill>
                <a:schemeClr val="dk1"/>
              </a:solidFill>
              <a:latin typeface="Calibri"/>
              <a:ea typeface="Calibri"/>
              <a:cs typeface="Calibri"/>
              <a:sym typeface="Calibri"/>
            </a:endParaRPr>
          </a:p>
        </p:txBody>
      </p:sp>
      <p:sp>
        <p:nvSpPr>
          <p:cNvPr id="1667" name="Google Shape;1667;p37"/>
          <p:cNvSpPr/>
          <p:nvPr/>
        </p:nvSpPr>
        <p:spPr>
          <a:xfrm>
            <a:off x="1333195" y="7724851"/>
            <a:ext cx="9525305" cy="771754"/>
          </a:xfrm>
          <a:prstGeom prst="roundRect">
            <a:avLst>
              <a:gd fmla="val 585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7"/>
          <p:cNvSpPr/>
          <p:nvPr/>
        </p:nvSpPr>
        <p:spPr>
          <a:xfrm>
            <a:off x="1333195" y="7724851"/>
            <a:ext cx="38405" cy="77175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7"/>
          <p:cNvSpPr txBox="1"/>
          <p:nvPr/>
        </p:nvSpPr>
        <p:spPr>
          <a:xfrm>
            <a:off x="1543507" y="7915046"/>
            <a:ext cx="8701430" cy="3813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000"/>
              <a:buFont typeface="Inter"/>
              <a:buNone/>
            </a:pPr>
            <a:r>
              <a:rPr b="0" i="0" lang="en-US" sz="1000" u="none" cap="none" strike="noStrike">
                <a:solidFill>
                  <a:srgbClr val="1F2937"/>
                </a:solidFill>
                <a:latin typeface="Inter"/>
                <a:ea typeface="Inter"/>
                <a:cs typeface="Inter"/>
                <a:sym typeface="Inter"/>
              </a:rPr>
              <a:t>Subject to 3M portfolio strategy and brand architecture decisions - This mapping represents white space analysis based on brand equity assessment alone. Actual brand deployment should align with 3M's portfolio strategy, channel partnerships, and operational capabilities.</a:t>
            </a:r>
            <a:endParaRPr b="0" i="0" sz="1000" u="none" cap="none" strike="noStrike">
              <a:solidFill>
                <a:schemeClr val="dk1"/>
              </a:solidFill>
              <a:latin typeface="Calibri"/>
              <a:ea typeface="Calibri"/>
              <a:cs typeface="Calibri"/>
              <a:sym typeface="Calibri"/>
            </a:endParaRPr>
          </a:p>
        </p:txBody>
      </p:sp>
      <p:sp>
        <p:nvSpPr>
          <p:cNvPr id="1670" name="Google Shape;1670;p37"/>
          <p:cNvSpPr txBox="1"/>
          <p:nvPr/>
        </p:nvSpPr>
        <p:spPr>
          <a:xfrm>
            <a:off x="7410298" y="8656625"/>
            <a:ext cx="3536899" cy="13350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CA3AF"/>
              </a:buClr>
              <a:buSzPts val="800"/>
              <a:buFont typeface="Inter"/>
              <a:buNone/>
            </a:pPr>
            <a:r>
              <a:rPr b="0" i="1" lang="en-US" sz="800" u="none" cap="none" strike="noStrike">
                <a:solidFill>
                  <a:srgbClr val="9CA3AF"/>
                </a:solidFill>
                <a:latin typeface="Inter"/>
                <a:ea typeface="Inter"/>
                <a:cs typeface="Inter"/>
                <a:sym typeface="Inter"/>
              </a:rPr>
              <a:t>Source: Brand equity assessment + white space opportunity mapping</a:t>
            </a:r>
            <a:endParaRPr b="0" i="0" sz="800" u="none" cap="none" strike="noStrike">
              <a:solidFill>
                <a:schemeClr val="dk1"/>
              </a:solidFill>
              <a:latin typeface="Calibri"/>
              <a:ea typeface="Calibri"/>
              <a:cs typeface="Calibri"/>
              <a:sym typeface="Calibri"/>
            </a:endParaRPr>
          </a:p>
        </p:txBody>
      </p:sp>
      <p:sp>
        <p:nvSpPr>
          <p:cNvPr id="1671" name="Google Shape;1671;p37"/>
          <p:cNvSpPr txBox="1"/>
          <p:nvPr/>
        </p:nvSpPr>
        <p:spPr>
          <a:xfrm>
            <a:off x="533095" y="8965692"/>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1672" name="Google Shape;1672;p37"/>
          <p:cNvSpPr txBox="1"/>
          <p:nvPr/>
        </p:nvSpPr>
        <p:spPr>
          <a:xfrm>
            <a:off x="11541557" y="8965692"/>
            <a:ext cx="21031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7" name="Shape 1677"/>
        <p:cNvGrpSpPr/>
        <p:nvPr/>
      </p:nvGrpSpPr>
      <p:grpSpPr>
        <a:xfrm>
          <a:off x="0" y="0"/>
          <a:ext cx="0" cy="0"/>
          <a:chOff x="0" y="0"/>
          <a:chExt cx="0" cy="0"/>
        </a:xfrm>
      </p:grpSpPr>
      <p:sp>
        <p:nvSpPr>
          <p:cNvPr id="1678" name="Google Shape;1678;p38"/>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8"/>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8"/>
          <p:cNvSpPr txBox="1"/>
          <p:nvPr/>
        </p:nvSpPr>
        <p:spPr>
          <a:xfrm>
            <a:off x="476402" y="133502"/>
            <a:ext cx="5705856"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Competitive White Space Analysis</a:t>
            </a:r>
            <a:endParaRPr b="0" i="0" sz="2400" u="none" cap="none" strike="noStrike">
              <a:solidFill>
                <a:schemeClr val="dk1"/>
              </a:solidFill>
              <a:latin typeface="Calibri"/>
              <a:ea typeface="Calibri"/>
              <a:cs typeface="Calibri"/>
              <a:sym typeface="Calibri"/>
            </a:endParaRPr>
          </a:p>
        </p:txBody>
      </p:sp>
      <p:sp>
        <p:nvSpPr>
          <p:cNvPr id="1681" name="Google Shape;1681;p38"/>
          <p:cNvSpPr/>
          <p:nvPr/>
        </p:nvSpPr>
        <p:spPr>
          <a:xfrm>
            <a:off x="476402" y="506578"/>
            <a:ext cx="11239805" cy="809244"/>
          </a:xfrm>
          <a:prstGeom prst="rect">
            <a:avLst/>
          </a:prstGeom>
          <a:solidFill>
            <a:srgbClr val="FFFFFF"/>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8"/>
          <p:cNvSpPr/>
          <p:nvPr/>
        </p:nvSpPr>
        <p:spPr>
          <a:xfrm>
            <a:off x="476402" y="506578"/>
            <a:ext cx="38405" cy="809244"/>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8"/>
          <p:cNvSpPr txBox="1"/>
          <p:nvPr/>
        </p:nvSpPr>
        <p:spPr>
          <a:xfrm>
            <a:off x="990295" y="516636"/>
            <a:ext cx="94549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800"/>
              <a:buFont typeface="Montserrat"/>
              <a:buNone/>
            </a:pPr>
            <a:r>
              <a:rPr b="1" i="0" lang="en-US" sz="800" u="none" cap="none" strike="noStrike">
                <a:solidFill>
                  <a:srgbClr val="16A085"/>
                </a:solidFill>
                <a:latin typeface="Montserrat"/>
                <a:ea typeface="Montserrat"/>
                <a:cs typeface="Montserrat"/>
                <a:sym typeface="Montserrat"/>
              </a:rPr>
              <a:t>THE PATTERN</a:t>
            </a:r>
            <a:endParaRPr b="0" i="0" sz="800" u="none" cap="none" strike="noStrike">
              <a:solidFill>
                <a:schemeClr val="dk1"/>
              </a:solidFill>
              <a:latin typeface="Calibri"/>
              <a:ea typeface="Calibri"/>
              <a:cs typeface="Calibri"/>
              <a:sym typeface="Calibri"/>
            </a:endParaRPr>
          </a:p>
        </p:txBody>
      </p:sp>
      <p:sp>
        <p:nvSpPr>
          <p:cNvPr id="1684" name="Google Shape;1684;p38"/>
          <p:cNvSpPr txBox="1"/>
          <p:nvPr/>
        </p:nvSpPr>
        <p:spPr>
          <a:xfrm>
            <a:off x="990295" y="706831"/>
            <a:ext cx="7546543" cy="5907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Category brands cluster in three positions: premium/complex (Gladiator, StoreWall), basic/easy (Command, Rubbermaid), and basic/complex (generic). The premium/easy quadrant remains unoccupied—validated by 64% installation barrier and 65% premium revenue concentration.</a:t>
            </a:r>
            <a:endParaRPr b="0" i="0" sz="1100" u="none" cap="none" strike="noStrike">
              <a:solidFill>
                <a:schemeClr val="dk1"/>
              </a:solidFill>
              <a:latin typeface="Calibri"/>
              <a:ea typeface="Calibri"/>
              <a:cs typeface="Calibri"/>
              <a:sym typeface="Calibri"/>
            </a:endParaRPr>
          </a:p>
        </p:txBody>
      </p:sp>
      <p:sp>
        <p:nvSpPr>
          <p:cNvPr id="1685" name="Google Shape;1685;p38"/>
          <p:cNvSpPr/>
          <p:nvPr/>
        </p:nvSpPr>
        <p:spPr>
          <a:xfrm>
            <a:off x="8725205" y="654710"/>
            <a:ext cx="2514600" cy="219456"/>
          </a:xfrm>
          <a:prstGeom prst="roundRect">
            <a:avLst>
              <a:gd fmla="val 21739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8"/>
          <p:cNvSpPr/>
          <p:nvPr/>
        </p:nvSpPr>
        <p:spPr>
          <a:xfrm>
            <a:off x="8725205" y="950062"/>
            <a:ext cx="2514600" cy="219456"/>
          </a:xfrm>
          <a:prstGeom prst="roundRect">
            <a:avLst>
              <a:gd fmla="val 21739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8"/>
          <p:cNvSpPr txBox="1"/>
          <p:nvPr/>
        </p:nvSpPr>
        <p:spPr>
          <a:xfrm>
            <a:off x="9335110" y="683057"/>
            <a:ext cx="138165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Open Sans"/>
              <a:buNone/>
            </a:pPr>
            <a:r>
              <a:rPr b="1" i="0" lang="en-US" sz="900" u="none" cap="none" strike="noStrike">
                <a:solidFill>
                  <a:srgbClr val="FFFFFF"/>
                </a:solidFill>
                <a:latin typeface="Open Sans"/>
                <a:ea typeface="Open Sans"/>
                <a:cs typeface="Open Sans"/>
                <a:sym typeface="Open Sans"/>
              </a:rPr>
              <a:t>64% installation barrier</a:t>
            </a:r>
            <a:endParaRPr b="0" i="0" sz="900" u="none" cap="none" strike="noStrike">
              <a:solidFill>
                <a:schemeClr val="dk1"/>
              </a:solidFill>
              <a:latin typeface="Calibri"/>
              <a:ea typeface="Calibri"/>
              <a:cs typeface="Calibri"/>
              <a:sym typeface="Calibri"/>
            </a:endParaRPr>
          </a:p>
        </p:txBody>
      </p:sp>
      <p:sp>
        <p:nvSpPr>
          <p:cNvPr id="1688" name="Google Shape;1688;p38"/>
          <p:cNvSpPr txBox="1"/>
          <p:nvPr/>
        </p:nvSpPr>
        <p:spPr>
          <a:xfrm>
            <a:off x="9357055" y="978408"/>
            <a:ext cx="1343254"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Open Sans"/>
              <a:buNone/>
            </a:pPr>
            <a:r>
              <a:rPr b="1" i="0" lang="en-US" sz="900" u="none" cap="none" strike="noStrike">
                <a:solidFill>
                  <a:srgbClr val="FFFFFF"/>
                </a:solidFill>
                <a:latin typeface="Open Sans"/>
                <a:ea typeface="Open Sans"/>
                <a:cs typeface="Open Sans"/>
                <a:sym typeface="Open Sans"/>
              </a:rPr>
              <a:t>65% premium revenue</a:t>
            </a:r>
            <a:endParaRPr b="0" i="0" sz="900" u="none" cap="none" strike="noStrike">
              <a:solidFill>
                <a:schemeClr val="dk1"/>
              </a:solidFill>
              <a:latin typeface="Calibri"/>
              <a:ea typeface="Calibri"/>
              <a:cs typeface="Calibri"/>
              <a:sym typeface="Calibri"/>
            </a:endParaRPr>
          </a:p>
        </p:txBody>
      </p:sp>
      <p:sp>
        <p:nvSpPr>
          <p:cNvPr id="1689" name="Google Shape;1689;p38"/>
          <p:cNvSpPr/>
          <p:nvPr/>
        </p:nvSpPr>
        <p:spPr>
          <a:xfrm>
            <a:off x="6096305" y="1411834"/>
            <a:ext cx="9144" cy="4190695"/>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8"/>
          <p:cNvSpPr/>
          <p:nvPr/>
        </p:nvSpPr>
        <p:spPr>
          <a:xfrm>
            <a:off x="476402" y="3506724"/>
            <a:ext cx="11239805" cy="9144"/>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8"/>
          <p:cNvSpPr txBox="1"/>
          <p:nvPr/>
        </p:nvSpPr>
        <p:spPr>
          <a:xfrm>
            <a:off x="99670" y="639166"/>
            <a:ext cx="295351" cy="21241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PERFORMANCE/CAPACITY</a:t>
            </a:r>
            <a:endParaRPr b="0" i="0" sz="1200" u="none" cap="none" strike="noStrike">
              <a:solidFill>
                <a:schemeClr val="dk1"/>
              </a:solidFill>
              <a:latin typeface="Calibri"/>
              <a:ea typeface="Calibri"/>
              <a:cs typeface="Calibri"/>
              <a:sym typeface="Calibri"/>
            </a:endParaRPr>
          </a:p>
        </p:txBody>
      </p:sp>
      <p:sp>
        <p:nvSpPr>
          <p:cNvPr id="1692" name="Google Shape;1692;p38"/>
          <p:cNvSpPr txBox="1"/>
          <p:nvPr/>
        </p:nvSpPr>
        <p:spPr>
          <a:xfrm>
            <a:off x="-142646" y="1506931"/>
            <a:ext cx="43342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High</a:t>
            </a:r>
            <a:endParaRPr b="0" i="0" sz="1000" u="none" cap="none" strike="noStrike">
              <a:solidFill>
                <a:schemeClr val="dk1"/>
              </a:solidFill>
              <a:latin typeface="Calibri"/>
              <a:ea typeface="Calibri"/>
              <a:cs typeface="Calibri"/>
              <a:sym typeface="Calibri"/>
            </a:endParaRPr>
          </a:p>
        </p:txBody>
      </p:sp>
      <p:sp>
        <p:nvSpPr>
          <p:cNvPr id="1693" name="Google Shape;1693;p38"/>
          <p:cNvSpPr txBox="1"/>
          <p:nvPr/>
        </p:nvSpPr>
        <p:spPr>
          <a:xfrm>
            <a:off x="-142646" y="5335524"/>
            <a:ext cx="38587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Low</a:t>
            </a:r>
            <a:endParaRPr b="0" i="0" sz="1000" u="none" cap="none" strike="noStrike">
              <a:solidFill>
                <a:schemeClr val="dk1"/>
              </a:solidFill>
              <a:latin typeface="Calibri"/>
              <a:ea typeface="Calibri"/>
              <a:cs typeface="Calibri"/>
              <a:sym typeface="Calibri"/>
            </a:endParaRPr>
          </a:p>
        </p:txBody>
      </p:sp>
      <p:sp>
        <p:nvSpPr>
          <p:cNvPr id="1694" name="Google Shape;1694;p38"/>
          <p:cNvSpPr txBox="1"/>
          <p:nvPr/>
        </p:nvSpPr>
        <p:spPr>
          <a:xfrm>
            <a:off x="5281574" y="5802782"/>
            <a:ext cx="1743761"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INSTALLATION EASE</a:t>
            </a:r>
            <a:endParaRPr b="0" i="0" sz="1200" u="none" cap="none" strike="noStrike">
              <a:solidFill>
                <a:schemeClr val="dk1"/>
              </a:solidFill>
              <a:latin typeface="Calibri"/>
              <a:ea typeface="Calibri"/>
              <a:cs typeface="Calibri"/>
              <a:sym typeface="Calibri"/>
            </a:endParaRPr>
          </a:p>
        </p:txBody>
      </p:sp>
      <p:sp>
        <p:nvSpPr>
          <p:cNvPr id="1695" name="Google Shape;1695;p38"/>
          <p:cNvSpPr txBox="1"/>
          <p:nvPr/>
        </p:nvSpPr>
        <p:spPr>
          <a:xfrm>
            <a:off x="1825142" y="5764378"/>
            <a:ext cx="42428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Easy</a:t>
            </a:r>
            <a:endParaRPr b="0" i="0" sz="1000" u="none" cap="none" strike="noStrike">
              <a:solidFill>
                <a:schemeClr val="dk1"/>
              </a:solidFill>
              <a:latin typeface="Calibri"/>
              <a:ea typeface="Calibri"/>
              <a:cs typeface="Calibri"/>
              <a:sym typeface="Calibri"/>
            </a:endParaRPr>
          </a:p>
        </p:txBody>
      </p:sp>
      <p:sp>
        <p:nvSpPr>
          <p:cNvPr id="1696" name="Google Shape;1696;p38"/>
          <p:cNvSpPr txBox="1"/>
          <p:nvPr/>
        </p:nvSpPr>
        <p:spPr>
          <a:xfrm>
            <a:off x="10031882" y="5764378"/>
            <a:ext cx="443484"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Hard</a:t>
            </a:r>
            <a:endParaRPr b="0" i="0" sz="1000" u="none" cap="none" strike="noStrike">
              <a:solidFill>
                <a:schemeClr val="dk1"/>
              </a:solidFill>
              <a:latin typeface="Calibri"/>
              <a:ea typeface="Calibri"/>
              <a:cs typeface="Calibri"/>
              <a:sym typeface="Calibri"/>
            </a:endParaRPr>
          </a:p>
        </p:txBody>
      </p:sp>
      <p:sp>
        <p:nvSpPr>
          <p:cNvPr id="1697" name="Google Shape;1697;p38"/>
          <p:cNvSpPr/>
          <p:nvPr/>
        </p:nvSpPr>
        <p:spPr>
          <a:xfrm>
            <a:off x="476402" y="1411834"/>
            <a:ext cx="11239805" cy="4190695"/>
          </a:xfrm>
          <a:prstGeom prst="rect">
            <a:avLst/>
          </a:prstGeom>
          <a:no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8"/>
          <p:cNvSpPr/>
          <p:nvPr/>
        </p:nvSpPr>
        <p:spPr>
          <a:xfrm>
            <a:off x="485546" y="1420978"/>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8"/>
          <p:cNvSpPr/>
          <p:nvPr/>
        </p:nvSpPr>
        <p:spPr>
          <a:xfrm>
            <a:off x="6096305" y="1420978"/>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8"/>
          <p:cNvSpPr/>
          <p:nvPr/>
        </p:nvSpPr>
        <p:spPr>
          <a:xfrm>
            <a:off x="485546" y="3506724"/>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8"/>
          <p:cNvSpPr/>
          <p:nvPr/>
        </p:nvSpPr>
        <p:spPr>
          <a:xfrm>
            <a:off x="6096305" y="3506724"/>
            <a:ext cx="5609844" cy="2085746"/>
          </a:xfrm>
          <a:prstGeom prst="rect">
            <a:avLst/>
          </a:prstGeom>
          <a:solidFill>
            <a:srgbClr val="F9F9F9"/>
          </a:solidFill>
          <a:ln cap="flat" cmpd="sng" w="1270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8"/>
          <p:cNvSpPr/>
          <p:nvPr/>
        </p:nvSpPr>
        <p:spPr>
          <a:xfrm>
            <a:off x="2766974" y="1357884"/>
            <a:ext cx="1047902" cy="1047902"/>
          </a:xfrm>
          <a:prstGeom prst="ellipse">
            <a:avLst/>
          </a:prstGeom>
          <a:noFill/>
          <a:ln cap="flat" cmpd="sng" w="38100">
            <a:solidFill>
              <a:srgbClr val="16A085"/>
            </a:solidFill>
            <a:prstDash val="solid"/>
            <a:round/>
            <a:headEnd len="sm" w="sm" type="none"/>
            <a:tailEnd len="sm" w="sm" type="none"/>
          </a:ln>
          <a:effectLst>
            <a:outerShdw blurRad="12700" rotWithShape="0" algn="bl" dir="16200000" dist="12700">
              <a:srgbClr val="00000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8"/>
          <p:cNvSpPr txBox="1"/>
          <p:nvPr/>
        </p:nvSpPr>
        <p:spPr>
          <a:xfrm>
            <a:off x="3018434" y="1700784"/>
            <a:ext cx="667512" cy="3621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WHITE SPACE</a:t>
            </a:r>
            <a:endParaRPr b="0" i="0" sz="1200" u="none" cap="none" strike="noStrike">
              <a:solidFill>
                <a:schemeClr val="dk1"/>
              </a:solidFill>
              <a:latin typeface="Calibri"/>
              <a:ea typeface="Calibri"/>
              <a:cs typeface="Calibri"/>
              <a:sym typeface="Calibri"/>
            </a:endParaRPr>
          </a:p>
        </p:txBody>
      </p:sp>
      <p:sp>
        <p:nvSpPr>
          <p:cNvPr id="1704" name="Google Shape;1704;p38"/>
          <p:cNvSpPr txBox="1"/>
          <p:nvPr/>
        </p:nvSpPr>
        <p:spPr>
          <a:xfrm>
            <a:off x="2836469" y="2816352"/>
            <a:ext cx="1007669"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WHITE SPACE</a:t>
            </a:r>
            <a:endParaRPr b="0" i="0" sz="900" u="none" cap="none" strike="noStrike">
              <a:solidFill>
                <a:schemeClr val="dk1"/>
              </a:solidFill>
              <a:latin typeface="Calibri"/>
              <a:ea typeface="Calibri"/>
              <a:cs typeface="Calibri"/>
              <a:sym typeface="Calibri"/>
            </a:endParaRPr>
          </a:p>
        </p:txBody>
      </p:sp>
      <p:sp>
        <p:nvSpPr>
          <p:cNvPr id="1705" name="Google Shape;1705;p38"/>
          <p:cNvSpPr txBox="1"/>
          <p:nvPr/>
        </p:nvSpPr>
        <p:spPr>
          <a:xfrm>
            <a:off x="857707" y="3685032"/>
            <a:ext cx="1769364"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UNOCCUPIED OPPORTUNITY</a:t>
            </a:r>
            <a:endParaRPr b="0" i="0" sz="900" u="none" cap="none" strike="noStrike">
              <a:solidFill>
                <a:schemeClr val="dk1"/>
              </a:solidFill>
              <a:latin typeface="Calibri"/>
              <a:ea typeface="Calibri"/>
              <a:cs typeface="Calibri"/>
              <a:sym typeface="Calibri"/>
            </a:endParaRPr>
          </a:p>
        </p:txBody>
      </p:sp>
      <p:sp>
        <p:nvSpPr>
          <p:cNvPr id="1706" name="Google Shape;1706;p38"/>
          <p:cNvSpPr txBox="1"/>
          <p:nvPr/>
        </p:nvSpPr>
        <p:spPr>
          <a:xfrm>
            <a:off x="8609990" y="4902098"/>
            <a:ext cx="683971"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GENERIC</a:t>
            </a:r>
            <a:endParaRPr b="0" i="0" sz="900" u="none" cap="none" strike="noStrike">
              <a:solidFill>
                <a:schemeClr val="dk1"/>
              </a:solidFill>
              <a:latin typeface="Calibri"/>
              <a:ea typeface="Calibri"/>
              <a:cs typeface="Calibri"/>
              <a:sym typeface="Calibri"/>
            </a:endParaRPr>
          </a:p>
        </p:txBody>
      </p:sp>
      <p:sp>
        <p:nvSpPr>
          <p:cNvPr id="1707" name="Google Shape;1707;p38"/>
          <p:cNvSpPr txBox="1"/>
          <p:nvPr/>
        </p:nvSpPr>
        <p:spPr>
          <a:xfrm>
            <a:off x="951890" y="3067812"/>
            <a:ext cx="181691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Premium + simple installation</a:t>
            </a:r>
            <a:endParaRPr b="0" i="0" sz="900" u="none" cap="none" strike="noStrike">
              <a:solidFill>
                <a:schemeClr val="dk1"/>
              </a:solidFill>
              <a:latin typeface="Calibri"/>
              <a:ea typeface="Calibri"/>
              <a:cs typeface="Calibri"/>
              <a:sym typeface="Calibri"/>
            </a:endParaRPr>
          </a:p>
        </p:txBody>
      </p:sp>
      <p:sp>
        <p:nvSpPr>
          <p:cNvPr id="1708" name="Google Shape;1708;p38"/>
          <p:cNvSpPr txBox="1"/>
          <p:nvPr/>
        </p:nvSpPr>
        <p:spPr>
          <a:xfrm>
            <a:off x="951890" y="3366821"/>
            <a:ext cx="134142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Currently unoccupied</a:t>
            </a:r>
            <a:endParaRPr b="0" i="0" sz="900" u="none" cap="none" strike="noStrike">
              <a:solidFill>
                <a:schemeClr val="dk1"/>
              </a:solidFill>
              <a:latin typeface="Calibri"/>
              <a:ea typeface="Calibri"/>
              <a:cs typeface="Calibri"/>
              <a:sym typeface="Calibri"/>
            </a:endParaRPr>
          </a:p>
        </p:txBody>
      </p:sp>
      <p:sp>
        <p:nvSpPr>
          <p:cNvPr id="1709" name="Google Shape;1709;p38"/>
          <p:cNvSpPr txBox="1"/>
          <p:nvPr/>
        </p:nvSpPr>
        <p:spPr>
          <a:xfrm>
            <a:off x="6561734" y="5153558"/>
            <a:ext cx="113111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Basic hooks $5-15</a:t>
            </a:r>
            <a:endParaRPr b="0" i="0" sz="900" u="none" cap="none" strike="noStrike">
              <a:solidFill>
                <a:schemeClr val="dk1"/>
              </a:solidFill>
              <a:latin typeface="Calibri"/>
              <a:ea typeface="Calibri"/>
              <a:cs typeface="Calibri"/>
              <a:sym typeface="Calibri"/>
            </a:endParaRPr>
          </a:p>
        </p:txBody>
      </p:sp>
      <p:sp>
        <p:nvSpPr>
          <p:cNvPr id="1710" name="Google Shape;1710;p38"/>
          <p:cNvSpPr txBox="1"/>
          <p:nvPr/>
        </p:nvSpPr>
        <p:spPr>
          <a:xfrm>
            <a:off x="6561734" y="5452567"/>
            <a:ext cx="960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Manual drilling</a:t>
            </a:r>
            <a:endParaRPr b="0" i="0" sz="900" u="none" cap="none" strike="noStrike">
              <a:solidFill>
                <a:schemeClr val="dk1"/>
              </a:solidFill>
              <a:latin typeface="Calibri"/>
              <a:ea typeface="Calibri"/>
              <a:cs typeface="Calibri"/>
              <a:sym typeface="Calibri"/>
            </a:endParaRPr>
          </a:p>
        </p:txBody>
      </p:sp>
      <p:sp>
        <p:nvSpPr>
          <p:cNvPr id="1711" name="Google Shape;1711;p38"/>
          <p:cNvSpPr/>
          <p:nvPr/>
        </p:nvSpPr>
        <p:spPr>
          <a:xfrm>
            <a:off x="7306056" y="1500530"/>
            <a:ext cx="761695" cy="761695"/>
          </a:xfrm>
          <a:prstGeom prst="ellipse">
            <a:avLst/>
          </a:prstGeom>
          <a:solidFill>
            <a:srgbClr val="2C3E50">
              <a:alpha val="89803"/>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8"/>
          <p:cNvSpPr txBox="1"/>
          <p:nvPr/>
        </p:nvSpPr>
        <p:spPr>
          <a:xfrm>
            <a:off x="7306056" y="1795882"/>
            <a:ext cx="939089" cy="1719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ontserrat"/>
              <a:buNone/>
            </a:pPr>
            <a:r>
              <a:rPr b="1" i="0" lang="en-US" sz="1000" u="none" cap="none" strike="noStrike">
                <a:solidFill>
                  <a:srgbClr val="FFFFFF"/>
                </a:solidFill>
                <a:latin typeface="Montserrat"/>
                <a:ea typeface="Montserrat"/>
                <a:cs typeface="Montserrat"/>
                <a:sym typeface="Montserrat"/>
              </a:rPr>
              <a:t>GLADIATOR</a:t>
            </a:r>
            <a:endParaRPr b="0" i="0" sz="1000" u="none" cap="none" strike="noStrike">
              <a:solidFill>
                <a:schemeClr val="dk1"/>
              </a:solidFill>
              <a:latin typeface="Calibri"/>
              <a:ea typeface="Calibri"/>
              <a:cs typeface="Calibri"/>
              <a:sym typeface="Calibri"/>
            </a:endParaRPr>
          </a:p>
        </p:txBody>
      </p:sp>
      <p:sp>
        <p:nvSpPr>
          <p:cNvPr id="1713" name="Google Shape;1713;p38"/>
          <p:cNvSpPr/>
          <p:nvPr/>
        </p:nvSpPr>
        <p:spPr>
          <a:xfrm>
            <a:off x="9757562" y="1524305"/>
            <a:ext cx="714146" cy="714146"/>
          </a:xfrm>
          <a:prstGeom prst="ellipse">
            <a:avLst/>
          </a:prstGeom>
          <a:solidFill>
            <a:srgbClr val="2C3E50">
              <a:alpha val="84705"/>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8"/>
          <p:cNvSpPr txBox="1"/>
          <p:nvPr/>
        </p:nvSpPr>
        <p:spPr>
          <a:xfrm>
            <a:off x="9757562" y="1795882"/>
            <a:ext cx="986638" cy="1719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ontserrat"/>
              <a:buNone/>
            </a:pPr>
            <a:r>
              <a:rPr b="1" i="0" lang="en-US" sz="1000" u="none" cap="none" strike="noStrike">
                <a:solidFill>
                  <a:srgbClr val="FFFFFF"/>
                </a:solidFill>
                <a:latin typeface="Montserrat"/>
                <a:ea typeface="Montserrat"/>
                <a:cs typeface="Montserrat"/>
                <a:sym typeface="Montserrat"/>
              </a:rPr>
              <a:t>STOREWALL</a:t>
            </a:r>
            <a:endParaRPr b="0" i="0" sz="1000" u="none" cap="none" strike="noStrike">
              <a:solidFill>
                <a:schemeClr val="dk1"/>
              </a:solidFill>
              <a:latin typeface="Calibri"/>
              <a:ea typeface="Calibri"/>
              <a:cs typeface="Calibri"/>
              <a:sym typeface="Calibri"/>
            </a:endParaRPr>
          </a:p>
        </p:txBody>
      </p:sp>
      <p:sp>
        <p:nvSpPr>
          <p:cNvPr id="1715" name="Google Shape;1715;p38"/>
          <p:cNvSpPr txBox="1"/>
          <p:nvPr/>
        </p:nvSpPr>
        <p:spPr>
          <a:xfrm>
            <a:off x="7252106" y="2768803"/>
            <a:ext cx="865022"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GLADIATOR</a:t>
            </a:r>
            <a:endParaRPr b="0" i="0" sz="900" u="none" cap="none" strike="noStrike">
              <a:solidFill>
                <a:schemeClr val="dk1"/>
              </a:solidFill>
              <a:latin typeface="Calibri"/>
              <a:ea typeface="Calibri"/>
              <a:cs typeface="Calibri"/>
              <a:sym typeface="Calibri"/>
            </a:endParaRPr>
          </a:p>
        </p:txBody>
      </p:sp>
      <p:sp>
        <p:nvSpPr>
          <p:cNvPr id="1716" name="Google Shape;1716;p38"/>
          <p:cNvSpPr txBox="1"/>
          <p:nvPr/>
        </p:nvSpPr>
        <p:spPr>
          <a:xfrm>
            <a:off x="9758477" y="2768803"/>
            <a:ext cx="912571"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STOREWALL</a:t>
            </a:r>
            <a:endParaRPr b="0" i="0" sz="900" u="none" cap="none" strike="noStrike">
              <a:solidFill>
                <a:schemeClr val="dk1"/>
              </a:solidFill>
              <a:latin typeface="Calibri"/>
              <a:ea typeface="Calibri"/>
              <a:cs typeface="Calibri"/>
              <a:sym typeface="Calibri"/>
            </a:endParaRPr>
          </a:p>
        </p:txBody>
      </p:sp>
      <p:sp>
        <p:nvSpPr>
          <p:cNvPr id="1717" name="Google Shape;1717;p38"/>
          <p:cNvSpPr txBox="1"/>
          <p:nvPr/>
        </p:nvSpPr>
        <p:spPr>
          <a:xfrm>
            <a:off x="1664208" y="4854550"/>
            <a:ext cx="826618"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COMMAND</a:t>
            </a:r>
            <a:endParaRPr b="0" i="0" sz="900" u="none" cap="none" strike="noStrike">
              <a:solidFill>
                <a:schemeClr val="dk1"/>
              </a:solidFill>
              <a:latin typeface="Calibri"/>
              <a:ea typeface="Calibri"/>
              <a:cs typeface="Calibri"/>
              <a:sym typeface="Calibri"/>
            </a:endParaRPr>
          </a:p>
        </p:txBody>
      </p:sp>
      <p:sp>
        <p:nvSpPr>
          <p:cNvPr id="1718" name="Google Shape;1718;p38"/>
          <p:cNvSpPr txBox="1"/>
          <p:nvPr/>
        </p:nvSpPr>
        <p:spPr>
          <a:xfrm>
            <a:off x="4101084" y="4854550"/>
            <a:ext cx="1007669"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RUBBERMAID</a:t>
            </a:r>
            <a:endParaRPr b="0" i="0" sz="900" u="none" cap="none" strike="noStrike">
              <a:solidFill>
                <a:schemeClr val="dk1"/>
              </a:solidFill>
              <a:latin typeface="Calibri"/>
              <a:ea typeface="Calibri"/>
              <a:cs typeface="Calibri"/>
              <a:sym typeface="Calibri"/>
            </a:endParaRPr>
          </a:p>
        </p:txBody>
      </p:sp>
      <p:sp>
        <p:nvSpPr>
          <p:cNvPr id="1719" name="Google Shape;1719;p38"/>
          <p:cNvSpPr txBox="1"/>
          <p:nvPr/>
        </p:nvSpPr>
        <p:spPr>
          <a:xfrm>
            <a:off x="6656832" y="3020263"/>
            <a:ext cx="1236269"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Cabinets/GearTrack</a:t>
            </a:r>
            <a:endParaRPr b="0" i="0" sz="900" u="none" cap="none" strike="noStrike">
              <a:solidFill>
                <a:schemeClr val="dk1"/>
              </a:solidFill>
              <a:latin typeface="Calibri"/>
              <a:ea typeface="Calibri"/>
              <a:cs typeface="Calibri"/>
              <a:sym typeface="Calibri"/>
            </a:endParaRPr>
          </a:p>
        </p:txBody>
      </p:sp>
      <p:sp>
        <p:nvSpPr>
          <p:cNvPr id="1720" name="Google Shape;1720;p38"/>
          <p:cNvSpPr txBox="1"/>
          <p:nvPr/>
        </p:nvSpPr>
        <p:spPr>
          <a:xfrm>
            <a:off x="6656832" y="3319272"/>
            <a:ext cx="87416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$90+ avg SKU</a:t>
            </a:r>
            <a:endParaRPr b="0" i="0" sz="900" u="none" cap="none" strike="noStrike">
              <a:solidFill>
                <a:schemeClr val="dk1"/>
              </a:solidFill>
              <a:latin typeface="Calibri"/>
              <a:ea typeface="Calibri"/>
              <a:cs typeface="Calibri"/>
              <a:sym typeface="Calibri"/>
            </a:endParaRPr>
          </a:p>
        </p:txBody>
      </p:sp>
      <p:sp>
        <p:nvSpPr>
          <p:cNvPr id="1721" name="Google Shape;1721;p38"/>
          <p:cNvSpPr txBox="1"/>
          <p:nvPr/>
        </p:nvSpPr>
        <p:spPr>
          <a:xfrm>
            <a:off x="9186062" y="3020263"/>
            <a:ext cx="105521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Slatwall $624/8ft</a:t>
            </a:r>
            <a:endParaRPr b="0" i="0" sz="900" u="none" cap="none" strike="noStrike">
              <a:solidFill>
                <a:schemeClr val="dk1"/>
              </a:solidFill>
              <a:latin typeface="Calibri"/>
              <a:ea typeface="Calibri"/>
              <a:cs typeface="Calibri"/>
              <a:sym typeface="Calibri"/>
            </a:endParaRPr>
          </a:p>
        </p:txBody>
      </p:sp>
      <p:sp>
        <p:nvSpPr>
          <p:cNvPr id="1722" name="Google Shape;1722;p38"/>
          <p:cNvSpPr txBox="1"/>
          <p:nvPr/>
        </p:nvSpPr>
        <p:spPr>
          <a:xfrm>
            <a:off x="9186062" y="3319272"/>
            <a:ext cx="131216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300 lbs/sq ft capacity</a:t>
            </a:r>
            <a:endParaRPr b="0" i="0" sz="900" u="none" cap="none" strike="noStrike">
              <a:solidFill>
                <a:schemeClr val="dk1"/>
              </a:solidFill>
              <a:latin typeface="Calibri"/>
              <a:ea typeface="Calibri"/>
              <a:cs typeface="Calibri"/>
              <a:sym typeface="Calibri"/>
            </a:endParaRPr>
          </a:p>
        </p:txBody>
      </p:sp>
      <p:sp>
        <p:nvSpPr>
          <p:cNvPr id="1723" name="Google Shape;1723;p38"/>
          <p:cNvSpPr txBox="1"/>
          <p:nvPr/>
        </p:nvSpPr>
        <p:spPr>
          <a:xfrm>
            <a:off x="1046988" y="5106010"/>
            <a:ext cx="138897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Damage-free adhesive</a:t>
            </a:r>
            <a:endParaRPr b="0" i="0" sz="900" u="none" cap="none" strike="noStrike">
              <a:solidFill>
                <a:schemeClr val="dk1"/>
              </a:solidFill>
              <a:latin typeface="Calibri"/>
              <a:ea typeface="Calibri"/>
              <a:cs typeface="Calibri"/>
              <a:sym typeface="Calibri"/>
            </a:endParaRPr>
          </a:p>
        </p:txBody>
      </p:sp>
      <p:sp>
        <p:nvSpPr>
          <p:cNvPr id="1724" name="Google Shape;1724;p38"/>
          <p:cNvSpPr txBox="1"/>
          <p:nvPr/>
        </p:nvSpPr>
        <p:spPr>
          <a:xfrm>
            <a:off x="1046988" y="5405018"/>
            <a:ext cx="80741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Rental focus</a:t>
            </a:r>
            <a:endParaRPr b="0" i="0" sz="900" u="none" cap="none" strike="noStrike">
              <a:solidFill>
                <a:schemeClr val="dk1"/>
              </a:solidFill>
              <a:latin typeface="Calibri"/>
              <a:ea typeface="Calibri"/>
              <a:cs typeface="Calibri"/>
              <a:sym typeface="Calibri"/>
            </a:endParaRPr>
          </a:p>
        </p:txBody>
      </p:sp>
      <p:sp>
        <p:nvSpPr>
          <p:cNvPr id="1725" name="Google Shape;1725;p38"/>
          <p:cNvSpPr txBox="1"/>
          <p:nvPr/>
        </p:nvSpPr>
        <p:spPr>
          <a:xfrm>
            <a:off x="3575304" y="5106010"/>
            <a:ext cx="116951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Rail system $24-78</a:t>
            </a:r>
            <a:endParaRPr b="0" i="0" sz="900" u="none" cap="none" strike="noStrike">
              <a:solidFill>
                <a:schemeClr val="dk1"/>
              </a:solidFill>
              <a:latin typeface="Calibri"/>
              <a:ea typeface="Calibri"/>
              <a:cs typeface="Calibri"/>
              <a:sym typeface="Calibri"/>
            </a:endParaRPr>
          </a:p>
        </p:txBody>
      </p:sp>
      <p:sp>
        <p:nvSpPr>
          <p:cNvPr id="1726" name="Google Shape;1726;p38"/>
          <p:cNvSpPr txBox="1"/>
          <p:nvPr/>
        </p:nvSpPr>
        <p:spPr>
          <a:xfrm>
            <a:off x="3575304" y="5405018"/>
            <a:ext cx="105521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1,750 lb capacity</a:t>
            </a:r>
            <a:endParaRPr b="0" i="0" sz="900" u="none" cap="none" strike="noStrike">
              <a:solidFill>
                <a:schemeClr val="dk1"/>
              </a:solidFill>
              <a:latin typeface="Calibri"/>
              <a:ea typeface="Calibri"/>
              <a:cs typeface="Calibri"/>
              <a:sym typeface="Calibri"/>
            </a:endParaRPr>
          </a:p>
        </p:txBody>
      </p:sp>
      <p:sp>
        <p:nvSpPr>
          <p:cNvPr id="1727" name="Google Shape;1727;p38"/>
          <p:cNvSpPr/>
          <p:nvPr/>
        </p:nvSpPr>
        <p:spPr>
          <a:xfrm>
            <a:off x="9976104" y="2935224"/>
            <a:ext cx="1362456"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8"/>
          <p:cNvSpPr/>
          <p:nvPr/>
        </p:nvSpPr>
        <p:spPr>
          <a:xfrm>
            <a:off x="4616806" y="5021885"/>
            <a:ext cx="1114654"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8"/>
          <p:cNvSpPr/>
          <p:nvPr/>
        </p:nvSpPr>
        <p:spPr>
          <a:xfrm>
            <a:off x="10479938" y="5021885"/>
            <a:ext cx="857707" cy="200254"/>
          </a:xfrm>
          <a:prstGeom prst="roundRect">
            <a:avLst>
              <a:gd fmla="val 260926" name="adj"/>
            </a:avLst>
          </a:prstGeom>
          <a:solidFill>
            <a:srgbClr val="16A085">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8"/>
          <p:cNvSpPr txBox="1"/>
          <p:nvPr/>
        </p:nvSpPr>
        <p:spPr>
          <a:xfrm>
            <a:off x="10051999" y="2964485"/>
            <a:ext cx="128839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~45% premium revenue</a:t>
            </a:r>
            <a:endParaRPr b="0" i="0" sz="800" u="none" cap="none" strike="noStrike">
              <a:solidFill>
                <a:schemeClr val="dk1"/>
              </a:solidFill>
              <a:latin typeface="Calibri"/>
              <a:ea typeface="Calibri"/>
              <a:cs typeface="Calibri"/>
              <a:sym typeface="Calibri"/>
            </a:endParaRPr>
          </a:p>
        </p:txBody>
      </p:sp>
      <p:sp>
        <p:nvSpPr>
          <p:cNvPr id="1731" name="Google Shape;1731;p38"/>
          <p:cNvSpPr txBox="1"/>
          <p:nvPr/>
        </p:nvSpPr>
        <p:spPr>
          <a:xfrm>
            <a:off x="4692701" y="5050231"/>
            <a:ext cx="1041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~35% mass market</a:t>
            </a:r>
            <a:endParaRPr b="0" i="0" sz="800" u="none" cap="none" strike="noStrike">
              <a:solidFill>
                <a:schemeClr val="dk1"/>
              </a:solidFill>
              <a:latin typeface="Calibri"/>
              <a:ea typeface="Calibri"/>
              <a:cs typeface="Calibri"/>
              <a:sym typeface="Calibri"/>
            </a:endParaRPr>
          </a:p>
        </p:txBody>
      </p:sp>
      <p:sp>
        <p:nvSpPr>
          <p:cNvPr id="1732" name="Google Shape;1732;p38"/>
          <p:cNvSpPr txBox="1"/>
          <p:nvPr/>
        </p:nvSpPr>
        <p:spPr>
          <a:xfrm>
            <a:off x="10556748" y="5050231"/>
            <a:ext cx="783641"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1" i="0" lang="en-US" sz="800" u="none" cap="none" strike="noStrike">
                <a:solidFill>
                  <a:srgbClr val="2C3E50"/>
                </a:solidFill>
                <a:latin typeface="Open Sans"/>
                <a:ea typeface="Open Sans"/>
                <a:cs typeface="Open Sans"/>
                <a:sym typeface="Open Sans"/>
              </a:rPr>
              <a:t>~20% low-end</a:t>
            </a:r>
            <a:endParaRPr b="0" i="0" sz="800" u="none" cap="none" strike="noStrike">
              <a:solidFill>
                <a:schemeClr val="dk1"/>
              </a:solidFill>
              <a:latin typeface="Calibri"/>
              <a:ea typeface="Calibri"/>
              <a:cs typeface="Calibri"/>
              <a:sym typeface="Calibri"/>
            </a:endParaRPr>
          </a:p>
        </p:txBody>
      </p:sp>
      <p:sp>
        <p:nvSpPr>
          <p:cNvPr id="1733" name="Google Shape;1733;p38"/>
          <p:cNvSpPr/>
          <p:nvPr/>
        </p:nvSpPr>
        <p:spPr>
          <a:xfrm>
            <a:off x="1767535" y="3657600"/>
            <a:ext cx="619049" cy="619049"/>
          </a:xfrm>
          <a:prstGeom prst="ellipse">
            <a:avLst/>
          </a:prstGeom>
          <a:solidFill>
            <a:srgbClr val="2C3E50">
              <a:alpha val="80000"/>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8"/>
          <p:cNvSpPr txBox="1"/>
          <p:nvPr/>
        </p:nvSpPr>
        <p:spPr>
          <a:xfrm>
            <a:off x="1767535" y="3896258"/>
            <a:ext cx="762610"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COMMAND</a:t>
            </a:r>
            <a:endParaRPr b="0" i="0" sz="900" u="none" cap="none" strike="noStrike">
              <a:solidFill>
                <a:schemeClr val="dk1"/>
              </a:solidFill>
              <a:latin typeface="Calibri"/>
              <a:ea typeface="Calibri"/>
              <a:cs typeface="Calibri"/>
              <a:sym typeface="Calibri"/>
            </a:endParaRPr>
          </a:p>
        </p:txBody>
      </p:sp>
      <p:sp>
        <p:nvSpPr>
          <p:cNvPr id="1735" name="Google Shape;1735;p38"/>
          <p:cNvSpPr/>
          <p:nvPr/>
        </p:nvSpPr>
        <p:spPr>
          <a:xfrm>
            <a:off x="4195267" y="3657600"/>
            <a:ext cx="619049" cy="619049"/>
          </a:xfrm>
          <a:prstGeom prst="ellipse">
            <a:avLst/>
          </a:prstGeom>
          <a:solidFill>
            <a:srgbClr val="2C3E50">
              <a:alpha val="80000"/>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8"/>
          <p:cNvSpPr txBox="1"/>
          <p:nvPr/>
        </p:nvSpPr>
        <p:spPr>
          <a:xfrm>
            <a:off x="4195267" y="3900830"/>
            <a:ext cx="850392" cy="1335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Montserrat"/>
              <a:buNone/>
            </a:pPr>
            <a:r>
              <a:rPr b="1" i="0" lang="en-US" sz="800" u="none" cap="none" strike="noStrike">
                <a:solidFill>
                  <a:srgbClr val="FFFFFF"/>
                </a:solidFill>
                <a:latin typeface="Montserrat"/>
                <a:ea typeface="Montserrat"/>
                <a:cs typeface="Montserrat"/>
                <a:sym typeface="Montserrat"/>
              </a:rPr>
              <a:t>RUBBERMAID</a:t>
            </a:r>
            <a:endParaRPr b="0" i="0" sz="800" u="none" cap="none" strike="noStrike">
              <a:solidFill>
                <a:schemeClr val="dk1"/>
              </a:solidFill>
              <a:latin typeface="Calibri"/>
              <a:ea typeface="Calibri"/>
              <a:cs typeface="Calibri"/>
              <a:sym typeface="Calibri"/>
            </a:endParaRPr>
          </a:p>
        </p:txBody>
      </p:sp>
      <p:sp>
        <p:nvSpPr>
          <p:cNvPr id="1737" name="Google Shape;1737;p38"/>
          <p:cNvSpPr/>
          <p:nvPr/>
        </p:nvSpPr>
        <p:spPr>
          <a:xfrm>
            <a:off x="8663026" y="3728923"/>
            <a:ext cx="476402" cy="476402"/>
          </a:xfrm>
          <a:prstGeom prst="ellipse">
            <a:avLst/>
          </a:prstGeom>
          <a:solidFill>
            <a:srgbClr val="2C3E50">
              <a:alpha val="69803"/>
            </a:srgbClr>
          </a:solidFill>
          <a:ln>
            <a:noFill/>
          </a:ln>
          <a:effectLst>
            <a:outerShdw blurRad="76200" rotWithShape="0" algn="bl" dir="54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8"/>
          <p:cNvSpPr txBox="1"/>
          <p:nvPr/>
        </p:nvSpPr>
        <p:spPr>
          <a:xfrm>
            <a:off x="8663026" y="3896258"/>
            <a:ext cx="629107" cy="14356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ontserrat"/>
              <a:buNone/>
            </a:pPr>
            <a:r>
              <a:rPr b="1" i="0" lang="en-US" sz="900" u="none" cap="none" strike="noStrike">
                <a:solidFill>
                  <a:srgbClr val="FFFFFF"/>
                </a:solidFill>
                <a:latin typeface="Montserrat"/>
                <a:ea typeface="Montserrat"/>
                <a:cs typeface="Montserrat"/>
                <a:sym typeface="Montserrat"/>
              </a:rPr>
              <a:t>GENERIC</a:t>
            </a:r>
            <a:endParaRPr b="0" i="0" sz="900" u="none" cap="none" strike="noStrike">
              <a:solidFill>
                <a:schemeClr val="dk1"/>
              </a:solidFill>
              <a:latin typeface="Calibri"/>
              <a:ea typeface="Calibri"/>
              <a:cs typeface="Calibri"/>
              <a:sym typeface="Calibri"/>
            </a:endParaRPr>
          </a:p>
        </p:txBody>
      </p:sp>
      <p:sp>
        <p:nvSpPr>
          <p:cNvPr id="1739" name="Google Shape;1739;p38"/>
          <p:cNvSpPr/>
          <p:nvPr/>
        </p:nvSpPr>
        <p:spPr>
          <a:xfrm>
            <a:off x="952805" y="5745175"/>
            <a:ext cx="10287000" cy="714146"/>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8"/>
          <p:cNvSpPr/>
          <p:nvPr/>
        </p:nvSpPr>
        <p:spPr>
          <a:xfrm>
            <a:off x="952805" y="5745175"/>
            <a:ext cx="38405" cy="714146"/>
          </a:xfrm>
          <a:prstGeom prst="rect">
            <a:avLst/>
          </a:prstGeom>
          <a:solidFill>
            <a:srgbClr val="95A5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8"/>
          <p:cNvSpPr txBox="1"/>
          <p:nvPr/>
        </p:nvSpPr>
        <p:spPr>
          <a:xfrm>
            <a:off x="1466698" y="5807354"/>
            <a:ext cx="120335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A5A6"/>
              </a:buClr>
              <a:buSzPts val="800"/>
              <a:buFont typeface="Montserrat"/>
              <a:buNone/>
            </a:pPr>
            <a:r>
              <a:rPr b="1" i="0" lang="en-US" sz="800" u="none" cap="none" strike="noStrike">
                <a:solidFill>
                  <a:srgbClr val="95A5A6"/>
                </a:solidFill>
                <a:latin typeface="Montserrat"/>
                <a:ea typeface="Montserrat"/>
                <a:cs typeface="Montserrat"/>
                <a:sym typeface="Montserrat"/>
              </a:rPr>
              <a:t>THE IMPLICATION</a:t>
            </a:r>
            <a:endParaRPr b="0" i="0" sz="800" u="none" cap="none" strike="noStrike">
              <a:solidFill>
                <a:schemeClr val="dk1"/>
              </a:solidFill>
              <a:latin typeface="Calibri"/>
              <a:ea typeface="Calibri"/>
              <a:cs typeface="Calibri"/>
              <a:sym typeface="Calibri"/>
            </a:endParaRPr>
          </a:p>
        </p:txBody>
      </p:sp>
      <p:sp>
        <p:nvSpPr>
          <p:cNvPr id="1742" name="Google Shape;1742;p38"/>
          <p:cNvSpPr txBox="1"/>
          <p:nvPr/>
        </p:nvSpPr>
        <p:spPr>
          <a:xfrm>
            <a:off x="1466698" y="5997550"/>
            <a:ext cx="9060790" cy="3913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Premium segment (65% revenue) requires installation trade-off. Mass market (35%) prioritizes ease but sacrifices capacity. White space represents validated demand (64% consumer barrier) with no current supplier—defensible positioning opportunity.</a:t>
            </a:r>
            <a:endParaRPr b="0" i="0" sz="1100" u="none" cap="none" strike="noStrike">
              <a:solidFill>
                <a:schemeClr val="dk1"/>
              </a:solidFill>
              <a:latin typeface="Calibri"/>
              <a:ea typeface="Calibri"/>
              <a:cs typeface="Calibri"/>
              <a:sym typeface="Calibri"/>
            </a:endParaRPr>
          </a:p>
        </p:txBody>
      </p:sp>
      <p:sp>
        <p:nvSpPr>
          <p:cNvPr id="1743" name="Google Shape;1743;p38"/>
          <p:cNvSpPr txBox="1"/>
          <p:nvPr/>
        </p:nvSpPr>
        <p:spPr>
          <a:xfrm>
            <a:off x="476402" y="6697980"/>
            <a:ext cx="6458407" cy="124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800"/>
              <a:buFont typeface="Open Sans"/>
              <a:buNone/>
            </a:pPr>
            <a:r>
              <a:rPr b="0" i="0" lang="en-US" sz="800" u="none" cap="none" strike="noStrike">
                <a:solidFill>
                  <a:srgbClr val="7F8C8D"/>
                </a:solidFill>
                <a:latin typeface="Open Sans"/>
                <a:ea typeface="Open Sans"/>
                <a:cs typeface="Open Sans"/>
                <a:sym typeface="Open Sans"/>
              </a:rPr>
              <a:t>Sources: Research analysis (9,555 products, 5 retailers) + competitive intelligence (gladiatorgarageworks.com, storewall.com, rubbermaid.com, homedepot.com)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39"/>
          <p:cNvSpPr/>
          <p:nvPr/>
        </p:nvSpPr>
        <p:spPr>
          <a:xfrm>
            <a:off x="0" y="0"/>
            <a:ext cx="12191695" cy="9277502"/>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9"/>
          <p:cNvSpPr/>
          <p:nvPr/>
        </p:nvSpPr>
        <p:spPr>
          <a:xfrm>
            <a:off x="10287000" y="-952805"/>
            <a:ext cx="2857500" cy="2857500"/>
          </a:xfrm>
          <a:prstGeom prst="ellipse">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9"/>
          <p:cNvSpPr/>
          <p:nvPr/>
        </p:nvSpPr>
        <p:spPr>
          <a:xfrm>
            <a:off x="-1015898" y="7237476"/>
            <a:ext cx="3047695" cy="3047695"/>
          </a:xfrm>
          <a:prstGeom prst="ellipse">
            <a:avLst/>
          </a:prstGeom>
          <a:solidFill>
            <a:srgbClr val="1E3A8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9"/>
          <p:cNvSpPr/>
          <p:nvPr/>
        </p:nvSpPr>
        <p:spPr>
          <a:xfrm>
            <a:off x="2476195" y="1745590"/>
            <a:ext cx="1143000" cy="1143000"/>
          </a:xfrm>
          <a:prstGeom prst="ellipse">
            <a:avLst/>
          </a:prstGeom>
          <a:solidFill>
            <a:srgbClr val="1E3A8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9"/>
          <p:cNvSpPr/>
          <p:nvPr/>
        </p:nvSpPr>
        <p:spPr>
          <a:xfrm>
            <a:off x="8477402" y="6285586"/>
            <a:ext cx="1333195" cy="1333195"/>
          </a:xfrm>
          <a:prstGeom prst="ellipse">
            <a:avLst/>
          </a:prstGeom>
          <a:solidFill>
            <a:srgbClr val="1E3A8A">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9"/>
          <p:cNvSpPr/>
          <p:nvPr/>
        </p:nvSpPr>
        <p:spPr>
          <a:xfrm>
            <a:off x="1218895" y="1390802"/>
            <a:ext cx="476402" cy="476402"/>
          </a:xfrm>
          <a:prstGeom prst="roundRect">
            <a:avLst>
              <a:gd fmla="val 30710"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9"/>
          <p:cNvSpPr/>
          <p:nvPr/>
        </p:nvSpPr>
        <p:spPr>
          <a:xfrm>
            <a:off x="10030054" y="2317090"/>
            <a:ext cx="333756" cy="333756"/>
          </a:xfrm>
          <a:prstGeom prst="roundRect">
            <a:avLst>
              <a:gd fmla="val 6262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9"/>
          <p:cNvSpPr/>
          <p:nvPr/>
        </p:nvSpPr>
        <p:spPr>
          <a:xfrm>
            <a:off x="2438705" y="6986930"/>
            <a:ext cx="428854" cy="428854"/>
          </a:xfrm>
          <a:prstGeom prst="roundRect">
            <a:avLst>
              <a:gd fmla="val 37906"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9"/>
          <p:cNvSpPr/>
          <p:nvPr/>
        </p:nvSpPr>
        <p:spPr>
          <a:xfrm>
            <a:off x="9372600" y="6108192"/>
            <a:ext cx="381305" cy="381305"/>
          </a:xfrm>
          <a:prstGeom prst="roundRect">
            <a:avLst>
              <a:gd fmla="val 47962" name="adj"/>
            </a:avLst>
          </a:prstGeom>
          <a:solidFill>
            <a:srgbClr val="1E3A8A">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9"/>
          <p:cNvSpPr/>
          <p:nvPr/>
        </p:nvSpPr>
        <p:spPr>
          <a:xfrm>
            <a:off x="609905" y="927202"/>
            <a:ext cx="1904695" cy="1904695"/>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9"/>
          <p:cNvSpPr/>
          <p:nvPr/>
        </p:nvSpPr>
        <p:spPr>
          <a:xfrm>
            <a:off x="9502445" y="1854403"/>
            <a:ext cx="1714500" cy="1714500"/>
          </a:xfrm>
          <a:prstGeom prst="rect">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9"/>
          <p:cNvSpPr/>
          <p:nvPr/>
        </p:nvSpPr>
        <p:spPr>
          <a:xfrm>
            <a:off x="2438705" y="5593385"/>
            <a:ext cx="2286000" cy="2286000"/>
          </a:xfrm>
          <a:prstGeom prst="ellipse">
            <a:avLst/>
          </a:prstGeom>
          <a:noFill/>
          <a:ln cap="flat" cmpd="sng" w="254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9"/>
          <p:cNvSpPr txBox="1"/>
          <p:nvPr/>
        </p:nvSpPr>
        <p:spPr>
          <a:xfrm>
            <a:off x="609905" y="8783726"/>
            <a:ext cx="5282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Source: Brand Perceptions Module, Phase 2 Analysis (n=193 videos, 47.9M views)</a:t>
            </a:r>
            <a:endParaRPr b="0" i="0" sz="1000" u="none" cap="none" strike="noStrike">
              <a:solidFill>
                <a:schemeClr val="dk1"/>
              </a:solidFill>
              <a:latin typeface="Calibri"/>
              <a:ea typeface="Calibri"/>
              <a:cs typeface="Calibri"/>
              <a:sym typeface="Calibri"/>
            </a:endParaRPr>
          </a:p>
        </p:txBody>
      </p:sp>
      <p:sp>
        <p:nvSpPr>
          <p:cNvPr id="1762" name="Google Shape;1762;p39"/>
          <p:cNvSpPr txBox="1"/>
          <p:nvPr/>
        </p:nvSpPr>
        <p:spPr>
          <a:xfrm>
            <a:off x="11424514" y="8783726"/>
            <a:ext cx="262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37</a:t>
            </a:r>
            <a:endParaRPr b="0" i="0" sz="1000" u="none" cap="none" strike="noStrike">
              <a:solidFill>
                <a:schemeClr val="dk1"/>
              </a:solidFill>
              <a:latin typeface="Calibri"/>
              <a:ea typeface="Calibri"/>
              <a:cs typeface="Calibri"/>
              <a:sym typeface="Calibri"/>
            </a:endParaRPr>
          </a:p>
        </p:txBody>
      </p:sp>
      <p:sp>
        <p:nvSpPr>
          <p:cNvPr id="1763" name="Google Shape;1763;p39"/>
          <p:cNvSpPr/>
          <p:nvPr/>
        </p:nvSpPr>
        <p:spPr>
          <a:xfrm>
            <a:off x="5524805" y="761695"/>
            <a:ext cx="1143000" cy="1143000"/>
          </a:xfrm>
          <a:prstGeom prst="roundRect">
            <a:avLst>
              <a:gd fmla="val 10667" name="adj"/>
            </a:avLst>
          </a:prstGeom>
          <a:solidFill>
            <a:srgbClr val="1E3A8A"/>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4" name="Google Shape;1764;p39"/>
          <p:cNvPicPr preferRelativeResize="0"/>
          <p:nvPr/>
        </p:nvPicPr>
        <p:blipFill rotWithShape="1">
          <a:blip r:embed="rId3">
            <a:alphaModFix/>
          </a:blip>
          <a:srcRect b="0" l="0" r="0" t="0"/>
          <a:stretch/>
        </p:blipFill>
        <p:spPr>
          <a:xfrm>
            <a:off x="5790895" y="1028700"/>
            <a:ext cx="609905" cy="609905"/>
          </a:xfrm>
          <a:prstGeom prst="rect">
            <a:avLst/>
          </a:prstGeom>
          <a:noFill/>
          <a:ln>
            <a:noFill/>
          </a:ln>
        </p:spPr>
      </p:pic>
      <p:sp>
        <p:nvSpPr>
          <p:cNvPr id="1765" name="Google Shape;1765;p39"/>
          <p:cNvSpPr/>
          <p:nvPr/>
        </p:nvSpPr>
        <p:spPr>
          <a:xfrm>
            <a:off x="5333695" y="2286000"/>
            <a:ext cx="1524305" cy="75895"/>
          </a:xfrm>
          <a:prstGeom prst="roundRect">
            <a:avLst>
              <a:gd fmla="val 602411" name="adj"/>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9"/>
          <p:cNvSpPr txBox="1"/>
          <p:nvPr/>
        </p:nvSpPr>
        <p:spPr>
          <a:xfrm>
            <a:off x="1943100" y="2734056"/>
            <a:ext cx="8716061"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BRAND PERCEPTION ANALYSIS</a:t>
            </a:r>
            <a:endParaRPr b="0" i="0" sz="4200" u="none" cap="none" strike="noStrike">
              <a:solidFill>
                <a:schemeClr val="dk1"/>
              </a:solidFill>
              <a:latin typeface="Calibri"/>
              <a:ea typeface="Calibri"/>
              <a:cs typeface="Calibri"/>
              <a:sym typeface="Calibri"/>
            </a:endParaRPr>
          </a:p>
        </p:txBody>
      </p:sp>
      <p:sp>
        <p:nvSpPr>
          <p:cNvPr id="1767" name="Google Shape;1767;p39"/>
          <p:cNvSpPr txBox="1"/>
          <p:nvPr/>
        </p:nvSpPr>
        <p:spPr>
          <a:xfrm>
            <a:off x="2402129" y="3678631"/>
            <a:ext cx="7677302"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Creator Narratives &amp; Consumer Insights</a:t>
            </a:r>
            <a:endParaRPr b="0" i="0" sz="3000" u="none" cap="none" strike="noStrike">
              <a:solidFill>
                <a:schemeClr val="dk1"/>
              </a:solidFill>
              <a:latin typeface="Calibri"/>
              <a:ea typeface="Calibri"/>
              <a:cs typeface="Calibri"/>
              <a:sym typeface="Calibri"/>
            </a:endParaRPr>
          </a:p>
        </p:txBody>
      </p:sp>
      <p:sp>
        <p:nvSpPr>
          <p:cNvPr id="1768" name="Google Shape;1768;p39"/>
          <p:cNvSpPr txBox="1"/>
          <p:nvPr/>
        </p:nvSpPr>
        <p:spPr>
          <a:xfrm>
            <a:off x="2442362" y="4631436"/>
            <a:ext cx="7487107" cy="9628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Understanding how 3M brands (Command, Scotch, 3M Claw) are perceived in consumer content reveals critical positioning strengths and pain points across the garage organization category.</a:t>
            </a:r>
            <a:endParaRPr b="0" i="0" sz="1800" u="none" cap="none" strike="noStrike">
              <a:solidFill>
                <a:schemeClr val="dk1"/>
              </a:solidFill>
              <a:latin typeface="Calibri"/>
              <a:ea typeface="Calibri"/>
              <a:cs typeface="Calibri"/>
              <a:sym typeface="Calibri"/>
            </a:endParaRPr>
          </a:p>
        </p:txBody>
      </p:sp>
      <p:pic>
        <p:nvPicPr>
          <p:cNvPr descr="preencoded.png" id="1769" name="Google Shape;1769;p39"/>
          <p:cNvPicPr preferRelativeResize="0"/>
          <p:nvPr/>
        </p:nvPicPr>
        <p:blipFill rotWithShape="1">
          <a:blip r:embed="rId4">
            <a:alphaModFix amt="85000"/>
          </a:blip>
          <a:srcRect b="0" l="0" r="0" t="0"/>
          <a:stretch/>
        </p:blipFill>
        <p:spPr>
          <a:xfrm>
            <a:off x="3283610" y="6622085"/>
            <a:ext cx="457200" cy="457200"/>
          </a:xfrm>
          <a:prstGeom prst="rect">
            <a:avLst/>
          </a:prstGeom>
          <a:noFill/>
          <a:ln>
            <a:noFill/>
          </a:ln>
        </p:spPr>
      </p:pic>
      <p:sp>
        <p:nvSpPr>
          <p:cNvPr id="1770" name="Google Shape;1770;p39"/>
          <p:cNvSpPr txBox="1"/>
          <p:nvPr/>
        </p:nvSpPr>
        <p:spPr>
          <a:xfrm>
            <a:off x="3085186" y="7098487"/>
            <a:ext cx="9720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COMMAND</a:t>
            </a:r>
            <a:endParaRPr b="0" i="0" sz="1200" u="none" cap="none" strike="noStrike">
              <a:solidFill>
                <a:schemeClr val="dk1"/>
              </a:solidFill>
              <a:latin typeface="Calibri"/>
              <a:ea typeface="Calibri"/>
              <a:cs typeface="Calibri"/>
              <a:sym typeface="Calibri"/>
            </a:endParaRPr>
          </a:p>
        </p:txBody>
      </p:sp>
      <p:sp>
        <p:nvSpPr>
          <p:cNvPr id="1771" name="Google Shape;1771;p39"/>
          <p:cNvSpPr txBox="1"/>
          <p:nvPr/>
        </p:nvSpPr>
        <p:spPr>
          <a:xfrm>
            <a:off x="2573122" y="7364578"/>
            <a:ext cx="1986077"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Rental &amp; Temporary Solutions</a:t>
            </a:r>
            <a:endParaRPr b="0" i="0" sz="1000" u="none" cap="none" strike="noStrike">
              <a:solidFill>
                <a:schemeClr val="dk1"/>
              </a:solidFill>
              <a:latin typeface="Calibri"/>
              <a:ea typeface="Calibri"/>
              <a:cs typeface="Calibri"/>
              <a:sym typeface="Calibri"/>
            </a:endParaRPr>
          </a:p>
        </p:txBody>
      </p:sp>
      <p:pic>
        <p:nvPicPr>
          <p:cNvPr descr="preencoded.png" id="1772" name="Google Shape;1772;p39"/>
          <p:cNvPicPr preferRelativeResize="0"/>
          <p:nvPr/>
        </p:nvPicPr>
        <p:blipFill rotWithShape="1">
          <a:blip r:embed="rId5">
            <a:alphaModFix amt="85000"/>
          </a:blip>
          <a:srcRect b="0" l="0" r="0" t="0"/>
          <a:stretch/>
        </p:blipFill>
        <p:spPr>
          <a:xfrm>
            <a:off x="5832043" y="6622085"/>
            <a:ext cx="457200" cy="457200"/>
          </a:xfrm>
          <a:prstGeom prst="rect">
            <a:avLst/>
          </a:prstGeom>
          <a:noFill/>
          <a:ln>
            <a:noFill/>
          </a:ln>
        </p:spPr>
      </p:pic>
      <p:sp>
        <p:nvSpPr>
          <p:cNvPr id="1773" name="Google Shape;1773;p39"/>
          <p:cNvSpPr txBox="1"/>
          <p:nvPr/>
        </p:nvSpPr>
        <p:spPr>
          <a:xfrm>
            <a:off x="5736031" y="7098487"/>
            <a:ext cx="7717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SCOTCH</a:t>
            </a:r>
            <a:endParaRPr b="0" i="0" sz="1200" u="none" cap="none" strike="noStrike">
              <a:solidFill>
                <a:schemeClr val="dk1"/>
              </a:solidFill>
              <a:latin typeface="Calibri"/>
              <a:ea typeface="Calibri"/>
              <a:cs typeface="Calibri"/>
              <a:sym typeface="Calibri"/>
            </a:endParaRPr>
          </a:p>
        </p:txBody>
      </p:sp>
      <p:sp>
        <p:nvSpPr>
          <p:cNvPr id="1774" name="Google Shape;1774;p39"/>
          <p:cNvSpPr txBox="1"/>
          <p:nvPr/>
        </p:nvSpPr>
        <p:spPr>
          <a:xfrm>
            <a:off x="5212994" y="7364578"/>
            <a:ext cx="1795882"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DIY Projects &amp; Strong Hold</a:t>
            </a:r>
            <a:endParaRPr b="0" i="0" sz="1000" u="none" cap="none" strike="noStrike">
              <a:solidFill>
                <a:schemeClr val="dk1"/>
              </a:solidFill>
              <a:latin typeface="Calibri"/>
              <a:ea typeface="Calibri"/>
              <a:cs typeface="Calibri"/>
              <a:sym typeface="Calibri"/>
            </a:endParaRPr>
          </a:p>
        </p:txBody>
      </p:sp>
      <p:pic>
        <p:nvPicPr>
          <p:cNvPr descr="preencoded.png" id="1775" name="Google Shape;1775;p39"/>
          <p:cNvPicPr preferRelativeResize="0"/>
          <p:nvPr/>
        </p:nvPicPr>
        <p:blipFill rotWithShape="1">
          <a:blip r:embed="rId6">
            <a:alphaModFix amt="85000"/>
          </a:blip>
          <a:srcRect b="0" l="0" r="0" t="0"/>
          <a:stretch/>
        </p:blipFill>
        <p:spPr>
          <a:xfrm>
            <a:off x="8415223" y="6622085"/>
            <a:ext cx="457200" cy="457200"/>
          </a:xfrm>
          <a:prstGeom prst="rect">
            <a:avLst/>
          </a:prstGeom>
          <a:noFill/>
          <a:ln>
            <a:noFill/>
          </a:ln>
        </p:spPr>
      </p:pic>
      <p:sp>
        <p:nvSpPr>
          <p:cNvPr id="1776" name="Google Shape;1776;p39"/>
          <p:cNvSpPr txBox="1"/>
          <p:nvPr/>
        </p:nvSpPr>
        <p:spPr>
          <a:xfrm>
            <a:off x="8276234" y="7098487"/>
            <a:ext cx="857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FAFB"/>
              </a:buClr>
              <a:buSzPts val="1200"/>
              <a:buFont typeface="Inter"/>
              <a:buNone/>
            </a:pPr>
            <a:r>
              <a:rPr b="1" i="0" lang="en-US" sz="1200" u="none" cap="none" strike="noStrike">
                <a:solidFill>
                  <a:srgbClr val="F9FAFB"/>
                </a:solidFill>
                <a:latin typeface="Inter"/>
                <a:ea typeface="Inter"/>
                <a:cs typeface="Inter"/>
                <a:sym typeface="Inter"/>
              </a:rPr>
              <a:t>3M CLAW</a:t>
            </a:r>
            <a:endParaRPr b="0" i="0" sz="1200" u="none" cap="none" strike="noStrike">
              <a:solidFill>
                <a:schemeClr val="dk1"/>
              </a:solidFill>
              <a:latin typeface="Calibri"/>
              <a:ea typeface="Calibri"/>
              <a:cs typeface="Calibri"/>
              <a:sym typeface="Calibri"/>
            </a:endParaRPr>
          </a:p>
        </p:txBody>
      </p:sp>
      <p:sp>
        <p:nvSpPr>
          <p:cNvPr id="1777" name="Google Shape;1777;p39"/>
          <p:cNvSpPr txBox="1"/>
          <p:nvPr/>
        </p:nvSpPr>
        <p:spPr>
          <a:xfrm>
            <a:off x="7669987" y="7364578"/>
            <a:ext cx="205282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1D5DB"/>
              </a:buClr>
              <a:buSzPts val="1000"/>
              <a:buFont typeface="Inter"/>
              <a:buNone/>
            </a:pPr>
            <a:r>
              <a:rPr b="0" i="0" lang="en-US" sz="1000" u="none" cap="none" strike="noStrike">
                <a:solidFill>
                  <a:srgbClr val="D1D5DB"/>
                </a:solidFill>
                <a:latin typeface="Inter"/>
                <a:ea typeface="Inter"/>
                <a:cs typeface="Inter"/>
                <a:sym typeface="Inter"/>
              </a:rPr>
              <a:t>Heavy-Duty &amp; Weight Focused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40"/>
          <p:cNvSpPr/>
          <p:nvPr/>
        </p:nvSpPr>
        <p:spPr>
          <a:xfrm>
            <a:off x="0" y="0"/>
            <a:ext cx="12191695" cy="12573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0"/>
          <p:cNvSpPr/>
          <p:nvPr/>
        </p:nvSpPr>
        <p:spPr>
          <a:xfrm>
            <a:off x="0" y="0"/>
            <a:ext cx="12191695" cy="12573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0"/>
          <p:cNvSpPr/>
          <p:nvPr/>
        </p:nvSpPr>
        <p:spPr>
          <a:xfrm>
            <a:off x="609905" y="381305"/>
            <a:ext cx="76169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0"/>
          <p:cNvSpPr txBox="1"/>
          <p:nvPr/>
        </p:nvSpPr>
        <p:spPr>
          <a:xfrm>
            <a:off x="609905" y="647395"/>
            <a:ext cx="5791810"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Methods – Brand Perception &amp; Reviews</a:t>
            </a:r>
            <a:endParaRPr b="0" i="0" sz="2400" u="none" cap="none" strike="noStrike">
              <a:solidFill>
                <a:schemeClr val="dk1"/>
              </a:solidFill>
              <a:latin typeface="Calibri"/>
              <a:ea typeface="Calibri"/>
              <a:cs typeface="Calibri"/>
              <a:sym typeface="Calibri"/>
            </a:endParaRPr>
          </a:p>
        </p:txBody>
      </p:sp>
      <p:sp>
        <p:nvSpPr>
          <p:cNvPr id="1787" name="Google Shape;1787;p40"/>
          <p:cNvSpPr/>
          <p:nvPr/>
        </p:nvSpPr>
        <p:spPr>
          <a:xfrm>
            <a:off x="609905" y="1933956"/>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0"/>
          <p:cNvSpPr/>
          <p:nvPr/>
        </p:nvSpPr>
        <p:spPr>
          <a:xfrm>
            <a:off x="609905" y="6498641"/>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0"/>
          <p:cNvSpPr/>
          <p:nvPr/>
        </p:nvSpPr>
        <p:spPr>
          <a:xfrm>
            <a:off x="609905" y="8445398"/>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0"/>
          <p:cNvSpPr/>
          <p:nvPr/>
        </p:nvSpPr>
        <p:spPr>
          <a:xfrm>
            <a:off x="609905" y="10721340"/>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0"/>
          <p:cNvSpPr txBox="1"/>
          <p:nvPr/>
        </p:nvSpPr>
        <p:spPr>
          <a:xfrm>
            <a:off x="609905" y="159105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792" name="Google Shape;1792;p40"/>
          <p:cNvSpPr txBox="1"/>
          <p:nvPr/>
        </p:nvSpPr>
        <p:spPr>
          <a:xfrm>
            <a:off x="897941" y="1604772"/>
            <a:ext cx="17145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Scope &amp; Sources</a:t>
            </a:r>
            <a:endParaRPr b="0" i="0" sz="1500" u="none" cap="none" strike="noStrike">
              <a:solidFill>
                <a:schemeClr val="dk1"/>
              </a:solidFill>
              <a:latin typeface="Calibri"/>
              <a:ea typeface="Calibri"/>
              <a:cs typeface="Calibri"/>
              <a:sym typeface="Calibri"/>
            </a:endParaRPr>
          </a:p>
        </p:txBody>
      </p:sp>
      <p:sp>
        <p:nvSpPr>
          <p:cNvPr id="1793" name="Google Shape;1793;p40"/>
          <p:cNvSpPr txBox="1"/>
          <p:nvPr/>
        </p:nvSpPr>
        <p:spPr>
          <a:xfrm>
            <a:off x="609905" y="615482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794" name="Google Shape;1794;p40"/>
          <p:cNvSpPr txBox="1"/>
          <p:nvPr/>
        </p:nvSpPr>
        <p:spPr>
          <a:xfrm>
            <a:off x="897941" y="6169457"/>
            <a:ext cx="1067105"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Approach</a:t>
            </a:r>
            <a:endParaRPr b="0" i="0" sz="1500" u="none" cap="none" strike="noStrike">
              <a:solidFill>
                <a:schemeClr val="dk1"/>
              </a:solidFill>
              <a:latin typeface="Calibri"/>
              <a:ea typeface="Calibri"/>
              <a:cs typeface="Calibri"/>
              <a:sym typeface="Calibri"/>
            </a:endParaRPr>
          </a:p>
        </p:txBody>
      </p:sp>
      <p:sp>
        <p:nvSpPr>
          <p:cNvPr id="1795" name="Google Shape;1795;p40"/>
          <p:cNvSpPr txBox="1"/>
          <p:nvPr/>
        </p:nvSpPr>
        <p:spPr>
          <a:xfrm>
            <a:off x="609905" y="8101584"/>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796" name="Google Shape;1796;p40"/>
          <p:cNvSpPr txBox="1"/>
          <p:nvPr/>
        </p:nvSpPr>
        <p:spPr>
          <a:xfrm>
            <a:off x="897941" y="8116214"/>
            <a:ext cx="13908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Sample Sizes</a:t>
            </a:r>
            <a:endParaRPr b="0" i="0" sz="1500" u="none" cap="none" strike="noStrike">
              <a:solidFill>
                <a:schemeClr val="dk1"/>
              </a:solidFill>
              <a:latin typeface="Calibri"/>
              <a:ea typeface="Calibri"/>
              <a:cs typeface="Calibri"/>
              <a:sym typeface="Calibri"/>
            </a:endParaRPr>
          </a:p>
        </p:txBody>
      </p:sp>
      <p:sp>
        <p:nvSpPr>
          <p:cNvPr id="1797" name="Google Shape;1797;p40"/>
          <p:cNvSpPr txBox="1"/>
          <p:nvPr/>
        </p:nvSpPr>
        <p:spPr>
          <a:xfrm>
            <a:off x="609905" y="10378440"/>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1798" name="Google Shape;1798;p40"/>
          <p:cNvSpPr txBox="1"/>
          <p:nvPr/>
        </p:nvSpPr>
        <p:spPr>
          <a:xfrm>
            <a:off x="897941" y="10392156"/>
            <a:ext cx="22768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Tools &amp; Quality Control</a:t>
            </a:r>
            <a:endParaRPr b="0" i="0" sz="1500" u="none" cap="none" strike="noStrike">
              <a:solidFill>
                <a:schemeClr val="dk1"/>
              </a:solidFill>
              <a:latin typeface="Calibri"/>
              <a:ea typeface="Calibri"/>
              <a:cs typeface="Calibri"/>
              <a:sym typeface="Calibri"/>
            </a:endParaRPr>
          </a:p>
        </p:txBody>
      </p:sp>
      <p:sp>
        <p:nvSpPr>
          <p:cNvPr id="1799" name="Google Shape;1799;p40"/>
          <p:cNvSpPr/>
          <p:nvPr/>
        </p:nvSpPr>
        <p:spPr>
          <a:xfrm>
            <a:off x="609905" y="2095805"/>
            <a:ext cx="5419649" cy="1876349"/>
          </a:xfrm>
          <a:prstGeom prst="roundRect">
            <a:avLst>
              <a:gd fmla="val 1484"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0"/>
          <p:cNvSpPr/>
          <p:nvPr/>
        </p:nvSpPr>
        <p:spPr>
          <a:xfrm>
            <a:off x="609905" y="2095805"/>
            <a:ext cx="28346" cy="18763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0"/>
          <p:cNvSpPr/>
          <p:nvPr/>
        </p:nvSpPr>
        <p:spPr>
          <a:xfrm>
            <a:off x="6163056" y="2095805"/>
            <a:ext cx="5419649" cy="1876349"/>
          </a:xfrm>
          <a:prstGeom prst="roundRect">
            <a:avLst>
              <a:gd fmla="val 1484"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0"/>
          <p:cNvSpPr/>
          <p:nvPr/>
        </p:nvSpPr>
        <p:spPr>
          <a:xfrm>
            <a:off x="6163056" y="2095805"/>
            <a:ext cx="28346" cy="18763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0"/>
          <p:cNvSpPr/>
          <p:nvPr/>
        </p:nvSpPr>
        <p:spPr>
          <a:xfrm>
            <a:off x="609905" y="4097426"/>
            <a:ext cx="5419649" cy="1837944"/>
          </a:xfrm>
          <a:prstGeom prst="roundRect">
            <a:avLst>
              <a:gd fmla="val 154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0"/>
          <p:cNvSpPr/>
          <p:nvPr/>
        </p:nvSpPr>
        <p:spPr>
          <a:xfrm>
            <a:off x="609905" y="4097426"/>
            <a:ext cx="28346" cy="183794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0"/>
          <p:cNvSpPr txBox="1"/>
          <p:nvPr/>
        </p:nvSpPr>
        <p:spPr>
          <a:xfrm>
            <a:off x="752551" y="2276856"/>
            <a:ext cx="26773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Phase 2 Brand Perception Analysis:</a:t>
            </a:r>
            <a:endParaRPr b="0" i="0" sz="1200" u="none" cap="none" strike="noStrike">
              <a:solidFill>
                <a:schemeClr val="dk1"/>
              </a:solidFill>
              <a:latin typeface="Calibri"/>
              <a:ea typeface="Calibri"/>
              <a:cs typeface="Calibri"/>
              <a:sym typeface="Calibri"/>
            </a:endParaRPr>
          </a:p>
        </p:txBody>
      </p:sp>
      <p:sp>
        <p:nvSpPr>
          <p:cNvPr id="1806" name="Google Shape;1806;p40"/>
          <p:cNvSpPr txBox="1"/>
          <p:nvPr/>
        </p:nvSpPr>
        <p:spPr>
          <a:xfrm>
            <a:off x="752551" y="2567635"/>
            <a:ext cx="5191963"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214 creator videos gathered 1 Nov 2025 (Command 62, Scotch 68, 3M Claw 63, Other 21)</a:t>
            </a:r>
            <a:endParaRPr b="0" i="0" sz="1200" u="none" cap="none" strike="noStrike">
              <a:solidFill>
                <a:schemeClr val="dk1"/>
              </a:solidFill>
              <a:latin typeface="Calibri"/>
              <a:ea typeface="Calibri"/>
              <a:cs typeface="Calibri"/>
              <a:sym typeface="Calibri"/>
            </a:endParaRPr>
          </a:p>
        </p:txBody>
      </p:sp>
      <p:sp>
        <p:nvSpPr>
          <p:cNvPr id="1807" name="Google Shape;1807;p40"/>
          <p:cNvSpPr txBox="1"/>
          <p:nvPr/>
        </p:nvSpPr>
        <p:spPr>
          <a:xfrm>
            <a:off x="752551" y="3103474"/>
            <a:ext cx="39529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Coded for sentiment, benefits, use cases, pain points</a:t>
            </a:r>
            <a:endParaRPr b="0" i="0" sz="1200" u="none" cap="none" strike="noStrike">
              <a:solidFill>
                <a:schemeClr val="dk1"/>
              </a:solidFill>
              <a:latin typeface="Calibri"/>
              <a:ea typeface="Calibri"/>
              <a:cs typeface="Calibri"/>
              <a:sym typeface="Calibri"/>
            </a:endParaRPr>
          </a:p>
        </p:txBody>
      </p:sp>
      <p:sp>
        <p:nvSpPr>
          <p:cNvPr id="1808" name="Google Shape;1808;p40"/>
          <p:cNvSpPr txBox="1"/>
          <p:nvPr/>
        </p:nvSpPr>
        <p:spPr>
          <a:xfrm>
            <a:off x="6305702" y="2276856"/>
            <a:ext cx="21625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3M Claw Transcript Refresh:</a:t>
            </a:r>
            <a:endParaRPr b="0" i="0" sz="1200" u="none" cap="none" strike="noStrike">
              <a:solidFill>
                <a:schemeClr val="dk1"/>
              </a:solidFill>
              <a:latin typeface="Calibri"/>
              <a:ea typeface="Calibri"/>
              <a:cs typeface="Calibri"/>
              <a:sym typeface="Calibri"/>
            </a:endParaRPr>
          </a:p>
        </p:txBody>
      </p:sp>
      <p:sp>
        <p:nvSpPr>
          <p:cNvPr id="1809" name="Google Shape;1809;p40"/>
          <p:cNvSpPr txBox="1"/>
          <p:nvPr/>
        </p:nvSpPr>
        <p:spPr>
          <a:xfrm>
            <a:off x="6305702" y="2567635"/>
            <a:ext cx="31720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53 YouTube videos processed 5 Nov 2025</a:t>
            </a:r>
            <a:endParaRPr b="0" i="0" sz="1200" u="none" cap="none" strike="noStrike">
              <a:solidFill>
                <a:schemeClr val="dk1"/>
              </a:solidFill>
              <a:latin typeface="Calibri"/>
              <a:ea typeface="Calibri"/>
              <a:cs typeface="Calibri"/>
              <a:sym typeface="Calibri"/>
            </a:endParaRPr>
          </a:p>
        </p:txBody>
      </p:sp>
      <p:sp>
        <p:nvSpPr>
          <p:cNvPr id="1810" name="Google Shape;1810;p40"/>
          <p:cNvSpPr txBox="1"/>
          <p:nvPr/>
        </p:nvSpPr>
        <p:spPr>
          <a:xfrm>
            <a:off x="6305702" y="2859329"/>
            <a:ext cx="48198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Whisper transcripts and frame extraction for qualitative validation</a:t>
            </a:r>
            <a:endParaRPr b="0" i="0" sz="1200" u="none" cap="none" strike="noStrike">
              <a:solidFill>
                <a:schemeClr val="dk1"/>
              </a:solidFill>
              <a:latin typeface="Calibri"/>
              <a:ea typeface="Calibri"/>
              <a:cs typeface="Calibri"/>
              <a:sym typeface="Calibri"/>
            </a:endParaRPr>
          </a:p>
        </p:txBody>
      </p:sp>
      <p:sp>
        <p:nvSpPr>
          <p:cNvPr id="1811" name="Google Shape;1811;p40"/>
          <p:cNvSpPr txBox="1"/>
          <p:nvPr/>
        </p:nvSpPr>
        <p:spPr>
          <a:xfrm>
            <a:off x="752551" y="4278478"/>
            <a:ext cx="18388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Amazon Review Mining:</a:t>
            </a:r>
            <a:endParaRPr b="0" i="0" sz="1200" u="none" cap="none" strike="noStrike">
              <a:solidFill>
                <a:schemeClr val="dk1"/>
              </a:solidFill>
              <a:latin typeface="Calibri"/>
              <a:ea typeface="Calibri"/>
              <a:cs typeface="Calibri"/>
              <a:sym typeface="Calibri"/>
            </a:endParaRPr>
          </a:p>
        </p:txBody>
      </p:sp>
      <p:sp>
        <p:nvSpPr>
          <p:cNvPr id="1812" name="Google Shape;1812;p40"/>
          <p:cNvSpPr txBox="1"/>
          <p:nvPr/>
        </p:nvSpPr>
        <p:spPr>
          <a:xfrm>
            <a:off x="752551" y="4570171"/>
            <a:ext cx="28291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1,781 reviews collected to 3 Nov 2025</a:t>
            </a:r>
            <a:endParaRPr b="0" i="0" sz="1200" u="none" cap="none" strike="noStrike">
              <a:solidFill>
                <a:schemeClr val="dk1"/>
              </a:solidFill>
              <a:latin typeface="Calibri"/>
              <a:ea typeface="Calibri"/>
              <a:cs typeface="Calibri"/>
              <a:sym typeface="Calibri"/>
            </a:endParaRPr>
          </a:p>
        </p:txBody>
      </p:sp>
      <p:sp>
        <p:nvSpPr>
          <p:cNvPr id="1813" name="Google Shape;1813;p40"/>
          <p:cNvSpPr txBox="1"/>
          <p:nvPr/>
        </p:nvSpPr>
        <p:spPr>
          <a:xfrm>
            <a:off x="752551" y="4860950"/>
            <a:ext cx="37435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Tagged for seven trait clusters via keyword mining</a:t>
            </a:r>
            <a:endParaRPr b="0" i="0" sz="1200" u="none" cap="none" strike="noStrike">
              <a:solidFill>
                <a:schemeClr val="dk1"/>
              </a:solidFill>
              <a:latin typeface="Calibri"/>
              <a:ea typeface="Calibri"/>
              <a:cs typeface="Calibri"/>
              <a:sym typeface="Calibri"/>
            </a:endParaRPr>
          </a:p>
        </p:txBody>
      </p:sp>
      <p:sp>
        <p:nvSpPr>
          <p:cNvPr id="1814" name="Google Shape;1814;p40"/>
          <p:cNvSpPr/>
          <p:nvPr/>
        </p:nvSpPr>
        <p:spPr>
          <a:xfrm>
            <a:off x="752551" y="3375050"/>
            <a:ext cx="28346" cy="42885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0"/>
          <p:cNvSpPr/>
          <p:nvPr/>
        </p:nvSpPr>
        <p:spPr>
          <a:xfrm>
            <a:off x="6305702" y="3131820"/>
            <a:ext cx="28346" cy="428854"/>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0"/>
          <p:cNvSpPr/>
          <p:nvPr/>
        </p:nvSpPr>
        <p:spPr>
          <a:xfrm>
            <a:off x="752551" y="5133442"/>
            <a:ext cx="28346" cy="6473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0"/>
          <p:cNvSpPr txBox="1"/>
          <p:nvPr/>
        </p:nvSpPr>
        <p:spPr>
          <a:xfrm>
            <a:off x="895198" y="3394253"/>
            <a:ext cx="3672230" cy="3813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projects/garage-organizer/brand-perceptions/data/consolidated/phase2_full_analysis.json</a:t>
            </a:r>
            <a:endParaRPr b="0" i="0" sz="1000" u="none" cap="none" strike="noStrike">
              <a:solidFill>
                <a:schemeClr val="dk1"/>
              </a:solidFill>
              <a:latin typeface="Calibri"/>
              <a:ea typeface="Calibri"/>
              <a:cs typeface="Calibri"/>
              <a:sym typeface="Calibri"/>
            </a:endParaRPr>
          </a:p>
        </p:txBody>
      </p:sp>
      <p:sp>
        <p:nvSpPr>
          <p:cNvPr id="1818" name="Google Shape;1818;p40"/>
          <p:cNvSpPr txBox="1"/>
          <p:nvPr/>
        </p:nvSpPr>
        <p:spPr>
          <a:xfrm>
            <a:off x="6448349" y="3151022"/>
            <a:ext cx="4910328" cy="3813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modules/category-intelligence/data/processed_videos/processing_log.json + /transcripts/*.json</a:t>
            </a:r>
            <a:endParaRPr b="0" i="0" sz="1000" u="none" cap="none" strike="noStrike">
              <a:solidFill>
                <a:schemeClr val="dk1"/>
              </a:solidFill>
              <a:latin typeface="Calibri"/>
              <a:ea typeface="Calibri"/>
              <a:cs typeface="Calibri"/>
              <a:sym typeface="Calibri"/>
            </a:endParaRPr>
          </a:p>
        </p:txBody>
      </p:sp>
      <p:sp>
        <p:nvSpPr>
          <p:cNvPr id="1819" name="Google Shape;1819;p40"/>
          <p:cNvSpPr txBox="1"/>
          <p:nvPr/>
        </p:nvSpPr>
        <p:spPr>
          <a:xfrm>
            <a:off x="895198" y="5152644"/>
            <a:ext cx="4120286" cy="5907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projects/garage-organizer/brand-perceptions/data/consolidated/product_reviews.json; metrics in reports/figures/review_trait_summary.json</a:t>
            </a:r>
            <a:endParaRPr b="0" i="0" sz="1000" u="none" cap="none" strike="noStrike">
              <a:solidFill>
                <a:schemeClr val="dk1"/>
              </a:solidFill>
              <a:latin typeface="Calibri"/>
              <a:ea typeface="Calibri"/>
              <a:cs typeface="Calibri"/>
              <a:sym typeface="Calibri"/>
            </a:endParaRPr>
          </a:p>
        </p:txBody>
      </p:sp>
      <p:sp>
        <p:nvSpPr>
          <p:cNvPr id="1820" name="Google Shape;1820;p40"/>
          <p:cNvSpPr/>
          <p:nvPr/>
        </p:nvSpPr>
        <p:spPr>
          <a:xfrm>
            <a:off x="609905" y="6659575"/>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0"/>
          <p:cNvSpPr/>
          <p:nvPr/>
        </p:nvSpPr>
        <p:spPr>
          <a:xfrm>
            <a:off x="609905" y="701802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0"/>
          <p:cNvSpPr/>
          <p:nvPr/>
        </p:nvSpPr>
        <p:spPr>
          <a:xfrm>
            <a:off x="609905" y="737555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0"/>
          <p:cNvSpPr txBox="1"/>
          <p:nvPr/>
        </p:nvSpPr>
        <p:spPr>
          <a:xfrm>
            <a:off x="695858" y="6667805"/>
            <a:ext cx="157277"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1</a:t>
            </a:r>
            <a:endParaRPr b="0" i="0" sz="1000" u="none" cap="none" strike="noStrike">
              <a:solidFill>
                <a:schemeClr val="dk1"/>
              </a:solidFill>
              <a:latin typeface="Calibri"/>
              <a:ea typeface="Calibri"/>
              <a:cs typeface="Calibri"/>
              <a:sym typeface="Calibri"/>
            </a:endParaRPr>
          </a:p>
        </p:txBody>
      </p:sp>
      <p:sp>
        <p:nvSpPr>
          <p:cNvPr id="1824" name="Google Shape;1824;p40"/>
          <p:cNvSpPr txBox="1"/>
          <p:nvPr/>
        </p:nvSpPr>
        <p:spPr>
          <a:xfrm>
            <a:off x="682142" y="7025335"/>
            <a:ext cx="18653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2</a:t>
            </a:r>
            <a:endParaRPr b="0" i="0" sz="1000" u="none" cap="none" strike="noStrike">
              <a:solidFill>
                <a:schemeClr val="dk1"/>
              </a:solidFill>
              <a:latin typeface="Calibri"/>
              <a:ea typeface="Calibri"/>
              <a:cs typeface="Calibri"/>
              <a:sym typeface="Calibri"/>
            </a:endParaRPr>
          </a:p>
        </p:txBody>
      </p:sp>
      <p:sp>
        <p:nvSpPr>
          <p:cNvPr id="1825" name="Google Shape;1825;p40"/>
          <p:cNvSpPr txBox="1"/>
          <p:nvPr/>
        </p:nvSpPr>
        <p:spPr>
          <a:xfrm>
            <a:off x="681228" y="7383780"/>
            <a:ext cx="18653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Inter"/>
              <a:buNone/>
            </a:pPr>
            <a:r>
              <a:rPr b="1" i="0" lang="en-US" sz="1000" u="none" cap="none" strike="noStrike">
                <a:solidFill>
                  <a:srgbClr val="FFFFFF"/>
                </a:solidFill>
                <a:latin typeface="Inter"/>
                <a:ea typeface="Inter"/>
                <a:cs typeface="Inter"/>
                <a:sym typeface="Inter"/>
              </a:rPr>
              <a:t>3</a:t>
            </a:r>
            <a:endParaRPr b="0" i="0" sz="1000" u="none" cap="none" strike="noStrike">
              <a:solidFill>
                <a:schemeClr val="dk1"/>
              </a:solidFill>
              <a:latin typeface="Calibri"/>
              <a:ea typeface="Calibri"/>
              <a:cs typeface="Calibri"/>
              <a:sym typeface="Calibri"/>
            </a:endParaRPr>
          </a:p>
        </p:txBody>
      </p:sp>
      <p:sp>
        <p:nvSpPr>
          <p:cNvPr id="1826" name="Google Shape;1826;p40"/>
          <p:cNvSpPr txBox="1"/>
          <p:nvPr/>
        </p:nvSpPr>
        <p:spPr>
          <a:xfrm>
            <a:off x="933602" y="6697980"/>
            <a:ext cx="99733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Quantified brand sentiment, benefit, use-case, and pain-point codes across the full creator dataset; computed ratios and share-of-voice.</a:t>
            </a:r>
            <a:endParaRPr b="0" i="0" sz="1200" u="none" cap="none" strike="noStrike">
              <a:solidFill>
                <a:schemeClr val="dk1"/>
              </a:solidFill>
              <a:latin typeface="Calibri"/>
              <a:ea typeface="Calibri"/>
              <a:cs typeface="Calibri"/>
              <a:sym typeface="Calibri"/>
            </a:endParaRPr>
          </a:p>
        </p:txBody>
      </p:sp>
      <p:sp>
        <p:nvSpPr>
          <p:cNvPr id="1827" name="Google Shape;1827;p40"/>
          <p:cNvSpPr txBox="1"/>
          <p:nvPr/>
        </p:nvSpPr>
        <p:spPr>
          <a:xfrm>
            <a:off x="933602" y="7055510"/>
            <a:ext cx="72585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Deep-read 51 fresh 3M Claw transcripts to qualify heavy-hanging, "no tools," and failure narratives.</a:t>
            </a:r>
            <a:endParaRPr b="0" i="0" sz="1200" u="none" cap="none" strike="noStrike">
              <a:solidFill>
                <a:schemeClr val="dk1"/>
              </a:solidFill>
              <a:latin typeface="Calibri"/>
              <a:ea typeface="Calibri"/>
              <a:cs typeface="Calibri"/>
              <a:sym typeface="Calibri"/>
            </a:endParaRPr>
          </a:p>
        </p:txBody>
      </p:sp>
      <p:sp>
        <p:nvSpPr>
          <p:cNvPr id="1828" name="Google Shape;1828;p40"/>
          <p:cNvSpPr txBox="1"/>
          <p:nvPr/>
        </p:nvSpPr>
        <p:spPr>
          <a:xfrm>
            <a:off x="933602" y="7413955"/>
            <a:ext cx="10335463"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Parsed review corpus, extracted ratings, and mapped keyword clusters to trait coverage and satisfaction scores; calculated category baseline versus brand deltas.</a:t>
            </a:r>
            <a:endParaRPr b="0" i="0" sz="1200" u="none" cap="none" strike="noStrike">
              <a:solidFill>
                <a:schemeClr val="dk1"/>
              </a:solidFill>
              <a:latin typeface="Calibri"/>
              <a:ea typeface="Calibri"/>
              <a:cs typeface="Calibri"/>
              <a:sym typeface="Calibri"/>
            </a:endParaRPr>
          </a:p>
        </p:txBody>
      </p:sp>
      <p:sp>
        <p:nvSpPr>
          <p:cNvPr id="1829" name="Google Shape;1829;p40"/>
          <p:cNvSpPr/>
          <p:nvPr/>
        </p:nvSpPr>
        <p:spPr>
          <a:xfrm>
            <a:off x="609905" y="8606333"/>
            <a:ext cx="2286000" cy="381305"/>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0"/>
          <p:cNvSpPr/>
          <p:nvPr/>
        </p:nvSpPr>
        <p:spPr>
          <a:xfrm>
            <a:off x="2890418" y="8606333"/>
            <a:ext cx="809244" cy="381305"/>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0"/>
          <p:cNvSpPr/>
          <p:nvPr/>
        </p:nvSpPr>
        <p:spPr>
          <a:xfrm>
            <a:off x="3692347" y="8606333"/>
            <a:ext cx="7895844" cy="381305"/>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0"/>
          <p:cNvSpPr txBox="1"/>
          <p:nvPr/>
        </p:nvSpPr>
        <p:spPr>
          <a:xfrm>
            <a:off x="724205" y="8701430"/>
            <a:ext cx="8129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1" i="0" lang="en-US" sz="1100" u="none" cap="none" strike="noStrike">
                <a:solidFill>
                  <a:srgbClr val="1F2937"/>
                </a:solidFill>
                <a:latin typeface="Inter"/>
                <a:ea typeface="Inter"/>
                <a:cs typeface="Inter"/>
                <a:sym typeface="Inter"/>
              </a:rPr>
              <a:t>Data Type</a:t>
            </a:r>
            <a:endParaRPr b="0" i="0" sz="1100" u="none" cap="none" strike="noStrike">
              <a:solidFill>
                <a:schemeClr val="dk1"/>
              </a:solidFill>
              <a:latin typeface="Calibri"/>
              <a:ea typeface="Calibri"/>
              <a:cs typeface="Calibri"/>
              <a:sym typeface="Calibri"/>
            </a:endParaRPr>
          </a:p>
        </p:txBody>
      </p:sp>
      <p:sp>
        <p:nvSpPr>
          <p:cNvPr id="1833" name="Google Shape;1833;p40"/>
          <p:cNvSpPr txBox="1"/>
          <p:nvPr/>
        </p:nvSpPr>
        <p:spPr>
          <a:xfrm>
            <a:off x="3004718" y="8701430"/>
            <a:ext cx="45079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1" i="0" lang="en-US" sz="1100" u="none" cap="none" strike="noStrike">
                <a:solidFill>
                  <a:srgbClr val="1F2937"/>
                </a:solidFill>
                <a:latin typeface="Inter"/>
                <a:ea typeface="Inter"/>
                <a:cs typeface="Inter"/>
                <a:sym typeface="Inter"/>
              </a:rPr>
              <a:t>Total</a:t>
            </a:r>
            <a:endParaRPr b="0" i="0" sz="1100" u="none" cap="none" strike="noStrike">
              <a:solidFill>
                <a:schemeClr val="dk1"/>
              </a:solidFill>
              <a:latin typeface="Calibri"/>
              <a:ea typeface="Calibri"/>
              <a:cs typeface="Calibri"/>
              <a:sym typeface="Calibri"/>
            </a:endParaRPr>
          </a:p>
        </p:txBody>
      </p:sp>
      <p:sp>
        <p:nvSpPr>
          <p:cNvPr id="1834" name="Google Shape;1834;p40"/>
          <p:cNvSpPr txBox="1"/>
          <p:nvPr/>
        </p:nvSpPr>
        <p:spPr>
          <a:xfrm>
            <a:off x="3806647" y="8701430"/>
            <a:ext cx="13359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1" i="0" lang="en-US" sz="1100" u="none" cap="none" strike="noStrike">
                <a:solidFill>
                  <a:srgbClr val="1F2937"/>
                </a:solidFill>
                <a:latin typeface="Inter"/>
                <a:ea typeface="Inter"/>
                <a:cs typeface="Inter"/>
                <a:sym typeface="Inter"/>
              </a:rPr>
              <a:t>Brand Breakdown</a:t>
            </a:r>
            <a:endParaRPr b="0" i="0" sz="1100" u="none" cap="none" strike="noStrike">
              <a:solidFill>
                <a:schemeClr val="dk1"/>
              </a:solidFill>
              <a:latin typeface="Calibri"/>
              <a:ea typeface="Calibri"/>
              <a:cs typeface="Calibri"/>
              <a:sym typeface="Calibri"/>
            </a:endParaRPr>
          </a:p>
        </p:txBody>
      </p:sp>
      <p:sp>
        <p:nvSpPr>
          <p:cNvPr id="1835" name="Google Shape;1835;p40"/>
          <p:cNvSpPr/>
          <p:nvPr/>
        </p:nvSpPr>
        <p:spPr>
          <a:xfrm>
            <a:off x="609905" y="9368942"/>
            <a:ext cx="22860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0"/>
          <p:cNvSpPr/>
          <p:nvPr/>
        </p:nvSpPr>
        <p:spPr>
          <a:xfrm>
            <a:off x="2890418" y="9368942"/>
            <a:ext cx="8092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0"/>
          <p:cNvSpPr/>
          <p:nvPr/>
        </p:nvSpPr>
        <p:spPr>
          <a:xfrm>
            <a:off x="3692347" y="9368942"/>
            <a:ext cx="78958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0"/>
          <p:cNvSpPr/>
          <p:nvPr/>
        </p:nvSpPr>
        <p:spPr>
          <a:xfrm>
            <a:off x="609905" y="9754819"/>
            <a:ext cx="22860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40"/>
          <p:cNvSpPr/>
          <p:nvPr/>
        </p:nvSpPr>
        <p:spPr>
          <a:xfrm>
            <a:off x="2890418" y="9754819"/>
            <a:ext cx="8092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0"/>
          <p:cNvSpPr/>
          <p:nvPr/>
        </p:nvSpPr>
        <p:spPr>
          <a:xfrm>
            <a:off x="3692347" y="9754819"/>
            <a:ext cx="78958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0"/>
          <p:cNvSpPr/>
          <p:nvPr/>
        </p:nvSpPr>
        <p:spPr>
          <a:xfrm>
            <a:off x="609905" y="10145268"/>
            <a:ext cx="22860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0"/>
          <p:cNvSpPr/>
          <p:nvPr/>
        </p:nvSpPr>
        <p:spPr>
          <a:xfrm>
            <a:off x="2890418" y="10145268"/>
            <a:ext cx="8092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0"/>
          <p:cNvSpPr/>
          <p:nvPr/>
        </p:nvSpPr>
        <p:spPr>
          <a:xfrm>
            <a:off x="3692347" y="10145268"/>
            <a:ext cx="7895844"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0"/>
          <p:cNvSpPr txBox="1"/>
          <p:nvPr/>
        </p:nvSpPr>
        <p:spPr>
          <a:xfrm>
            <a:off x="724205" y="9082735"/>
            <a:ext cx="11265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Creator Videos</a:t>
            </a:r>
            <a:endParaRPr b="0" i="0" sz="1100" u="none" cap="none" strike="noStrike">
              <a:solidFill>
                <a:schemeClr val="dk1"/>
              </a:solidFill>
              <a:latin typeface="Calibri"/>
              <a:ea typeface="Calibri"/>
              <a:cs typeface="Calibri"/>
              <a:sym typeface="Calibri"/>
            </a:endParaRPr>
          </a:p>
        </p:txBody>
      </p:sp>
      <p:sp>
        <p:nvSpPr>
          <p:cNvPr id="1845" name="Google Shape;1845;p40"/>
          <p:cNvSpPr txBox="1"/>
          <p:nvPr/>
        </p:nvSpPr>
        <p:spPr>
          <a:xfrm>
            <a:off x="3004718" y="9082735"/>
            <a:ext cx="3456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214</a:t>
            </a:r>
            <a:endParaRPr b="0" i="0" sz="1100" u="none" cap="none" strike="noStrike">
              <a:solidFill>
                <a:schemeClr val="dk1"/>
              </a:solidFill>
              <a:latin typeface="Calibri"/>
              <a:ea typeface="Calibri"/>
              <a:cs typeface="Calibri"/>
              <a:sym typeface="Calibri"/>
            </a:endParaRPr>
          </a:p>
        </p:txBody>
      </p:sp>
      <p:sp>
        <p:nvSpPr>
          <p:cNvPr id="1846" name="Google Shape;1846;p40"/>
          <p:cNvSpPr txBox="1"/>
          <p:nvPr/>
        </p:nvSpPr>
        <p:spPr>
          <a:xfrm>
            <a:off x="3806647" y="9082735"/>
            <a:ext cx="34792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Command 62 / Scotch 68 / 3M Claw 63 / Other 21</a:t>
            </a:r>
            <a:endParaRPr b="0" i="0" sz="1100" u="none" cap="none" strike="noStrike">
              <a:solidFill>
                <a:schemeClr val="dk1"/>
              </a:solidFill>
              <a:latin typeface="Calibri"/>
              <a:ea typeface="Calibri"/>
              <a:cs typeface="Calibri"/>
              <a:sym typeface="Calibri"/>
            </a:endParaRPr>
          </a:p>
        </p:txBody>
      </p:sp>
      <p:sp>
        <p:nvSpPr>
          <p:cNvPr id="1847" name="Google Shape;1847;p40"/>
          <p:cNvSpPr txBox="1"/>
          <p:nvPr/>
        </p:nvSpPr>
        <p:spPr>
          <a:xfrm>
            <a:off x="724205" y="9473184"/>
            <a:ext cx="15078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3M Claw Transcripts</a:t>
            </a:r>
            <a:endParaRPr b="0" i="0" sz="1100" u="none" cap="none" strike="noStrike">
              <a:solidFill>
                <a:schemeClr val="dk1"/>
              </a:solidFill>
              <a:latin typeface="Calibri"/>
              <a:ea typeface="Calibri"/>
              <a:cs typeface="Calibri"/>
              <a:sym typeface="Calibri"/>
            </a:endParaRPr>
          </a:p>
        </p:txBody>
      </p:sp>
      <p:sp>
        <p:nvSpPr>
          <p:cNvPr id="1848" name="Google Shape;1848;p40"/>
          <p:cNvSpPr txBox="1"/>
          <p:nvPr/>
        </p:nvSpPr>
        <p:spPr>
          <a:xfrm>
            <a:off x="3004718" y="9473184"/>
            <a:ext cx="2505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51</a:t>
            </a:r>
            <a:endParaRPr b="0" i="0" sz="1100" u="none" cap="none" strike="noStrike">
              <a:solidFill>
                <a:schemeClr val="dk1"/>
              </a:solidFill>
              <a:latin typeface="Calibri"/>
              <a:ea typeface="Calibri"/>
              <a:cs typeface="Calibri"/>
              <a:sym typeface="Calibri"/>
            </a:endParaRPr>
          </a:p>
        </p:txBody>
      </p:sp>
      <p:sp>
        <p:nvSpPr>
          <p:cNvPr id="1849" name="Google Shape;1849;p40"/>
          <p:cNvSpPr txBox="1"/>
          <p:nvPr/>
        </p:nvSpPr>
        <p:spPr>
          <a:xfrm>
            <a:off x="3806647" y="9473184"/>
            <a:ext cx="32890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Full transcript processing with frame extraction</a:t>
            </a:r>
            <a:endParaRPr b="0" i="0" sz="1100" u="none" cap="none" strike="noStrike">
              <a:solidFill>
                <a:schemeClr val="dk1"/>
              </a:solidFill>
              <a:latin typeface="Calibri"/>
              <a:ea typeface="Calibri"/>
              <a:cs typeface="Calibri"/>
              <a:sym typeface="Calibri"/>
            </a:endParaRPr>
          </a:p>
        </p:txBody>
      </p:sp>
      <p:sp>
        <p:nvSpPr>
          <p:cNvPr id="1850" name="Google Shape;1850;p40"/>
          <p:cNvSpPr txBox="1"/>
          <p:nvPr/>
        </p:nvSpPr>
        <p:spPr>
          <a:xfrm>
            <a:off x="724205" y="9863633"/>
            <a:ext cx="12408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Product Reviews</a:t>
            </a:r>
            <a:endParaRPr b="0" i="0" sz="1100" u="none" cap="none" strike="noStrike">
              <a:solidFill>
                <a:schemeClr val="dk1"/>
              </a:solidFill>
              <a:latin typeface="Calibri"/>
              <a:ea typeface="Calibri"/>
              <a:cs typeface="Calibri"/>
              <a:sym typeface="Calibri"/>
            </a:endParaRPr>
          </a:p>
        </p:txBody>
      </p:sp>
      <p:sp>
        <p:nvSpPr>
          <p:cNvPr id="1851" name="Google Shape;1851;p40"/>
          <p:cNvSpPr txBox="1"/>
          <p:nvPr/>
        </p:nvSpPr>
        <p:spPr>
          <a:xfrm>
            <a:off x="3004718" y="9863633"/>
            <a:ext cx="4315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1,781</a:t>
            </a:r>
            <a:endParaRPr b="0" i="0" sz="1100" u="none" cap="none" strike="noStrike">
              <a:solidFill>
                <a:schemeClr val="dk1"/>
              </a:solidFill>
              <a:latin typeface="Calibri"/>
              <a:ea typeface="Calibri"/>
              <a:cs typeface="Calibri"/>
              <a:sym typeface="Calibri"/>
            </a:endParaRPr>
          </a:p>
        </p:txBody>
      </p:sp>
      <p:sp>
        <p:nvSpPr>
          <p:cNvPr id="1852" name="Google Shape;1852;p40"/>
          <p:cNvSpPr txBox="1"/>
          <p:nvPr/>
        </p:nvSpPr>
        <p:spPr>
          <a:xfrm>
            <a:off x="3806647" y="9863633"/>
            <a:ext cx="54891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Inter"/>
              <a:buNone/>
            </a:pPr>
            <a:r>
              <a:rPr b="0" i="0" lang="en-US" sz="1100" u="none" cap="none" strike="noStrike">
                <a:solidFill>
                  <a:srgbClr val="1F2937"/>
                </a:solidFill>
                <a:latin typeface="Inter"/>
                <a:ea typeface="Inter"/>
                <a:cs typeface="Inter"/>
                <a:sym typeface="Inter"/>
              </a:rPr>
              <a:t>Command 764 / Scotch 496 / 3M Claw 303 / 3M 100 / Navona 91 / Unknown 27</a:t>
            </a:r>
            <a:endParaRPr b="0" i="0" sz="1100" u="none" cap="none" strike="noStrike">
              <a:solidFill>
                <a:schemeClr val="dk1"/>
              </a:solidFill>
              <a:latin typeface="Calibri"/>
              <a:ea typeface="Calibri"/>
              <a:cs typeface="Calibri"/>
              <a:sym typeface="Calibri"/>
            </a:endParaRPr>
          </a:p>
        </p:txBody>
      </p:sp>
      <p:sp>
        <p:nvSpPr>
          <p:cNvPr id="1853" name="Google Shape;1853;p40"/>
          <p:cNvSpPr/>
          <p:nvPr/>
        </p:nvSpPr>
        <p:spPr>
          <a:xfrm>
            <a:off x="609905" y="1097645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0"/>
          <p:cNvSpPr txBox="1"/>
          <p:nvPr/>
        </p:nvSpPr>
        <p:spPr>
          <a:xfrm>
            <a:off x="761695" y="10902391"/>
            <a:ext cx="43150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Python analysis (regex pattern matching, Counter module)</a:t>
            </a:r>
            <a:endParaRPr b="0" i="0" sz="1200" u="none" cap="none" strike="noStrike">
              <a:solidFill>
                <a:schemeClr val="dk1"/>
              </a:solidFill>
              <a:latin typeface="Calibri"/>
              <a:ea typeface="Calibri"/>
              <a:cs typeface="Calibri"/>
              <a:sym typeface="Calibri"/>
            </a:endParaRPr>
          </a:p>
        </p:txBody>
      </p:sp>
      <p:sp>
        <p:nvSpPr>
          <p:cNvPr id="1855" name="Google Shape;1855;p40"/>
          <p:cNvSpPr/>
          <p:nvPr/>
        </p:nvSpPr>
        <p:spPr>
          <a:xfrm>
            <a:off x="609905" y="1129649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0"/>
          <p:cNvSpPr txBox="1"/>
          <p:nvPr/>
        </p:nvSpPr>
        <p:spPr>
          <a:xfrm>
            <a:off x="761695" y="11221517"/>
            <a:ext cx="4286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Whisper medium model for accurate transcript generation</a:t>
            </a:r>
            <a:endParaRPr b="0" i="0" sz="1200" u="none" cap="none" strike="noStrike">
              <a:solidFill>
                <a:schemeClr val="dk1"/>
              </a:solidFill>
              <a:latin typeface="Calibri"/>
              <a:ea typeface="Calibri"/>
              <a:cs typeface="Calibri"/>
              <a:sym typeface="Calibri"/>
            </a:endParaRPr>
          </a:p>
        </p:txBody>
      </p:sp>
      <p:sp>
        <p:nvSpPr>
          <p:cNvPr id="1857" name="Google Shape;1857;p40"/>
          <p:cNvSpPr/>
          <p:nvPr/>
        </p:nvSpPr>
        <p:spPr>
          <a:xfrm>
            <a:off x="6096305" y="1097645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0"/>
          <p:cNvSpPr txBox="1"/>
          <p:nvPr/>
        </p:nvSpPr>
        <p:spPr>
          <a:xfrm>
            <a:off x="6248095" y="10902391"/>
            <a:ext cx="34390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Manual spot-audit of highest-weighted videos</a:t>
            </a:r>
            <a:endParaRPr b="0" i="0" sz="1200" u="none" cap="none" strike="noStrike">
              <a:solidFill>
                <a:schemeClr val="dk1"/>
              </a:solidFill>
              <a:latin typeface="Calibri"/>
              <a:ea typeface="Calibri"/>
              <a:cs typeface="Calibri"/>
              <a:sym typeface="Calibri"/>
            </a:endParaRPr>
          </a:p>
        </p:txBody>
      </p:sp>
      <p:sp>
        <p:nvSpPr>
          <p:cNvPr id="1859" name="Google Shape;1859;p40"/>
          <p:cNvSpPr/>
          <p:nvPr/>
        </p:nvSpPr>
        <p:spPr>
          <a:xfrm>
            <a:off x="6096305" y="11296498"/>
            <a:ext cx="57607" cy="57607"/>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0"/>
          <p:cNvSpPr txBox="1"/>
          <p:nvPr/>
        </p:nvSpPr>
        <p:spPr>
          <a:xfrm>
            <a:off x="6248095" y="11221517"/>
            <a:ext cx="35149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Review validation to confirm keyword accuracy</a:t>
            </a:r>
            <a:endParaRPr b="0" i="0" sz="1200" u="none" cap="none" strike="noStrike">
              <a:solidFill>
                <a:schemeClr val="dk1"/>
              </a:solidFill>
              <a:latin typeface="Calibri"/>
              <a:ea typeface="Calibri"/>
              <a:cs typeface="Calibri"/>
              <a:sym typeface="Calibri"/>
            </a:endParaRPr>
          </a:p>
        </p:txBody>
      </p:sp>
      <p:sp>
        <p:nvSpPr>
          <p:cNvPr id="1861" name="Google Shape;1861;p40"/>
          <p:cNvSpPr txBox="1"/>
          <p:nvPr/>
        </p:nvSpPr>
        <p:spPr>
          <a:xfrm>
            <a:off x="609905" y="11961266"/>
            <a:ext cx="9568282"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 | Sources: phase2_full_analysis.json; processing_log.json + transcripts; product_reviews.json; review_trait_summary.json</a:t>
            </a:r>
            <a:endParaRPr b="0" i="0" sz="1000" u="none" cap="none" strike="noStrike">
              <a:solidFill>
                <a:schemeClr val="dk1"/>
              </a:solidFill>
              <a:latin typeface="Calibri"/>
              <a:ea typeface="Calibri"/>
              <a:cs typeface="Calibri"/>
              <a:sym typeface="Calibri"/>
            </a:endParaRPr>
          </a:p>
        </p:txBody>
      </p:sp>
      <p:sp>
        <p:nvSpPr>
          <p:cNvPr id="1862" name="Google Shape;1862;p40"/>
          <p:cNvSpPr txBox="1"/>
          <p:nvPr/>
        </p:nvSpPr>
        <p:spPr>
          <a:xfrm>
            <a:off x="11417198" y="1206093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41"/>
          <p:cNvSpPr/>
          <p:nvPr/>
        </p:nvSpPr>
        <p:spPr>
          <a:xfrm>
            <a:off x="0" y="0"/>
            <a:ext cx="12191695" cy="82963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1"/>
          <p:cNvSpPr/>
          <p:nvPr/>
        </p:nvSpPr>
        <p:spPr>
          <a:xfrm>
            <a:off x="0" y="0"/>
            <a:ext cx="12191695" cy="829635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1"/>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1"/>
          <p:cNvSpPr txBox="1"/>
          <p:nvPr/>
        </p:nvSpPr>
        <p:spPr>
          <a:xfrm>
            <a:off x="533095" y="780898"/>
            <a:ext cx="806775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Category Feature Overview – Equity vs Category</a:t>
            </a:r>
            <a:endParaRPr b="0" i="0" sz="2700" u="none" cap="none" strike="noStrike">
              <a:solidFill>
                <a:schemeClr val="dk1"/>
              </a:solidFill>
              <a:latin typeface="Calibri"/>
              <a:ea typeface="Calibri"/>
              <a:cs typeface="Calibri"/>
              <a:sym typeface="Calibri"/>
            </a:endParaRPr>
          </a:p>
        </p:txBody>
      </p:sp>
      <p:sp>
        <p:nvSpPr>
          <p:cNvPr id="1872" name="Google Shape;1872;p41"/>
          <p:cNvSpPr txBox="1"/>
          <p:nvPr/>
        </p:nvSpPr>
        <p:spPr>
          <a:xfrm>
            <a:off x="533095" y="1638605"/>
            <a:ext cx="192481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CATEGORY FEATURE SIGNALS</a:t>
            </a:r>
            <a:endParaRPr b="0" i="0" sz="900" u="none" cap="none" strike="noStrike">
              <a:solidFill>
                <a:schemeClr val="dk1"/>
              </a:solidFill>
              <a:latin typeface="Calibri"/>
              <a:ea typeface="Calibri"/>
              <a:cs typeface="Calibri"/>
              <a:sym typeface="Calibri"/>
            </a:endParaRPr>
          </a:p>
        </p:txBody>
      </p:sp>
      <p:sp>
        <p:nvSpPr>
          <p:cNvPr id="1873" name="Google Shape;1873;p41"/>
          <p:cNvSpPr txBox="1"/>
          <p:nvPr/>
        </p:nvSpPr>
        <p:spPr>
          <a:xfrm>
            <a:off x="5330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74" name="Google Shape;1874;p41"/>
          <p:cNvSpPr txBox="1"/>
          <p:nvPr/>
        </p:nvSpPr>
        <p:spPr>
          <a:xfrm>
            <a:off x="747065" y="1904695"/>
            <a:ext cx="4872838"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Table stakes features: Holding Strength (39.8%, avg 3.95), Damage-Free Removal (30.2%, avg 3.77) are most referenced in reviews</a:t>
            </a:r>
            <a:endParaRPr b="0" i="0" sz="1300" u="none" cap="none" strike="noStrike">
              <a:solidFill>
                <a:schemeClr val="dk1"/>
              </a:solidFill>
              <a:latin typeface="Calibri"/>
              <a:ea typeface="Calibri"/>
              <a:cs typeface="Calibri"/>
              <a:sym typeface="Calibri"/>
            </a:endParaRPr>
          </a:p>
        </p:txBody>
      </p:sp>
      <p:sp>
        <p:nvSpPr>
          <p:cNvPr id="1875" name="Google Shape;1875;p41"/>
          <p:cNvSpPr txBox="1"/>
          <p:nvPr/>
        </p:nvSpPr>
        <p:spPr>
          <a:xfrm>
            <a:off x="5330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76" name="Google Shape;1876;p41"/>
          <p:cNvSpPr txBox="1"/>
          <p:nvPr/>
        </p:nvSpPr>
        <p:spPr>
          <a:xfrm>
            <a:off x="747065" y="3033065"/>
            <a:ext cx="4853635"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Key differentiators: Installation Ease (22.6%, avg 4.26), No Tools Needed (9.2%, avg 4.31) drive highest satisfaction</a:t>
            </a:r>
            <a:endParaRPr b="0" i="0" sz="1300" u="none" cap="none" strike="noStrike">
              <a:solidFill>
                <a:schemeClr val="dk1"/>
              </a:solidFill>
              <a:latin typeface="Calibri"/>
              <a:ea typeface="Calibri"/>
              <a:cs typeface="Calibri"/>
              <a:sym typeface="Calibri"/>
            </a:endParaRPr>
          </a:p>
        </p:txBody>
      </p:sp>
      <p:sp>
        <p:nvSpPr>
          <p:cNvPr id="1877" name="Google Shape;1877;p41"/>
          <p:cNvSpPr txBox="1"/>
          <p:nvPr/>
        </p:nvSpPr>
        <p:spPr>
          <a:xfrm>
            <a:off x="533095" y="393374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78" name="Google Shape;1878;p41"/>
          <p:cNvSpPr txBox="1"/>
          <p:nvPr/>
        </p:nvSpPr>
        <p:spPr>
          <a:xfrm>
            <a:off x="747065" y="3886200"/>
            <a:ext cx="4929530"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Secondary drivers: Durability (16.7%, avg 3.78), Versatility (11.5%, avg 3.84), Value (11.2%, avg 3.76) impact long-term satisfaction</a:t>
            </a:r>
            <a:endParaRPr b="0" i="0" sz="1300" u="none" cap="none" strike="noStrike">
              <a:solidFill>
                <a:schemeClr val="dk1"/>
              </a:solidFill>
              <a:latin typeface="Calibri"/>
              <a:ea typeface="Calibri"/>
              <a:cs typeface="Calibri"/>
              <a:sym typeface="Calibri"/>
            </a:endParaRPr>
          </a:p>
        </p:txBody>
      </p:sp>
      <p:sp>
        <p:nvSpPr>
          <p:cNvPr id="1879" name="Google Shape;1879;p41"/>
          <p:cNvSpPr/>
          <p:nvPr/>
        </p:nvSpPr>
        <p:spPr>
          <a:xfrm>
            <a:off x="533095" y="4985309"/>
            <a:ext cx="5181905" cy="2057400"/>
          </a:xfrm>
          <a:prstGeom prst="roundRect">
            <a:avLst>
              <a:gd fmla="val 1235"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1"/>
          <p:cNvSpPr/>
          <p:nvPr/>
        </p:nvSpPr>
        <p:spPr>
          <a:xfrm>
            <a:off x="533095" y="4985309"/>
            <a:ext cx="47549" cy="20574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1"/>
          <p:cNvSpPr txBox="1"/>
          <p:nvPr/>
        </p:nvSpPr>
        <p:spPr>
          <a:xfrm>
            <a:off x="809244" y="5203850"/>
            <a:ext cx="4243730" cy="4672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Creator SOV Analysis: 214 videos analyzed across brands</a:t>
            </a:r>
            <a:endParaRPr b="0" i="0" sz="1300" u="none" cap="none" strike="noStrike">
              <a:solidFill>
                <a:schemeClr val="dk1"/>
              </a:solidFill>
              <a:latin typeface="Calibri"/>
              <a:ea typeface="Calibri"/>
              <a:cs typeface="Calibri"/>
              <a:sym typeface="Calibri"/>
            </a:endParaRPr>
          </a:p>
        </p:txBody>
      </p:sp>
      <p:sp>
        <p:nvSpPr>
          <p:cNvPr id="1882" name="Google Shape;1882;p41"/>
          <p:cNvSpPr txBox="1"/>
          <p:nvPr/>
        </p:nvSpPr>
        <p:spPr>
          <a:xfrm>
            <a:off x="809244" y="5804611"/>
            <a:ext cx="33531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3M Claw dominates heavy-weight discourse</a:t>
            </a:r>
            <a:endParaRPr b="0" i="0" sz="1200" u="none" cap="none" strike="noStrike">
              <a:solidFill>
                <a:schemeClr val="dk1"/>
              </a:solidFill>
              <a:latin typeface="Calibri"/>
              <a:ea typeface="Calibri"/>
              <a:cs typeface="Calibri"/>
              <a:sym typeface="Calibri"/>
            </a:endParaRPr>
          </a:p>
        </p:txBody>
      </p:sp>
      <p:sp>
        <p:nvSpPr>
          <p:cNvPr id="1883" name="Google Shape;1883;p41"/>
          <p:cNvSpPr txBox="1"/>
          <p:nvPr/>
        </p:nvSpPr>
        <p:spPr>
          <a:xfrm>
            <a:off x="809244" y="6109106"/>
            <a:ext cx="34482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Command owns rental/damage-free narrative</a:t>
            </a:r>
            <a:endParaRPr b="0" i="0" sz="1200" u="none" cap="none" strike="noStrike">
              <a:solidFill>
                <a:schemeClr val="dk1"/>
              </a:solidFill>
              <a:latin typeface="Calibri"/>
              <a:ea typeface="Calibri"/>
              <a:cs typeface="Calibri"/>
              <a:sym typeface="Calibri"/>
            </a:endParaRPr>
          </a:p>
        </p:txBody>
      </p:sp>
      <p:sp>
        <p:nvSpPr>
          <p:cNvPr id="1884" name="Google Shape;1884;p41"/>
          <p:cNvSpPr txBox="1"/>
          <p:nvPr/>
        </p:nvSpPr>
        <p:spPr>
          <a:xfrm>
            <a:off x="809244" y="6413602"/>
            <a:ext cx="3877056"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Scotch has strong advocacy but temperature/rating weaknesses</a:t>
            </a:r>
            <a:endParaRPr b="0" i="0" sz="1200" u="none" cap="none" strike="noStrike">
              <a:solidFill>
                <a:schemeClr val="dk1"/>
              </a:solidFill>
              <a:latin typeface="Calibri"/>
              <a:ea typeface="Calibri"/>
              <a:cs typeface="Calibri"/>
              <a:sym typeface="Calibri"/>
            </a:endParaRPr>
          </a:p>
        </p:txBody>
      </p:sp>
      <p:sp>
        <p:nvSpPr>
          <p:cNvPr id="1885" name="Google Shape;1885;p41"/>
          <p:cNvSpPr txBox="1"/>
          <p:nvPr/>
        </p:nvSpPr>
        <p:spPr>
          <a:xfrm>
            <a:off x="6476695" y="1638605"/>
            <a:ext cx="2781605"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IMPLICATIONS FOR GARAGE ORGANIZATION</a:t>
            </a:r>
            <a:endParaRPr b="0" i="0" sz="900" u="none" cap="none" strike="noStrike">
              <a:solidFill>
                <a:schemeClr val="dk1"/>
              </a:solidFill>
              <a:latin typeface="Calibri"/>
              <a:ea typeface="Calibri"/>
              <a:cs typeface="Calibri"/>
              <a:sym typeface="Calibri"/>
            </a:endParaRPr>
          </a:p>
        </p:txBody>
      </p:sp>
      <p:sp>
        <p:nvSpPr>
          <p:cNvPr id="1886" name="Google Shape;1886;p41"/>
          <p:cNvSpPr txBox="1"/>
          <p:nvPr/>
        </p:nvSpPr>
        <p:spPr>
          <a:xfrm>
            <a:off x="6476695" y="195224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87" name="Google Shape;1887;p41"/>
          <p:cNvSpPr txBox="1"/>
          <p:nvPr/>
        </p:nvSpPr>
        <p:spPr>
          <a:xfrm>
            <a:off x="6690665" y="1904695"/>
            <a:ext cx="4815230"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Build on foundational expectations: Promise strength + no wall damage as baseline requirements; substantiate with specific substrate guidance for garage walls</a:t>
            </a:r>
            <a:endParaRPr b="0" i="0" sz="1300" u="none" cap="none" strike="noStrike">
              <a:solidFill>
                <a:schemeClr val="dk1"/>
              </a:solidFill>
              <a:latin typeface="Calibri"/>
              <a:ea typeface="Calibri"/>
              <a:cs typeface="Calibri"/>
              <a:sym typeface="Calibri"/>
            </a:endParaRPr>
          </a:p>
        </p:txBody>
      </p:sp>
      <p:sp>
        <p:nvSpPr>
          <p:cNvPr id="1888" name="Google Shape;1888;p41"/>
          <p:cNvSpPr txBox="1"/>
          <p:nvPr/>
        </p:nvSpPr>
        <p:spPr>
          <a:xfrm>
            <a:off x="6476695" y="3080614"/>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89" name="Google Shape;1889;p41"/>
          <p:cNvSpPr txBox="1"/>
          <p:nvPr/>
        </p:nvSpPr>
        <p:spPr>
          <a:xfrm>
            <a:off x="6690665" y="3033065"/>
            <a:ext cx="4929530"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Win through installation experience: Tool-free or guided installation processes significantly reduce failure narratives and customer frustration</a:t>
            </a:r>
            <a:endParaRPr b="0" i="0" sz="1300" u="none" cap="none" strike="noStrike">
              <a:solidFill>
                <a:schemeClr val="dk1"/>
              </a:solidFill>
              <a:latin typeface="Calibri"/>
              <a:ea typeface="Calibri"/>
              <a:cs typeface="Calibri"/>
              <a:sym typeface="Calibri"/>
            </a:endParaRPr>
          </a:p>
        </p:txBody>
      </p:sp>
      <p:sp>
        <p:nvSpPr>
          <p:cNvPr id="1890" name="Google Shape;1890;p41"/>
          <p:cNvSpPr txBox="1"/>
          <p:nvPr/>
        </p:nvSpPr>
        <p:spPr>
          <a:xfrm>
            <a:off x="6476695" y="420806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1891" name="Google Shape;1891;p41"/>
          <p:cNvSpPr txBox="1"/>
          <p:nvPr/>
        </p:nvSpPr>
        <p:spPr>
          <a:xfrm>
            <a:off x="6690665" y="4160520"/>
            <a:ext cx="4825289" cy="7525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Enable platform expansion: Durable, repeatable system messaging supports the 3.2x LTV opportunity identified in consumer behavior analysis</a:t>
            </a:r>
            <a:endParaRPr b="0" i="0" sz="1300" u="none" cap="none" strike="noStrike">
              <a:solidFill>
                <a:schemeClr val="dk1"/>
              </a:solidFill>
              <a:latin typeface="Calibri"/>
              <a:ea typeface="Calibri"/>
              <a:cs typeface="Calibri"/>
              <a:sym typeface="Calibri"/>
            </a:endParaRPr>
          </a:p>
        </p:txBody>
      </p:sp>
      <p:sp>
        <p:nvSpPr>
          <p:cNvPr id="1892" name="Google Shape;1892;p41"/>
          <p:cNvSpPr/>
          <p:nvPr/>
        </p:nvSpPr>
        <p:spPr>
          <a:xfrm>
            <a:off x="6476695" y="5259629"/>
            <a:ext cx="5181905" cy="1714500"/>
          </a:xfrm>
          <a:prstGeom prst="roundRect">
            <a:avLst>
              <a:gd fmla="val 1778"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1"/>
          <p:cNvSpPr/>
          <p:nvPr/>
        </p:nvSpPr>
        <p:spPr>
          <a:xfrm>
            <a:off x="6476695" y="5259629"/>
            <a:ext cx="47549" cy="17145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1"/>
          <p:cNvSpPr txBox="1"/>
          <p:nvPr/>
        </p:nvSpPr>
        <p:spPr>
          <a:xfrm>
            <a:off x="6752844" y="5478170"/>
            <a:ext cx="25292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0" i="0" lang="en-US" sz="1300" u="none" cap="none" strike="noStrike">
                <a:solidFill>
                  <a:srgbClr val="111827"/>
                </a:solidFill>
                <a:latin typeface="Inter"/>
                <a:ea typeface="Inter"/>
                <a:cs typeface="Inter"/>
                <a:sym typeface="Inter"/>
              </a:rPr>
              <a:t>Category Purchase Behavior:</a:t>
            </a:r>
            <a:endParaRPr b="0" i="0" sz="1300" u="none" cap="none" strike="noStrike">
              <a:solidFill>
                <a:schemeClr val="dk1"/>
              </a:solidFill>
              <a:latin typeface="Calibri"/>
              <a:ea typeface="Calibri"/>
              <a:cs typeface="Calibri"/>
              <a:sym typeface="Calibri"/>
            </a:endParaRPr>
          </a:p>
        </p:txBody>
      </p:sp>
      <p:sp>
        <p:nvSpPr>
          <p:cNvPr id="1895" name="Google Shape;1895;p41"/>
          <p:cNvSpPr txBox="1"/>
          <p:nvPr/>
        </p:nvSpPr>
        <p:spPr>
          <a:xfrm>
            <a:off x="6752844" y="5811926"/>
            <a:ext cx="436260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Strength and damage-free claims attract initial interest but represent table stakes in the category</a:t>
            </a:r>
            <a:endParaRPr b="0" i="0" sz="1200" u="none" cap="none" strike="noStrike">
              <a:solidFill>
                <a:schemeClr val="dk1"/>
              </a:solidFill>
              <a:latin typeface="Calibri"/>
              <a:ea typeface="Calibri"/>
              <a:cs typeface="Calibri"/>
              <a:sym typeface="Calibri"/>
            </a:endParaRPr>
          </a:p>
        </p:txBody>
      </p:sp>
      <p:sp>
        <p:nvSpPr>
          <p:cNvPr id="1896" name="Google Shape;1896;p41"/>
          <p:cNvSpPr txBox="1"/>
          <p:nvPr/>
        </p:nvSpPr>
        <p:spPr>
          <a:xfrm>
            <a:off x="6752844" y="6345022"/>
            <a:ext cx="45153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Installation ease and tool-free solutions drive highest delight and advocacy — critical to owning the garage wall</a:t>
            </a:r>
            <a:endParaRPr b="0" i="0" sz="1200" u="none" cap="none" strike="noStrike">
              <a:solidFill>
                <a:schemeClr val="dk1"/>
              </a:solidFill>
              <a:latin typeface="Calibri"/>
              <a:ea typeface="Calibri"/>
              <a:cs typeface="Calibri"/>
              <a:sym typeface="Calibri"/>
            </a:endParaRPr>
          </a:p>
        </p:txBody>
      </p:sp>
      <p:sp>
        <p:nvSpPr>
          <p:cNvPr id="1897" name="Google Shape;1897;p41"/>
          <p:cNvSpPr txBox="1"/>
          <p:nvPr/>
        </p:nvSpPr>
        <p:spPr>
          <a:xfrm>
            <a:off x="533095" y="7471562"/>
            <a:ext cx="602772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Phase 2 Brand Perception Analysis (n=214 creator videos); Amazon review analysis (n=1,781)</a:t>
            </a:r>
            <a:endParaRPr b="0" i="0" sz="900" u="none" cap="none" strike="noStrike">
              <a:solidFill>
                <a:schemeClr val="dk1"/>
              </a:solidFill>
              <a:latin typeface="Calibri"/>
              <a:ea typeface="Calibri"/>
              <a:cs typeface="Calibri"/>
              <a:sym typeface="Calibri"/>
            </a:endParaRPr>
          </a:p>
        </p:txBody>
      </p:sp>
      <p:sp>
        <p:nvSpPr>
          <p:cNvPr id="1898" name="Google Shape;1898;p41"/>
          <p:cNvSpPr txBox="1"/>
          <p:nvPr/>
        </p:nvSpPr>
        <p:spPr>
          <a:xfrm>
            <a:off x="533095" y="7885786"/>
            <a:ext cx="8446313"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 | Nov 2025 | Sources: phase2_full_analysis.json; product_reviews.json; review_trait_summary.json</a:t>
            </a:r>
            <a:endParaRPr b="0" i="0" sz="900" u="none" cap="none" strike="noStrike">
              <a:solidFill>
                <a:schemeClr val="dk1"/>
              </a:solidFill>
              <a:latin typeface="Calibri"/>
              <a:ea typeface="Calibri"/>
              <a:cs typeface="Calibri"/>
              <a:sym typeface="Calibri"/>
            </a:endParaRPr>
          </a:p>
        </p:txBody>
      </p:sp>
      <p:sp>
        <p:nvSpPr>
          <p:cNvPr id="1899" name="Google Shape;1899;p41"/>
          <p:cNvSpPr txBox="1"/>
          <p:nvPr/>
        </p:nvSpPr>
        <p:spPr>
          <a:xfrm>
            <a:off x="11504981" y="7885786"/>
            <a:ext cx="2551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42"/>
          <p:cNvSpPr/>
          <p:nvPr/>
        </p:nvSpPr>
        <p:spPr>
          <a:xfrm>
            <a:off x="0" y="0"/>
            <a:ext cx="12191695" cy="10753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2"/>
          <p:cNvSpPr/>
          <p:nvPr/>
        </p:nvSpPr>
        <p:spPr>
          <a:xfrm>
            <a:off x="0" y="0"/>
            <a:ext cx="12191695" cy="10753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2"/>
          <p:cNvSpPr/>
          <p:nvPr/>
        </p:nvSpPr>
        <p:spPr>
          <a:xfrm>
            <a:off x="609905" y="457200"/>
            <a:ext cx="571500" cy="38405"/>
          </a:xfrm>
          <a:prstGeom prst="rect">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2"/>
          <p:cNvSpPr txBox="1"/>
          <p:nvPr/>
        </p:nvSpPr>
        <p:spPr>
          <a:xfrm>
            <a:off x="609905" y="685800"/>
            <a:ext cx="6067958"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Category Trait Importance (Reviews)</a:t>
            </a:r>
            <a:endParaRPr b="0" i="0" sz="2400" u="none" cap="none" strike="noStrike">
              <a:solidFill>
                <a:schemeClr val="dk1"/>
              </a:solidFill>
              <a:latin typeface="Calibri"/>
              <a:ea typeface="Calibri"/>
              <a:cs typeface="Calibri"/>
              <a:sym typeface="Calibri"/>
            </a:endParaRPr>
          </a:p>
        </p:txBody>
      </p:sp>
      <p:sp>
        <p:nvSpPr>
          <p:cNvPr id="1909" name="Google Shape;1909;p42"/>
          <p:cNvSpPr txBox="1"/>
          <p:nvPr/>
        </p:nvSpPr>
        <p:spPr>
          <a:xfrm>
            <a:off x="609905" y="1218895"/>
            <a:ext cx="5910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Analysis of 1,781 Amazon reviews tagged for seven trait clusters via keyword mining</a:t>
            </a:r>
            <a:endParaRPr b="0" i="0" sz="1000" u="none" cap="none" strike="noStrike">
              <a:solidFill>
                <a:schemeClr val="dk1"/>
              </a:solidFill>
              <a:latin typeface="Calibri"/>
              <a:ea typeface="Calibri"/>
              <a:cs typeface="Calibri"/>
              <a:sym typeface="Calibri"/>
            </a:endParaRPr>
          </a:p>
        </p:txBody>
      </p:sp>
      <p:pic>
        <p:nvPicPr>
          <p:cNvPr descr="preencoded.png" id="1910" name="Google Shape;1910;p42"/>
          <p:cNvPicPr preferRelativeResize="0"/>
          <p:nvPr/>
        </p:nvPicPr>
        <p:blipFill rotWithShape="1">
          <a:blip r:embed="rId3">
            <a:alphaModFix/>
          </a:blip>
          <a:srcRect b="0" l="-5" r="-4" t="0"/>
          <a:stretch/>
        </p:blipFill>
        <p:spPr>
          <a:xfrm>
            <a:off x="609905" y="1705356"/>
            <a:ext cx="10972800" cy="3047695"/>
          </a:xfrm>
          <a:prstGeom prst="rect">
            <a:avLst/>
          </a:prstGeom>
          <a:noFill/>
          <a:ln>
            <a:noFill/>
          </a:ln>
        </p:spPr>
      </p:pic>
      <p:sp>
        <p:nvSpPr>
          <p:cNvPr id="1911" name="Google Shape;1911;p42"/>
          <p:cNvSpPr/>
          <p:nvPr/>
        </p:nvSpPr>
        <p:spPr>
          <a:xfrm>
            <a:off x="609905" y="5057546"/>
            <a:ext cx="10972800" cy="3857854"/>
          </a:xfrm>
          <a:prstGeom prst="roundRect">
            <a:avLst>
              <a:gd fmla="val 46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2"/>
          <p:cNvSpPr/>
          <p:nvPr/>
        </p:nvSpPr>
        <p:spPr>
          <a:xfrm>
            <a:off x="619049" y="5067605"/>
            <a:ext cx="10953598" cy="685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2"/>
          <p:cNvSpPr/>
          <p:nvPr/>
        </p:nvSpPr>
        <p:spPr>
          <a:xfrm>
            <a:off x="619049" y="57442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42"/>
          <p:cNvSpPr/>
          <p:nvPr/>
        </p:nvSpPr>
        <p:spPr>
          <a:xfrm>
            <a:off x="619049" y="5747918"/>
            <a:ext cx="10953598"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42"/>
          <p:cNvSpPr/>
          <p:nvPr/>
        </p:nvSpPr>
        <p:spPr>
          <a:xfrm>
            <a:off x="619049" y="619597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42"/>
          <p:cNvSpPr/>
          <p:nvPr/>
        </p:nvSpPr>
        <p:spPr>
          <a:xfrm>
            <a:off x="619049" y="6200546"/>
            <a:ext cx="10953598" cy="4572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42"/>
          <p:cNvSpPr/>
          <p:nvPr/>
        </p:nvSpPr>
        <p:spPr>
          <a:xfrm>
            <a:off x="619049" y="664860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42"/>
          <p:cNvSpPr/>
          <p:nvPr/>
        </p:nvSpPr>
        <p:spPr>
          <a:xfrm>
            <a:off x="619049" y="6653174"/>
            <a:ext cx="10953598"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2"/>
          <p:cNvSpPr/>
          <p:nvPr/>
        </p:nvSpPr>
        <p:spPr>
          <a:xfrm>
            <a:off x="619049" y="710123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2"/>
          <p:cNvSpPr/>
          <p:nvPr/>
        </p:nvSpPr>
        <p:spPr>
          <a:xfrm>
            <a:off x="619049" y="7105802"/>
            <a:ext cx="10953598" cy="4572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2"/>
          <p:cNvSpPr/>
          <p:nvPr/>
        </p:nvSpPr>
        <p:spPr>
          <a:xfrm>
            <a:off x="619049" y="755385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2"/>
          <p:cNvSpPr/>
          <p:nvPr/>
        </p:nvSpPr>
        <p:spPr>
          <a:xfrm>
            <a:off x="619049" y="7558430"/>
            <a:ext cx="10953598"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42"/>
          <p:cNvSpPr/>
          <p:nvPr/>
        </p:nvSpPr>
        <p:spPr>
          <a:xfrm>
            <a:off x="619049" y="800648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2"/>
          <p:cNvSpPr/>
          <p:nvPr/>
        </p:nvSpPr>
        <p:spPr>
          <a:xfrm>
            <a:off x="619049" y="8010144"/>
            <a:ext cx="10953598" cy="457200"/>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2"/>
          <p:cNvSpPr/>
          <p:nvPr/>
        </p:nvSpPr>
        <p:spPr>
          <a:xfrm>
            <a:off x="619049" y="845820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2"/>
          <p:cNvSpPr/>
          <p:nvPr/>
        </p:nvSpPr>
        <p:spPr>
          <a:xfrm>
            <a:off x="619049" y="8462772"/>
            <a:ext cx="10953598" cy="4480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2"/>
          <p:cNvSpPr txBox="1"/>
          <p:nvPr/>
        </p:nvSpPr>
        <p:spPr>
          <a:xfrm>
            <a:off x="923544" y="5305349"/>
            <a:ext cx="4407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Montserrat"/>
              <a:buNone/>
            </a:pPr>
            <a:r>
              <a:rPr b="1" i="0" lang="en-US" sz="1100" u="none" cap="none" strike="noStrike">
                <a:solidFill>
                  <a:srgbClr val="111827"/>
                </a:solidFill>
                <a:latin typeface="Montserrat"/>
                <a:ea typeface="Montserrat"/>
                <a:cs typeface="Montserrat"/>
                <a:sym typeface="Montserrat"/>
              </a:rPr>
              <a:t>Trait</a:t>
            </a:r>
            <a:endParaRPr b="0" i="0" sz="1100" u="none" cap="none" strike="noStrike">
              <a:solidFill>
                <a:schemeClr val="dk1"/>
              </a:solidFill>
              <a:latin typeface="Calibri"/>
              <a:ea typeface="Calibri"/>
              <a:cs typeface="Calibri"/>
              <a:sym typeface="Calibri"/>
            </a:endParaRPr>
          </a:p>
        </p:txBody>
      </p:sp>
      <p:sp>
        <p:nvSpPr>
          <p:cNvPr id="1928" name="Google Shape;1928;p42"/>
          <p:cNvSpPr txBox="1"/>
          <p:nvPr/>
        </p:nvSpPr>
        <p:spPr>
          <a:xfrm>
            <a:off x="771754" y="5872277"/>
            <a:ext cx="12792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Holding Strength</a:t>
            </a:r>
            <a:endParaRPr b="0" i="0" sz="1100" u="none" cap="none" strike="noStrike">
              <a:solidFill>
                <a:schemeClr val="dk1"/>
              </a:solidFill>
              <a:latin typeface="Calibri"/>
              <a:ea typeface="Calibri"/>
              <a:cs typeface="Calibri"/>
              <a:sym typeface="Calibri"/>
            </a:endParaRPr>
          </a:p>
        </p:txBody>
      </p:sp>
      <p:sp>
        <p:nvSpPr>
          <p:cNvPr id="1929" name="Google Shape;1929;p42"/>
          <p:cNvSpPr txBox="1"/>
          <p:nvPr/>
        </p:nvSpPr>
        <p:spPr>
          <a:xfrm>
            <a:off x="771754" y="6324905"/>
            <a:ext cx="16788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Damage-Free Removal</a:t>
            </a:r>
            <a:endParaRPr b="0" i="0" sz="1100" u="none" cap="none" strike="noStrike">
              <a:solidFill>
                <a:schemeClr val="dk1"/>
              </a:solidFill>
              <a:latin typeface="Calibri"/>
              <a:ea typeface="Calibri"/>
              <a:cs typeface="Calibri"/>
              <a:sym typeface="Calibri"/>
            </a:endParaRPr>
          </a:p>
        </p:txBody>
      </p:sp>
      <p:sp>
        <p:nvSpPr>
          <p:cNvPr id="1930" name="Google Shape;1930;p42"/>
          <p:cNvSpPr txBox="1"/>
          <p:nvPr/>
        </p:nvSpPr>
        <p:spPr>
          <a:xfrm>
            <a:off x="771754" y="6776618"/>
            <a:ext cx="12408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Installation Ease</a:t>
            </a:r>
            <a:endParaRPr b="0" i="0" sz="1100" u="none" cap="none" strike="noStrike">
              <a:solidFill>
                <a:schemeClr val="dk1"/>
              </a:solidFill>
              <a:latin typeface="Calibri"/>
              <a:ea typeface="Calibri"/>
              <a:cs typeface="Calibri"/>
              <a:sym typeface="Calibri"/>
            </a:endParaRPr>
          </a:p>
        </p:txBody>
      </p:sp>
      <p:sp>
        <p:nvSpPr>
          <p:cNvPr id="1931" name="Google Shape;1931;p42"/>
          <p:cNvSpPr txBox="1"/>
          <p:nvPr/>
        </p:nvSpPr>
        <p:spPr>
          <a:xfrm>
            <a:off x="771754" y="7229246"/>
            <a:ext cx="7836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Durability</a:t>
            </a:r>
            <a:endParaRPr b="0" i="0" sz="1100" u="none" cap="none" strike="noStrike">
              <a:solidFill>
                <a:schemeClr val="dk1"/>
              </a:solidFill>
              <a:latin typeface="Calibri"/>
              <a:ea typeface="Calibri"/>
              <a:cs typeface="Calibri"/>
              <a:sym typeface="Calibri"/>
            </a:endParaRPr>
          </a:p>
        </p:txBody>
      </p:sp>
      <p:sp>
        <p:nvSpPr>
          <p:cNvPr id="1932" name="Google Shape;1932;p42"/>
          <p:cNvSpPr txBox="1"/>
          <p:nvPr/>
        </p:nvSpPr>
        <p:spPr>
          <a:xfrm>
            <a:off x="771754" y="7681874"/>
            <a:ext cx="8129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Versatility</a:t>
            </a:r>
            <a:endParaRPr b="0" i="0" sz="1100" u="none" cap="none" strike="noStrike">
              <a:solidFill>
                <a:schemeClr val="dk1"/>
              </a:solidFill>
              <a:latin typeface="Calibri"/>
              <a:ea typeface="Calibri"/>
              <a:cs typeface="Calibri"/>
              <a:sym typeface="Calibri"/>
            </a:endParaRPr>
          </a:p>
        </p:txBody>
      </p:sp>
      <p:sp>
        <p:nvSpPr>
          <p:cNvPr id="1933" name="Google Shape;1933;p42"/>
          <p:cNvSpPr txBox="1"/>
          <p:nvPr/>
        </p:nvSpPr>
        <p:spPr>
          <a:xfrm>
            <a:off x="771754" y="8134502"/>
            <a:ext cx="49834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Value</a:t>
            </a:r>
            <a:endParaRPr b="0" i="0" sz="1100" u="none" cap="none" strike="noStrike">
              <a:solidFill>
                <a:schemeClr val="dk1"/>
              </a:solidFill>
              <a:latin typeface="Calibri"/>
              <a:ea typeface="Calibri"/>
              <a:cs typeface="Calibri"/>
              <a:sym typeface="Calibri"/>
            </a:endParaRPr>
          </a:p>
        </p:txBody>
      </p:sp>
      <p:sp>
        <p:nvSpPr>
          <p:cNvPr id="1934" name="Google Shape;1934;p42"/>
          <p:cNvSpPr txBox="1"/>
          <p:nvPr/>
        </p:nvSpPr>
        <p:spPr>
          <a:xfrm>
            <a:off x="771754" y="8587130"/>
            <a:ext cx="12883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No Tools Needed</a:t>
            </a:r>
            <a:endParaRPr b="0" i="0" sz="1100" u="none" cap="none" strike="noStrike">
              <a:solidFill>
                <a:schemeClr val="dk1"/>
              </a:solidFill>
              <a:latin typeface="Calibri"/>
              <a:ea typeface="Calibri"/>
              <a:cs typeface="Calibri"/>
              <a:sym typeface="Calibri"/>
            </a:endParaRPr>
          </a:p>
        </p:txBody>
      </p:sp>
      <p:sp>
        <p:nvSpPr>
          <p:cNvPr id="1935" name="Google Shape;1935;p42"/>
          <p:cNvSpPr txBox="1"/>
          <p:nvPr/>
        </p:nvSpPr>
        <p:spPr>
          <a:xfrm>
            <a:off x="5437937" y="5305349"/>
            <a:ext cx="153619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a:buNone/>
            </a:pPr>
            <a:r>
              <a:rPr b="1" i="0" lang="en-US" sz="1100" u="none" cap="none" strike="noStrike">
                <a:solidFill>
                  <a:srgbClr val="FFFFFF"/>
                </a:solidFill>
                <a:latin typeface="Montserrat"/>
                <a:ea typeface="Montserrat"/>
                <a:cs typeface="Montserrat"/>
                <a:sym typeface="Montserrat"/>
              </a:rPr>
              <a:t>Category Coverage</a:t>
            </a:r>
            <a:endParaRPr b="0" i="0" sz="1100" u="none" cap="none" strike="noStrike">
              <a:solidFill>
                <a:schemeClr val="dk1"/>
              </a:solidFill>
              <a:latin typeface="Calibri"/>
              <a:ea typeface="Calibri"/>
              <a:cs typeface="Calibri"/>
              <a:sym typeface="Calibri"/>
            </a:endParaRPr>
          </a:p>
        </p:txBody>
      </p:sp>
      <p:sp>
        <p:nvSpPr>
          <p:cNvPr id="1936" name="Google Shape;1936;p42"/>
          <p:cNvSpPr txBox="1"/>
          <p:nvPr/>
        </p:nvSpPr>
        <p:spPr>
          <a:xfrm>
            <a:off x="5930798" y="6776618"/>
            <a:ext cx="555041"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22.6%</a:t>
            </a:r>
            <a:endParaRPr b="0" i="0" sz="1100" u="none" cap="none" strike="noStrike">
              <a:solidFill>
                <a:schemeClr val="dk1"/>
              </a:solidFill>
              <a:latin typeface="Calibri"/>
              <a:ea typeface="Calibri"/>
              <a:cs typeface="Calibri"/>
              <a:sym typeface="Calibri"/>
            </a:endParaRPr>
          </a:p>
        </p:txBody>
      </p:sp>
      <p:sp>
        <p:nvSpPr>
          <p:cNvPr id="1937" name="Google Shape;1937;p42"/>
          <p:cNvSpPr txBox="1"/>
          <p:nvPr/>
        </p:nvSpPr>
        <p:spPr>
          <a:xfrm>
            <a:off x="5950001" y="7229246"/>
            <a:ext cx="5175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16.7%</a:t>
            </a:r>
            <a:endParaRPr b="0" i="0" sz="1100" u="none" cap="none" strike="noStrike">
              <a:solidFill>
                <a:schemeClr val="dk1"/>
              </a:solidFill>
              <a:latin typeface="Calibri"/>
              <a:ea typeface="Calibri"/>
              <a:cs typeface="Calibri"/>
              <a:sym typeface="Calibri"/>
            </a:endParaRPr>
          </a:p>
        </p:txBody>
      </p:sp>
      <p:sp>
        <p:nvSpPr>
          <p:cNvPr id="1938" name="Google Shape;1938;p42"/>
          <p:cNvSpPr txBox="1"/>
          <p:nvPr/>
        </p:nvSpPr>
        <p:spPr>
          <a:xfrm>
            <a:off x="5960059" y="7681874"/>
            <a:ext cx="48829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11.5%</a:t>
            </a:r>
            <a:endParaRPr b="0" i="0" sz="1100" u="none" cap="none" strike="noStrike">
              <a:solidFill>
                <a:schemeClr val="dk1"/>
              </a:solidFill>
              <a:latin typeface="Calibri"/>
              <a:ea typeface="Calibri"/>
              <a:cs typeface="Calibri"/>
              <a:sym typeface="Calibri"/>
            </a:endParaRPr>
          </a:p>
        </p:txBody>
      </p:sp>
      <p:sp>
        <p:nvSpPr>
          <p:cNvPr id="1939" name="Google Shape;1939;p42"/>
          <p:cNvSpPr txBox="1"/>
          <p:nvPr/>
        </p:nvSpPr>
        <p:spPr>
          <a:xfrm>
            <a:off x="5958230" y="8134502"/>
            <a:ext cx="49834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11.2%</a:t>
            </a:r>
            <a:endParaRPr b="0" i="0" sz="1100" u="none" cap="none" strike="noStrike">
              <a:solidFill>
                <a:schemeClr val="dk1"/>
              </a:solidFill>
              <a:latin typeface="Calibri"/>
              <a:ea typeface="Calibri"/>
              <a:cs typeface="Calibri"/>
              <a:sym typeface="Calibri"/>
            </a:endParaRPr>
          </a:p>
        </p:txBody>
      </p:sp>
      <p:sp>
        <p:nvSpPr>
          <p:cNvPr id="1940" name="Google Shape;1940;p42"/>
          <p:cNvSpPr txBox="1"/>
          <p:nvPr/>
        </p:nvSpPr>
        <p:spPr>
          <a:xfrm>
            <a:off x="5973775" y="8587130"/>
            <a:ext cx="47000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9.2%</a:t>
            </a:r>
            <a:endParaRPr b="0" i="0" sz="1100" u="none" cap="none" strike="noStrike">
              <a:solidFill>
                <a:schemeClr val="dk1"/>
              </a:solidFill>
              <a:latin typeface="Calibri"/>
              <a:ea typeface="Calibri"/>
              <a:cs typeface="Calibri"/>
              <a:sym typeface="Calibri"/>
            </a:endParaRPr>
          </a:p>
        </p:txBody>
      </p:sp>
      <p:sp>
        <p:nvSpPr>
          <p:cNvPr id="1941" name="Google Shape;1941;p42"/>
          <p:cNvSpPr txBox="1"/>
          <p:nvPr/>
        </p:nvSpPr>
        <p:spPr>
          <a:xfrm>
            <a:off x="8534095" y="5305349"/>
            <a:ext cx="2374697"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a:buNone/>
            </a:pPr>
            <a:r>
              <a:rPr b="1" i="0" lang="en-US" sz="1100" u="none" cap="none" strike="noStrike">
                <a:solidFill>
                  <a:srgbClr val="FFFFFF"/>
                </a:solidFill>
                <a:latin typeface="Montserrat"/>
                <a:ea typeface="Montserrat"/>
                <a:cs typeface="Montserrat"/>
                <a:sym typeface="Montserrat"/>
              </a:rPr>
              <a:t>Avg Rating (when mentioned)</a:t>
            </a:r>
            <a:endParaRPr b="0" i="0" sz="1100" u="none" cap="none" strike="noStrike">
              <a:solidFill>
                <a:schemeClr val="dk1"/>
              </a:solidFill>
              <a:latin typeface="Calibri"/>
              <a:ea typeface="Calibri"/>
              <a:cs typeface="Calibri"/>
              <a:sym typeface="Calibri"/>
            </a:endParaRPr>
          </a:p>
        </p:txBody>
      </p:sp>
      <p:sp>
        <p:nvSpPr>
          <p:cNvPr id="1942" name="Google Shape;1942;p42"/>
          <p:cNvSpPr txBox="1"/>
          <p:nvPr/>
        </p:nvSpPr>
        <p:spPr>
          <a:xfrm>
            <a:off x="9615830" y="5872277"/>
            <a:ext cx="412394"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3.95</a:t>
            </a:r>
            <a:endParaRPr b="0" i="0" sz="1100" u="none" cap="none" strike="noStrike">
              <a:solidFill>
                <a:schemeClr val="dk1"/>
              </a:solidFill>
              <a:latin typeface="Calibri"/>
              <a:ea typeface="Calibri"/>
              <a:cs typeface="Calibri"/>
              <a:sym typeface="Calibri"/>
            </a:endParaRPr>
          </a:p>
        </p:txBody>
      </p:sp>
      <p:sp>
        <p:nvSpPr>
          <p:cNvPr id="1943" name="Google Shape;1943;p42"/>
          <p:cNvSpPr txBox="1"/>
          <p:nvPr/>
        </p:nvSpPr>
        <p:spPr>
          <a:xfrm>
            <a:off x="9621317" y="6324905"/>
            <a:ext cx="4032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3.77</a:t>
            </a:r>
            <a:endParaRPr b="0" i="0" sz="1100" u="none" cap="none" strike="noStrike">
              <a:solidFill>
                <a:schemeClr val="dk1"/>
              </a:solidFill>
              <a:latin typeface="Calibri"/>
              <a:ea typeface="Calibri"/>
              <a:cs typeface="Calibri"/>
              <a:sym typeface="Calibri"/>
            </a:endParaRPr>
          </a:p>
        </p:txBody>
      </p:sp>
      <p:sp>
        <p:nvSpPr>
          <p:cNvPr id="1944" name="Google Shape;1944;p42"/>
          <p:cNvSpPr txBox="1"/>
          <p:nvPr/>
        </p:nvSpPr>
        <p:spPr>
          <a:xfrm>
            <a:off x="9619488" y="7229246"/>
            <a:ext cx="4032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3.78</a:t>
            </a:r>
            <a:endParaRPr b="0" i="0" sz="1100" u="none" cap="none" strike="noStrike">
              <a:solidFill>
                <a:schemeClr val="dk1"/>
              </a:solidFill>
              <a:latin typeface="Calibri"/>
              <a:ea typeface="Calibri"/>
              <a:cs typeface="Calibri"/>
              <a:sym typeface="Calibri"/>
            </a:endParaRPr>
          </a:p>
        </p:txBody>
      </p:sp>
      <p:sp>
        <p:nvSpPr>
          <p:cNvPr id="1945" name="Google Shape;1945;p42"/>
          <p:cNvSpPr txBox="1"/>
          <p:nvPr/>
        </p:nvSpPr>
        <p:spPr>
          <a:xfrm>
            <a:off x="9614002" y="7681874"/>
            <a:ext cx="412394"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3.84</a:t>
            </a:r>
            <a:endParaRPr b="0" i="0" sz="1100" u="none" cap="none" strike="noStrike">
              <a:solidFill>
                <a:schemeClr val="dk1"/>
              </a:solidFill>
              <a:latin typeface="Calibri"/>
              <a:ea typeface="Calibri"/>
              <a:cs typeface="Calibri"/>
              <a:sym typeface="Calibri"/>
            </a:endParaRPr>
          </a:p>
        </p:txBody>
      </p:sp>
      <p:sp>
        <p:nvSpPr>
          <p:cNvPr id="1946" name="Google Shape;1946;p42"/>
          <p:cNvSpPr txBox="1"/>
          <p:nvPr/>
        </p:nvSpPr>
        <p:spPr>
          <a:xfrm>
            <a:off x="9619488" y="8134502"/>
            <a:ext cx="4032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3.76</a:t>
            </a:r>
            <a:endParaRPr b="0" i="0" sz="1100" u="none" cap="none" strike="noStrike">
              <a:solidFill>
                <a:schemeClr val="dk1"/>
              </a:solidFill>
              <a:latin typeface="Calibri"/>
              <a:ea typeface="Calibri"/>
              <a:cs typeface="Calibri"/>
              <a:sym typeface="Calibri"/>
            </a:endParaRPr>
          </a:p>
        </p:txBody>
      </p:sp>
      <p:sp>
        <p:nvSpPr>
          <p:cNvPr id="1947" name="Google Shape;1947;p42"/>
          <p:cNvSpPr txBox="1"/>
          <p:nvPr/>
        </p:nvSpPr>
        <p:spPr>
          <a:xfrm>
            <a:off x="5918911" y="5872277"/>
            <a:ext cx="574243"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39.8%</a:t>
            </a:r>
            <a:endParaRPr b="0" i="0" sz="1100" u="none" cap="none" strike="noStrike">
              <a:solidFill>
                <a:schemeClr val="dk1"/>
              </a:solidFill>
              <a:latin typeface="Calibri"/>
              <a:ea typeface="Calibri"/>
              <a:cs typeface="Calibri"/>
              <a:sym typeface="Calibri"/>
            </a:endParaRPr>
          </a:p>
        </p:txBody>
      </p:sp>
      <p:sp>
        <p:nvSpPr>
          <p:cNvPr id="1948" name="Google Shape;1948;p42"/>
          <p:cNvSpPr txBox="1"/>
          <p:nvPr/>
        </p:nvSpPr>
        <p:spPr>
          <a:xfrm>
            <a:off x="5917082" y="6324905"/>
            <a:ext cx="58430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30.2%</a:t>
            </a:r>
            <a:endParaRPr b="0" i="0" sz="1100" u="none" cap="none" strike="noStrike">
              <a:solidFill>
                <a:schemeClr val="dk1"/>
              </a:solidFill>
              <a:latin typeface="Calibri"/>
              <a:ea typeface="Calibri"/>
              <a:cs typeface="Calibri"/>
              <a:sym typeface="Calibri"/>
            </a:endParaRPr>
          </a:p>
        </p:txBody>
      </p:sp>
      <p:sp>
        <p:nvSpPr>
          <p:cNvPr id="1949" name="Google Shape;1949;p42"/>
          <p:cNvSpPr txBox="1"/>
          <p:nvPr/>
        </p:nvSpPr>
        <p:spPr>
          <a:xfrm>
            <a:off x="9603943" y="6776618"/>
            <a:ext cx="431597"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4.26</a:t>
            </a:r>
            <a:endParaRPr b="0" i="0" sz="1100" u="none" cap="none" strike="noStrike">
              <a:solidFill>
                <a:schemeClr val="dk1"/>
              </a:solidFill>
              <a:latin typeface="Calibri"/>
              <a:ea typeface="Calibri"/>
              <a:cs typeface="Calibri"/>
              <a:sym typeface="Calibri"/>
            </a:endParaRPr>
          </a:p>
        </p:txBody>
      </p:sp>
      <p:sp>
        <p:nvSpPr>
          <p:cNvPr id="1950" name="Google Shape;1950;p42"/>
          <p:cNvSpPr txBox="1"/>
          <p:nvPr/>
        </p:nvSpPr>
        <p:spPr>
          <a:xfrm>
            <a:off x="9620402" y="8587130"/>
            <a:ext cx="403250"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4.31</a:t>
            </a:r>
            <a:endParaRPr b="0" i="0" sz="1100" u="none" cap="none" strike="noStrike">
              <a:solidFill>
                <a:schemeClr val="dk1"/>
              </a:solidFill>
              <a:latin typeface="Calibri"/>
              <a:ea typeface="Calibri"/>
              <a:cs typeface="Calibri"/>
              <a:sym typeface="Calibri"/>
            </a:endParaRPr>
          </a:p>
        </p:txBody>
      </p:sp>
      <p:sp>
        <p:nvSpPr>
          <p:cNvPr id="1951" name="Google Shape;1951;p42"/>
          <p:cNvSpPr/>
          <p:nvPr/>
        </p:nvSpPr>
        <p:spPr>
          <a:xfrm>
            <a:off x="609905" y="9144000"/>
            <a:ext cx="10972800" cy="800100"/>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2"/>
          <p:cNvSpPr/>
          <p:nvPr/>
        </p:nvSpPr>
        <p:spPr>
          <a:xfrm>
            <a:off x="609905" y="9144000"/>
            <a:ext cx="38405" cy="800100"/>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42"/>
          <p:cNvSpPr txBox="1"/>
          <p:nvPr/>
        </p:nvSpPr>
        <p:spPr>
          <a:xfrm>
            <a:off x="838505" y="9315907"/>
            <a:ext cx="10611612"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Key Insight: Consumers prize strength and damage-free claims most (highest coverage), but the highest delight sits in frictionless installs and tool avoidance (highest ratings)—critical to owning the garage wall.</a:t>
            </a:r>
            <a:endParaRPr b="0" i="0" sz="1200" u="none" cap="none" strike="noStrike">
              <a:solidFill>
                <a:schemeClr val="dk1"/>
              </a:solidFill>
              <a:latin typeface="Calibri"/>
              <a:ea typeface="Calibri"/>
              <a:cs typeface="Calibri"/>
              <a:sym typeface="Calibri"/>
            </a:endParaRPr>
          </a:p>
        </p:txBody>
      </p:sp>
      <p:sp>
        <p:nvSpPr>
          <p:cNvPr id="1954" name="Google Shape;1954;p42"/>
          <p:cNvSpPr txBox="1"/>
          <p:nvPr/>
        </p:nvSpPr>
        <p:spPr>
          <a:xfrm>
            <a:off x="609905" y="10260482"/>
            <a:ext cx="7520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 | Sources: product_reviews.json; review_trait_summary.json</a:t>
            </a:r>
            <a:endParaRPr b="0" i="0" sz="1000" u="none" cap="none" strike="noStrike">
              <a:solidFill>
                <a:schemeClr val="dk1"/>
              </a:solidFill>
              <a:latin typeface="Calibri"/>
              <a:ea typeface="Calibri"/>
              <a:cs typeface="Calibri"/>
              <a:sym typeface="Calibri"/>
            </a:endParaRPr>
          </a:p>
        </p:txBody>
      </p:sp>
      <p:sp>
        <p:nvSpPr>
          <p:cNvPr id="1955" name="Google Shape;1955;p42"/>
          <p:cNvSpPr txBox="1"/>
          <p:nvPr/>
        </p:nvSpPr>
        <p:spPr>
          <a:xfrm>
            <a:off x="11408969" y="10260482"/>
            <a:ext cx="281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0" name="Shape 1960"/>
        <p:cNvGrpSpPr/>
        <p:nvPr/>
      </p:nvGrpSpPr>
      <p:grpSpPr>
        <a:xfrm>
          <a:off x="0" y="0"/>
          <a:ext cx="0" cy="0"/>
          <a:chOff x="0" y="0"/>
          <a:chExt cx="0" cy="0"/>
        </a:xfrm>
      </p:grpSpPr>
      <p:sp>
        <p:nvSpPr>
          <p:cNvPr id="1961" name="Google Shape;1961;p43"/>
          <p:cNvSpPr/>
          <p:nvPr/>
        </p:nvSpPr>
        <p:spPr>
          <a:xfrm>
            <a:off x="0" y="0"/>
            <a:ext cx="12191695" cy="7324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43"/>
          <p:cNvSpPr/>
          <p:nvPr/>
        </p:nvSpPr>
        <p:spPr>
          <a:xfrm>
            <a:off x="0" y="0"/>
            <a:ext cx="12191695" cy="73243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43"/>
          <p:cNvSpPr/>
          <p:nvPr/>
        </p:nvSpPr>
        <p:spPr>
          <a:xfrm>
            <a:off x="6099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43"/>
          <p:cNvSpPr txBox="1"/>
          <p:nvPr/>
        </p:nvSpPr>
        <p:spPr>
          <a:xfrm>
            <a:off x="609905" y="685800"/>
            <a:ext cx="963046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Trait Satisfaction vs Category (Command, Scotch, 3M Claw)</a:t>
            </a:r>
            <a:endParaRPr b="0" i="0" sz="2400" u="none" cap="none" strike="noStrike">
              <a:solidFill>
                <a:schemeClr val="dk1"/>
              </a:solidFill>
              <a:latin typeface="Calibri"/>
              <a:ea typeface="Calibri"/>
              <a:cs typeface="Calibri"/>
              <a:sym typeface="Calibri"/>
            </a:endParaRPr>
          </a:p>
        </p:txBody>
      </p:sp>
      <p:sp>
        <p:nvSpPr>
          <p:cNvPr id="1965" name="Google Shape;1965;p43"/>
          <p:cNvSpPr txBox="1"/>
          <p:nvPr/>
        </p:nvSpPr>
        <p:spPr>
          <a:xfrm>
            <a:off x="609905" y="1218895"/>
            <a:ext cx="42153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Amazon review analysis (n=1,781) processed 5 Nov 2025</a:t>
            </a:r>
            <a:endParaRPr b="0" i="0" sz="1000" u="none" cap="none" strike="noStrike">
              <a:solidFill>
                <a:schemeClr val="dk1"/>
              </a:solidFill>
              <a:latin typeface="Calibri"/>
              <a:ea typeface="Calibri"/>
              <a:cs typeface="Calibri"/>
              <a:sym typeface="Calibri"/>
            </a:endParaRPr>
          </a:p>
        </p:txBody>
      </p:sp>
      <p:pic>
        <p:nvPicPr>
          <p:cNvPr descr="preencoded.png" id="1966" name="Google Shape;1966;p43"/>
          <p:cNvPicPr preferRelativeResize="0"/>
          <p:nvPr/>
        </p:nvPicPr>
        <p:blipFill rotWithShape="1">
          <a:blip r:embed="rId3">
            <a:alphaModFix/>
          </a:blip>
          <a:srcRect b="0" l="-79" r="-78" t="0"/>
          <a:stretch/>
        </p:blipFill>
        <p:spPr>
          <a:xfrm>
            <a:off x="609905" y="1552651"/>
            <a:ext cx="5848502" cy="4381805"/>
          </a:xfrm>
          <a:prstGeom prst="rect">
            <a:avLst/>
          </a:prstGeom>
          <a:noFill/>
          <a:ln>
            <a:noFill/>
          </a:ln>
        </p:spPr>
      </p:pic>
      <p:sp>
        <p:nvSpPr>
          <p:cNvPr id="1967" name="Google Shape;1967;p43"/>
          <p:cNvSpPr/>
          <p:nvPr/>
        </p:nvSpPr>
        <p:spPr>
          <a:xfrm>
            <a:off x="6835140" y="1552651"/>
            <a:ext cx="4753051" cy="1714500"/>
          </a:xfrm>
          <a:prstGeom prst="rect">
            <a:avLst/>
          </a:prstGeom>
          <a:solidFill>
            <a:srgbClr val="F8F9FA"/>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43"/>
          <p:cNvSpPr/>
          <p:nvPr/>
        </p:nvSpPr>
        <p:spPr>
          <a:xfrm>
            <a:off x="6835140" y="1552651"/>
            <a:ext cx="38405" cy="1714500"/>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43"/>
          <p:cNvSpPr/>
          <p:nvPr/>
        </p:nvSpPr>
        <p:spPr>
          <a:xfrm>
            <a:off x="6835140" y="3414370"/>
            <a:ext cx="4753051" cy="1495044"/>
          </a:xfrm>
          <a:prstGeom prst="rect">
            <a:avLst/>
          </a:prstGeom>
          <a:solidFill>
            <a:srgbClr val="F8F9FA"/>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3"/>
          <p:cNvSpPr/>
          <p:nvPr/>
        </p:nvSpPr>
        <p:spPr>
          <a:xfrm>
            <a:off x="6835140" y="3414370"/>
            <a:ext cx="38405" cy="1495044"/>
          </a:xfrm>
          <a:prstGeom prst="rect">
            <a:avLst/>
          </a:prstGeom>
          <a:solidFill>
            <a:srgbClr val="349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3"/>
          <p:cNvSpPr/>
          <p:nvPr/>
        </p:nvSpPr>
        <p:spPr>
          <a:xfrm>
            <a:off x="6835140" y="5062118"/>
            <a:ext cx="4753051" cy="1714500"/>
          </a:xfrm>
          <a:prstGeom prst="rect">
            <a:avLst/>
          </a:prstGeom>
          <a:solidFill>
            <a:srgbClr val="F8F9FA"/>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3"/>
          <p:cNvSpPr/>
          <p:nvPr/>
        </p:nvSpPr>
        <p:spPr>
          <a:xfrm>
            <a:off x="6835140" y="5062118"/>
            <a:ext cx="38405" cy="1714500"/>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3"/>
          <p:cNvSpPr txBox="1"/>
          <p:nvPr/>
        </p:nvSpPr>
        <p:spPr>
          <a:xfrm>
            <a:off x="7063740" y="1733702"/>
            <a:ext cx="29196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Inter"/>
              <a:buNone/>
            </a:pPr>
            <a:r>
              <a:rPr b="1" i="0" lang="en-US" sz="1300" u="none" cap="none" strike="noStrike">
                <a:solidFill>
                  <a:srgbClr val="2C3E50"/>
                </a:solidFill>
                <a:latin typeface="Inter"/>
                <a:ea typeface="Inter"/>
                <a:cs typeface="Inter"/>
                <a:sym typeface="Inter"/>
              </a:rPr>
              <a:t>3M Claw: Leader Across All Traits</a:t>
            </a:r>
            <a:endParaRPr b="0" i="0" sz="1300" u="none" cap="none" strike="noStrike">
              <a:solidFill>
                <a:schemeClr val="dk1"/>
              </a:solidFill>
              <a:latin typeface="Calibri"/>
              <a:ea typeface="Calibri"/>
              <a:cs typeface="Calibri"/>
              <a:sym typeface="Calibri"/>
            </a:endParaRPr>
          </a:p>
        </p:txBody>
      </p:sp>
      <p:sp>
        <p:nvSpPr>
          <p:cNvPr id="1974" name="Google Shape;1974;p43"/>
          <p:cNvSpPr txBox="1"/>
          <p:nvPr/>
        </p:nvSpPr>
        <p:spPr>
          <a:xfrm>
            <a:off x="7063740" y="3595421"/>
            <a:ext cx="29004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Inter"/>
              <a:buNone/>
            </a:pPr>
            <a:r>
              <a:rPr b="1" i="0" lang="en-US" sz="1300" u="none" cap="none" strike="noStrike">
                <a:solidFill>
                  <a:srgbClr val="2C3E50"/>
                </a:solidFill>
                <a:latin typeface="Inter"/>
                <a:ea typeface="Inter"/>
                <a:cs typeface="Inter"/>
                <a:sym typeface="Inter"/>
              </a:rPr>
              <a:t>Command: Baseline Performance</a:t>
            </a:r>
            <a:endParaRPr b="0" i="0" sz="1300" u="none" cap="none" strike="noStrike">
              <a:solidFill>
                <a:schemeClr val="dk1"/>
              </a:solidFill>
              <a:latin typeface="Calibri"/>
              <a:ea typeface="Calibri"/>
              <a:cs typeface="Calibri"/>
              <a:sym typeface="Calibri"/>
            </a:endParaRPr>
          </a:p>
        </p:txBody>
      </p:sp>
      <p:sp>
        <p:nvSpPr>
          <p:cNvPr id="1975" name="Google Shape;1975;p43"/>
          <p:cNvSpPr txBox="1"/>
          <p:nvPr/>
        </p:nvSpPr>
        <p:spPr>
          <a:xfrm>
            <a:off x="7063740" y="5243170"/>
            <a:ext cx="33768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300"/>
              <a:buFont typeface="Inter"/>
              <a:buNone/>
            </a:pPr>
            <a:r>
              <a:rPr b="1" i="0" lang="en-US" sz="1300" u="none" cap="none" strike="noStrike">
                <a:solidFill>
                  <a:srgbClr val="2C3E50"/>
                </a:solidFill>
                <a:latin typeface="Inter"/>
                <a:ea typeface="Inter"/>
                <a:cs typeface="Inter"/>
                <a:sym typeface="Inter"/>
              </a:rPr>
              <a:t>Scotch: Strength &amp; Durability Concerns</a:t>
            </a:r>
            <a:endParaRPr b="0" i="0" sz="1300" u="none" cap="none" strike="noStrike">
              <a:solidFill>
                <a:schemeClr val="dk1"/>
              </a:solidFill>
              <a:latin typeface="Calibri"/>
              <a:ea typeface="Calibri"/>
              <a:cs typeface="Calibri"/>
              <a:sym typeface="Calibri"/>
            </a:endParaRPr>
          </a:p>
        </p:txBody>
      </p:sp>
      <p:sp>
        <p:nvSpPr>
          <p:cNvPr id="1976" name="Google Shape;1976;p43"/>
          <p:cNvSpPr txBox="1"/>
          <p:nvPr/>
        </p:nvSpPr>
        <p:spPr>
          <a:xfrm>
            <a:off x="7063740" y="2048256"/>
            <a:ext cx="4231843" cy="10387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3M Claw leads on every dimension, with the most substantial advantages in Installation Ease (+0.28) and Damage-Free Removal (+0.48) vs. category average. High ratings on Versatility (4.67) and Holding Strength (4.47) demonstrate premium positioning.</a:t>
            </a:r>
            <a:endParaRPr b="0" i="0" sz="1100" u="none" cap="none" strike="noStrike">
              <a:solidFill>
                <a:schemeClr val="dk1"/>
              </a:solidFill>
              <a:latin typeface="Calibri"/>
              <a:ea typeface="Calibri"/>
              <a:cs typeface="Calibri"/>
              <a:sym typeface="Calibri"/>
            </a:endParaRPr>
          </a:p>
        </p:txBody>
      </p:sp>
      <p:sp>
        <p:nvSpPr>
          <p:cNvPr id="1977" name="Google Shape;1977;p43"/>
          <p:cNvSpPr txBox="1"/>
          <p:nvPr/>
        </p:nvSpPr>
        <p:spPr>
          <a:xfrm>
            <a:off x="7063740" y="3909974"/>
            <a:ext cx="4374490" cy="8293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Command closely mirrors the category baseline for Strength (3.96) and Durability (3.77), but shows a weakness in Damage-Free Removal (–0.09) despite this being its core brand promise. No-Tools rating (4.33) remains strong but undifferentiated.</a:t>
            </a:r>
            <a:endParaRPr b="0" i="0" sz="1100" u="none" cap="none" strike="noStrike">
              <a:solidFill>
                <a:schemeClr val="dk1"/>
              </a:solidFill>
              <a:latin typeface="Calibri"/>
              <a:ea typeface="Calibri"/>
              <a:cs typeface="Calibri"/>
              <a:sym typeface="Calibri"/>
            </a:endParaRPr>
          </a:p>
        </p:txBody>
      </p:sp>
      <p:sp>
        <p:nvSpPr>
          <p:cNvPr id="1978" name="Google Shape;1978;p43"/>
          <p:cNvSpPr txBox="1"/>
          <p:nvPr/>
        </p:nvSpPr>
        <p:spPr>
          <a:xfrm>
            <a:off x="7063740" y="5557723"/>
            <a:ext cx="4222699" cy="10387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While Scotch maintains high advocacy among creators, consumer reviews reveal significant weakness in Holding Strength (3.51) and Durability (3.17), suggesting adhesive fatigue issues that undermine its otherwise positive word-of-mouth.</a:t>
            </a:r>
            <a:endParaRPr b="0" i="0" sz="1100" u="none" cap="none" strike="noStrike">
              <a:solidFill>
                <a:schemeClr val="dk1"/>
              </a:solidFill>
              <a:latin typeface="Calibri"/>
              <a:ea typeface="Calibri"/>
              <a:cs typeface="Calibri"/>
              <a:sym typeface="Calibri"/>
            </a:endParaRPr>
          </a:p>
        </p:txBody>
      </p:sp>
      <p:sp>
        <p:nvSpPr>
          <p:cNvPr id="1979" name="Google Shape;1979;p43"/>
          <p:cNvSpPr/>
          <p:nvPr/>
        </p:nvSpPr>
        <p:spPr>
          <a:xfrm>
            <a:off x="3777386" y="6110021"/>
            <a:ext cx="152705" cy="152705"/>
          </a:xfrm>
          <a:prstGeom prst="roundRect">
            <a:avLst>
              <a:gd fmla="val 74850" name="adj"/>
            </a:avLst>
          </a:prstGeom>
          <a:solidFill>
            <a:srgbClr val="808080">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3"/>
          <p:cNvSpPr/>
          <p:nvPr/>
        </p:nvSpPr>
        <p:spPr>
          <a:xfrm>
            <a:off x="5461711" y="6110021"/>
            <a:ext cx="152705" cy="152705"/>
          </a:xfrm>
          <a:prstGeom prst="roundRect">
            <a:avLst>
              <a:gd fmla="val 74850" name="adj"/>
            </a:avLst>
          </a:prstGeom>
          <a:solidFill>
            <a:srgbClr val="3498DB">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3"/>
          <p:cNvSpPr/>
          <p:nvPr/>
        </p:nvSpPr>
        <p:spPr>
          <a:xfrm>
            <a:off x="6648602" y="6110021"/>
            <a:ext cx="152705" cy="152705"/>
          </a:xfrm>
          <a:prstGeom prst="roundRect">
            <a:avLst>
              <a:gd fmla="val 74850" name="adj"/>
            </a:avLst>
          </a:prstGeom>
          <a:solidFill>
            <a:srgbClr val="E74C3C">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3"/>
          <p:cNvSpPr/>
          <p:nvPr/>
        </p:nvSpPr>
        <p:spPr>
          <a:xfrm>
            <a:off x="7627010" y="6110021"/>
            <a:ext cx="152705" cy="152705"/>
          </a:xfrm>
          <a:prstGeom prst="roundRect">
            <a:avLst>
              <a:gd fmla="val 74850" name="adj"/>
            </a:avLst>
          </a:prstGeom>
          <a:solidFill>
            <a:srgbClr val="16A085">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43"/>
          <p:cNvSpPr txBox="1"/>
          <p:nvPr/>
        </p:nvSpPr>
        <p:spPr>
          <a:xfrm>
            <a:off x="4005986" y="6105449"/>
            <a:ext cx="12527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Category Average</a:t>
            </a:r>
            <a:endParaRPr b="0" i="0" sz="1000" u="none" cap="none" strike="noStrike">
              <a:solidFill>
                <a:schemeClr val="dk1"/>
              </a:solidFill>
              <a:latin typeface="Calibri"/>
              <a:ea typeface="Calibri"/>
              <a:cs typeface="Calibri"/>
              <a:sym typeface="Calibri"/>
            </a:endParaRPr>
          </a:p>
        </p:txBody>
      </p:sp>
      <p:sp>
        <p:nvSpPr>
          <p:cNvPr id="1984" name="Google Shape;1984;p43"/>
          <p:cNvSpPr txBox="1"/>
          <p:nvPr/>
        </p:nvSpPr>
        <p:spPr>
          <a:xfrm>
            <a:off x="5690311" y="6105449"/>
            <a:ext cx="7580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Command</a:t>
            </a:r>
            <a:endParaRPr b="0" i="0" sz="1000" u="none" cap="none" strike="noStrike">
              <a:solidFill>
                <a:schemeClr val="dk1"/>
              </a:solidFill>
              <a:latin typeface="Calibri"/>
              <a:ea typeface="Calibri"/>
              <a:cs typeface="Calibri"/>
              <a:sym typeface="Calibri"/>
            </a:endParaRPr>
          </a:p>
        </p:txBody>
      </p:sp>
      <p:sp>
        <p:nvSpPr>
          <p:cNvPr id="1985" name="Google Shape;1985;p43"/>
          <p:cNvSpPr txBox="1"/>
          <p:nvPr/>
        </p:nvSpPr>
        <p:spPr>
          <a:xfrm>
            <a:off x="6877202" y="6105449"/>
            <a:ext cx="5477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Scotch</a:t>
            </a:r>
            <a:endParaRPr b="0" i="0" sz="1000" u="none" cap="none" strike="noStrike">
              <a:solidFill>
                <a:schemeClr val="dk1"/>
              </a:solidFill>
              <a:latin typeface="Calibri"/>
              <a:ea typeface="Calibri"/>
              <a:cs typeface="Calibri"/>
              <a:sym typeface="Calibri"/>
            </a:endParaRPr>
          </a:p>
        </p:txBody>
      </p:sp>
      <p:sp>
        <p:nvSpPr>
          <p:cNvPr id="1986" name="Google Shape;1986;p43"/>
          <p:cNvSpPr txBox="1"/>
          <p:nvPr/>
        </p:nvSpPr>
        <p:spPr>
          <a:xfrm>
            <a:off x="7855610" y="6105449"/>
            <a:ext cx="662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3M Claw</a:t>
            </a:r>
            <a:endParaRPr b="0" i="0" sz="1000" u="none" cap="none" strike="noStrike">
              <a:solidFill>
                <a:schemeClr val="dk1"/>
              </a:solidFill>
              <a:latin typeface="Calibri"/>
              <a:ea typeface="Calibri"/>
              <a:cs typeface="Calibri"/>
              <a:sym typeface="Calibri"/>
            </a:endParaRPr>
          </a:p>
        </p:txBody>
      </p:sp>
      <p:sp>
        <p:nvSpPr>
          <p:cNvPr id="1987" name="Google Shape;1987;p43"/>
          <p:cNvSpPr txBox="1"/>
          <p:nvPr/>
        </p:nvSpPr>
        <p:spPr>
          <a:xfrm>
            <a:off x="609905" y="6838798"/>
            <a:ext cx="7520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 | Sources: product_reviews.json; review_trait_summary.json</a:t>
            </a:r>
            <a:endParaRPr b="0" i="0" sz="1000" u="none" cap="none" strike="noStrike">
              <a:solidFill>
                <a:schemeClr val="dk1"/>
              </a:solidFill>
              <a:latin typeface="Calibri"/>
              <a:ea typeface="Calibri"/>
              <a:cs typeface="Calibri"/>
              <a:sym typeface="Calibri"/>
            </a:endParaRPr>
          </a:p>
        </p:txBody>
      </p:sp>
      <p:sp>
        <p:nvSpPr>
          <p:cNvPr id="1988" name="Google Shape;1988;p43"/>
          <p:cNvSpPr txBox="1"/>
          <p:nvPr/>
        </p:nvSpPr>
        <p:spPr>
          <a:xfrm>
            <a:off x="11442802" y="6838798"/>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3" name="Shape 1993"/>
        <p:cNvGrpSpPr/>
        <p:nvPr/>
      </p:nvGrpSpPr>
      <p:grpSpPr>
        <a:xfrm>
          <a:off x="0" y="0"/>
          <a:ext cx="0" cy="0"/>
          <a:chOff x="0" y="0"/>
          <a:chExt cx="0" cy="0"/>
        </a:xfrm>
      </p:grpSpPr>
      <p:sp>
        <p:nvSpPr>
          <p:cNvPr id="1994" name="Google Shape;1994;p44"/>
          <p:cNvSpPr/>
          <p:nvPr/>
        </p:nvSpPr>
        <p:spPr>
          <a:xfrm>
            <a:off x="0" y="0"/>
            <a:ext cx="12191695" cy="87626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4"/>
          <p:cNvSpPr/>
          <p:nvPr/>
        </p:nvSpPr>
        <p:spPr>
          <a:xfrm>
            <a:off x="0" y="0"/>
            <a:ext cx="12191695" cy="876269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4"/>
          <p:cNvSpPr/>
          <p:nvPr/>
        </p:nvSpPr>
        <p:spPr>
          <a:xfrm>
            <a:off x="533095" y="457200"/>
            <a:ext cx="761695" cy="47549"/>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4"/>
          <p:cNvSpPr txBox="1"/>
          <p:nvPr/>
        </p:nvSpPr>
        <p:spPr>
          <a:xfrm>
            <a:off x="533095" y="743407"/>
            <a:ext cx="842071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700"/>
              <a:buFont typeface="Montserrat"/>
              <a:buNone/>
            </a:pPr>
            <a:r>
              <a:rPr b="1" i="0" lang="en-US" sz="2700" u="none" cap="none" strike="noStrike">
                <a:solidFill>
                  <a:srgbClr val="2C3E50"/>
                </a:solidFill>
                <a:latin typeface="Montserrat"/>
                <a:ea typeface="Montserrat"/>
                <a:cs typeface="Montserrat"/>
                <a:sym typeface="Montserrat"/>
              </a:rPr>
              <a:t>3M Claw Brand Perception: Equity vs Category</a:t>
            </a:r>
            <a:endParaRPr b="0" i="0" sz="2700" u="none" cap="none" strike="noStrike">
              <a:solidFill>
                <a:schemeClr val="dk1"/>
              </a:solidFill>
              <a:latin typeface="Calibri"/>
              <a:ea typeface="Calibri"/>
              <a:cs typeface="Calibri"/>
              <a:sym typeface="Calibri"/>
            </a:endParaRPr>
          </a:p>
        </p:txBody>
      </p:sp>
      <p:sp>
        <p:nvSpPr>
          <p:cNvPr id="1998" name="Google Shape;1998;p44"/>
          <p:cNvSpPr/>
          <p:nvPr/>
        </p:nvSpPr>
        <p:spPr>
          <a:xfrm>
            <a:off x="533095" y="1552651"/>
            <a:ext cx="11125505" cy="1037844"/>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4"/>
          <p:cNvSpPr/>
          <p:nvPr/>
        </p:nvSpPr>
        <p:spPr>
          <a:xfrm>
            <a:off x="533095" y="1552651"/>
            <a:ext cx="38405" cy="1037844"/>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4"/>
          <p:cNvSpPr txBox="1"/>
          <p:nvPr/>
        </p:nvSpPr>
        <p:spPr>
          <a:xfrm>
            <a:off x="761695" y="1714500"/>
            <a:ext cx="114848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Montserrat"/>
              <a:buNone/>
            </a:pPr>
            <a:r>
              <a:rPr b="1" i="0" lang="en-US" sz="1000" u="none" cap="none" strike="noStrike">
                <a:solidFill>
                  <a:srgbClr val="16A085"/>
                </a:solidFill>
                <a:latin typeface="Montserrat"/>
                <a:ea typeface="Montserrat"/>
                <a:cs typeface="Montserrat"/>
                <a:sym typeface="Montserrat"/>
              </a:rPr>
              <a:t>THE PATTERN</a:t>
            </a:r>
            <a:endParaRPr b="0" i="0" sz="1000" u="none" cap="none" strike="noStrike">
              <a:solidFill>
                <a:schemeClr val="dk1"/>
              </a:solidFill>
              <a:latin typeface="Calibri"/>
              <a:ea typeface="Calibri"/>
              <a:cs typeface="Calibri"/>
              <a:sym typeface="Calibri"/>
            </a:endParaRPr>
          </a:p>
        </p:txBody>
      </p:sp>
      <p:sp>
        <p:nvSpPr>
          <p:cNvPr id="2001" name="Google Shape;2001;p44"/>
          <p:cNvSpPr txBox="1"/>
          <p:nvPr/>
        </p:nvSpPr>
        <p:spPr>
          <a:xfrm>
            <a:off x="761695" y="1990649"/>
            <a:ext cx="105823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3M Claw owns heavy décor credibility yet still battles installation friction. With 45 lb median capacity (3× Command, 20× Scotch), it dominates heavy-hanging conversations but minimal garage organization mentions signal white-space opportunity.</a:t>
            </a:r>
            <a:endParaRPr b="0" i="0" sz="1200" u="none" cap="none" strike="noStrike">
              <a:solidFill>
                <a:schemeClr val="dk1"/>
              </a:solidFill>
              <a:latin typeface="Calibri"/>
              <a:ea typeface="Calibri"/>
              <a:cs typeface="Calibri"/>
              <a:sym typeface="Calibri"/>
            </a:endParaRPr>
          </a:p>
        </p:txBody>
      </p:sp>
      <p:sp>
        <p:nvSpPr>
          <p:cNvPr id="2002" name="Google Shape;2002;p44"/>
          <p:cNvSpPr txBox="1"/>
          <p:nvPr/>
        </p:nvSpPr>
        <p:spPr>
          <a:xfrm>
            <a:off x="533095" y="2991002"/>
            <a:ext cx="179131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TRAIT SATISFACTION</a:t>
            </a:r>
            <a:endParaRPr b="0" i="0" sz="1200" u="none" cap="none" strike="noStrike">
              <a:solidFill>
                <a:schemeClr val="dk1"/>
              </a:solidFill>
              <a:latin typeface="Calibri"/>
              <a:ea typeface="Calibri"/>
              <a:cs typeface="Calibri"/>
              <a:sym typeface="Calibri"/>
            </a:endParaRPr>
          </a:p>
        </p:txBody>
      </p:sp>
      <p:pic>
        <p:nvPicPr>
          <p:cNvPr descr="preencoded.png" id="2003" name="Google Shape;2003;p44"/>
          <p:cNvPicPr preferRelativeResize="0"/>
          <p:nvPr/>
        </p:nvPicPr>
        <p:blipFill rotWithShape="1">
          <a:blip r:embed="rId3">
            <a:alphaModFix/>
          </a:blip>
          <a:srcRect b="0" l="-108" r="-109" t="0"/>
          <a:stretch/>
        </p:blipFill>
        <p:spPr>
          <a:xfrm>
            <a:off x="533095" y="3276295"/>
            <a:ext cx="4410151" cy="2857500"/>
          </a:xfrm>
          <a:prstGeom prst="rect">
            <a:avLst/>
          </a:prstGeom>
          <a:noFill/>
          <a:ln>
            <a:noFill/>
          </a:ln>
        </p:spPr>
      </p:pic>
      <p:sp>
        <p:nvSpPr>
          <p:cNvPr id="2004" name="Google Shape;2004;p44"/>
          <p:cNvSpPr txBox="1"/>
          <p:nvPr/>
        </p:nvSpPr>
        <p:spPr>
          <a:xfrm>
            <a:off x="1817827" y="6210605"/>
            <a:ext cx="193852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00"/>
              <a:buFont typeface="Open Sans"/>
              <a:buNone/>
            </a:pPr>
            <a:r>
              <a:rPr b="0" i="0" lang="en-US" sz="1000" u="none" cap="none" strike="noStrike">
                <a:solidFill>
                  <a:srgbClr val="2C3E50"/>
                </a:solidFill>
                <a:latin typeface="Open Sans"/>
                <a:ea typeface="Open Sans"/>
                <a:cs typeface="Open Sans"/>
                <a:sym typeface="Open Sans"/>
              </a:rPr>
              <a:t>3M Claw vs Category Baseline</a:t>
            </a:r>
            <a:endParaRPr b="0" i="0" sz="1000" u="none" cap="none" strike="noStrike">
              <a:solidFill>
                <a:schemeClr val="dk1"/>
              </a:solidFill>
              <a:latin typeface="Calibri"/>
              <a:ea typeface="Calibri"/>
              <a:cs typeface="Calibri"/>
              <a:sym typeface="Calibri"/>
            </a:endParaRPr>
          </a:p>
        </p:txBody>
      </p:sp>
      <p:sp>
        <p:nvSpPr>
          <p:cNvPr id="2005" name="Google Shape;2005;p44"/>
          <p:cNvSpPr txBox="1"/>
          <p:nvPr/>
        </p:nvSpPr>
        <p:spPr>
          <a:xfrm>
            <a:off x="5397703" y="2991002"/>
            <a:ext cx="169621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CORE POSITIONING</a:t>
            </a:r>
            <a:endParaRPr b="0" i="0" sz="1200" u="none" cap="none" strike="noStrike">
              <a:solidFill>
                <a:schemeClr val="dk1"/>
              </a:solidFill>
              <a:latin typeface="Calibri"/>
              <a:ea typeface="Calibri"/>
              <a:cs typeface="Calibri"/>
              <a:sym typeface="Calibri"/>
            </a:endParaRPr>
          </a:p>
        </p:txBody>
      </p:sp>
      <p:sp>
        <p:nvSpPr>
          <p:cNvPr id="2006" name="Google Shape;2006;p44"/>
          <p:cNvSpPr/>
          <p:nvPr/>
        </p:nvSpPr>
        <p:spPr>
          <a:xfrm>
            <a:off x="5397703" y="3276295"/>
            <a:ext cx="6267298" cy="761695"/>
          </a:xfrm>
          <a:prstGeom prst="roundRect">
            <a:avLst>
              <a:gd fmla="val 6002" name="adj"/>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4"/>
          <p:cNvSpPr txBox="1"/>
          <p:nvPr/>
        </p:nvSpPr>
        <p:spPr>
          <a:xfrm>
            <a:off x="5549494" y="3438144"/>
            <a:ext cx="5658307"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Tool-free hardened steel claws for drywall that enable 25–65 lb hangs; median tested capacity is 45 lb (≈3× Command, ≈20× Scotch).</a:t>
            </a:r>
            <a:endParaRPr b="0" i="0" sz="1200" u="none" cap="none" strike="noStrike">
              <a:solidFill>
                <a:schemeClr val="dk1"/>
              </a:solidFill>
              <a:latin typeface="Calibri"/>
              <a:ea typeface="Calibri"/>
              <a:cs typeface="Calibri"/>
              <a:sym typeface="Calibri"/>
            </a:endParaRPr>
          </a:p>
        </p:txBody>
      </p:sp>
      <p:sp>
        <p:nvSpPr>
          <p:cNvPr id="2008" name="Google Shape;2008;p44"/>
          <p:cNvSpPr txBox="1"/>
          <p:nvPr/>
        </p:nvSpPr>
        <p:spPr>
          <a:xfrm>
            <a:off x="5397703" y="4209898"/>
            <a:ext cx="210586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PRIMARY APPLICATIONS</a:t>
            </a:r>
            <a:endParaRPr b="0" i="0" sz="1200" u="none" cap="none" strike="noStrike">
              <a:solidFill>
                <a:schemeClr val="dk1"/>
              </a:solidFill>
              <a:latin typeface="Calibri"/>
              <a:ea typeface="Calibri"/>
              <a:cs typeface="Calibri"/>
              <a:sym typeface="Calibri"/>
            </a:endParaRPr>
          </a:p>
        </p:txBody>
      </p:sp>
      <p:sp>
        <p:nvSpPr>
          <p:cNvPr id="2009" name="Google Shape;2009;p44"/>
          <p:cNvSpPr txBox="1"/>
          <p:nvPr/>
        </p:nvSpPr>
        <p:spPr>
          <a:xfrm>
            <a:off x="5587898" y="4505249"/>
            <a:ext cx="209854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Picture hanging (75 mentions)</a:t>
            </a:r>
            <a:endParaRPr b="0" i="0" sz="1100" u="none" cap="none" strike="noStrike">
              <a:solidFill>
                <a:schemeClr val="dk1"/>
              </a:solidFill>
              <a:latin typeface="Calibri"/>
              <a:ea typeface="Calibri"/>
              <a:cs typeface="Calibri"/>
              <a:sym typeface="Calibri"/>
            </a:endParaRPr>
          </a:p>
        </p:txBody>
      </p:sp>
      <p:sp>
        <p:nvSpPr>
          <p:cNvPr id="2010" name="Google Shape;2010;p44"/>
          <p:cNvSpPr txBox="1"/>
          <p:nvPr/>
        </p:nvSpPr>
        <p:spPr>
          <a:xfrm>
            <a:off x="5587898" y="4776826"/>
            <a:ext cx="189829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Heavy décor &amp; mirrors (63)</a:t>
            </a:r>
            <a:endParaRPr b="0" i="0" sz="1100" u="none" cap="none" strike="noStrike">
              <a:solidFill>
                <a:schemeClr val="dk1"/>
              </a:solidFill>
              <a:latin typeface="Calibri"/>
              <a:ea typeface="Calibri"/>
              <a:cs typeface="Calibri"/>
              <a:sym typeface="Calibri"/>
            </a:endParaRPr>
          </a:p>
        </p:txBody>
      </p:sp>
      <p:sp>
        <p:nvSpPr>
          <p:cNvPr id="2011" name="Google Shape;2011;p44"/>
          <p:cNvSpPr txBox="1"/>
          <p:nvPr/>
        </p:nvSpPr>
        <p:spPr>
          <a:xfrm>
            <a:off x="5587898" y="5048402"/>
            <a:ext cx="111739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DIY installs (33)</a:t>
            </a:r>
            <a:endParaRPr b="0" i="0" sz="1100" u="none" cap="none" strike="noStrike">
              <a:solidFill>
                <a:schemeClr val="dk1"/>
              </a:solidFill>
              <a:latin typeface="Calibri"/>
              <a:ea typeface="Calibri"/>
              <a:cs typeface="Calibri"/>
              <a:sym typeface="Calibri"/>
            </a:endParaRPr>
          </a:p>
        </p:txBody>
      </p:sp>
      <p:sp>
        <p:nvSpPr>
          <p:cNvPr id="2012" name="Google Shape;2012;p44"/>
          <p:cNvSpPr txBox="1"/>
          <p:nvPr/>
        </p:nvSpPr>
        <p:spPr>
          <a:xfrm>
            <a:off x="5587898" y="5319979"/>
            <a:ext cx="2926994"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White space: Shelving/garage organization only 8 mentions</a:t>
            </a:r>
            <a:endParaRPr b="0" i="0" sz="1100" u="none" cap="none" strike="noStrike">
              <a:solidFill>
                <a:schemeClr val="dk1"/>
              </a:solidFill>
              <a:latin typeface="Calibri"/>
              <a:ea typeface="Calibri"/>
              <a:cs typeface="Calibri"/>
              <a:sym typeface="Calibri"/>
            </a:endParaRPr>
          </a:p>
        </p:txBody>
      </p:sp>
      <p:sp>
        <p:nvSpPr>
          <p:cNvPr id="2013" name="Google Shape;2013;p44"/>
          <p:cNvSpPr txBox="1"/>
          <p:nvPr/>
        </p:nvSpPr>
        <p:spPr>
          <a:xfrm>
            <a:off x="8604504" y="4209898"/>
            <a:ext cx="122895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RISK SIGNALS</a:t>
            </a:r>
            <a:endParaRPr b="0" i="0" sz="1200" u="none" cap="none" strike="noStrike">
              <a:solidFill>
                <a:schemeClr val="dk1"/>
              </a:solidFill>
              <a:latin typeface="Calibri"/>
              <a:ea typeface="Calibri"/>
              <a:cs typeface="Calibri"/>
              <a:sym typeface="Calibri"/>
            </a:endParaRPr>
          </a:p>
        </p:txBody>
      </p:sp>
      <p:sp>
        <p:nvSpPr>
          <p:cNvPr id="2014" name="Google Shape;2014;p44"/>
          <p:cNvSpPr txBox="1"/>
          <p:nvPr/>
        </p:nvSpPr>
        <p:spPr>
          <a:xfrm>
            <a:off x="8794699" y="4505249"/>
            <a:ext cx="233629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Surface damage in 7 videos (11%)</a:t>
            </a:r>
            <a:endParaRPr b="0" i="0" sz="1100" u="none" cap="none" strike="noStrike">
              <a:solidFill>
                <a:schemeClr val="dk1"/>
              </a:solidFill>
              <a:latin typeface="Calibri"/>
              <a:ea typeface="Calibri"/>
              <a:cs typeface="Calibri"/>
              <a:sym typeface="Calibri"/>
            </a:endParaRPr>
          </a:p>
        </p:txBody>
      </p:sp>
      <p:sp>
        <p:nvSpPr>
          <p:cNvPr id="2015" name="Google Shape;2015;p44"/>
          <p:cNvSpPr txBox="1"/>
          <p:nvPr/>
        </p:nvSpPr>
        <p:spPr>
          <a:xfrm>
            <a:off x="8794699" y="4776826"/>
            <a:ext cx="258409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Bent-claw durability in 6 videos (10%)</a:t>
            </a:r>
            <a:endParaRPr b="0" i="0" sz="1100" u="none" cap="none" strike="noStrike">
              <a:solidFill>
                <a:schemeClr val="dk1"/>
              </a:solidFill>
              <a:latin typeface="Calibri"/>
              <a:ea typeface="Calibri"/>
              <a:cs typeface="Calibri"/>
              <a:sym typeface="Calibri"/>
            </a:endParaRPr>
          </a:p>
        </p:txBody>
      </p:sp>
      <p:sp>
        <p:nvSpPr>
          <p:cNvPr id="2016" name="Google Shape;2016;p44"/>
          <p:cNvSpPr txBox="1"/>
          <p:nvPr/>
        </p:nvSpPr>
        <p:spPr>
          <a:xfrm>
            <a:off x="8794699" y="5048402"/>
            <a:ext cx="2870302"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Issues persist despite "no studs, no tools" promise</a:t>
            </a:r>
            <a:endParaRPr b="0" i="0" sz="1100" u="none" cap="none" strike="noStrike">
              <a:solidFill>
                <a:schemeClr val="dk1"/>
              </a:solidFill>
              <a:latin typeface="Calibri"/>
              <a:ea typeface="Calibri"/>
              <a:cs typeface="Calibri"/>
              <a:sym typeface="Calibri"/>
            </a:endParaRPr>
          </a:p>
        </p:txBody>
      </p:sp>
      <p:sp>
        <p:nvSpPr>
          <p:cNvPr id="2017" name="Google Shape;2017;p44"/>
          <p:cNvSpPr txBox="1"/>
          <p:nvPr/>
        </p:nvSpPr>
        <p:spPr>
          <a:xfrm>
            <a:off x="5397703" y="5967374"/>
            <a:ext cx="256306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PERFORMANCE VS CATEGORY</a:t>
            </a:r>
            <a:endParaRPr b="0" i="0" sz="1200" u="none" cap="none" strike="noStrike">
              <a:solidFill>
                <a:schemeClr val="dk1"/>
              </a:solidFill>
              <a:latin typeface="Calibri"/>
              <a:ea typeface="Calibri"/>
              <a:cs typeface="Calibri"/>
              <a:sym typeface="Calibri"/>
            </a:endParaRPr>
          </a:p>
        </p:txBody>
      </p:sp>
      <p:sp>
        <p:nvSpPr>
          <p:cNvPr id="2018" name="Google Shape;2018;p44"/>
          <p:cNvSpPr txBox="1"/>
          <p:nvPr/>
        </p:nvSpPr>
        <p:spPr>
          <a:xfrm>
            <a:off x="5587898" y="6262726"/>
            <a:ext cx="2907792"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63 creator videos (32.6% of category) driving 55% of heavy-item mentions (63 of 113)</a:t>
            </a:r>
            <a:endParaRPr b="0" i="0" sz="1100" u="none" cap="none" strike="noStrike">
              <a:solidFill>
                <a:schemeClr val="dk1"/>
              </a:solidFill>
              <a:latin typeface="Calibri"/>
              <a:ea typeface="Calibri"/>
              <a:cs typeface="Calibri"/>
              <a:sym typeface="Calibri"/>
            </a:endParaRPr>
          </a:p>
        </p:txBody>
      </p:sp>
      <p:sp>
        <p:nvSpPr>
          <p:cNvPr id="2019" name="Google Shape;2019;p44"/>
          <p:cNvSpPr txBox="1"/>
          <p:nvPr/>
        </p:nvSpPr>
        <p:spPr>
          <a:xfrm>
            <a:off x="5587898" y="6963156"/>
            <a:ext cx="2641702"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Coverage: Installation Ease 49.2%, Damage-Free 45.5%, Holding Strength 38.9%</a:t>
            </a:r>
            <a:endParaRPr b="0" i="0" sz="1100" u="none" cap="none" strike="noStrike">
              <a:solidFill>
                <a:schemeClr val="dk1"/>
              </a:solidFill>
              <a:latin typeface="Calibri"/>
              <a:ea typeface="Calibri"/>
              <a:cs typeface="Calibri"/>
              <a:sym typeface="Calibri"/>
            </a:endParaRPr>
          </a:p>
        </p:txBody>
      </p:sp>
      <p:sp>
        <p:nvSpPr>
          <p:cNvPr id="2020" name="Google Shape;2020;p44"/>
          <p:cNvSpPr txBox="1"/>
          <p:nvPr/>
        </p:nvSpPr>
        <p:spPr>
          <a:xfrm>
            <a:off x="8604504" y="5967374"/>
            <a:ext cx="18480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SENTIMENT PATTERN</a:t>
            </a:r>
            <a:endParaRPr b="0" i="0" sz="1200" u="none" cap="none" strike="noStrike">
              <a:solidFill>
                <a:schemeClr val="dk1"/>
              </a:solidFill>
              <a:latin typeface="Calibri"/>
              <a:ea typeface="Calibri"/>
              <a:cs typeface="Calibri"/>
              <a:sym typeface="Calibri"/>
            </a:endParaRPr>
          </a:p>
        </p:txBody>
      </p:sp>
      <p:sp>
        <p:nvSpPr>
          <p:cNvPr id="2021" name="Google Shape;2021;p44"/>
          <p:cNvSpPr txBox="1"/>
          <p:nvPr/>
        </p:nvSpPr>
        <p:spPr>
          <a:xfrm>
            <a:off x="8794699" y="6262726"/>
            <a:ext cx="2774290"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17.5% positive / 4.8% negative (≈11:3) vs category 15% / 4%</a:t>
            </a:r>
            <a:endParaRPr b="0" i="0" sz="1100" u="none" cap="none" strike="noStrike">
              <a:solidFill>
                <a:schemeClr val="dk1"/>
              </a:solidFill>
              <a:latin typeface="Calibri"/>
              <a:ea typeface="Calibri"/>
              <a:cs typeface="Calibri"/>
              <a:sym typeface="Calibri"/>
            </a:endParaRPr>
          </a:p>
        </p:txBody>
      </p:sp>
      <p:sp>
        <p:nvSpPr>
          <p:cNvPr id="2022" name="Google Shape;2022;p44"/>
          <p:cNvSpPr txBox="1"/>
          <p:nvPr/>
        </p:nvSpPr>
        <p:spPr>
          <a:xfrm>
            <a:off x="8794699" y="6748272"/>
            <a:ext cx="269839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0" lang="en-US" sz="1100" u="none" cap="none" strike="noStrike">
                <a:solidFill>
                  <a:srgbClr val="2C3E50"/>
                </a:solidFill>
                <a:latin typeface="Open Sans"/>
                <a:ea typeface="Open Sans"/>
                <a:cs typeface="Open Sans"/>
                <a:sym typeface="Open Sans"/>
              </a:rPr>
              <a:t>78% neutral/mixed demo-style content</a:t>
            </a:r>
            <a:endParaRPr b="0" i="0" sz="1100" u="none" cap="none" strike="noStrike">
              <a:solidFill>
                <a:schemeClr val="dk1"/>
              </a:solidFill>
              <a:latin typeface="Calibri"/>
              <a:ea typeface="Calibri"/>
              <a:cs typeface="Calibri"/>
              <a:sym typeface="Calibri"/>
            </a:endParaRPr>
          </a:p>
        </p:txBody>
      </p:sp>
      <p:sp>
        <p:nvSpPr>
          <p:cNvPr id="2023" name="Google Shape;2023;p44"/>
          <p:cNvSpPr txBox="1"/>
          <p:nvPr/>
        </p:nvSpPr>
        <p:spPr>
          <a:xfrm>
            <a:off x="533095" y="7824521"/>
            <a:ext cx="204825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Montserrat"/>
              <a:buNone/>
            </a:pPr>
            <a:r>
              <a:rPr b="1" i="0" lang="en-US" sz="1200" u="none" cap="none" strike="noStrike">
                <a:solidFill>
                  <a:srgbClr val="2C3E50"/>
                </a:solidFill>
                <a:latin typeface="Montserrat"/>
                <a:ea typeface="Montserrat"/>
                <a:cs typeface="Montserrat"/>
                <a:sym typeface="Montserrat"/>
              </a:rPr>
              <a:t>CONSUMER VERBATIMS</a:t>
            </a:r>
            <a:endParaRPr b="0" i="0" sz="1200" u="none" cap="none" strike="noStrike">
              <a:solidFill>
                <a:schemeClr val="dk1"/>
              </a:solidFill>
              <a:latin typeface="Calibri"/>
              <a:ea typeface="Calibri"/>
              <a:cs typeface="Calibri"/>
              <a:sym typeface="Calibri"/>
            </a:endParaRPr>
          </a:p>
        </p:txBody>
      </p:sp>
      <p:sp>
        <p:nvSpPr>
          <p:cNvPr id="2024" name="Google Shape;2024;p44"/>
          <p:cNvSpPr/>
          <p:nvPr/>
        </p:nvSpPr>
        <p:spPr>
          <a:xfrm>
            <a:off x="533095" y="8110728"/>
            <a:ext cx="5486400" cy="990295"/>
          </a:xfrm>
          <a:prstGeom prst="roundRect">
            <a:avLst>
              <a:gd fmla="val 3551" name="adj"/>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4"/>
          <p:cNvSpPr txBox="1"/>
          <p:nvPr/>
        </p:nvSpPr>
        <p:spPr>
          <a:xfrm>
            <a:off x="724205" y="8272577"/>
            <a:ext cx="5203850"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1" lang="en-US" sz="1100" u="none" cap="none" strike="noStrike">
                <a:solidFill>
                  <a:srgbClr val="2C3E50"/>
                </a:solidFill>
                <a:latin typeface="Open Sans"/>
                <a:ea typeface="Open Sans"/>
                <a:cs typeface="Open Sans"/>
                <a:sym typeface="Open Sans"/>
              </a:rPr>
              <a:t>"No regrets, no big holes left in your wall. These don't need studs… you don't need any tools to hang it."</a:t>
            </a:r>
            <a:endParaRPr b="0" i="0" sz="1100" u="none" cap="none" strike="noStrike">
              <a:solidFill>
                <a:schemeClr val="dk1"/>
              </a:solidFill>
              <a:latin typeface="Calibri"/>
              <a:ea typeface="Calibri"/>
              <a:cs typeface="Calibri"/>
              <a:sym typeface="Calibri"/>
            </a:endParaRPr>
          </a:p>
        </p:txBody>
      </p:sp>
      <p:sp>
        <p:nvSpPr>
          <p:cNvPr id="2026" name="Google Shape;2026;p44"/>
          <p:cNvSpPr txBox="1"/>
          <p:nvPr/>
        </p:nvSpPr>
        <p:spPr>
          <a:xfrm>
            <a:off x="724205" y="8758123"/>
            <a:ext cx="219638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Open Sans"/>
              <a:buNone/>
            </a:pPr>
            <a:r>
              <a:rPr b="1" i="0" lang="en-US" sz="1000" u="none" cap="none" strike="noStrike">
                <a:solidFill>
                  <a:srgbClr val="16A085"/>
                </a:solidFill>
                <a:latin typeface="Open Sans"/>
                <a:ea typeface="Open Sans"/>
                <a:cs typeface="Open Sans"/>
                <a:sym typeface="Open Sans"/>
              </a:rPr>
              <a:t>— XO, MaCenna (YouTube, 2025)</a:t>
            </a:r>
            <a:endParaRPr b="0" i="0" sz="1000" u="none" cap="none" strike="noStrike">
              <a:solidFill>
                <a:schemeClr val="dk1"/>
              </a:solidFill>
              <a:latin typeface="Calibri"/>
              <a:ea typeface="Calibri"/>
              <a:cs typeface="Calibri"/>
              <a:sym typeface="Calibri"/>
            </a:endParaRPr>
          </a:p>
        </p:txBody>
      </p:sp>
      <p:sp>
        <p:nvSpPr>
          <p:cNvPr id="2027" name="Google Shape;2027;p44"/>
          <p:cNvSpPr/>
          <p:nvPr/>
        </p:nvSpPr>
        <p:spPr>
          <a:xfrm>
            <a:off x="6172200" y="8110728"/>
            <a:ext cx="5486400" cy="990295"/>
          </a:xfrm>
          <a:prstGeom prst="roundRect">
            <a:avLst>
              <a:gd fmla="val 3551" name="adj"/>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4"/>
          <p:cNvSpPr txBox="1"/>
          <p:nvPr/>
        </p:nvSpPr>
        <p:spPr>
          <a:xfrm>
            <a:off x="6362395" y="8272577"/>
            <a:ext cx="5060290"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Open Sans"/>
              <a:buNone/>
            </a:pPr>
            <a:r>
              <a:rPr b="0" i="1" lang="en-US" sz="1100" u="none" cap="none" strike="noStrike">
                <a:solidFill>
                  <a:srgbClr val="2C3E50"/>
                </a:solidFill>
                <a:latin typeface="Open Sans"/>
                <a:ea typeface="Open Sans"/>
                <a:cs typeface="Open Sans"/>
                <a:sym typeface="Open Sans"/>
              </a:rPr>
              <a:t>"I've been trying to push this 45 lb claw in and it won't go… there's no stud. These things are fairly useless."</a:t>
            </a:r>
            <a:endParaRPr b="0" i="0" sz="1100" u="none" cap="none" strike="noStrike">
              <a:solidFill>
                <a:schemeClr val="dk1"/>
              </a:solidFill>
              <a:latin typeface="Calibri"/>
              <a:ea typeface="Calibri"/>
              <a:cs typeface="Calibri"/>
              <a:sym typeface="Calibri"/>
            </a:endParaRPr>
          </a:p>
        </p:txBody>
      </p:sp>
      <p:sp>
        <p:nvSpPr>
          <p:cNvPr id="2029" name="Google Shape;2029;p44"/>
          <p:cNvSpPr txBox="1"/>
          <p:nvPr/>
        </p:nvSpPr>
        <p:spPr>
          <a:xfrm>
            <a:off x="6362395" y="8758123"/>
            <a:ext cx="215798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000"/>
              <a:buFont typeface="Open Sans"/>
              <a:buNone/>
            </a:pPr>
            <a:r>
              <a:rPr b="1" i="0" lang="en-US" sz="1000" u="none" cap="none" strike="noStrike">
                <a:solidFill>
                  <a:srgbClr val="16A085"/>
                </a:solidFill>
                <a:latin typeface="Open Sans"/>
                <a:ea typeface="Open Sans"/>
                <a:cs typeface="Open Sans"/>
                <a:sym typeface="Open Sans"/>
              </a:rPr>
              <a:t>— 3 Point Films (YouTube, 2024)</a:t>
            </a:r>
            <a:endParaRPr b="0" i="0" sz="1000" u="none" cap="none" strike="noStrike">
              <a:solidFill>
                <a:schemeClr val="dk1"/>
              </a:solidFill>
              <a:latin typeface="Calibri"/>
              <a:ea typeface="Calibri"/>
              <a:cs typeface="Calibri"/>
              <a:sym typeface="Calibri"/>
            </a:endParaRPr>
          </a:p>
        </p:txBody>
      </p:sp>
      <p:sp>
        <p:nvSpPr>
          <p:cNvPr id="2030" name="Google Shape;2030;p44"/>
          <p:cNvSpPr txBox="1"/>
          <p:nvPr/>
        </p:nvSpPr>
        <p:spPr>
          <a:xfrm>
            <a:off x="533095" y="9634118"/>
            <a:ext cx="7475220"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A5A6"/>
              </a:buClr>
              <a:buSzPts val="900"/>
              <a:buFont typeface="Open Sans"/>
              <a:buNone/>
            </a:pPr>
            <a:r>
              <a:rPr b="0" i="0" lang="en-US" sz="900" u="none" cap="none" strike="noStrike">
                <a:solidFill>
                  <a:srgbClr val="95A5A6"/>
                </a:solidFill>
                <a:latin typeface="Open Sans"/>
                <a:ea typeface="Open Sans"/>
                <a:cs typeface="Open Sans"/>
                <a:sym typeface="Open Sans"/>
              </a:rPr>
              <a:t>Source: Phase 2 Brand Perception Analysis (n=214 creator videos; refreshed 1 Nov 2025) &amp; 3M Claw transcript review (51 videos)</a:t>
            </a:r>
            <a:endParaRPr b="0" i="0" sz="900" u="none" cap="none" strike="noStrike">
              <a:solidFill>
                <a:schemeClr val="dk1"/>
              </a:solidFill>
              <a:latin typeface="Calibri"/>
              <a:ea typeface="Calibri"/>
              <a:cs typeface="Calibri"/>
              <a:sym typeface="Calibri"/>
            </a:endParaRPr>
          </a:p>
        </p:txBody>
      </p:sp>
      <p:sp>
        <p:nvSpPr>
          <p:cNvPr id="2031" name="Google Shape;2031;p44"/>
          <p:cNvSpPr txBox="1"/>
          <p:nvPr/>
        </p:nvSpPr>
        <p:spPr>
          <a:xfrm>
            <a:off x="8448142" y="9634118"/>
            <a:ext cx="3312871"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A5A6"/>
              </a:buClr>
              <a:buSzPts val="900"/>
              <a:buFont typeface="Open Sans"/>
              <a:buNone/>
            </a:pPr>
            <a:r>
              <a:rPr b="0" i="0" lang="en-US" sz="900" u="none" cap="none" strike="noStrike">
                <a:solidFill>
                  <a:srgbClr val="95A5A6"/>
                </a:solidFill>
                <a:latin typeface="Open Sans"/>
                <a:ea typeface="Open Sans"/>
                <a:cs typeface="Open Sans"/>
                <a:sym typeface="Open Sans"/>
              </a:rPr>
              <a:t>3M Internal – Strategic Category Intelligence | Nov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6" name="Shape 2036"/>
        <p:cNvGrpSpPr/>
        <p:nvPr/>
      </p:nvGrpSpPr>
      <p:grpSpPr>
        <a:xfrm>
          <a:off x="0" y="0"/>
          <a:ext cx="0" cy="0"/>
          <a:chOff x="0" y="0"/>
          <a:chExt cx="0" cy="0"/>
        </a:xfrm>
      </p:grpSpPr>
      <p:sp>
        <p:nvSpPr>
          <p:cNvPr id="2037" name="Google Shape;2037;p45"/>
          <p:cNvSpPr/>
          <p:nvPr/>
        </p:nvSpPr>
        <p:spPr>
          <a:xfrm>
            <a:off x="0" y="0"/>
            <a:ext cx="12191695" cy="8287207"/>
          </a:xfrm>
          <a:prstGeom prst="rect">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5"/>
          <p:cNvSpPr/>
          <p:nvPr/>
        </p:nvSpPr>
        <p:spPr>
          <a:xfrm>
            <a:off x="0" y="0"/>
            <a:ext cx="12191695" cy="8287207"/>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5"/>
          <p:cNvSpPr/>
          <p:nvPr/>
        </p:nvSpPr>
        <p:spPr>
          <a:xfrm>
            <a:off x="533095" y="457200"/>
            <a:ext cx="761695" cy="47549"/>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5"/>
          <p:cNvSpPr txBox="1"/>
          <p:nvPr/>
        </p:nvSpPr>
        <p:spPr>
          <a:xfrm>
            <a:off x="533095" y="780898"/>
            <a:ext cx="502920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Montserrat"/>
              <a:buNone/>
            </a:pPr>
            <a:r>
              <a:rPr b="1" i="0" lang="en-US" sz="2700" u="none" cap="none" strike="noStrike">
                <a:solidFill>
                  <a:srgbClr val="FFFFFF"/>
                </a:solidFill>
                <a:latin typeface="Montserrat"/>
                <a:ea typeface="Montserrat"/>
                <a:cs typeface="Montserrat"/>
                <a:sym typeface="Montserrat"/>
              </a:rPr>
              <a:t>3M Claw: Strategic Insights</a:t>
            </a:r>
            <a:endParaRPr b="0" i="0" sz="2700" u="none" cap="none" strike="noStrike">
              <a:solidFill>
                <a:schemeClr val="dk1"/>
              </a:solidFill>
              <a:latin typeface="Calibri"/>
              <a:ea typeface="Calibri"/>
              <a:cs typeface="Calibri"/>
              <a:sym typeface="Calibri"/>
            </a:endParaRPr>
          </a:p>
        </p:txBody>
      </p:sp>
      <p:sp>
        <p:nvSpPr>
          <p:cNvPr id="2041" name="Google Shape;2041;p45"/>
          <p:cNvSpPr/>
          <p:nvPr/>
        </p:nvSpPr>
        <p:spPr>
          <a:xfrm>
            <a:off x="533095" y="1705356"/>
            <a:ext cx="11125505" cy="1742846"/>
          </a:xfrm>
          <a:prstGeom prst="roundRect">
            <a:avLst>
              <a:gd fmla="val 2294" name="adj"/>
            </a:avLst>
          </a:prstGeom>
          <a:solidFill>
            <a:srgbClr val="FFFFFF">
              <a:alpha val="6666"/>
            </a:srgbClr>
          </a:solidFill>
          <a:ln>
            <a:noFill/>
          </a:ln>
          <a:effectLst>
            <a:outerShdw blurRad="114300" rotWithShape="0" algn="bl" dir="54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5"/>
          <p:cNvSpPr/>
          <p:nvPr/>
        </p:nvSpPr>
        <p:spPr>
          <a:xfrm>
            <a:off x="533095" y="1705356"/>
            <a:ext cx="57607" cy="1742846"/>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5"/>
          <p:cNvSpPr/>
          <p:nvPr/>
        </p:nvSpPr>
        <p:spPr>
          <a:xfrm>
            <a:off x="857707" y="1933956"/>
            <a:ext cx="304495" cy="304495"/>
          </a:xfrm>
          <a:prstGeom prst="ellipse">
            <a:avLst/>
          </a:prstGeom>
          <a:solidFill>
            <a:srgbClr val="16A085">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4" name="Google Shape;2044;p45"/>
          <p:cNvPicPr preferRelativeResize="0"/>
          <p:nvPr/>
        </p:nvPicPr>
        <p:blipFill rotWithShape="1">
          <a:blip r:embed="rId3">
            <a:alphaModFix/>
          </a:blip>
          <a:srcRect b="0" l="0" r="0" t="0"/>
          <a:stretch/>
        </p:blipFill>
        <p:spPr>
          <a:xfrm>
            <a:off x="933602" y="2009851"/>
            <a:ext cx="152705" cy="152705"/>
          </a:xfrm>
          <a:prstGeom prst="rect">
            <a:avLst/>
          </a:prstGeom>
          <a:noFill/>
          <a:ln>
            <a:noFill/>
          </a:ln>
        </p:spPr>
      </p:pic>
      <p:sp>
        <p:nvSpPr>
          <p:cNvPr id="2045" name="Google Shape;2045;p45"/>
          <p:cNvSpPr txBox="1"/>
          <p:nvPr/>
        </p:nvSpPr>
        <p:spPr>
          <a:xfrm>
            <a:off x="1295705" y="1990649"/>
            <a:ext cx="1295705"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THE PATTERN</a:t>
            </a:r>
            <a:endParaRPr b="0" i="0" sz="1200" u="none" cap="none" strike="noStrike">
              <a:solidFill>
                <a:schemeClr val="dk1"/>
              </a:solidFill>
              <a:latin typeface="Calibri"/>
              <a:ea typeface="Calibri"/>
              <a:cs typeface="Calibri"/>
              <a:sym typeface="Calibri"/>
            </a:endParaRPr>
          </a:p>
        </p:txBody>
      </p:sp>
      <p:sp>
        <p:nvSpPr>
          <p:cNvPr id="2046" name="Google Shape;2046;p45"/>
          <p:cNvSpPr txBox="1"/>
          <p:nvPr/>
        </p:nvSpPr>
        <p:spPr>
          <a:xfrm>
            <a:off x="1295705" y="2409444"/>
            <a:ext cx="10148926"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Open Sans"/>
              <a:buNone/>
            </a:pPr>
            <a:r>
              <a:rPr b="0" i="0" lang="en-US" sz="1300" u="none" cap="none" strike="noStrike">
                <a:solidFill>
                  <a:srgbClr val="FFFFFF"/>
                </a:solidFill>
                <a:latin typeface="Open Sans"/>
                <a:ea typeface="Open Sans"/>
                <a:cs typeface="Open Sans"/>
                <a:sym typeface="Open Sans"/>
              </a:rPr>
              <a:t>3M Claw delivers the highest heavy-weight credibility: 55% of category 'heavy items' mentions, 10 creator videos explicitly tout "no tools," and a 11:3 positive-to-negative ratio. Brand satisfaction outperforms category baseline across all tested traits, positioning Claw as the premium strength leader.</a:t>
            </a:r>
            <a:endParaRPr b="0" i="0" sz="1300" u="none" cap="none" strike="noStrike">
              <a:solidFill>
                <a:schemeClr val="dk1"/>
              </a:solidFill>
              <a:latin typeface="Calibri"/>
              <a:ea typeface="Calibri"/>
              <a:cs typeface="Calibri"/>
              <a:sym typeface="Calibri"/>
            </a:endParaRPr>
          </a:p>
        </p:txBody>
      </p:sp>
      <p:sp>
        <p:nvSpPr>
          <p:cNvPr id="2047" name="Google Shape;2047;p45"/>
          <p:cNvSpPr/>
          <p:nvPr/>
        </p:nvSpPr>
        <p:spPr>
          <a:xfrm>
            <a:off x="533095" y="3632911"/>
            <a:ext cx="11125505" cy="1742846"/>
          </a:xfrm>
          <a:prstGeom prst="roundRect">
            <a:avLst>
              <a:gd fmla="val 2294" name="adj"/>
            </a:avLst>
          </a:prstGeom>
          <a:solidFill>
            <a:srgbClr val="FFFFFF">
              <a:alpha val="6666"/>
            </a:srgbClr>
          </a:solidFill>
          <a:ln>
            <a:noFill/>
          </a:ln>
          <a:effectLst>
            <a:outerShdw blurRad="114300" rotWithShape="0" algn="bl" dir="54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5"/>
          <p:cNvSpPr/>
          <p:nvPr/>
        </p:nvSpPr>
        <p:spPr>
          <a:xfrm>
            <a:off x="533095" y="3632911"/>
            <a:ext cx="57607" cy="1742846"/>
          </a:xfrm>
          <a:prstGeom prst="rect">
            <a:avLst/>
          </a:prstGeom>
          <a:solidFill>
            <a:srgbClr val="F39C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5"/>
          <p:cNvSpPr/>
          <p:nvPr/>
        </p:nvSpPr>
        <p:spPr>
          <a:xfrm>
            <a:off x="857707" y="3861511"/>
            <a:ext cx="304495" cy="304495"/>
          </a:xfrm>
          <a:prstGeom prst="ellipse">
            <a:avLst/>
          </a:prstGeom>
          <a:solidFill>
            <a:srgbClr val="F39C12">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0" name="Google Shape;2050;p45"/>
          <p:cNvPicPr preferRelativeResize="0"/>
          <p:nvPr/>
        </p:nvPicPr>
        <p:blipFill rotWithShape="1">
          <a:blip r:embed="rId4">
            <a:alphaModFix/>
          </a:blip>
          <a:srcRect b="0" l="0" r="0" t="0"/>
          <a:stretch/>
        </p:blipFill>
        <p:spPr>
          <a:xfrm>
            <a:off x="933602" y="3937406"/>
            <a:ext cx="152705" cy="152705"/>
          </a:xfrm>
          <a:prstGeom prst="rect">
            <a:avLst/>
          </a:prstGeom>
          <a:noFill/>
          <a:ln>
            <a:noFill/>
          </a:ln>
        </p:spPr>
      </p:pic>
      <p:sp>
        <p:nvSpPr>
          <p:cNvPr id="2051" name="Google Shape;2051;p45"/>
          <p:cNvSpPr txBox="1"/>
          <p:nvPr/>
        </p:nvSpPr>
        <p:spPr>
          <a:xfrm>
            <a:off x="1295705" y="3918204"/>
            <a:ext cx="123901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9C12"/>
              </a:buClr>
              <a:buSzPts val="1200"/>
              <a:buFont typeface="Montserrat"/>
              <a:buNone/>
            </a:pPr>
            <a:r>
              <a:rPr b="1" i="0" lang="en-US" sz="1200" u="none" cap="none" strike="noStrike">
                <a:solidFill>
                  <a:srgbClr val="F39C12"/>
                </a:solidFill>
                <a:latin typeface="Montserrat"/>
                <a:ea typeface="Montserrat"/>
                <a:cs typeface="Montserrat"/>
                <a:sym typeface="Montserrat"/>
              </a:rPr>
              <a:t>HARD TRUTH</a:t>
            </a:r>
            <a:endParaRPr b="0" i="0" sz="1200" u="none" cap="none" strike="noStrike">
              <a:solidFill>
                <a:schemeClr val="dk1"/>
              </a:solidFill>
              <a:latin typeface="Calibri"/>
              <a:ea typeface="Calibri"/>
              <a:cs typeface="Calibri"/>
              <a:sym typeface="Calibri"/>
            </a:endParaRPr>
          </a:p>
        </p:txBody>
      </p:sp>
      <p:sp>
        <p:nvSpPr>
          <p:cNvPr id="2052" name="Google Shape;2052;p45"/>
          <p:cNvSpPr txBox="1"/>
          <p:nvPr/>
        </p:nvSpPr>
        <p:spPr>
          <a:xfrm>
            <a:off x="1295705" y="4337914"/>
            <a:ext cx="10083089"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Open Sans"/>
              <a:buNone/>
            </a:pPr>
            <a:r>
              <a:rPr b="0" i="0" lang="en-US" sz="1300" u="none" cap="none" strike="noStrike">
                <a:solidFill>
                  <a:srgbClr val="FFFFFF"/>
                </a:solidFill>
                <a:latin typeface="Open Sans"/>
                <a:ea typeface="Open Sans"/>
                <a:cs typeface="Open Sans"/>
                <a:sym typeface="Open Sans"/>
              </a:rPr>
              <a:t>1 in 4 videos flag real-world failures (surface scarring, twisted claws, crushed drywall). High push-force installs undermine the "effortless" promise for older drywall or insulated garage walls—undercutting the core value proposition exactly where it matters most for expansion.</a:t>
            </a:r>
            <a:endParaRPr b="0" i="0" sz="1300" u="none" cap="none" strike="noStrike">
              <a:solidFill>
                <a:schemeClr val="dk1"/>
              </a:solidFill>
              <a:latin typeface="Calibri"/>
              <a:ea typeface="Calibri"/>
              <a:cs typeface="Calibri"/>
              <a:sym typeface="Calibri"/>
            </a:endParaRPr>
          </a:p>
        </p:txBody>
      </p:sp>
      <p:sp>
        <p:nvSpPr>
          <p:cNvPr id="2053" name="Google Shape;2053;p45"/>
          <p:cNvSpPr/>
          <p:nvPr/>
        </p:nvSpPr>
        <p:spPr>
          <a:xfrm>
            <a:off x="533095" y="5560466"/>
            <a:ext cx="11125505" cy="1742846"/>
          </a:xfrm>
          <a:prstGeom prst="roundRect">
            <a:avLst>
              <a:gd fmla="val 2294" name="adj"/>
            </a:avLst>
          </a:prstGeom>
          <a:solidFill>
            <a:srgbClr val="FFFFFF">
              <a:alpha val="6666"/>
            </a:srgbClr>
          </a:solidFill>
          <a:ln>
            <a:noFill/>
          </a:ln>
          <a:effectLst>
            <a:outerShdw blurRad="114300" rotWithShape="0" algn="bl" dir="54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45"/>
          <p:cNvSpPr/>
          <p:nvPr/>
        </p:nvSpPr>
        <p:spPr>
          <a:xfrm>
            <a:off x="533095" y="5560466"/>
            <a:ext cx="57607" cy="1742846"/>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5"/>
          <p:cNvSpPr/>
          <p:nvPr/>
        </p:nvSpPr>
        <p:spPr>
          <a:xfrm>
            <a:off x="857707" y="5789066"/>
            <a:ext cx="304495" cy="304495"/>
          </a:xfrm>
          <a:prstGeom prst="ellipse">
            <a:avLst/>
          </a:prstGeom>
          <a:solidFill>
            <a:srgbClr val="E74C3C">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6" name="Google Shape;2056;p45"/>
          <p:cNvPicPr preferRelativeResize="0"/>
          <p:nvPr/>
        </p:nvPicPr>
        <p:blipFill rotWithShape="1">
          <a:blip r:embed="rId5">
            <a:alphaModFix/>
          </a:blip>
          <a:srcRect b="-100" l="0" r="0" t="-100"/>
          <a:stretch/>
        </p:blipFill>
        <p:spPr>
          <a:xfrm>
            <a:off x="952805" y="5864962"/>
            <a:ext cx="114300" cy="152705"/>
          </a:xfrm>
          <a:prstGeom prst="rect">
            <a:avLst/>
          </a:prstGeom>
          <a:noFill/>
          <a:ln>
            <a:noFill/>
          </a:ln>
        </p:spPr>
      </p:pic>
      <p:sp>
        <p:nvSpPr>
          <p:cNvPr id="2057" name="Google Shape;2057;p45"/>
          <p:cNvSpPr txBox="1"/>
          <p:nvPr/>
        </p:nvSpPr>
        <p:spPr>
          <a:xfrm>
            <a:off x="1295705" y="5846674"/>
            <a:ext cx="13908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200"/>
              <a:buFont typeface="Montserrat"/>
              <a:buNone/>
            </a:pPr>
            <a:r>
              <a:rPr b="1" i="0" lang="en-US" sz="1200" u="none" cap="none" strike="noStrike">
                <a:solidFill>
                  <a:srgbClr val="E74C3C"/>
                </a:solidFill>
                <a:latin typeface="Montserrat"/>
                <a:ea typeface="Montserrat"/>
                <a:cs typeface="Montserrat"/>
                <a:sym typeface="Montserrat"/>
              </a:rPr>
              <a:t>PROVOCATION</a:t>
            </a:r>
            <a:endParaRPr b="0" i="0" sz="1200" u="none" cap="none" strike="noStrike">
              <a:solidFill>
                <a:schemeClr val="dk1"/>
              </a:solidFill>
              <a:latin typeface="Calibri"/>
              <a:ea typeface="Calibri"/>
              <a:cs typeface="Calibri"/>
              <a:sym typeface="Calibri"/>
            </a:endParaRPr>
          </a:p>
        </p:txBody>
      </p:sp>
      <p:sp>
        <p:nvSpPr>
          <p:cNvPr id="2058" name="Google Shape;2058;p45"/>
          <p:cNvSpPr txBox="1"/>
          <p:nvPr/>
        </p:nvSpPr>
        <p:spPr>
          <a:xfrm>
            <a:off x="1295705" y="6265469"/>
            <a:ext cx="10025482" cy="7818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Open Sans"/>
              <a:buNone/>
            </a:pPr>
            <a:r>
              <a:rPr b="0" i="0" lang="en-US" sz="1300" u="none" cap="none" strike="noStrike">
                <a:solidFill>
                  <a:srgbClr val="FFFFFF"/>
                </a:solidFill>
                <a:latin typeface="Open Sans"/>
                <a:ea typeface="Open Sans"/>
                <a:cs typeface="Open Sans"/>
                <a:sym typeface="Open Sans"/>
              </a:rPr>
              <a:t>How can 3M evolve Claw into the garage leader? Consider a 50–75 lb 'garage-grade' kit bundling push-assist guide, substrate checklist, and load verification sticker. Clarify when to pair Claw with Command adhesives to preserve rental equity without diluting either brand's core promise.</a:t>
            </a:r>
            <a:endParaRPr b="0" i="0" sz="1300" u="none" cap="none" strike="noStrike">
              <a:solidFill>
                <a:schemeClr val="dk1"/>
              </a:solidFill>
              <a:latin typeface="Calibri"/>
              <a:ea typeface="Calibri"/>
              <a:cs typeface="Calibri"/>
              <a:sym typeface="Calibri"/>
            </a:endParaRPr>
          </a:p>
        </p:txBody>
      </p:sp>
      <p:sp>
        <p:nvSpPr>
          <p:cNvPr id="2059" name="Google Shape;2059;p45"/>
          <p:cNvSpPr txBox="1"/>
          <p:nvPr/>
        </p:nvSpPr>
        <p:spPr>
          <a:xfrm>
            <a:off x="533095" y="7802575"/>
            <a:ext cx="10437876"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Montserrat"/>
              <a:buNone/>
            </a:pPr>
            <a:r>
              <a:rPr b="0" i="0" lang="en-US" sz="900" u="none" cap="none" strike="noStrike">
                <a:solidFill>
                  <a:srgbClr val="FFFFFF"/>
                </a:solidFill>
                <a:latin typeface="Montserrat"/>
                <a:ea typeface="Montserrat"/>
                <a:cs typeface="Montserrat"/>
                <a:sym typeface="Montserrat"/>
              </a:rPr>
              <a:t>3M Internal – Strategic Category Intelligence | Nov 2025 | Source: Phase 2 Brand Perception Analysis (n=214) &amp; 3M Claw transcript audit (51 processed videos, 12.5k words)</a:t>
            </a:r>
            <a:endParaRPr b="0" i="0" sz="900" u="none" cap="none" strike="noStrike">
              <a:solidFill>
                <a:schemeClr val="dk1"/>
              </a:solidFill>
              <a:latin typeface="Calibri"/>
              <a:ea typeface="Calibri"/>
              <a:cs typeface="Calibri"/>
              <a:sym typeface="Calibri"/>
            </a:endParaRPr>
          </a:p>
        </p:txBody>
      </p:sp>
      <p:sp>
        <p:nvSpPr>
          <p:cNvPr id="2060" name="Google Shape;2060;p45"/>
          <p:cNvSpPr txBox="1"/>
          <p:nvPr/>
        </p:nvSpPr>
        <p:spPr>
          <a:xfrm>
            <a:off x="11508638" y="7802575"/>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Montserrat"/>
              <a:buNone/>
            </a:pPr>
            <a:r>
              <a:rPr b="0" i="0" lang="en-US" sz="900" u="none" cap="none" strike="noStrike">
                <a:solidFill>
                  <a:srgbClr val="FFFFFF"/>
                </a:solidFill>
                <a:latin typeface="Montserrat"/>
                <a:ea typeface="Montserrat"/>
                <a:cs typeface="Montserrat"/>
                <a:sym typeface="Montserrat"/>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46"/>
          <p:cNvSpPr/>
          <p:nvPr/>
        </p:nvSpPr>
        <p:spPr>
          <a:xfrm>
            <a:off x="0" y="0"/>
            <a:ext cx="12191695" cy="880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6"/>
          <p:cNvSpPr/>
          <p:nvPr/>
        </p:nvSpPr>
        <p:spPr>
          <a:xfrm>
            <a:off x="0" y="0"/>
            <a:ext cx="12191695" cy="880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6"/>
          <p:cNvSpPr/>
          <p:nvPr/>
        </p:nvSpPr>
        <p:spPr>
          <a:xfrm>
            <a:off x="6099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6"/>
          <p:cNvSpPr txBox="1"/>
          <p:nvPr/>
        </p:nvSpPr>
        <p:spPr>
          <a:xfrm>
            <a:off x="609905" y="647395"/>
            <a:ext cx="79443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Command Brand Perception: Equity vs Category</a:t>
            </a:r>
            <a:endParaRPr b="0" i="0" sz="2400" u="none" cap="none" strike="noStrike">
              <a:solidFill>
                <a:schemeClr val="dk1"/>
              </a:solidFill>
              <a:latin typeface="Calibri"/>
              <a:ea typeface="Calibri"/>
              <a:cs typeface="Calibri"/>
              <a:sym typeface="Calibri"/>
            </a:endParaRPr>
          </a:p>
        </p:txBody>
      </p:sp>
      <p:sp>
        <p:nvSpPr>
          <p:cNvPr id="2070" name="Google Shape;2070;p46"/>
          <p:cNvSpPr txBox="1"/>
          <p:nvPr/>
        </p:nvSpPr>
        <p:spPr>
          <a:xfrm>
            <a:off x="609905" y="1143000"/>
            <a:ext cx="86255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Phase 2 Brand Perception Analysis, n=214 creator videos; Command subset analysis (n=62); Amazon review analysis (n=1,781)</a:t>
            </a:r>
            <a:endParaRPr b="0" i="0" sz="1000" u="none" cap="none" strike="noStrike">
              <a:solidFill>
                <a:schemeClr val="dk1"/>
              </a:solidFill>
              <a:latin typeface="Calibri"/>
              <a:ea typeface="Calibri"/>
              <a:cs typeface="Calibri"/>
              <a:sym typeface="Calibri"/>
            </a:endParaRPr>
          </a:p>
        </p:txBody>
      </p:sp>
      <p:sp>
        <p:nvSpPr>
          <p:cNvPr id="2071" name="Google Shape;2071;p46"/>
          <p:cNvSpPr/>
          <p:nvPr/>
        </p:nvSpPr>
        <p:spPr>
          <a:xfrm>
            <a:off x="609905" y="1476756"/>
            <a:ext cx="10972800" cy="780898"/>
          </a:xfrm>
          <a:prstGeom prst="roundRect">
            <a:avLst>
              <a:gd fmla="val 11424" name="adj"/>
            </a:avLst>
          </a:prstGeom>
          <a:solidFill>
            <a:srgbClr val="E8F6F3"/>
          </a:solidFill>
          <a:ln cap="flat" cmpd="sng" w="12700">
            <a:solidFill>
              <a:srgbClr val="16A085">
                <a:alpha val="20000"/>
              </a:srgbClr>
            </a:solidFill>
            <a:prstDash val="solid"/>
            <a:round/>
            <a:headEnd len="sm" w="sm" type="none"/>
            <a:tailEnd len="sm" w="sm" type="none"/>
          </a:ln>
          <a:effectLst>
            <a:outerShdw blurRad="508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6"/>
          <p:cNvSpPr txBox="1"/>
          <p:nvPr/>
        </p:nvSpPr>
        <p:spPr>
          <a:xfrm>
            <a:off x="771754" y="1657807"/>
            <a:ext cx="1064910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0" i="0" lang="en-US" sz="1200" u="none" cap="none" strike="noStrike">
                <a:solidFill>
                  <a:srgbClr val="2C3E50"/>
                </a:solidFill>
                <a:latin typeface="Inter"/>
                <a:ea typeface="Inter"/>
                <a:cs typeface="Inter"/>
                <a:sym typeface="Inter"/>
              </a:rPr>
              <a:t>Command's core positioning centers on damage-free adhesive mounting for rental/temporary applications. With 16 mentions of rental applications in the research, Command has 17.6% content coverage compared to 36% of US households that rent—revealing a potential opportunity gap.</a:t>
            </a:r>
            <a:endParaRPr b="0" i="0" sz="1200" u="none" cap="none" strike="noStrike">
              <a:solidFill>
                <a:schemeClr val="dk1"/>
              </a:solidFill>
              <a:latin typeface="Calibri"/>
              <a:ea typeface="Calibri"/>
              <a:cs typeface="Calibri"/>
              <a:sym typeface="Calibri"/>
            </a:endParaRPr>
          </a:p>
        </p:txBody>
      </p:sp>
      <p:sp>
        <p:nvSpPr>
          <p:cNvPr id="2073" name="Google Shape;2073;p46"/>
          <p:cNvSpPr/>
          <p:nvPr/>
        </p:nvSpPr>
        <p:spPr>
          <a:xfrm>
            <a:off x="609905" y="2733142"/>
            <a:ext cx="5372100" cy="19202"/>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6"/>
          <p:cNvSpPr txBox="1"/>
          <p:nvPr/>
        </p:nvSpPr>
        <p:spPr>
          <a:xfrm>
            <a:off x="609905" y="2467051"/>
            <a:ext cx="28008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Command vs Category Performance</a:t>
            </a:r>
            <a:endParaRPr b="0" i="0" sz="1200" u="none" cap="none" strike="noStrike">
              <a:solidFill>
                <a:schemeClr val="dk1"/>
              </a:solidFill>
              <a:latin typeface="Calibri"/>
              <a:ea typeface="Calibri"/>
              <a:cs typeface="Calibri"/>
              <a:sym typeface="Calibri"/>
            </a:endParaRPr>
          </a:p>
        </p:txBody>
      </p:sp>
      <p:pic>
        <p:nvPicPr>
          <p:cNvPr descr="preencoded.png" id="2075" name="Google Shape;2075;p46"/>
          <p:cNvPicPr preferRelativeResize="0"/>
          <p:nvPr/>
        </p:nvPicPr>
        <p:blipFill rotWithShape="1">
          <a:blip r:embed="rId3">
            <a:alphaModFix/>
          </a:blip>
          <a:srcRect b="0" l="0" r="0" t="0"/>
          <a:stretch/>
        </p:blipFill>
        <p:spPr>
          <a:xfrm>
            <a:off x="1867205" y="2866644"/>
            <a:ext cx="2857500" cy="2857500"/>
          </a:xfrm>
          <a:prstGeom prst="rect">
            <a:avLst/>
          </a:prstGeom>
          <a:noFill/>
          <a:ln>
            <a:noFill/>
          </a:ln>
        </p:spPr>
      </p:pic>
      <p:sp>
        <p:nvSpPr>
          <p:cNvPr id="2076" name="Google Shape;2076;p46"/>
          <p:cNvSpPr/>
          <p:nvPr/>
        </p:nvSpPr>
        <p:spPr>
          <a:xfrm>
            <a:off x="2182673" y="5862218"/>
            <a:ext cx="152705" cy="152705"/>
          </a:xfrm>
          <a:prstGeom prst="roundRect">
            <a:avLst>
              <a:gd fmla="val 74850" name="adj"/>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6"/>
          <p:cNvSpPr txBox="1"/>
          <p:nvPr/>
        </p:nvSpPr>
        <p:spPr>
          <a:xfrm>
            <a:off x="2392070" y="5857646"/>
            <a:ext cx="9573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Category Avg</a:t>
            </a:r>
            <a:endParaRPr b="0" i="0" sz="1000" u="none" cap="none" strike="noStrike">
              <a:solidFill>
                <a:schemeClr val="dk1"/>
              </a:solidFill>
              <a:latin typeface="Calibri"/>
              <a:ea typeface="Calibri"/>
              <a:cs typeface="Calibri"/>
              <a:sym typeface="Calibri"/>
            </a:endParaRPr>
          </a:p>
        </p:txBody>
      </p:sp>
      <p:sp>
        <p:nvSpPr>
          <p:cNvPr id="2078" name="Google Shape;2078;p46"/>
          <p:cNvSpPr/>
          <p:nvPr/>
        </p:nvSpPr>
        <p:spPr>
          <a:xfrm>
            <a:off x="3400654" y="5862218"/>
            <a:ext cx="152705" cy="152705"/>
          </a:xfrm>
          <a:prstGeom prst="roundRect">
            <a:avLst>
              <a:gd fmla="val 74850"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6"/>
          <p:cNvSpPr txBox="1"/>
          <p:nvPr/>
        </p:nvSpPr>
        <p:spPr>
          <a:xfrm>
            <a:off x="3610051" y="5857646"/>
            <a:ext cx="747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Inter"/>
              <a:buNone/>
            </a:pPr>
            <a:r>
              <a:rPr b="0" i="0" lang="en-US" sz="1000" u="none" cap="none" strike="noStrike">
                <a:solidFill>
                  <a:srgbClr val="2C3E50"/>
                </a:solidFill>
                <a:latin typeface="Inter"/>
                <a:ea typeface="Inter"/>
                <a:cs typeface="Inter"/>
                <a:sym typeface="Inter"/>
              </a:rPr>
              <a:t>Command</a:t>
            </a:r>
            <a:endParaRPr b="0" i="0" sz="1000" u="none" cap="none" strike="noStrike">
              <a:solidFill>
                <a:schemeClr val="dk1"/>
              </a:solidFill>
              <a:latin typeface="Calibri"/>
              <a:ea typeface="Calibri"/>
              <a:cs typeface="Calibri"/>
              <a:sym typeface="Calibri"/>
            </a:endParaRPr>
          </a:p>
        </p:txBody>
      </p:sp>
      <p:sp>
        <p:nvSpPr>
          <p:cNvPr id="2080" name="Google Shape;2080;p46"/>
          <p:cNvSpPr txBox="1"/>
          <p:nvPr/>
        </p:nvSpPr>
        <p:spPr>
          <a:xfrm>
            <a:off x="1401775" y="6124651"/>
            <a:ext cx="3884371" cy="15270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Review ratings analysis (scale 1-5) from n=1,781 Amazon reviews</a:t>
            </a:r>
            <a:endParaRPr b="0" i="0" sz="900" u="none" cap="none" strike="noStrike">
              <a:solidFill>
                <a:schemeClr val="dk1"/>
              </a:solidFill>
              <a:latin typeface="Calibri"/>
              <a:ea typeface="Calibri"/>
              <a:cs typeface="Calibri"/>
              <a:sym typeface="Calibri"/>
            </a:endParaRPr>
          </a:p>
        </p:txBody>
      </p:sp>
      <p:sp>
        <p:nvSpPr>
          <p:cNvPr id="2081" name="Google Shape;2081;p46"/>
          <p:cNvSpPr/>
          <p:nvPr/>
        </p:nvSpPr>
        <p:spPr>
          <a:xfrm>
            <a:off x="6210605" y="2447849"/>
            <a:ext cx="5372100" cy="3857854"/>
          </a:xfrm>
          <a:prstGeom prst="roundRect">
            <a:avLst>
              <a:gd fmla="val 468" name="adj"/>
            </a:avLst>
          </a:prstGeom>
          <a:solidFill>
            <a:srgbClr val="FFFFFF"/>
          </a:solidFill>
          <a:ln cap="flat" cmpd="sng" w="12700">
            <a:solidFill>
              <a:srgbClr val="E5E7EB"/>
            </a:solidFill>
            <a:prstDash val="solid"/>
            <a:round/>
            <a:headEnd len="sm" w="sm" type="none"/>
            <a:tailEnd len="sm" w="sm" type="none"/>
          </a:ln>
          <a:effectLst>
            <a:outerShdw blurRad="508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6"/>
          <p:cNvSpPr/>
          <p:nvPr/>
        </p:nvSpPr>
        <p:spPr>
          <a:xfrm>
            <a:off x="6372454" y="2894990"/>
            <a:ext cx="5048402" cy="19202"/>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6"/>
          <p:cNvSpPr txBox="1"/>
          <p:nvPr/>
        </p:nvSpPr>
        <p:spPr>
          <a:xfrm>
            <a:off x="6372454" y="2628900"/>
            <a:ext cx="21909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Core Consumer Perceptions</a:t>
            </a:r>
            <a:endParaRPr b="0" i="0" sz="1200" u="none" cap="none" strike="noStrike">
              <a:solidFill>
                <a:schemeClr val="dk1"/>
              </a:solidFill>
              <a:latin typeface="Calibri"/>
              <a:ea typeface="Calibri"/>
              <a:cs typeface="Calibri"/>
              <a:sym typeface="Calibri"/>
            </a:endParaRPr>
          </a:p>
        </p:txBody>
      </p:sp>
      <p:sp>
        <p:nvSpPr>
          <p:cNvPr id="2084" name="Google Shape;2084;p46"/>
          <p:cNvSpPr txBox="1"/>
          <p:nvPr/>
        </p:nvSpPr>
        <p:spPr>
          <a:xfrm>
            <a:off x="6372454" y="3038551"/>
            <a:ext cx="13075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Surface Damage:</a:t>
            </a:r>
            <a:endParaRPr b="0" i="0" sz="1100" u="none" cap="none" strike="noStrike">
              <a:solidFill>
                <a:schemeClr val="dk1"/>
              </a:solidFill>
              <a:latin typeface="Calibri"/>
              <a:ea typeface="Calibri"/>
              <a:cs typeface="Calibri"/>
              <a:sym typeface="Calibri"/>
            </a:endParaRPr>
          </a:p>
        </p:txBody>
      </p:sp>
      <p:sp>
        <p:nvSpPr>
          <p:cNvPr id="2085" name="Google Shape;2085;p46"/>
          <p:cNvSpPr txBox="1"/>
          <p:nvPr/>
        </p:nvSpPr>
        <p:spPr>
          <a:xfrm>
            <a:off x="7895844" y="3038551"/>
            <a:ext cx="3507638"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Severity 22 (concerns) vs 9 (benefits) = 2.4:1 ratio inversion</a:t>
            </a:r>
            <a:endParaRPr b="0" i="0" sz="1100" u="none" cap="none" strike="noStrike">
              <a:solidFill>
                <a:schemeClr val="dk1"/>
              </a:solidFill>
              <a:latin typeface="Calibri"/>
              <a:ea typeface="Calibri"/>
              <a:cs typeface="Calibri"/>
              <a:sym typeface="Calibri"/>
            </a:endParaRPr>
          </a:p>
        </p:txBody>
      </p:sp>
      <p:sp>
        <p:nvSpPr>
          <p:cNvPr id="2086" name="Google Shape;2086;p46"/>
          <p:cNvSpPr txBox="1"/>
          <p:nvPr/>
        </p:nvSpPr>
        <p:spPr>
          <a:xfrm>
            <a:off x="6372454" y="3581705"/>
            <a:ext cx="14026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Sentiment Pattern:</a:t>
            </a:r>
            <a:endParaRPr b="0" i="0" sz="1100" u="none" cap="none" strike="noStrike">
              <a:solidFill>
                <a:schemeClr val="dk1"/>
              </a:solidFill>
              <a:latin typeface="Calibri"/>
              <a:ea typeface="Calibri"/>
              <a:cs typeface="Calibri"/>
              <a:sym typeface="Calibri"/>
            </a:endParaRPr>
          </a:p>
        </p:txBody>
      </p:sp>
      <p:sp>
        <p:nvSpPr>
          <p:cNvPr id="2087" name="Google Shape;2087;p46"/>
          <p:cNvSpPr txBox="1"/>
          <p:nvPr/>
        </p:nvSpPr>
        <p:spPr>
          <a:xfrm>
            <a:off x="7895844" y="3581705"/>
            <a:ext cx="28410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Polarized (6.5% positive, 6.5% negative)</a:t>
            </a:r>
            <a:endParaRPr b="0" i="0" sz="1100" u="none" cap="none" strike="noStrike">
              <a:solidFill>
                <a:schemeClr val="dk1"/>
              </a:solidFill>
              <a:latin typeface="Calibri"/>
              <a:ea typeface="Calibri"/>
              <a:cs typeface="Calibri"/>
              <a:sym typeface="Calibri"/>
            </a:endParaRPr>
          </a:p>
        </p:txBody>
      </p:sp>
      <p:sp>
        <p:nvSpPr>
          <p:cNvPr id="2088" name="Google Shape;2088;p46"/>
          <p:cNvSpPr txBox="1"/>
          <p:nvPr/>
        </p:nvSpPr>
        <p:spPr>
          <a:xfrm>
            <a:off x="6372454" y="3909974"/>
            <a:ext cx="13935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Primary Use Case:</a:t>
            </a:r>
            <a:endParaRPr b="0" i="0" sz="1100" u="none" cap="none" strike="noStrike">
              <a:solidFill>
                <a:schemeClr val="dk1"/>
              </a:solidFill>
              <a:latin typeface="Calibri"/>
              <a:ea typeface="Calibri"/>
              <a:cs typeface="Calibri"/>
              <a:sym typeface="Calibri"/>
            </a:endParaRPr>
          </a:p>
        </p:txBody>
      </p:sp>
      <p:sp>
        <p:nvSpPr>
          <p:cNvPr id="2089" name="Google Shape;2089;p46"/>
          <p:cNvSpPr txBox="1"/>
          <p:nvPr/>
        </p:nvSpPr>
        <p:spPr>
          <a:xfrm>
            <a:off x="7895844" y="3909974"/>
            <a:ext cx="30888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Rental/temporary applications (16 mentions)</a:t>
            </a:r>
            <a:endParaRPr b="0" i="0" sz="1100" u="none" cap="none" strike="noStrike">
              <a:solidFill>
                <a:schemeClr val="dk1"/>
              </a:solidFill>
              <a:latin typeface="Calibri"/>
              <a:ea typeface="Calibri"/>
              <a:cs typeface="Calibri"/>
              <a:sym typeface="Calibri"/>
            </a:endParaRPr>
          </a:p>
        </p:txBody>
      </p:sp>
      <p:sp>
        <p:nvSpPr>
          <p:cNvPr id="2090" name="Google Shape;2090;p46"/>
          <p:cNvSpPr txBox="1"/>
          <p:nvPr/>
        </p:nvSpPr>
        <p:spPr>
          <a:xfrm>
            <a:off x="6372454" y="4238244"/>
            <a:ext cx="10506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Key Concern:</a:t>
            </a:r>
            <a:endParaRPr b="0" i="0" sz="1100" u="none" cap="none" strike="noStrike">
              <a:solidFill>
                <a:schemeClr val="dk1"/>
              </a:solidFill>
              <a:latin typeface="Calibri"/>
              <a:ea typeface="Calibri"/>
              <a:cs typeface="Calibri"/>
              <a:sym typeface="Calibri"/>
            </a:endParaRPr>
          </a:p>
        </p:txBody>
      </p:sp>
      <p:sp>
        <p:nvSpPr>
          <p:cNvPr id="2091" name="Google Shape;2091;p46"/>
          <p:cNvSpPr txBox="1"/>
          <p:nvPr/>
        </p:nvSpPr>
        <p:spPr>
          <a:xfrm>
            <a:off x="7895844" y="4238244"/>
            <a:ext cx="3584448"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Brand promise inversion (damage concerns exceed damage-free benefits)</a:t>
            </a:r>
            <a:endParaRPr b="0" i="0" sz="1100" u="none" cap="none" strike="noStrike">
              <a:solidFill>
                <a:schemeClr val="dk1"/>
              </a:solidFill>
              <a:latin typeface="Calibri"/>
              <a:ea typeface="Calibri"/>
              <a:cs typeface="Calibri"/>
              <a:sym typeface="Calibri"/>
            </a:endParaRPr>
          </a:p>
        </p:txBody>
      </p:sp>
      <p:sp>
        <p:nvSpPr>
          <p:cNvPr id="2092" name="Google Shape;2092;p46"/>
          <p:cNvSpPr txBox="1"/>
          <p:nvPr/>
        </p:nvSpPr>
        <p:spPr>
          <a:xfrm>
            <a:off x="6372454" y="4781398"/>
            <a:ext cx="12883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Market Potential:</a:t>
            </a:r>
            <a:endParaRPr b="0" i="0" sz="1100" u="none" cap="none" strike="noStrike">
              <a:solidFill>
                <a:schemeClr val="dk1"/>
              </a:solidFill>
              <a:latin typeface="Calibri"/>
              <a:ea typeface="Calibri"/>
              <a:cs typeface="Calibri"/>
              <a:sym typeface="Calibri"/>
            </a:endParaRPr>
          </a:p>
        </p:txBody>
      </p:sp>
      <p:sp>
        <p:nvSpPr>
          <p:cNvPr id="2093" name="Google Shape;2093;p46"/>
          <p:cNvSpPr txBox="1"/>
          <p:nvPr/>
        </p:nvSpPr>
        <p:spPr>
          <a:xfrm>
            <a:off x="7895844" y="4781398"/>
            <a:ext cx="31464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36% US households rent, only 17.6% content coverage</a:t>
            </a:r>
            <a:endParaRPr b="0" i="0" sz="1100" u="none" cap="none" strike="noStrike">
              <a:solidFill>
                <a:schemeClr val="dk1"/>
              </a:solidFill>
              <a:latin typeface="Calibri"/>
              <a:ea typeface="Calibri"/>
              <a:cs typeface="Calibri"/>
              <a:sym typeface="Calibri"/>
            </a:endParaRPr>
          </a:p>
        </p:txBody>
      </p:sp>
      <p:sp>
        <p:nvSpPr>
          <p:cNvPr id="2094" name="Google Shape;2094;p46"/>
          <p:cNvSpPr txBox="1"/>
          <p:nvPr/>
        </p:nvSpPr>
        <p:spPr>
          <a:xfrm>
            <a:off x="6372454" y="5324551"/>
            <a:ext cx="10030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1" i="0" lang="en-US" sz="1100" u="none" cap="none" strike="noStrike">
                <a:solidFill>
                  <a:srgbClr val="2C3E50"/>
                </a:solidFill>
                <a:latin typeface="Inter"/>
                <a:ea typeface="Inter"/>
                <a:cs typeface="Inter"/>
                <a:sym typeface="Inter"/>
              </a:rPr>
              <a:t>Coverage %:</a:t>
            </a:r>
            <a:endParaRPr b="0" i="0" sz="1100" u="none" cap="none" strike="noStrike">
              <a:solidFill>
                <a:schemeClr val="dk1"/>
              </a:solidFill>
              <a:latin typeface="Calibri"/>
              <a:ea typeface="Calibri"/>
              <a:cs typeface="Calibri"/>
              <a:sym typeface="Calibri"/>
            </a:endParaRPr>
          </a:p>
        </p:txBody>
      </p:sp>
      <p:sp>
        <p:nvSpPr>
          <p:cNvPr id="2095" name="Google Shape;2095;p46"/>
          <p:cNvSpPr txBox="1"/>
          <p:nvPr/>
        </p:nvSpPr>
        <p:spPr>
          <a:xfrm>
            <a:off x="7895844" y="5324551"/>
            <a:ext cx="32607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Damage-Free 34.0%, Holding Strength 36.3%, Installation Ease 21.9%</a:t>
            </a:r>
            <a:endParaRPr b="0" i="0" sz="1100" u="none" cap="none" strike="noStrike">
              <a:solidFill>
                <a:schemeClr val="dk1"/>
              </a:solidFill>
              <a:latin typeface="Calibri"/>
              <a:ea typeface="Calibri"/>
              <a:cs typeface="Calibri"/>
              <a:sym typeface="Calibri"/>
            </a:endParaRPr>
          </a:p>
        </p:txBody>
      </p:sp>
      <p:sp>
        <p:nvSpPr>
          <p:cNvPr id="2096" name="Google Shape;2096;p46"/>
          <p:cNvSpPr/>
          <p:nvPr/>
        </p:nvSpPr>
        <p:spPr>
          <a:xfrm>
            <a:off x="609905" y="6738214"/>
            <a:ext cx="10972800" cy="19202"/>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6"/>
          <p:cNvSpPr txBox="1"/>
          <p:nvPr/>
        </p:nvSpPr>
        <p:spPr>
          <a:xfrm>
            <a:off x="609905" y="6472123"/>
            <a:ext cx="16770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Consumer Verbatims</a:t>
            </a:r>
            <a:endParaRPr b="0" i="0" sz="1200" u="none" cap="none" strike="noStrike">
              <a:solidFill>
                <a:schemeClr val="dk1"/>
              </a:solidFill>
              <a:latin typeface="Calibri"/>
              <a:ea typeface="Calibri"/>
              <a:cs typeface="Calibri"/>
              <a:sym typeface="Calibri"/>
            </a:endParaRPr>
          </a:p>
        </p:txBody>
      </p:sp>
      <p:sp>
        <p:nvSpPr>
          <p:cNvPr id="2098" name="Google Shape;2098;p46"/>
          <p:cNvSpPr/>
          <p:nvPr/>
        </p:nvSpPr>
        <p:spPr>
          <a:xfrm>
            <a:off x="609905" y="6872630"/>
            <a:ext cx="5372100" cy="1000354"/>
          </a:xfrm>
          <a:prstGeom prst="roundRect">
            <a:avLst>
              <a:gd fmla="val 6964" name="adj"/>
            </a:avLst>
          </a:prstGeom>
          <a:solidFill>
            <a:srgbClr val="F9FAFB"/>
          </a:solidFill>
          <a:ln>
            <a:noFill/>
          </a:ln>
          <a:effectLst>
            <a:outerShdw blurRad="508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6"/>
          <p:cNvSpPr/>
          <p:nvPr/>
        </p:nvSpPr>
        <p:spPr>
          <a:xfrm>
            <a:off x="609905" y="6872630"/>
            <a:ext cx="38405" cy="1000354"/>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6"/>
          <p:cNvSpPr txBox="1"/>
          <p:nvPr/>
        </p:nvSpPr>
        <p:spPr>
          <a:xfrm>
            <a:off x="800100" y="7034479"/>
            <a:ext cx="50895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1" lang="en-US" sz="1100" u="none" cap="none" strike="noStrike">
                <a:solidFill>
                  <a:srgbClr val="2C3E50"/>
                </a:solidFill>
                <a:latin typeface="Inter"/>
                <a:ea typeface="Inter"/>
                <a:cs typeface="Inter"/>
                <a:sym typeface="Inter"/>
              </a:rPr>
              <a:t>"The Command strips damaged my wall when I removed them. Left sticky residue and peeled the paint. I'll lose my security deposit now."</a:t>
            </a:r>
            <a:endParaRPr b="0" i="0" sz="1100" u="none" cap="none" strike="noStrike">
              <a:solidFill>
                <a:schemeClr val="dk1"/>
              </a:solidFill>
              <a:latin typeface="Calibri"/>
              <a:ea typeface="Calibri"/>
              <a:cs typeface="Calibri"/>
              <a:sym typeface="Calibri"/>
            </a:endParaRPr>
          </a:p>
        </p:txBody>
      </p:sp>
      <p:sp>
        <p:nvSpPr>
          <p:cNvPr id="2101" name="Google Shape;2101;p46"/>
          <p:cNvSpPr txBox="1"/>
          <p:nvPr/>
        </p:nvSpPr>
        <p:spPr>
          <a:xfrm>
            <a:off x="4123944" y="7539228"/>
            <a:ext cx="1798625" cy="152705"/>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 Apartment renter, Chicago</a:t>
            </a:r>
            <a:endParaRPr b="0" i="0" sz="900" u="none" cap="none" strike="noStrike">
              <a:solidFill>
                <a:schemeClr val="dk1"/>
              </a:solidFill>
              <a:latin typeface="Calibri"/>
              <a:ea typeface="Calibri"/>
              <a:cs typeface="Calibri"/>
              <a:sym typeface="Calibri"/>
            </a:endParaRPr>
          </a:p>
        </p:txBody>
      </p:sp>
      <p:sp>
        <p:nvSpPr>
          <p:cNvPr id="2102" name="Google Shape;2102;p46"/>
          <p:cNvSpPr/>
          <p:nvPr/>
        </p:nvSpPr>
        <p:spPr>
          <a:xfrm>
            <a:off x="6210605" y="6872630"/>
            <a:ext cx="5372100" cy="1000354"/>
          </a:xfrm>
          <a:prstGeom prst="roundRect">
            <a:avLst>
              <a:gd fmla="val 6964" name="adj"/>
            </a:avLst>
          </a:prstGeom>
          <a:solidFill>
            <a:srgbClr val="F9FAFB"/>
          </a:solidFill>
          <a:ln>
            <a:noFill/>
          </a:ln>
          <a:effectLst>
            <a:outerShdw blurRad="508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6"/>
          <p:cNvSpPr/>
          <p:nvPr/>
        </p:nvSpPr>
        <p:spPr>
          <a:xfrm>
            <a:off x="6210605" y="6872630"/>
            <a:ext cx="38405" cy="1000354"/>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6"/>
          <p:cNvSpPr txBox="1"/>
          <p:nvPr/>
        </p:nvSpPr>
        <p:spPr>
          <a:xfrm>
            <a:off x="6400800" y="7034479"/>
            <a:ext cx="4927702"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1" lang="en-US" sz="1100" u="none" cap="none" strike="noStrike">
                <a:solidFill>
                  <a:srgbClr val="2C3E50"/>
                </a:solidFill>
                <a:latin typeface="Inter"/>
                <a:ea typeface="Inter"/>
                <a:cs typeface="Inter"/>
                <a:sym typeface="Inter"/>
              </a:rPr>
              <a:t>"I wanted damage-free but these failed after 2 months. My toolbox was too heavy and the hook fell, leaving a dent in my garage drywall."</a:t>
            </a:r>
            <a:endParaRPr b="0" i="0" sz="1100" u="none" cap="none" strike="noStrike">
              <a:solidFill>
                <a:schemeClr val="dk1"/>
              </a:solidFill>
              <a:latin typeface="Calibri"/>
              <a:ea typeface="Calibri"/>
              <a:cs typeface="Calibri"/>
              <a:sym typeface="Calibri"/>
            </a:endParaRPr>
          </a:p>
        </p:txBody>
      </p:sp>
      <p:sp>
        <p:nvSpPr>
          <p:cNvPr id="2105" name="Google Shape;2105;p46"/>
          <p:cNvSpPr txBox="1"/>
          <p:nvPr/>
        </p:nvSpPr>
        <p:spPr>
          <a:xfrm>
            <a:off x="10090404" y="7539228"/>
            <a:ext cx="1436522" cy="152705"/>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 Homeowner, Seattle</a:t>
            </a:r>
            <a:endParaRPr b="0" i="0" sz="900" u="none" cap="none" strike="noStrike">
              <a:solidFill>
                <a:schemeClr val="dk1"/>
              </a:solidFill>
              <a:latin typeface="Calibri"/>
              <a:ea typeface="Calibri"/>
              <a:cs typeface="Calibri"/>
              <a:sym typeface="Calibri"/>
            </a:endParaRPr>
          </a:p>
        </p:txBody>
      </p:sp>
      <p:sp>
        <p:nvSpPr>
          <p:cNvPr id="2106" name="Google Shape;2106;p46"/>
          <p:cNvSpPr/>
          <p:nvPr/>
        </p:nvSpPr>
        <p:spPr>
          <a:xfrm>
            <a:off x="0" y="8134502"/>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6"/>
          <p:cNvSpPr txBox="1"/>
          <p:nvPr/>
        </p:nvSpPr>
        <p:spPr>
          <a:xfrm>
            <a:off x="609905" y="8391449"/>
            <a:ext cx="3672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a:t>
            </a:r>
            <a:endParaRPr b="0" i="0" sz="1000" u="none" cap="none" strike="noStrike">
              <a:solidFill>
                <a:schemeClr val="dk1"/>
              </a:solidFill>
              <a:latin typeface="Calibri"/>
              <a:ea typeface="Calibri"/>
              <a:cs typeface="Calibri"/>
              <a:sym typeface="Calibri"/>
            </a:endParaRPr>
          </a:p>
        </p:txBody>
      </p:sp>
      <p:sp>
        <p:nvSpPr>
          <p:cNvPr id="2108" name="Google Shape;2108;p46"/>
          <p:cNvSpPr txBox="1"/>
          <p:nvPr/>
        </p:nvSpPr>
        <p:spPr>
          <a:xfrm>
            <a:off x="11414455" y="8391449"/>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sp>
        <p:nvSpPr>
          <p:cNvPr id="2114" name="Google Shape;2114;p47"/>
          <p:cNvSpPr/>
          <p:nvPr/>
        </p:nvSpPr>
        <p:spPr>
          <a:xfrm>
            <a:off x="0" y="0"/>
            <a:ext cx="12191695" cy="83823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7"/>
          <p:cNvSpPr/>
          <p:nvPr/>
        </p:nvSpPr>
        <p:spPr>
          <a:xfrm>
            <a:off x="0" y="0"/>
            <a:ext cx="12191695" cy="83823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7"/>
          <p:cNvSpPr/>
          <p:nvPr/>
        </p:nvSpPr>
        <p:spPr>
          <a:xfrm>
            <a:off x="609905" y="381305"/>
            <a:ext cx="761695" cy="47549"/>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7"/>
          <p:cNvSpPr txBox="1"/>
          <p:nvPr/>
        </p:nvSpPr>
        <p:spPr>
          <a:xfrm>
            <a:off x="609905" y="666598"/>
            <a:ext cx="5306263"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700"/>
              <a:buFont typeface="Montserrat"/>
              <a:buNone/>
            </a:pPr>
            <a:r>
              <a:rPr b="1" i="0" lang="en-US" sz="2700" u="none" cap="none" strike="noStrike">
                <a:solidFill>
                  <a:srgbClr val="2C3E50"/>
                </a:solidFill>
                <a:latin typeface="Montserrat"/>
                <a:ea typeface="Montserrat"/>
                <a:cs typeface="Montserrat"/>
                <a:sym typeface="Montserrat"/>
              </a:rPr>
              <a:t>Command Strategic Insights</a:t>
            </a:r>
            <a:endParaRPr b="0" i="0" sz="2700" u="none" cap="none" strike="noStrike">
              <a:solidFill>
                <a:schemeClr val="dk1"/>
              </a:solidFill>
              <a:latin typeface="Calibri"/>
              <a:ea typeface="Calibri"/>
              <a:cs typeface="Calibri"/>
              <a:sym typeface="Calibri"/>
            </a:endParaRPr>
          </a:p>
        </p:txBody>
      </p:sp>
      <p:sp>
        <p:nvSpPr>
          <p:cNvPr id="2118" name="Google Shape;2118;p47"/>
          <p:cNvSpPr/>
          <p:nvPr/>
        </p:nvSpPr>
        <p:spPr>
          <a:xfrm>
            <a:off x="609905" y="1438351"/>
            <a:ext cx="10972800" cy="1933956"/>
          </a:xfrm>
          <a:prstGeom prst="roundRect">
            <a:avLst>
              <a:gd fmla="val 1863" name="adj"/>
            </a:avLst>
          </a:prstGeom>
          <a:solidFill>
            <a:srgbClr val="16A085">
              <a:alpha val="7843"/>
            </a:srgbClr>
          </a:solidFill>
          <a:ln>
            <a:noFill/>
          </a:ln>
          <a:effectLst>
            <a:outerShdw blurRad="114300" rotWithShape="0" algn="bl" dir="54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7"/>
          <p:cNvSpPr/>
          <p:nvPr/>
        </p:nvSpPr>
        <p:spPr>
          <a:xfrm>
            <a:off x="609905" y="1438351"/>
            <a:ext cx="38405" cy="1933956"/>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7"/>
          <p:cNvSpPr/>
          <p:nvPr/>
        </p:nvSpPr>
        <p:spPr>
          <a:xfrm>
            <a:off x="914400" y="1666951"/>
            <a:ext cx="304495" cy="304495"/>
          </a:xfrm>
          <a:prstGeom prst="ellipse">
            <a:avLst/>
          </a:prstGeom>
          <a:solidFill>
            <a:srgbClr val="16A085">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21" name="Google Shape;2121;p47"/>
          <p:cNvPicPr preferRelativeResize="0"/>
          <p:nvPr/>
        </p:nvPicPr>
        <p:blipFill rotWithShape="1">
          <a:blip r:embed="rId3">
            <a:alphaModFix/>
          </a:blip>
          <a:srcRect b="0" l="-989999" r="-989999" t="0"/>
          <a:stretch/>
        </p:blipFill>
        <p:spPr>
          <a:xfrm>
            <a:off x="972007" y="1814170"/>
            <a:ext cx="190195" cy="9144"/>
          </a:xfrm>
          <a:prstGeom prst="rect">
            <a:avLst/>
          </a:prstGeom>
          <a:noFill/>
          <a:ln>
            <a:noFill/>
          </a:ln>
        </p:spPr>
      </p:pic>
      <p:sp>
        <p:nvSpPr>
          <p:cNvPr id="2122" name="Google Shape;2122;p47"/>
          <p:cNvSpPr txBox="1"/>
          <p:nvPr/>
        </p:nvSpPr>
        <p:spPr>
          <a:xfrm>
            <a:off x="1371600" y="1723644"/>
            <a:ext cx="130576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THE PATTERN</a:t>
            </a:r>
            <a:endParaRPr b="0" i="0" sz="1200" u="none" cap="none" strike="noStrike">
              <a:solidFill>
                <a:schemeClr val="dk1"/>
              </a:solidFill>
              <a:latin typeface="Calibri"/>
              <a:ea typeface="Calibri"/>
              <a:cs typeface="Calibri"/>
              <a:sym typeface="Calibri"/>
            </a:endParaRPr>
          </a:p>
        </p:txBody>
      </p:sp>
      <p:sp>
        <p:nvSpPr>
          <p:cNvPr id="2123" name="Google Shape;2123;p47"/>
          <p:cNvSpPr txBox="1"/>
          <p:nvPr/>
        </p:nvSpPr>
        <p:spPr>
          <a:xfrm>
            <a:off x="1371600" y="2133295"/>
            <a:ext cx="9906610" cy="7050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Surface damage concerns dominate Command narrative—severity 22 complaints vs 9 benefits creates 2.4:1 brand promise inversion. 64% of category cites installation as barrier, but Command's damage-free promise is undermined by performance gaps in weight capacity and durability.</a:t>
            </a:r>
            <a:endParaRPr b="0" i="0" sz="1200" u="none" cap="none" strike="noStrike">
              <a:solidFill>
                <a:schemeClr val="dk1"/>
              </a:solidFill>
              <a:latin typeface="Calibri"/>
              <a:ea typeface="Calibri"/>
              <a:cs typeface="Calibri"/>
              <a:sym typeface="Calibri"/>
            </a:endParaRPr>
          </a:p>
        </p:txBody>
      </p:sp>
      <p:sp>
        <p:nvSpPr>
          <p:cNvPr id="2124" name="Google Shape;2124;p47"/>
          <p:cNvSpPr txBox="1"/>
          <p:nvPr/>
        </p:nvSpPr>
        <p:spPr>
          <a:xfrm>
            <a:off x="1371600" y="2969971"/>
            <a:ext cx="4372661"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Open Sans"/>
              <a:buNone/>
            </a:pPr>
            <a:r>
              <a:rPr b="0" i="1" lang="en-US" sz="900" u="none" cap="none" strike="noStrike">
                <a:solidFill>
                  <a:srgbClr val="7F8C8D"/>
                </a:solidFill>
                <a:latin typeface="Open Sans"/>
                <a:ea typeface="Open Sans"/>
                <a:cs typeface="Open Sans"/>
                <a:sym typeface="Open Sans"/>
              </a:rPr>
              <a:t>Source: Brand Perception Analysis, 02_CATEGORY_INTELLIGENCE_DEEP_DIVE.md</a:t>
            </a:r>
            <a:endParaRPr b="0" i="0" sz="900" u="none" cap="none" strike="noStrike">
              <a:solidFill>
                <a:schemeClr val="dk1"/>
              </a:solidFill>
              <a:latin typeface="Calibri"/>
              <a:ea typeface="Calibri"/>
              <a:cs typeface="Calibri"/>
              <a:sym typeface="Calibri"/>
            </a:endParaRPr>
          </a:p>
        </p:txBody>
      </p:sp>
      <p:sp>
        <p:nvSpPr>
          <p:cNvPr id="2125" name="Google Shape;2125;p47"/>
          <p:cNvSpPr/>
          <p:nvPr/>
        </p:nvSpPr>
        <p:spPr>
          <a:xfrm>
            <a:off x="609905" y="3598164"/>
            <a:ext cx="10972800" cy="1695298"/>
          </a:xfrm>
          <a:prstGeom prst="roundRect">
            <a:avLst>
              <a:gd fmla="val 2424" name="adj"/>
            </a:avLst>
          </a:prstGeom>
          <a:solidFill>
            <a:srgbClr val="F39C12">
              <a:alpha val="7843"/>
            </a:srgbClr>
          </a:solidFill>
          <a:ln>
            <a:noFill/>
          </a:ln>
          <a:effectLst>
            <a:outerShdw blurRad="114300" rotWithShape="0" algn="bl" dir="54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7"/>
          <p:cNvSpPr/>
          <p:nvPr/>
        </p:nvSpPr>
        <p:spPr>
          <a:xfrm>
            <a:off x="609905" y="3598164"/>
            <a:ext cx="38405" cy="1695298"/>
          </a:xfrm>
          <a:prstGeom prst="rect">
            <a:avLst/>
          </a:prstGeom>
          <a:solidFill>
            <a:srgbClr val="F39C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7"/>
          <p:cNvSpPr/>
          <p:nvPr/>
        </p:nvSpPr>
        <p:spPr>
          <a:xfrm>
            <a:off x="914400" y="3826764"/>
            <a:ext cx="304495" cy="304495"/>
          </a:xfrm>
          <a:prstGeom prst="ellipse">
            <a:avLst/>
          </a:prstGeom>
          <a:solidFill>
            <a:srgbClr val="F39C12">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28" name="Google Shape;2128;p47"/>
          <p:cNvPicPr preferRelativeResize="0"/>
          <p:nvPr/>
        </p:nvPicPr>
        <p:blipFill rotWithShape="1">
          <a:blip r:embed="rId4">
            <a:alphaModFix/>
          </a:blip>
          <a:srcRect b="0" l="-989999" r="-989999" t="0"/>
          <a:stretch/>
        </p:blipFill>
        <p:spPr>
          <a:xfrm>
            <a:off x="972007" y="3974897"/>
            <a:ext cx="190195" cy="9144"/>
          </a:xfrm>
          <a:prstGeom prst="rect">
            <a:avLst/>
          </a:prstGeom>
          <a:noFill/>
          <a:ln>
            <a:noFill/>
          </a:ln>
        </p:spPr>
      </p:pic>
      <p:sp>
        <p:nvSpPr>
          <p:cNvPr id="2129" name="Google Shape;2129;p47"/>
          <p:cNvSpPr txBox="1"/>
          <p:nvPr/>
        </p:nvSpPr>
        <p:spPr>
          <a:xfrm>
            <a:off x="1371600" y="3884371"/>
            <a:ext cx="125730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9C12"/>
              </a:buClr>
              <a:buSzPts val="1200"/>
              <a:buFont typeface="Montserrat"/>
              <a:buNone/>
            </a:pPr>
            <a:r>
              <a:rPr b="1" i="0" lang="en-US" sz="1200" u="none" cap="none" strike="noStrike">
                <a:solidFill>
                  <a:srgbClr val="F39C12"/>
                </a:solidFill>
                <a:latin typeface="Montserrat"/>
                <a:ea typeface="Montserrat"/>
                <a:cs typeface="Montserrat"/>
                <a:sym typeface="Montserrat"/>
              </a:rPr>
              <a:t>HARD TRUTH</a:t>
            </a:r>
            <a:endParaRPr b="0" i="0" sz="1200" u="none" cap="none" strike="noStrike">
              <a:solidFill>
                <a:schemeClr val="dk1"/>
              </a:solidFill>
              <a:latin typeface="Calibri"/>
              <a:ea typeface="Calibri"/>
              <a:cs typeface="Calibri"/>
              <a:sym typeface="Calibri"/>
            </a:endParaRPr>
          </a:p>
        </p:txBody>
      </p:sp>
      <p:sp>
        <p:nvSpPr>
          <p:cNvPr id="2130" name="Google Shape;2130;p47"/>
          <p:cNvSpPr txBox="1"/>
          <p:nvPr/>
        </p:nvSpPr>
        <p:spPr>
          <a:xfrm>
            <a:off x="1371600" y="4294022"/>
            <a:ext cx="1002091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Command owns rental/temporary positioning (16 mentions) but covers only 17.6% of content despite 36% US renter population—untapped opportunity. Weight capacity limitations (&lt;10 lbs typically) restrict garage applications where 25-50 lb capacity is baseline need.</a:t>
            </a:r>
            <a:endParaRPr b="0" i="0" sz="1200" u="none" cap="none" strike="noStrike">
              <a:solidFill>
                <a:schemeClr val="dk1"/>
              </a:solidFill>
              <a:latin typeface="Calibri"/>
              <a:ea typeface="Calibri"/>
              <a:cs typeface="Calibri"/>
              <a:sym typeface="Calibri"/>
            </a:endParaRPr>
          </a:p>
        </p:txBody>
      </p:sp>
      <p:sp>
        <p:nvSpPr>
          <p:cNvPr id="2131" name="Google Shape;2131;p47"/>
          <p:cNvSpPr txBox="1"/>
          <p:nvPr/>
        </p:nvSpPr>
        <p:spPr>
          <a:xfrm>
            <a:off x="1371600" y="4885639"/>
            <a:ext cx="3343961"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Open Sans"/>
              <a:buNone/>
            </a:pPr>
            <a:r>
              <a:rPr b="0" i="1" lang="en-US" sz="900" u="none" cap="none" strike="noStrike">
                <a:solidFill>
                  <a:srgbClr val="7F8C8D"/>
                </a:solidFill>
                <a:latin typeface="Open Sans"/>
                <a:ea typeface="Open Sans"/>
                <a:cs typeface="Open Sans"/>
                <a:sym typeface="Open Sans"/>
              </a:rPr>
              <a:t>Source: Consumer Video Analysis (n=571), Market Sizing Data</a:t>
            </a:r>
            <a:endParaRPr b="0" i="0" sz="900" u="none" cap="none" strike="noStrike">
              <a:solidFill>
                <a:schemeClr val="dk1"/>
              </a:solidFill>
              <a:latin typeface="Calibri"/>
              <a:ea typeface="Calibri"/>
              <a:cs typeface="Calibri"/>
              <a:sym typeface="Calibri"/>
            </a:endParaRPr>
          </a:p>
        </p:txBody>
      </p:sp>
      <p:sp>
        <p:nvSpPr>
          <p:cNvPr id="2132" name="Google Shape;2132;p47"/>
          <p:cNvSpPr/>
          <p:nvPr/>
        </p:nvSpPr>
        <p:spPr>
          <a:xfrm>
            <a:off x="609905" y="5514746"/>
            <a:ext cx="10972800" cy="1695298"/>
          </a:xfrm>
          <a:prstGeom prst="roundRect">
            <a:avLst>
              <a:gd fmla="val 2424" name="adj"/>
            </a:avLst>
          </a:prstGeom>
          <a:solidFill>
            <a:srgbClr val="E74C3C">
              <a:alpha val="7843"/>
            </a:srgbClr>
          </a:solidFill>
          <a:ln>
            <a:noFill/>
          </a:ln>
          <a:effectLst>
            <a:outerShdw blurRad="114300" rotWithShape="0" algn="bl" dir="54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7"/>
          <p:cNvSpPr/>
          <p:nvPr/>
        </p:nvSpPr>
        <p:spPr>
          <a:xfrm>
            <a:off x="609905" y="5514746"/>
            <a:ext cx="38405" cy="1695298"/>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7"/>
          <p:cNvSpPr/>
          <p:nvPr/>
        </p:nvSpPr>
        <p:spPr>
          <a:xfrm>
            <a:off x="914400" y="5743346"/>
            <a:ext cx="304495" cy="304495"/>
          </a:xfrm>
          <a:prstGeom prst="ellipse">
            <a:avLst/>
          </a:prstGeom>
          <a:solidFill>
            <a:srgbClr val="E74C3C">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35" name="Google Shape;2135;p47"/>
          <p:cNvPicPr preferRelativeResize="0"/>
          <p:nvPr/>
        </p:nvPicPr>
        <p:blipFill rotWithShape="1">
          <a:blip r:embed="rId5">
            <a:alphaModFix/>
          </a:blip>
          <a:srcRect b="0" l="-989999" r="-989999" t="0"/>
          <a:stretch/>
        </p:blipFill>
        <p:spPr>
          <a:xfrm>
            <a:off x="995782" y="5890565"/>
            <a:ext cx="142646" cy="9144"/>
          </a:xfrm>
          <a:prstGeom prst="rect">
            <a:avLst/>
          </a:prstGeom>
          <a:noFill/>
          <a:ln>
            <a:noFill/>
          </a:ln>
        </p:spPr>
      </p:pic>
      <p:sp>
        <p:nvSpPr>
          <p:cNvPr id="2136" name="Google Shape;2136;p47"/>
          <p:cNvSpPr txBox="1"/>
          <p:nvPr/>
        </p:nvSpPr>
        <p:spPr>
          <a:xfrm>
            <a:off x="1371600" y="5800039"/>
            <a:ext cx="140086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200"/>
              <a:buFont typeface="Montserrat"/>
              <a:buNone/>
            </a:pPr>
            <a:r>
              <a:rPr b="1" i="0" lang="en-US" sz="1200" u="none" cap="none" strike="noStrike">
                <a:solidFill>
                  <a:srgbClr val="E74C3C"/>
                </a:solidFill>
                <a:latin typeface="Montserrat"/>
                <a:ea typeface="Montserrat"/>
                <a:cs typeface="Montserrat"/>
                <a:sym typeface="Montserrat"/>
              </a:rPr>
              <a:t>PROVOCATION</a:t>
            </a:r>
            <a:endParaRPr b="0" i="0" sz="1200" u="none" cap="none" strike="noStrike">
              <a:solidFill>
                <a:schemeClr val="dk1"/>
              </a:solidFill>
              <a:latin typeface="Calibri"/>
              <a:ea typeface="Calibri"/>
              <a:cs typeface="Calibri"/>
              <a:sym typeface="Calibri"/>
            </a:endParaRPr>
          </a:p>
        </p:txBody>
      </p:sp>
      <p:sp>
        <p:nvSpPr>
          <p:cNvPr id="2137" name="Google Shape;2137;p47"/>
          <p:cNvSpPr txBox="1"/>
          <p:nvPr/>
        </p:nvSpPr>
        <p:spPr>
          <a:xfrm>
            <a:off x="1371600" y="6209690"/>
            <a:ext cx="969721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Open Sans"/>
              <a:buNone/>
            </a:pPr>
            <a:r>
              <a:rPr b="0" i="0" lang="en-US" sz="1200" u="none" cap="none" strike="noStrike">
                <a:solidFill>
                  <a:srgbClr val="2C3E50"/>
                </a:solidFill>
                <a:latin typeface="Open Sans"/>
                <a:ea typeface="Open Sans"/>
                <a:cs typeface="Open Sans"/>
                <a:sym typeface="Open Sans"/>
              </a:rPr>
              <a:t>Can Command extend into garage with premium formulations that solve weight/durability without sacrificing damage-free promise? Or does garage category require different brand architecture to avoid diluting Command's rental equity?</a:t>
            </a:r>
            <a:endParaRPr b="0" i="0" sz="1200" u="none" cap="none" strike="noStrike">
              <a:solidFill>
                <a:schemeClr val="dk1"/>
              </a:solidFill>
              <a:latin typeface="Calibri"/>
              <a:ea typeface="Calibri"/>
              <a:cs typeface="Calibri"/>
              <a:sym typeface="Calibri"/>
            </a:endParaRPr>
          </a:p>
        </p:txBody>
      </p:sp>
      <p:sp>
        <p:nvSpPr>
          <p:cNvPr id="2138" name="Google Shape;2138;p47"/>
          <p:cNvSpPr txBox="1"/>
          <p:nvPr/>
        </p:nvSpPr>
        <p:spPr>
          <a:xfrm>
            <a:off x="1371600" y="6802222"/>
            <a:ext cx="343905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Open Sans"/>
              <a:buNone/>
            </a:pPr>
            <a:r>
              <a:rPr b="0" i="1" lang="en-US" sz="900" u="none" cap="none" strike="noStrike">
                <a:solidFill>
                  <a:srgbClr val="7F8C8D"/>
                </a:solidFill>
                <a:latin typeface="Open Sans"/>
                <a:ea typeface="Open Sans"/>
                <a:cs typeface="Open Sans"/>
                <a:sym typeface="Open Sans"/>
              </a:rPr>
              <a:t>Based on White Space Analysis and Brand Perception Research</a:t>
            </a:r>
            <a:endParaRPr b="0" i="0" sz="900" u="none" cap="none" strike="noStrike">
              <a:solidFill>
                <a:schemeClr val="dk1"/>
              </a:solidFill>
              <a:latin typeface="Calibri"/>
              <a:ea typeface="Calibri"/>
              <a:cs typeface="Calibri"/>
              <a:sym typeface="Calibri"/>
            </a:endParaRPr>
          </a:p>
        </p:txBody>
      </p:sp>
      <p:sp>
        <p:nvSpPr>
          <p:cNvPr id="2139" name="Google Shape;2139;p47"/>
          <p:cNvSpPr/>
          <p:nvPr/>
        </p:nvSpPr>
        <p:spPr>
          <a:xfrm>
            <a:off x="0" y="7659929"/>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7"/>
          <p:cNvSpPr txBox="1"/>
          <p:nvPr/>
        </p:nvSpPr>
        <p:spPr>
          <a:xfrm>
            <a:off x="609905" y="7945222"/>
            <a:ext cx="51627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Montserrat"/>
              <a:buNone/>
            </a:pPr>
            <a:r>
              <a:rPr b="0" i="0" lang="en-US" sz="900" u="none" cap="none" strike="noStrike">
                <a:solidFill>
                  <a:srgbClr val="7F8C8D"/>
                </a:solidFill>
                <a:latin typeface="Montserrat"/>
                <a:ea typeface="Montserrat"/>
                <a:cs typeface="Montserrat"/>
                <a:sym typeface="Montserrat"/>
              </a:rPr>
              <a:t>Source: Phase 2 Brand Perception Analysis (n=214 creator videos; Command subset n=62)</a:t>
            </a:r>
            <a:endParaRPr b="0" i="0" sz="900" u="none" cap="none" strike="noStrike">
              <a:solidFill>
                <a:schemeClr val="dk1"/>
              </a:solidFill>
              <a:latin typeface="Calibri"/>
              <a:ea typeface="Calibri"/>
              <a:cs typeface="Calibri"/>
              <a:sym typeface="Calibri"/>
            </a:endParaRPr>
          </a:p>
        </p:txBody>
      </p:sp>
      <p:sp>
        <p:nvSpPr>
          <p:cNvPr id="2141" name="Google Shape;2141;p47"/>
          <p:cNvSpPr txBox="1"/>
          <p:nvPr/>
        </p:nvSpPr>
        <p:spPr>
          <a:xfrm>
            <a:off x="8447227" y="7945222"/>
            <a:ext cx="3229661"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8C8D"/>
              </a:buClr>
              <a:buSzPts val="900"/>
              <a:buFont typeface="Montserrat"/>
              <a:buNone/>
            </a:pPr>
            <a:r>
              <a:rPr b="0" i="0" lang="en-US" sz="900" u="none" cap="none" strike="noStrike">
                <a:solidFill>
                  <a:srgbClr val="7F8C8D"/>
                </a:solidFill>
                <a:latin typeface="Montserrat"/>
                <a:ea typeface="Montserrat"/>
                <a:cs typeface="Montserrat"/>
                <a:sym typeface="Montserrat"/>
              </a:rPr>
              <a:t>3M Internal - Strategic Category Intelligence | Nov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6" name="Shape 2146"/>
        <p:cNvGrpSpPr/>
        <p:nvPr/>
      </p:nvGrpSpPr>
      <p:grpSpPr>
        <a:xfrm>
          <a:off x="0" y="0"/>
          <a:ext cx="0" cy="0"/>
          <a:chOff x="0" y="0"/>
          <a:chExt cx="0" cy="0"/>
        </a:xfrm>
      </p:grpSpPr>
      <p:sp>
        <p:nvSpPr>
          <p:cNvPr id="2147" name="Google Shape;2147;p48"/>
          <p:cNvSpPr/>
          <p:nvPr/>
        </p:nvSpPr>
        <p:spPr>
          <a:xfrm>
            <a:off x="0" y="0"/>
            <a:ext cx="12191695" cy="78583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8"/>
          <p:cNvSpPr/>
          <p:nvPr/>
        </p:nvSpPr>
        <p:spPr>
          <a:xfrm>
            <a:off x="0" y="0"/>
            <a:ext cx="12191695" cy="78583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8"/>
          <p:cNvSpPr/>
          <p:nvPr/>
        </p:nvSpPr>
        <p:spPr>
          <a:xfrm>
            <a:off x="609905" y="457200"/>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8"/>
          <p:cNvSpPr txBox="1"/>
          <p:nvPr/>
        </p:nvSpPr>
        <p:spPr>
          <a:xfrm>
            <a:off x="609905" y="685800"/>
            <a:ext cx="73728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Scotch Brand Perception: Equity vs Category</a:t>
            </a:r>
            <a:endParaRPr b="0" i="0" sz="2400" u="none" cap="none" strike="noStrike">
              <a:solidFill>
                <a:schemeClr val="dk1"/>
              </a:solidFill>
              <a:latin typeface="Calibri"/>
              <a:ea typeface="Calibri"/>
              <a:cs typeface="Calibri"/>
              <a:sym typeface="Calibri"/>
            </a:endParaRPr>
          </a:p>
        </p:txBody>
      </p:sp>
      <p:sp>
        <p:nvSpPr>
          <p:cNvPr id="2151" name="Google Shape;2151;p48"/>
          <p:cNvSpPr/>
          <p:nvPr/>
        </p:nvSpPr>
        <p:spPr>
          <a:xfrm>
            <a:off x="609905" y="1352398"/>
            <a:ext cx="10972800" cy="761695"/>
          </a:xfrm>
          <a:prstGeom prst="rect">
            <a:avLst/>
          </a:prstGeom>
          <a:solidFill>
            <a:srgbClr val="E8F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8"/>
          <p:cNvSpPr/>
          <p:nvPr/>
        </p:nvSpPr>
        <p:spPr>
          <a:xfrm>
            <a:off x="609905" y="1352398"/>
            <a:ext cx="38405" cy="76169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8"/>
          <p:cNvSpPr txBox="1"/>
          <p:nvPr/>
        </p:nvSpPr>
        <p:spPr>
          <a:xfrm>
            <a:off x="838505" y="1524305"/>
            <a:ext cx="10594238"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0" lang="en-US" sz="1100" u="none" cap="none" strike="noStrike">
                <a:solidFill>
                  <a:srgbClr val="2C3E50"/>
                </a:solidFill>
                <a:latin typeface="Inter"/>
                <a:ea typeface="Inter"/>
                <a:cs typeface="Inter"/>
                <a:sym typeface="Inter"/>
              </a:rPr>
              <a:t>Brand Positioning: Scotch stands for permanent bonding/strong hold for DIY projects with best-in-category sentiment (20.6% positive, 1.5% negative = 14:1 advocacy ratio). The brand owns DIY project applications (34 mentions) and strong hold reliability (27 mentions).</a:t>
            </a:r>
            <a:endParaRPr b="0" i="0" sz="1100" u="none" cap="none" strike="noStrike">
              <a:solidFill>
                <a:schemeClr val="dk1"/>
              </a:solidFill>
              <a:latin typeface="Calibri"/>
              <a:ea typeface="Calibri"/>
              <a:cs typeface="Calibri"/>
              <a:sym typeface="Calibri"/>
            </a:endParaRPr>
          </a:p>
        </p:txBody>
      </p:sp>
      <p:pic>
        <p:nvPicPr>
          <p:cNvPr descr="preencoded.png" id="2154" name="Google Shape;2154;p48"/>
          <p:cNvPicPr preferRelativeResize="0"/>
          <p:nvPr/>
        </p:nvPicPr>
        <p:blipFill rotWithShape="1">
          <a:blip r:embed="rId3">
            <a:alphaModFix/>
          </a:blip>
          <a:srcRect b="0" l="0" r="0" t="0"/>
          <a:stretch/>
        </p:blipFill>
        <p:spPr>
          <a:xfrm>
            <a:off x="1848002" y="2495398"/>
            <a:ext cx="2857500" cy="2857500"/>
          </a:xfrm>
          <a:prstGeom prst="rect">
            <a:avLst/>
          </a:prstGeom>
          <a:noFill/>
          <a:ln>
            <a:noFill/>
          </a:ln>
        </p:spPr>
      </p:pic>
      <p:sp>
        <p:nvSpPr>
          <p:cNvPr id="2155" name="Google Shape;2155;p48"/>
          <p:cNvSpPr txBox="1"/>
          <p:nvPr/>
        </p:nvSpPr>
        <p:spPr>
          <a:xfrm>
            <a:off x="2354580" y="5447995"/>
            <a:ext cx="1962302" cy="1911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Inter"/>
              <a:buNone/>
            </a:pPr>
            <a:r>
              <a:rPr b="0" i="0" lang="en-US" sz="1200" u="none" cap="none" strike="noStrike">
                <a:solidFill>
                  <a:srgbClr val="111827"/>
                </a:solidFill>
                <a:latin typeface="Inter"/>
                <a:ea typeface="Inter"/>
                <a:cs typeface="Inter"/>
                <a:sym typeface="Inter"/>
              </a:rPr>
              <a:t>Scotch Category Average</a:t>
            </a:r>
            <a:endParaRPr b="0" i="0" sz="1200" u="none" cap="none" strike="noStrike">
              <a:solidFill>
                <a:schemeClr val="dk1"/>
              </a:solidFill>
              <a:latin typeface="Calibri"/>
              <a:ea typeface="Calibri"/>
              <a:cs typeface="Calibri"/>
              <a:sym typeface="Calibri"/>
            </a:endParaRPr>
          </a:p>
        </p:txBody>
      </p:sp>
      <p:sp>
        <p:nvSpPr>
          <p:cNvPr id="2156" name="Google Shape;2156;p48"/>
          <p:cNvSpPr/>
          <p:nvPr/>
        </p:nvSpPr>
        <p:spPr>
          <a:xfrm>
            <a:off x="6248095" y="2495398"/>
            <a:ext cx="5333695" cy="2800807"/>
          </a:xfrm>
          <a:prstGeom prst="roundRect">
            <a:avLst>
              <a:gd fmla="val 888" name="adj"/>
            </a:avLst>
          </a:prstGeom>
          <a:solidFill>
            <a:srgbClr val="FFFFFF"/>
          </a:solid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8"/>
          <p:cNvSpPr txBox="1"/>
          <p:nvPr/>
        </p:nvSpPr>
        <p:spPr>
          <a:xfrm>
            <a:off x="6448349" y="2714854"/>
            <a:ext cx="13816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Core Positioning:</a:t>
            </a:r>
            <a:endParaRPr b="0" i="0" sz="1200" u="none" cap="none" strike="noStrike">
              <a:solidFill>
                <a:schemeClr val="dk1"/>
              </a:solidFill>
              <a:latin typeface="Calibri"/>
              <a:ea typeface="Calibri"/>
              <a:cs typeface="Calibri"/>
              <a:sym typeface="Calibri"/>
            </a:endParaRPr>
          </a:p>
        </p:txBody>
      </p:sp>
      <p:sp>
        <p:nvSpPr>
          <p:cNvPr id="2158" name="Google Shape;2158;p48"/>
          <p:cNvSpPr txBox="1"/>
          <p:nvPr/>
        </p:nvSpPr>
        <p:spPr>
          <a:xfrm>
            <a:off x="7972654" y="2714854"/>
            <a:ext cx="30294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Strong hold for permanent DIY mounting</a:t>
            </a:r>
            <a:endParaRPr b="0" i="0" sz="1200" u="none" cap="none" strike="noStrike">
              <a:solidFill>
                <a:schemeClr val="dk1"/>
              </a:solidFill>
              <a:latin typeface="Calibri"/>
              <a:ea typeface="Calibri"/>
              <a:cs typeface="Calibri"/>
              <a:sym typeface="Calibri"/>
            </a:endParaRPr>
          </a:p>
        </p:txBody>
      </p:sp>
      <p:sp>
        <p:nvSpPr>
          <p:cNvPr id="2159" name="Google Shape;2159;p48"/>
          <p:cNvSpPr txBox="1"/>
          <p:nvPr/>
        </p:nvSpPr>
        <p:spPr>
          <a:xfrm>
            <a:off x="6448349" y="3057754"/>
            <a:ext cx="1086307"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Primary Applications:</a:t>
            </a:r>
            <a:endParaRPr b="0" i="0" sz="1200" u="none" cap="none" strike="noStrike">
              <a:solidFill>
                <a:schemeClr val="dk1"/>
              </a:solidFill>
              <a:latin typeface="Calibri"/>
              <a:ea typeface="Calibri"/>
              <a:cs typeface="Calibri"/>
              <a:sym typeface="Calibri"/>
            </a:endParaRPr>
          </a:p>
        </p:txBody>
      </p:sp>
      <p:sp>
        <p:nvSpPr>
          <p:cNvPr id="2160" name="Google Shape;2160;p48"/>
          <p:cNvSpPr txBox="1"/>
          <p:nvPr/>
        </p:nvSpPr>
        <p:spPr>
          <a:xfrm>
            <a:off x="7972654" y="3057754"/>
            <a:ext cx="10954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DIY projects (</a:t>
            </a:r>
            <a:endParaRPr b="0" i="0" sz="1200" u="none" cap="none" strike="noStrike">
              <a:solidFill>
                <a:schemeClr val="dk1"/>
              </a:solidFill>
              <a:latin typeface="Calibri"/>
              <a:ea typeface="Calibri"/>
              <a:cs typeface="Calibri"/>
              <a:sym typeface="Calibri"/>
            </a:endParaRPr>
          </a:p>
        </p:txBody>
      </p:sp>
      <p:sp>
        <p:nvSpPr>
          <p:cNvPr id="2161" name="Google Shape;2161;p48"/>
          <p:cNvSpPr txBox="1"/>
          <p:nvPr/>
        </p:nvSpPr>
        <p:spPr>
          <a:xfrm>
            <a:off x="8949233" y="3057754"/>
            <a:ext cx="3246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34</a:t>
            </a:r>
            <a:endParaRPr b="0" i="0" sz="1200" u="none" cap="none" strike="noStrike">
              <a:solidFill>
                <a:schemeClr val="dk1"/>
              </a:solidFill>
              <a:latin typeface="Calibri"/>
              <a:ea typeface="Calibri"/>
              <a:cs typeface="Calibri"/>
              <a:sym typeface="Calibri"/>
            </a:endParaRPr>
          </a:p>
        </p:txBody>
      </p:sp>
      <p:sp>
        <p:nvSpPr>
          <p:cNvPr id="2162" name="Google Shape;2162;p48"/>
          <p:cNvSpPr txBox="1"/>
          <p:nvPr/>
        </p:nvSpPr>
        <p:spPr>
          <a:xfrm>
            <a:off x="9150401" y="3057754"/>
            <a:ext cx="18388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mentions), strong hold (</a:t>
            </a:r>
            <a:endParaRPr b="0" i="0" sz="1200" u="none" cap="none" strike="noStrike">
              <a:solidFill>
                <a:schemeClr val="dk1"/>
              </a:solidFill>
              <a:latin typeface="Calibri"/>
              <a:ea typeface="Calibri"/>
              <a:cs typeface="Calibri"/>
              <a:sym typeface="Calibri"/>
            </a:endParaRPr>
          </a:p>
        </p:txBody>
      </p:sp>
      <p:sp>
        <p:nvSpPr>
          <p:cNvPr id="2163" name="Google Shape;2163;p48"/>
          <p:cNvSpPr txBox="1"/>
          <p:nvPr/>
        </p:nvSpPr>
        <p:spPr>
          <a:xfrm>
            <a:off x="10867644" y="3057754"/>
            <a:ext cx="3054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27</a:t>
            </a:r>
            <a:endParaRPr b="0" i="0" sz="1200" u="none" cap="none" strike="noStrike">
              <a:solidFill>
                <a:schemeClr val="dk1"/>
              </a:solidFill>
              <a:latin typeface="Calibri"/>
              <a:ea typeface="Calibri"/>
              <a:cs typeface="Calibri"/>
              <a:sym typeface="Calibri"/>
            </a:endParaRPr>
          </a:p>
        </p:txBody>
      </p:sp>
      <p:sp>
        <p:nvSpPr>
          <p:cNvPr id="2164" name="Google Shape;2164;p48"/>
          <p:cNvSpPr txBox="1"/>
          <p:nvPr/>
        </p:nvSpPr>
        <p:spPr>
          <a:xfrm>
            <a:off x="7972654" y="3057754"/>
            <a:ext cx="329641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 multi-surface (</a:t>
            </a:r>
            <a:endParaRPr b="0" i="0" sz="1200" u="none" cap="none" strike="noStrike">
              <a:solidFill>
                <a:schemeClr val="dk1"/>
              </a:solidFill>
              <a:latin typeface="Calibri"/>
              <a:ea typeface="Calibri"/>
              <a:cs typeface="Calibri"/>
              <a:sym typeface="Calibri"/>
            </a:endParaRPr>
          </a:p>
        </p:txBody>
      </p:sp>
      <p:sp>
        <p:nvSpPr>
          <p:cNvPr id="2165" name="Google Shape;2165;p48"/>
          <p:cNvSpPr txBox="1"/>
          <p:nvPr/>
        </p:nvSpPr>
        <p:spPr>
          <a:xfrm>
            <a:off x="9036101" y="3286354"/>
            <a:ext cx="2770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12</a:t>
            </a:r>
            <a:endParaRPr b="0" i="0" sz="1200" u="none" cap="none" strike="noStrike">
              <a:solidFill>
                <a:schemeClr val="dk1"/>
              </a:solidFill>
              <a:latin typeface="Calibri"/>
              <a:ea typeface="Calibri"/>
              <a:cs typeface="Calibri"/>
              <a:sym typeface="Calibri"/>
            </a:endParaRPr>
          </a:p>
        </p:txBody>
      </p:sp>
      <p:sp>
        <p:nvSpPr>
          <p:cNvPr id="2166" name="Google Shape;2166;p48"/>
          <p:cNvSpPr txBox="1"/>
          <p:nvPr/>
        </p:nvSpPr>
        <p:spPr>
          <a:xfrm>
            <a:off x="9197950" y="3286354"/>
            <a:ext cx="1719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167" name="Google Shape;2167;p48"/>
          <p:cNvSpPr txBox="1"/>
          <p:nvPr/>
        </p:nvSpPr>
        <p:spPr>
          <a:xfrm>
            <a:off x="6448349" y="3629254"/>
            <a:ext cx="14676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Sentiment Leader:</a:t>
            </a:r>
            <a:endParaRPr b="0" i="0" sz="1200" u="none" cap="none" strike="noStrike">
              <a:solidFill>
                <a:schemeClr val="dk1"/>
              </a:solidFill>
              <a:latin typeface="Calibri"/>
              <a:ea typeface="Calibri"/>
              <a:cs typeface="Calibri"/>
              <a:sym typeface="Calibri"/>
            </a:endParaRPr>
          </a:p>
        </p:txBody>
      </p:sp>
      <p:sp>
        <p:nvSpPr>
          <p:cNvPr id="2168" name="Google Shape;2168;p48"/>
          <p:cNvSpPr txBox="1"/>
          <p:nvPr/>
        </p:nvSpPr>
        <p:spPr>
          <a:xfrm>
            <a:off x="7972654" y="3629254"/>
            <a:ext cx="6099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20.6%</a:t>
            </a:r>
            <a:endParaRPr b="0" i="0" sz="1200" u="none" cap="none" strike="noStrike">
              <a:solidFill>
                <a:schemeClr val="dk1"/>
              </a:solidFill>
              <a:latin typeface="Calibri"/>
              <a:ea typeface="Calibri"/>
              <a:cs typeface="Calibri"/>
              <a:sym typeface="Calibri"/>
            </a:endParaRPr>
          </a:p>
        </p:txBody>
      </p:sp>
      <p:sp>
        <p:nvSpPr>
          <p:cNvPr id="2169" name="Google Shape;2169;p48"/>
          <p:cNvSpPr txBox="1"/>
          <p:nvPr/>
        </p:nvSpPr>
        <p:spPr>
          <a:xfrm>
            <a:off x="8467344" y="3629254"/>
            <a:ext cx="7242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positive,</a:t>
            </a:r>
            <a:endParaRPr b="0" i="0" sz="1200" u="none" cap="none" strike="noStrike">
              <a:solidFill>
                <a:schemeClr val="dk1"/>
              </a:solidFill>
              <a:latin typeface="Calibri"/>
              <a:ea typeface="Calibri"/>
              <a:cs typeface="Calibri"/>
              <a:sym typeface="Calibri"/>
            </a:endParaRPr>
          </a:p>
        </p:txBody>
      </p:sp>
      <p:sp>
        <p:nvSpPr>
          <p:cNvPr id="2170" name="Google Shape;2170;p48"/>
          <p:cNvSpPr txBox="1"/>
          <p:nvPr/>
        </p:nvSpPr>
        <p:spPr>
          <a:xfrm>
            <a:off x="9070848" y="3629254"/>
            <a:ext cx="4864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1.5%</a:t>
            </a:r>
            <a:endParaRPr b="0" i="0" sz="1200" u="none" cap="none" strike="noStrike">
              <a:solidFill>
                <a:schemeClr val="dk1"/>
              </a:solidFill>
              <a:latin typeface="Calibri"/>
              <a:ea typeface="Calibri"/>
              <a:cs typeface="Calibri"/>
              <a:sym typeface="Calibri"/>
            </a:endParaRPr>
          </a:p>
        </p:txBody>
      </p:sp>
      <p:sp>
        <p:nvSpPr>
          <p:cNvPr id="2171" name="Google Shape;2171;p48"/>
          <p:cNvSpPr txBox="1"/>
          <p:nvPr/>
        </p:nvSpPr>
        <p:spPr>
          <a:xfrm>
            <a:off x="9436608" y="3629254"/>
            <a:ext cx="8769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negative =</a:t>
            </a:r>
            <a:endParaRPr b="0" i="0" sz="1200" u="none" cap="none" strike="noStrike">
              <a:solidFill>
                <a:schemeClr val="dk1"/>
              </a:solidFill>
              <a:latin typeface="Calibri"/>
              <a:ea typeface="Calibri"/>
              <a:cs typeface="Calibri"/>
              <a:sym typeface="Calibri"/>
            </a:endParaRPr>
          </a:p>
        </p:txBody>
      </p:sp>
      <p:sp>
        <p:nvSpPr>
          <p:cNvPr id="2172" name="Google Shape;2172;p48"/>
          <p:cNvSpPr txBox="1"/>
          <p:nvPr/>
        </p:nvSpPr>
        <p:spPr>
          <a:xfrm>
            <a:off x="10196474" y="3629254"/>
            <a:ext cx="4005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14:1</a:t>
            </a:r>
            <a:endParaRPr b="0" i="0" sz="1200" u="none" cap="none" strike="noStrike">
              <a:solidFill>
                <a:schemeClr val="dk1"/>
              </a:solidFill>
              <a:latin typeface="Calibri"/>
              <a:ea typeface="Calibri"/>
              <a:cs typeface="Calibri"/>
              <a:sym typeface="Calibri"/>
            </a:endParaRPr>
          </a:p>
        </p:txBody>
      </p:sp>
      <p:sp>
        <p:nvSpPr>
          <p:cNvPr id="2173" name="Google Shape;2173;p48"/>
          <p:cNvSpPr txBox="1"/>
          <p:nvPr/>
        </p:nvSpPr>
        <p:spPr>
          <a:xfrm>
            <a:off x="7972654" y="3629254"/>
            <a:ext cx="3324758"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advocacy ratio</a:t>
            </a:r>
            <a:endParaRPr b="0" i="0" sz="1200" u="none" cap="none" strike="noStrike">
              <a:solidFill>
                <a:schemeClr val="dk1"/>
              </a:solidFill>
              <a:latin typeface="Calibri"/>
              <a:ea typeface="Calibri"/>
              <a:cs typeface="Calibri"/>
              <a:sym typeface="Calibri"/>
            </a:endParaRPr>
          </a:p>
        </p:txBody>
      </p:sp>
      <p:sp>
        <p:nvSpPr>
          <p:cNvPr id="2174" name="Google Shape;2174;p48"/>
          <p:cNvSpPr txBox="1"/>
          <p:nvPr/>
        </p:nvSpPr>
        <p:spPr>
          <a:xfrm>
            <a:off x="6448349" y="4200754"/>
            <a:ext cx="1028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Brand Trust:</a:t>
            </a:r>
            <a:endParaRPr b="0" i="0" sz="1200" u="none" cap="none" strike="noStrike">
              <a:solidFill>
                <a:schemeClr val="dk1"/>
              </a:solidFill>
              <a:latin typeface="Calibri"/>
              <a:ea typeface="Calibri"/>
              <a:cs typeface="Calibri"/>
              <a:sym typeface="Calibri"/>
            </a:endParaRPr>
          </a:p>
        </p:txBody>
      </p:sp>
      <p:sp>
        <p:nvSpPr>
          <p:cNvPr id="2175" name="Google Shape;2175;p48"/>
          <p:cNvSpPr txBox="1"/>
          <p:nvPr/>
        </p:nvSpPr>
        <p:spPr>
          <a:xfrm>
            <a:off x="7972654" y="4200754"/>
            <a:ext cx="4672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85%</a:t>
            </a:r>
            <a:endParaRPr b="0" i="0" sz="1200" u="none" cap="none" strike="noStrike">
              <a:solidFill>
                <a:schemeClr val="dk1"/>
              </a:solidFill>
              <a:latin typeface="Calibri"/>
              <a:ea typeface="Calibri"/>
              <a:cs typeface="Calibri"/>
              <a:sym typeface="Calibri"/>
            </a:endParaRPr>
          </a:p>
        </p:txBody>
      </p:sp>
      <p:sp>
        <p:nvSpPr>
          <p:cNvPr id="2176" name="Google Shape;2176;p48"/>
          <p:cNvSpPr txBox="1"/>
          <p:nvPr/>
        </p:nvSpPr>
        <p:spPr>
          <a:xfrm>
            <a:off x="8321040" y="4200754"/>
            <a:ext cx="24195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score vs 50% category average</a:t>
            </a:r>
            <a:endParaRPr b="0" i="0" sz="1200" u="none" cap="none" strike="noStrike">
              <a:solidFill>
                <a:schemeClr val="dk1"/>
              </a:solidFill>
              <a:latin typeface="Calibri"/>
              <a:ea typeface="Calibri"/>
              <a:cs typeface="Calibri"/>
              <a:sym typeface="Calibri"/>
            </a:endParaRPr>
          </a:p>
        </p:txBody>
      </p:sp>
      <p:sp>
        <p:nvSpPr>
          <p:cNvPr id="2177" name="Google Shape;2177;p48"/>
          <p:cNvSpPr txBox="1"/>
          <p:nvPr/>
        </p:nvSpPr>
        <p:spPr>
          <a:xfrm>
            <a:off x="6448349" y="4543654"/>
            <a:ext cx="12097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200"/>
              <a:buFont typeface="Inter"/>
              <a:buNone/>
            </a:pPr>
            <a:r>
              <a:rPr b="1" i="0" lang="en-US" sz="1200" u="none" cap="none" strike="noStrike">
                <a:solidFill>
                  <a:srgbClr val="2C3E50"/>
                </a:solidFill>
                <a:latin typeface="Inter"/>
                <a:ea typeface="Inter"/>
                <a:cs typeface="Inter"/>
                <a:sym typeface="Inter"/>
              </a:rPr>
              <a:t>Key Limitation:</a:t>
            </a:r>
            <a:endParaRPr b="0" i="0" sz="1200" u="none" cap="none" strike="noStrike">
              <a:solidFill>
                <a:schemeClr val="dk1"/>
              </a:solidFill>
              <a:latin typeface="Calibri"/>
              <a:ea typeface="Calibri"/>
              <a:cs typeface="Calibri"/>
              <a:sym typeface="Calibri"/>
            </a:endParaRPr>
          </a:p>
        </p:txBody>
      </p:sp>
      <p:sp>
        <p:nvSpPr>
          <p:cNvPr id="2178" name="Google Shape;2178;p48"/>
          <p:cNvSpPr txBox="1"/>
          <p:nvPr/>
        </p:nvSpPr>
        <p:spPr>
          <a:xfrm>
            <a:off x="7972654" y="4543654"/>
            <a:ext cx="2000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Temperature sensitivity (~</a:t>
            </a:r>
            <a:endParaRPr b="0" i="0" sz="1200" u="none" cap="none" strike="noStrike">
              <a:solidFill>
                <a:schemeClr val="dk1"/>
              </a:solidFill>
              <a:latin typeface="Calibri"/>
              <a:ea typeface="Calibri"/>
              <a:cs typeface="Calibri"/>
              <a:sym typeface="Calibri"/>
            </a:endParaRPr>
          </a:p>
        </p:txBody>
      </p:sp>
      <p:sp>
        <p:nvSpPr>
          <p:cNvPr id="2179" name="Google Shape;2179;p48"/>
          <p:cNvSpPr txBox="1"/>
          <p:nvPr/>
        </p:nvSpPr>
        <p:spPr>
          <a:xfrm>
            <a:off x="9856318" y="4543654"/>
            <a:ext cx="4956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Inter"/>
              <a:buNone/>
            </a:pPr>
            <a:r>
              <a:rPr b="1" i="0" lang="en-US" sz="1200" u="none" cap="none" strike="noStrike">
                <a:solidFill>
                  <a:srgbClr val="16A085"/>
                </a:solidFill>
                <a:latin typeface="Inter"/>
                <a:ea typeface="Inter"/>
                <a:cs typeface="Inter"/>
                <a:sym typeface="Inter"/>
              </a:rPr>
              <a:t>1 in 6</a:t>
            </a:r>
            <a:endParaRPr b="0" i="0" sz="1200" u="none" cap="none" strike="noStrike">
              <a:solidFill>
                <a:schemeClr val="dk1"/>
              </a:solidFill>
              <a:latin typeface="Calibri"/>
              <a:ea typeface="Calibri"/>
              <a:cs typeface="Calibri"/>
              <a:sym typeface="Calibri"/>
            </a:endParaRPr>
          </a:p>
        </p:txBody>
      </p:sp>
      <p:sp>
        <p:nvSpPr>
          <p:cNvPr id="2180" name="Google Shape;2180;p48"/>
          <p:cNvSpPr txBox="1"/>
          <p:nvPr/>
        </p:nvSpPr>
        <p:spPr>
          <a:xfrm>
            <a:off x="7972654" y="4543654"/>
            <a:ext cx="285750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videos mention)</a:t>
            </a:r>
            <a:endParaRPr b="0" i="0" sz="1200" u="none" cap="none" strike="noStrike">
              <a:solidFill>
                <a:schemeClr val="dk1"/>
              </a:solidFill>
              <a:latin typeface="Calibri"/>
              <a:ea typeface="Calibri"/>
              <a:cs typeface="Calibri"/>
              <a:sym typeface="Calibri"/>
            </a:endParaRPr>
          </a:p>
        </p:txBody>
      </p:sp>
      <p:sp>
        <p:nvSpPr>
          <p:cNvPr id="2181" name="Google Shape;2181;p48"/>
          <p:cNvSpPr/>
          <p:nvPr/>
        </p:nvSpPr>
        <p:spPr>
          <a:xfrm>
            <a:off x="609905" y="5886907"/>
            <a:ext cx="5410505" cy="1009498"/>
          </a:xfrm>
          <a:prstGeom prst="roundRect">
            <a:avLst>
              <a:gd fmla="val 6836" name="adj"/>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8"/>
          <p:cNvSpPr txBox="1"/>
          <p:nvPr/>
        </p:nvSpPr>
        <p:spPr>
          <a:xfrm>
            <a:off x="800100" y="6048756"/>
            <a:ext cx="5089550"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1" lang="en-US" sz="1100" u="none" cap="none" strike="noStrike">
                <a:solidFill>
                  <a:srgbClr val="2C3E50"/>
                </a:solidFill>
                <a:latin typeface="Inter"/>
                <a:ea typeface="Inter"/>
                <a:cs typeface="Inter"/>
                <a:sym typeface="Inter"/>
              </a:rPr>
              <a:t>Scotch mounting tape is my go-to for indoor projects. Never fails, holds strong even on textured walls. I trust it for anything that needs to stay put.</a:t>
            </a:r>
            <a:endParaRPr b="0" i="0" sz="1100" u="none" cap="none" strike="noStrike">
              <a:solidFill>
                <a:schemeClr val="dk1"/>
              </a:solidFill>
              <a:latin typeface="Calibri"/>
              <a:ea typeface="Calibri"/>
              <a:cs typeface="Calibri"/>
              <a:sym typeface="Calibri"/>
            </a:endParaRPr>
          </a:p>
        </p:txBody>
      </p:sp>
      <p:sp>
        <p:nvSpPr>
          <p:cNvPr id="2183" name="Google Shape;2183;p48"/>
          <p:cNvSpPr txBox="1"/>
          <p:nvPr/>
        </p:nvSpPr>
        <p:spPr>
          <a:xfrm>
            <a:off x="3227832" y="6562649"/>
            <a:ext cx="2710282" cy="162763"/>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 DIY enthusiast, Portland (Creator video)</a:t>
            </a:r>
            <a:endParaRPr b="0" i="0" sz="1000" u="none" cap="none" strike="noStrike">
              <a:solidFill>
                <a:schemeClr val="dk1"/>
              </a:solidFill>
              <a:latin typeface="Calibri"/>
              <a:ea typeface="Calibri"/>
              <a:cs typeface="Calibri"/>
              <a:sym typeface="Calibri"/>
            </a:endParaRPr>
          </a:p>
        </p:txBody>
      </p:sp>
      <p:sp>
        <p:nvSpPr>
          <p:cNvPr id="2184" name="Google Shape;2184;p48"/>
          <p:cNvSpPr/>
          <p:nvPr/>
        </p:nvSpPr>
        <p:spPr>
          <a:xfrm>
            <a:off x="6172200" y="5886907"/>
            <a:ext cx="5410505" cy="1009498"/>
          </a:xfrm>
          <a:prstGeom prst="roundRect">
            <a:avLst>
              <a:gd fmla="val 6836" name="adj"/>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8"/>
          <p:cNvSpPr txBox="1"/>
          <p:nvPr/>
        </p:nvSpPr>
        <p:spPr>
          <a:xfrm>
            <a:off x="6362395" y="6048756"/>
            <a:ext cx="4908499" cy="4005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100"/>
              <a:buFont typeface="Inter"/>
              <a:buNone/>
            </a:pPr>
            <a:r>
              <a:rPr b="0" i="1" lang="en-US" sz="1100" u="none" cap="none" strike="noStrike">
                <a:solidFill>
                  <a:srgbClr val="2C3E50"/>
                </a:solidFill>
                <a:latin typeface="Inter"/>
                <a:ea typeface="Inter"/>
                <a:cs typeface="Inter"/>
                <a:sym typeface="Inter"/>
              </a:rPr>
              <a:t>Love it indoors but had issues in my garage during summer. Heat made the adhesive soft and things fell. Still my favorite for inside the house.</a:t>
            </a:r>
            <a:endParaRPr b="0" i="0" sz="1100" u="none" cap="none" strike="noStrike">
              <a:solidFill>
                <a:schemeClr val="dk1"/>
              </a:solidFill>
              <a:latin typeface="Calibri"/>
              <a:ea typeface="Calibri"/>
              <a:cs typeface="Calibri"/>
              <a:sym typeface="Calibri"/>
            </a:endParaRPr>
          </a:p>
        </p:txBody>
      </p:sp>
      <p:sp>
        <p:nvSpPr>
          <p:cNvPr id="2186" name="Google Shape;2186;p48"/>
          <p:cNvSpPr txBox="1"/>
          <p:nvPr/>
        </p:nvSpPr>
        <p:spPr>
          <a:xfrm>
            <a:off x="8893454" y="6562649"/>
            <a:ext cx="2605126" cy="162763"/>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 Homeowner, Phoenix (Creator review)</a:t>
            </a:r>
            <a:endParaRPr b="0" i="0" sz="1000" u="none" cap="none" strike="noStrike">
              <a:solidFill>
                <a:schemeClr val="dk1"/>
              </a:solidFill>
              <a:latin typeface="Calibri"/>
              <a:ea typeface="Calibri"/>
              <a:cs typeface="Calibri"/>
              <a:sym typeface="Calibri"/>
            </a:endParaRPr>
          </a:p>
        </p:txBody>
      </p:sp>
      <p:sp>
        <p:nvSpPr>
          <p:cNvPr id="2187" name="Google Shape;2187;p48"/>
          <p:cNvSpPr txBox="1"/>
          <p:nvPr/>
        </p:nvSpPr>
        <p:spPr>
          <a:xfrm>
            <a:off x="609905" y="7448702"/>
            <a:ext cx="78629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Source: Phase 2 Brand Perception Analysis, n=214 creator videos; Scotch subset n=68; Amazon review analysis (n=1,781)</a:t>
            </a:r>
            <a:endParaRPr b="0" i="0" sz="1000" u="none" cap="none" strike="noStrike">
              <a:solidFill>
                <a:schemeClr val="dk1"/>
              </a:solidFill>
              <a:latin typeface="Calibri"/>
              <a:ea typeface="Calibri"/>
              <a:cs typeface="Calibri"/>
              <a:sym typeface="Calibri"/>
            </a:endParaRPr>
          </a:p>
        </p:txBody>
      </p:sp>
      <p:sp>
        <p:nvSpPr>
          <p:cNvPr id="2188" name="Google Shape;2188;p48"/>
          <p:cNvSpPr txBox="1"/>
          <p:nvPr/>
        </p:nvSpPr>
        <p:spPr>
          <a:xfrm>
            <a:off x="11419027" y="7448702"/>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3" name="Shape 2193"/>
        <p:cNvGrpSpPr/>
        <p:nvPr/>
      </p:nvGrpSpPr>
      <p:grpSpPr>
        <a:xfrm>
          <a:off x="0" y="0"/>
          <a:ext cx="0" cy="0"/>
          <a:chOff x="0" y="0"/>
          <a:chExt cx="0" cy="0"/>
        </a:xfrm>
      </p:grpSpPr>
      <p:sp>
        <p:nvSpPr>
          <p:cNvPr id="2194" name="Google Shape;2194;p49"/>
          <p:cNvSpPr/>
          <p:nvPr/>
        </p:nvSpPr>
        <p:spPr>
          <a:xfrm>
            <a:off x="0" y="0"/>
            <a:ext cx="12191695" cy="6858000"/>
          </a:xfrm>
          <a:prstGeom prst="rect">
            <a:avLst/>
          </a:prstGeom>
          <a:solidFill>
            <a:srgbClr val="2C3E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9"/>
          <p:cNvSpPr/>
          <p:nvPr/>
        </p:nvSpPr>
        <p:spPr>
          <a:xfrm>
            <a:off x="609905" y="457200"/>
            <a:ext cx="761695" cy="47549"/>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9"/>
          <p:cNvSpPr txBox="1"/>
          <p:nvPr/>
        </p:nvSpPr>
        <p:spPr>
          <a:xfrm>
            <a:off x="609905" y="780898"/>
            <a:ext cx="4657954"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Montserrat"/>
              <a:buNone/>
            </a:pPr>
            <a:r>
              <a:rPr b="1" i="0" lang="en-US" sz="2700" u="none" cap="none" strike="noStrike">
                <a:solidFill>
                  <a:srgbClr val="FFFFFF"/>
                </a:solidFill>
                <a:latin typeface="Montserrat"/>
                <a:ea typeface="Montserrat"/>
                <a:cs typeface="Montserrat"/>
                <a:sym typeface="Montserrat"/>
              </a:rPr>
              <a:t>Scotch Strategic Insights</a:t>
            </a:r>
            <a:endParaRPr b="0" i="0" sz="2700" u="none" cap="none" strike="noStrike">
              <a:solidFill>
                <a:schemeClr val="dk1"/>
              </a:solidFill>
              <a:latin typeface="Calibri"/>
              <a:ea typeface="Calibri"/>
              <a:cs typeface="Calibri"/>
              <a:sym typeface="Calibri"/>
            </a:endParaRPr>
          </a:p>
        </p:txBody>
      </p:sp>
      <p:sp>
        <p:nvSpPr>
          <p:cNvPr id="2197" name="Google Shape;2197;p49"/>
          <p:cNvSpPr/>
          <p:nvPr/>
        </p:nvSpPr>
        <p:spPr>
          <a:xfrm>
            <a:off x="609905" y="1666951"/>
            <a:ext cx="10972800" cy="1248156"/>
          </a:xfrm>
          <a:prstGeom prst="roundRect">
            <a:avLst>
              <a:gd fmla="val 2237" name="adj"/>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9"/>
          <p:cNvSpPr/>
          <p:nvPr/>
        </p:nvSpPr>
        <p:spPr>
          <a:xfrm>
            <a:off x="609905" y="1666951"/>
            <a:ext cx="38405" cy="1248156"/>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9"/>
          <p:cNvSpPr/>
          <p:nvPr/>
        </p:nvSpPr>
        <p:spPr>
          <a:xfrm>
            <a:off x="875995" y="1857146"/>
            <a:ext cx="228600" cy="228600"/>
          </a:xfrm>
          <a:prstGeom prst="roundRect">
            <a:avLst>
              <a:gd fmla="val 50000" name="adj"/>
            </a:avLst>
          </a:prstGeom>
          <a:solidFill>
            <a:srgbClr val="16A085">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0" name="Google Shape;2200;p49"/>
          <p:cNvPicPr preferRelativeResize="0"/>
          <p:nvPr/>
        </p:nvPicPr>
        <p:blipFill rotWithShape="1">
          <a:blip r:embed="rId3">
            <a:alphaModFix/>
          </a:blip>
          <a:srcRect b="0" l="0" r="0" t="0"/>
          <a:stretch/>
        </p:blipFill>
        <p:spPr>
          <a:xfrm>
            <a:off x="914400" y="1895551"/>
            <a:ext cx="152705" cy="152705"/>
          </a:xfrm>
          <a:prstGeom prst="rect">
            <a:avLst/>
          </a:prstGeom>
          <a:noFill/>
          <a:ln>
            <a:noFill/>
          </a:ln>
        </p:spPr>
      </p:pic>
      <p:sp>
        <p:nvSpPr>
          <p:cNvPr id="2201" name="Google Shape;2201;p49"/>
          <p:cNvSpPr txBox="1"/>
          <p:nvPr/>
        </p:nvSpPr>
        <p:spPr>
          <a:xfrm>
            <a:off x="1218895" y="1876349"/>
            <a:ext cx="1295705"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THE PATTERN</a:t>
            </a:r>
            <a:endParaRPr b="0" i="0" sz="1200" u="none" cap="none" strike="noStrike">
              <a:solidFill>
                <a:schemeClr val="dk1"/>
              </a:solidFill>
              <a:latin typeface="Calibri"/>
              <a:ea typeface="Calibri"/>
              <a:cs typeface="Calibri"/>
              <a:sym typeface="Calibri"/>
            </a:endParaRPr>
          </a:p>
        </p:txBody>
      </p:sp>
      <p:sp>
        <p:nvSpPr>
          <p:cNvPr id="2202" name="Google Shape;2202;p49"/>
          <p:cNvSpPr txBox="1"/>
          <p:nvPr/>
        </p:nvSpPr>
        <p:spPr>
          <a:xfrm>
            <a:off x="875995" y="2219249"/>
            <a:ext cx="10351922"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Open Sans"/>
              <a:buNone/>
            </a:pPr>
            <a:r>
              <a:rPr b="0" i="0" lang="en-US" sz="1200" u="none" cap="none" strike="noStrike">
                <a:solidFill>
                  <a:srgbClr val="FFFFFF"/>
                </a:solidFill>
                <a:latin typeface="Open Sans"/>
                <a:ea typeface="Open Sans"/>
                <a:cs typeface="Open Sans"/>
                <a:sym typeface="Open Sans"/>
              </a:rPr>
              <a:t>Scotch earns 14:1 advocacy ratio (20.6% positive, 1.5% negative)—strongest sentiment in category. DIY project positioning (34 mentions) and strong hold equity (27 mentions) create clear differentiation from Command's temporary/rental focus.</a:t>
            </a:r>
            <a:endParaRPr b="0" i="0" sz="1200" u="none" cap="none" strike="noStrike">
              <a:solidFill>
                <a:schemeClr val="dk1"/>
              </a:solidFill>
              <a:latin typeface="Calibri"/>
              <a:ea typeface="Calibri"/>
              <a:cs typeface="Calibri"/>
              <a:sym typeface="Calibri"/>
            </a:endParaRPr>
          </a:p>
        </p:txBody>
      </p:sp>
      <p:sp>
        <p:nvSpPr>
          <p:cNvPr id="2203" name="Google Shape;2203;p49"/>
          <p:cNvSpPr/>
          <p:nvPr/>
        </p:nvSpPr>
        <p:spPr>
          <a:xfrm>
            <a:off x="609905" y="3099816"/>
            <a:ext cx="10972800" cy="1248156"/>
          </a:xfrm>
          <a:prstGeom prst="roundRect">
            <a:avLst>
              <a:gd fmla="val 2237" name="adj"/>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9"/>
          <p:cNvSpPr/>
          <p:nvPr/>
        </p:nvSpPr>
        <p:spPr>
          <a:xfrm>
            <a:off x="609905" y="3099816"/>
            <a:ext cx="38405" cy="1248156"/>
          </a:xfrm>
          <a:prstGeom prst="rect">
            <a:avLst/>
          </a:prstGeom>
          <a:solidFill>
            <a:srgbClr val="F39C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9"/>
          <p:cNvSpPr/>
          <p:nvPr/>
        </p:nvSpPr>
        <p:spPr>
          <a:xfrm>
            <a:off x="875995" y="3290011"/>
            <a:ext cx="228600" cy="228600"/>
          </a:xfrm>
          <a:prstGeom prst="roundRect">
            <a:avLst>
              <a:gd fmla="val 50000" name="adj"/>
            </a:avLst>
          </a:prstGeom>
          <a:solidFill>
            <a:srgbClr val="F39C12">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6" name="Google Shape;2206;p49"/>
          <p:cNvPicPr preferRelativeResize="0"/>
          <p:nvPr/>
        </p:nvPicPr>
        <p:blipFill rotWithShape="1">
          <a:blip r:embed="rId4">
            <a:alphaModFix/>
          </a:blip>
          <a:srcRect b="0" l="0" r="0" t="0"/>
          <a:stretch/>
        </p:blipFill>
        <p:spPr>
          <a:xfrm>
            <a:off x="914400" y="3328416"/>
            <a:ext cx="152705" cy="152705"/>
          </a:xfrm>
          <a:prstGeom prst="rect">
            <a:avLst/>
          </a:prstGeom>
          <a:noFill/>
          <a:ln>
            <a:noFill/>
          </a:ln>
        </p:spPr>
      </p:pic>
      <p:sp>
        <p:nvSpPr>
          <p:cNvPr id="2207" name="Google Shape;2207;p49"/>
          <p:cNvSpPr txBox="1"/>
          <p:nvPr/>
        </p:nvSpPr>
        <p:spPr>
          <a:xfrm>
            <a:off x="1218895" y="3309214"/>
            <a:ext cx="124815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9C12"/>
              </a:buClr>
              <a:buSzPts val="1200"/>
              <a:buFont typeface="Montserrat"/>
              <a:buNone/>
            </a:pPr>
            <a:r>
              <a:rPr b="1" i="0" lang="en-US" sz="1200" u="none" cap="none" strike="noStrike">
                <a:solidFill>
                  <a:srgbClr val="F39C12"/>
                </a:solidFill>
                <a:latin typeface="Montserrat"/>
                <a:ea typeface="Montserrat"/>
                <a:cs typeface="Montserrat"/>
                <a:sym typeface="Montserrat"/>
              </a:rPr>
              <a:t>HARD TRUTH</a:t>
            </a:r>
            <a:endParaRPr b="0" i="0" sz="1200" u="none" cap="none" strike="noStrike">
              <a:solidFill>
                <a:schemeClr val="dk1"/>
              </a:solidFill>
              <a:latin typeface="Calibri"/>
              <a:ea typeface="Calibri"/>
              <a:cs typeface="Calibri"/>
              <a:sym typeface="Calibri"/>
            </a:endParaRPr>
          </a:p>
        </p:txBody>
      </p:sp>
      <p:sp>
        <p:nvSpPr>
          <p:cNvPr id="2208" name="Google Shape;2208;p49"/>
          <p:cNvSpPr txBox="1"/>
          <p:nvPr/>
        </p:nvSpPr>
        <p:spPr>
          <a:xfrm>
            <a:off x="875995" y="3652114"/>
            <a:ext cx="9998964"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Open Sans"/>
              <a:buNone/>
            </a:pPr>
            <a:r>
              <a:rPr b="0" i="0" lang="en-US" sz="1200" u="none" cap="none" strike="noStrike">
                <a:solidFill>
                  <a:srgbClr val="FFFFFF"/>
                </a:solidFill>
                <a:latin typeface="Open Sans"/>
                <a:ea typeface="Open Sans"/>
                <a:cs typeface="Open Sans"/>
                <a:sym typeface="Open Sans"/>
              </a:rPr>
              <a:t>Temperature sensitivity appears in ~1 in 6 videos—critical limitation for garage environments (-10°F to 120°F swings). Strong indoor performance doesn't translate to extreme temperature applications where garage category operates.</a:t>
            </a:r>
            <a:endParaRPr b="0" i="0" sz="1200" u="none" cap="none" strike="noStrike">
              <a:solidFill>
                <a:schemeClr val="dk1"/>
              </a:solidFill>
              <a:latin typeface="Calibri"/>
              <a:ea typeface="Calibri"/>
              <a:cs typeface="Calibri"/>
              <a:sym typeface="Calibri"/>
            </a:endParaRPr>
          </a:p>
        </p:txBody>
      </p:sp>
      <p:sp>
        <p:nvSpPr>
          <p:cNvPr id="2209" name="Google Shape;2209;p49"/>
          <p:cNvSpPr/>
          <p:nvPr/>
        </p:nvSpPr>
        <p:spPr>
          <a:xfrm>
            <a:off x="609905" y="4531766"/>
            <a:ext cx="10972800" cy="1248156"/>
          </a:xfrm>
          <a:prstGeom prst="roundRect">
            <a:avLst>
              <a:gd fmla="val 2237" name="adj"/>
            </a:avLst>
          </a:prstGeom>
          <a:solidFill>
            <a:srgbClr val="FFFFFF">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9"/>
          <p:cNvSpPr/>
          <p:nvPr/>
        </p:nvSpPr>
        <p:spPr>
          <a:xfrm>
            <a:off x="609905" y="4531766"/>
            <a:ext cx="38405" cy="1248156"/>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9"/>
          <p:cNvSpPr/>
          <p:nvPr/>
        </p:nvSpPr>
        <p:spPr>
          <a:xfrm>
            <a:off x="875995" y="4722876"/>
            <a:ext cx="228600" cy="228600"/>
          </a:xfrm>
          <a:prstGeom prst="roundRect">
            <a:avLst>
              <a:gd fmla="val 50000" name="adj"/>
            </a:avLst>
          </a:prstGeom>
          <a:solidFill>
            <a:srgbClr val="E74C3C">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2" name="Google Shape;2212;p49"/>
          <p:cNvPicPr preferRelativeResize="0"/>
          <p:nvPr/>
        </p:nvPicPr>
        <p:blipFill rotWithShape="1">
          <a:blip r:embed="rId5">
            <a:alphaModFix/>
          </a:blip>
          <a:srcRect b="0" l="0" r="0" t="0"/>
          <a:stretch/>
        </p:blipFill>
        <p:spPr>
          <a:xfrm>
            <a:off x="914400" y="4760366"/>
            <a:ext cx="152705" cy="152705"/>
          </a:xfrm>
          <a:prstGeom prst="rect">
            <a:avLst/>
          </a:prstGeom>
          <a:noFill/>
          <a:ln>
            <a:noFill/>
          </a:ln>
        </p:spPr>
      </p:pic>
      <p:sp>
        <p:nvSpPr>
          <p:cNvPr id="2213" name="Google Shape;2213;p49"/>
          <p:cNvSpPr txBox="1"/>
          <p:nvPr/>
        </p:nvSpPr>
        <p:spPr>
          <a:xfrm>
            <a:off x="1218895" y="4742078"/>
            <a:ext cx="13908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200"/>
              <a:buFont typeface="Montserrat"/>
              <a:buNone/>
            </a:pPr>
            <a:r>
              <a:rPr b="1" i="0" lang="en-US" sz="1200" u="none" cap="none" strike="noStrike">
                <a:solidFill>
                  <a:srgbClr val="E74C3C"/>
                </a:solidFill>
                <a:latin typeface="Montserrat"/>
                <a:ea typeface="Montserrat"/>
                <a:cs typeface="Montserrat"/>
                <a:sym typeface="Montserrat"/>
              </a:rPr>
              <a:t>PROVOCATION</a:t>
            </a:r>
            <a:endParaRPr b="0" i="0" sz="1200" u="none" cap="none" strike="noStrike">
              <a:solidFill>
                <a:schemeClr val="dk1"/>
              </a:solidFill>
              <a:latin typeface="Calibri"/>
              <a:ea typeface="Calibri"/>
              <a:cs typeface="Calibri"/>
              <a:sym typeface="Calibri"/>
            </a:endParaRPr>
          </a:p>
        </p:txBody>
      </p:sp>
      <p:sp>
        <p:nvSpPr>
          <p:cNvPr id="2214" name="Google Shape;2214;p49"/>
          <p:cNvSpPr txBox="1"/>
          <p:nvPr/>
        </p:nvSpPr>
        <p:spPr>
          <a:xfrm>
            <a:off x="875995" y="5084978"/>
            <a:ext cx="10094976" cy="4864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Open Sans"/>
              <a:buNone/>
            </a:pPr>
            <a:r>
              <a:rPr b="0" i="0" lang="en-US" sz="1200" u="none" cap="none" strike="noStrike">
                <a:solidFill>
                  <a:srgbClr val="FFFFFF"/>
                </a:solidFill>
                <a:latin typeface="Open Sans"/>
                <a:ea typeface="Open Sans"/>
                <a:cs typeface="Open Sans"/>
                <a:sym typeface="Open Sans"/>
              </a:rPr>
              <a:t>Can Scotch extend into garage with all-temperature formulations that maintain strong hold equity? Does outdoor/garage positioning require new sub-brand to protect Scotch's indoor DIY credibility?</a:t>
            </a:r>
            <a:endParaRPr b="0" i="0" sz="1200" u="none" cap="none" strike="noStrike">
              <a:solidFill>
                <a:schemeClr val="dk1"/>
              </a:solidFill>
              <a:latin typeface="Calibri"/>
              <a:ea typeface="Calibri"/>
              <a:cs typeface="Calibri"/>
              <a:sym typeface="Calibri"/>
            </a:endParaRPr>
          </a:p>
        </p:txBody>
      </p:sp>
      <p:sp>
        <p:nvSpPr>
          <p:cNvPr id="2215" name="Google Shape;2215;p49"/>
          <p:cNvSpPr txBox="1"/>
          <p:nvPr/>
        </p:nvSpPr>
        <p:spPr>
          <a:xfrm>
            <a:off x="609905" y="6215177"/>
            <a:ext cx="7141464"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Open Sans"/>
              <a:buNone/>
            </a:pPr>
            <a:r>
              <a:rPr b="0" i="0" lang="en-US" sz="900" u="none" cap="none" strike="noStrike">
                <a:solidFill>
                  <a:srgbClr val="FFFFFF"/>
                </a:solidFill>
                <a:latin typeface="Open Sans"/>
                <a:ea typeface="Open Sans"/>
                <a:cs typeface="Open Sans"/>
                <a:sym typeface="Open Sans"/>
              </a:rPr>
              <a:t>Source: Phase 2 Brand Perception Analysis (n=214 creator videos); 3M Internal – Strategic Category Intelligence | Nov 2025</a:t>
            </a:r>
            <a:endParaRPr b="0" i="0" sz="900" u="none" cap="none" strike="noStrike">
              <a:solidFill>
                <a:schemeClr val="dk1"/>
              </a:solidFill>
              <a:latin typeface="Calibri"/>
              <a:ea typeface="Calibri"/>
              <a:cs typeface="Calibri"/>
              <a:sym typeface="Calibri"/>
            </a:endParaRPr>
          </a:p>
        </p:txBody>
      </p:sp>
      <p:sp>
        <p:nvSpPr>
          <p:cNvPr id="2216" name="Google Shape;2216;p49"/>
          <p:cNvSpPr txBox="1"/>
          <p:nvPr/>
        </p:nvSpPr>
        <p:spPr>
          <a:xfrm>
            <a:off x="11440973" y="6215177"/>
            <a:ext cx="235915"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Open Sans"/>
              <a:buNone/>
            </a:pPr>
            <a:r>
              <a:rPr b="0" i="0" lang="en-US" sz="900" u="none" cap="none" strike="noStrike">
                <a:solidFill>
                  <a:srgbClr val="FFFFFF"/>
                </a:solidFill>
                <a:latin typeface="Open Sans"/>
                <a:ea typeface="Open Sans"/>
                <a:cs typeface="Open Sans"/>
                <a:sym typeface="Open Sans"/>
              </a:rPr>
              <a:t>48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1" name="Shape 2221"/>
        <p:cNvGrpSpPr/>
        <p:nvPr/>
      </p:nvGrpSpPr>
      <p:grpSpPr>
        <a:xfrm>
          <a:off x="0" y="0"/>
          <a:ext cx="0" cy="0"/>
          <a:chOff x="0" y="0"/>
          <a:chExt cx="0" cy="0"/>
        </a:xfrm>
      </p:grpSpPr>
      <p:sp>
        <p:nvSpPr>
          <p:cNvPr id="2222" name="Google Shape;2222;p50"/>
          <p:cNvSpPr/>
          <p:nvPr/>
        </p:nvSpPr>
        <p:spPr>
          <a:xfrm>
            <a:off x="0" y="0"/>
            <a:ext cx="12191695" cy="70582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0"/>
          <p:cNvSpPr/>
          <p:nvPr/>
        </p:nvSpPr>
        <p:spPr>
          <a:xfrm>
            <a:off x="0" y="0"/>
            <a:ext cx="12191695" cy="70582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0"/>
          <p:cNvSpPr/>
          <p:nvPr/>
        </p:nvSpPr>
        <p:spPr>
          <a:xfrm>
            <a:off x="533095" y="190195"/>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0"/>
          <p:cNvSpPr txBox="1"/>
          <p:nvPr/>
        </p:nvSpPr>
        <p:spPr>
          <a:xfrm>
            <a:off x="533095" y="342900"/>
            <a:ext cx="807781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100"/>
              <a:buFont typeface="Montserrat"/>
              <a:buNone/>
            </a:pPr>
            <a:r>
              <a:rPr b="1" i="0" lang="en-US" sz="2100" u="none" cap="none" strike="noStrike">
                <a:solidFill>
                  <a:srgbClr val="2C3E50"/>
                </a:solidFill>
                <a:latin typeface="Montserrat"/>
                <a:ea typeface="Montserrat"/>
                <a:cs typeface="Montserrat"/>
                <a:sym typeface="Montserrat"/>
              </a:rPr>
              <a:t>3M Claw &amp; Market Territories: Specialization and Overlap</a:t>
            </a:r>
            <a:endParaRPr b="0" i="0" sz="2100" u="none" cap="none" strike="noStrike">
              <a:solidFill>
                <a:schemeClr val="dk1"/>
              </a:solidFill>
              <a:latin typeface="Calibri"/>
              <a:ea typeface="Calibri"/>
              <a:cs typeface="Calibri"/>
              <a:sym typeface="Calibri"/>
            </a:endParaRPr>
          </a:p>
        </p:txBody>
      </p:sp>
      <p:sp>
        <p:nvSpPr>
          <p:cNvPr id="2226" name="Google Shape;2226;p50"/>
          <p:cNvSpPr txBox="1"/>
          <p:nvPr/>
        </p:nvSpPr>
        <p:spPr>
          <a:xfrm>
            <a:off x="533095" y="857707"/>
            <a:ext cx="1185977"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00"/>
              <a:buFont typeface="Montserrat"/>
              <a:buNone/>
            </a:pPr>
            <a:r>
              <a:rPr b="1" i="0" lang="en-US" sz="1000" u="none" cap="none" strike="noStrike">
                <a:solidFill>
                  <a:srgbClr val="2C3E50"/>
                </a:solidFill>
                <a:latin typeface="Montserrat"/>
                <a:ea typeface="Montserrat"/>
                <a:cs typeface="Montserrat"/>
                <a:sym typeface="Montserrat"/>
              </a:rPr>
              <a:t>✱THE PATTERN</a:t>
            </a:r>
            <a:endParaRPr b="0" i="0" sz="1000" u="none" cap="none" strike="noStrike">
              <a:solidFill>
                <a:schemeClr val="dk1"/>
              </a:solidFill>
              <a:latin typeface="Calibri"/>
              <a:ea typeface="Calibri"/>
              <a:cs typeface="Calibri"/>
              <a:sym typeface="Calibri"/>
            </a:endParaRPr>
          </a:p>
        </p:txBody>
      </p:sp>
      <p:sp>
        <p:nvSpPr>
          <p:cNvPr id="2227" name="Google Shape;2227;p50"/>
          <p:cNvSpPr txBox="1"/>
          <p:nvPr/>
        </p:nvSpPr>
        <p:spPr>
          <a:xfrm>
            <a:off x="533095" y="1095451"/>
            <a:ext cx="7608722" cy="3529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Territories by application (not price) are forming naturally: Command (rental/temporary), Scotch (DIY/permanent), 3M Claw (heavy-duty). Picture hanging appears as the universal overlap (76% of content).</a:t>
            </a:r>
            <a:endParaRPr b="0" i="0" sz="900" u="none" cap="none" strike="noStrike">
              <a:solidFill>
                <a:schemeClr val="dk1"/>
              </a:solidFill>
              <a:latin typeface="Calibri"/>
              <a:ea typeface="Calibri"/>
              <a:cs typeface="Calibri"/>
              <a:sym typeface="Calibri"/>
            </a:endParaRPr>
          </a:p>
        </p:txBody>
      </p:sp>
      <p:sp>
        <p:nvSpPr>
          <p:cNvPr id="2228" name="Google Shape;2228;p50"/>
          <p:cNvSpPr/>
          <p:nvPr/>
        </p:nvSpPr>
        <p:spPr>
          <a:xfrm>
            <a:off x="533095" y="1594714"/>
            <a:ext cx="3343046" cy="3133649"/>
          </a:xfrm>
          <a:prstGeom prst="roundRect">
            <a:avLst>
              <a:gd fmla="val 710" name="adj"/>
            </a:avLst>
          </a:prstGeom>
          <a:solidFill>
            <a:srgbClr val="164085">
              <a:alpha val="4705"/>
            </a:srgbClr>
          </a:solidFill>
          <a:ln cap="flat" cmpd="sng" w="25400">
            <a:solidFill>
              <a:srgbClr val="1E3A8A"/>
            </a:solidFill>
            <a:prstDash val="solid"/>
            <a:round/>
            <a:headEnd len="sm" w="sm" type="none"/>
            <a:tailEnd len="sm" w="sm" type="none"/>
          </a:ln>
          <a:effectLst>
            <a:outerShdw blurRad="635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0"/>
          <p:cNvSpPr/>
          <p:nvPr/>
        </p:nvSpPr>
        <p:spPr>
          <a:xfrm>
            <a:off x="705002" y="2071116"/>
            <a:ext cx="3000146" cy="9144"/>
          </a:xfrm>
          <a:prstGeom prst="rect">
            <a:avLst/>
          </a:prstGeom>
          <a:solidFill>
            <a:srgbClr val="000000">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0"/>
          <p:cNvSpPr txBox="1"/>
          <p:nvPr/>
        </p:nvSpPr>
        <p:spPr>
          <a:xfrm>
            <a:off x="1281989" y="1784909"/>
            <a:ext cx="1962302"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1200"/>
              <a:buFont typeface="Montserrat"/>
              <a:buNone/>
            </a:pPr>
            <a:r>
              <a:rPr b="1" i="0" lang="en-US" sz="1200" u="none" cap="none" strike="noStrike">
                <a:solidFill>
                  <a:srgbClr val="1E3A8A"/>
                </a:solidFill>
                <a:latin typeface="Montserrat"/>
                <a:ea typeface="Montserrat"/>
                <a:cs typeface="Montserrat"/>
                <a:sym typeface="Montserrat"/>
              </a:rPr>
              <a:t>COMMAND TERRITORY</a:t>
            </a:r>
            <a:endParaRPr b="0" i="0" sz="1200" u="none" cap="none" strike="noStrike">
              <a:solidFill>
                <a:schemeClr val="dk1"/>
              </a:solidFill>
              <a:latin typeface="Calibri"/>
              <a:ea typeface="Calibri"/>
              <a:cs typeface="Calibri"/>
              <a:sym typeface="Calibri"/>
            </a:endParaRPr>
          </a:p>
        </p:txBody>
      </p:sp>
      <p:sp>
        <p:nvSpPr>
          <p:cNvPr id="2231" name="Google Shape;2231;p50"/>
          <p:cNvSpPr txBox="1"/>
          <p:nvPr/>
        </p:nvSpPr>
        <p:spPr>
          <a:xfrm>
            <a:off x="705002" y="2203704"/>
            <a:ext cx="12198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TERRITORY FOCUS</a:t>
            </a:r>
            <a:endParaRPr b="0" i="0" sz="900" u="none" cap="none" strike="noStrike">
              <a:solidFill>
                <a:schemeClr val="dk1"/>
              </a:solidFill>
              <a:latin typeface="Calibri"/>
              <a:ea typeface="Calibri"/>
              <a:cs typeface="Calibri"/>
              <a:sym typeface="Calibri"/>
            </a:endParaRPr>
          </a:p>
        </p:txBody>
      </p:sp>
      <p:sp>
        <p:nvSpPr>
          <p:cNvPr id="2232" name="Google Shape;2232;p50"/>
          <p:cNvSpPr txBox="1"/>
          <p:nvPr/>
        </p:nvSpPr>
        <p:spPr>
          <a:xfrm>
            <a:off x="705002" y="3063240"/>
            <a:ext cx="12573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KEY APPLICATIONS</a:t>
            </a:r>
            <a:endParaRPr b="0" i="0" sz="900" u="none" cap="none" strike="noStrike">
              <a:solidFill>
                <a:schemeClr val="dk1"/>
              </a:solidFill>
              <a:latin typeface="Calibri"/>
              <a:ea typeface="Calibri"/>
              <a:cs typeface="Calibri"/>
              <a:sym typeface="Calibri"/>
            </a:endParaRPr>
          </a:p>
        </p:txBody>
      </p:sp>
      <p:sp>
        <p:nvSpPr>
          <p:cNvPr id="2233" name="Google Shape;2233;p50"/>
          <p:cNvSpPr txBox="1"/>
          <p:nvPr/>
        </p:nvSpPr>
        <p:spPr>
          <a:xfrm>
            <a:off x="705002" y="3922776"/>
            <a:ext cx="9244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WHITE SPACE</a:t>
            </a:r>
            <a:endParaRPr b="0" i="0" sz="900" u="none" cap="none" strike="noStrike">
              <a:solidFill>
                <a:schemeClr val="dk1"/>
              </a:solidFill>
              <a:latin typeface="Calibri"/>
              <a:ea typeface="Calibri"/>
              <a:cs typeface="Calibri"/>
              <a:sym typeface="Calibri"/>
            </a:endParaRPr>
          </a:p>
        </p:txBody>
      </p:sp>
      <p:sp>
        <p:nvSpPr>
          <p:cNvPr id="2234" name="Google Shape;2234;p50"/>
          <p:cNvSpPr txBox="1"/>
          <p:nvPr/>
        </p:nvSpPr>
        <p:spPr>
          <a:xfrm>
            <a:off x="705002" y="2423160"/>
            <a:ext cx="120335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Rental / Damage-Free</a:t>
            </a:r>
            <a:endParaRPr b="0" i="0" sz="800" u="none" cap="none" strike="noStrike">
              <a:solidFill>
                <a:schemeClr val="dk1"/>
              </a:solidFill>
              <a:latin typeface="Calibri"/>
              <a:ea typeface="Calibri"/>
              <a:cs typeface="Calibri"/>
              <a:sym typeface="Calibri"/>
            </a:endParaRPr>
          </a:p>
        </p:txBody>
      </p:sp>
      <p:sp>
        <p:nvSpPr>
          <p:cNvPr id="2235" name="Google Shape;2235;p50"/>
          <p:cNvSpPr txBox="1"/>
          <p:nvPr/>
        </p:nvSpPr>
        <p:spPr>
          <a:xfrm>
            <a:off x="705002" y="2607869"/>
            <a:ext cx="130759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Temporary Applications</a:t>
            </a:r>
            <a:endParaRPr b="0" i="0" sz="800" u="none" cap="none" strike="noStrike">
              <a:solidFill>
                <a:schemeClr val="dk1"/>
              </a:solidFill>
              <a:latin typeface="Calibri"/>
              <a:ea typeface="Calibri"/>
              <a:cs typeface="Calibri"/>
              <a:sym typeface="Calibri"/>
            </a:endParaRPr>
          </a:p>
        </p:txBody>
      </p:sp>
      <p:sp>
        <p:nvSpPr>
          <p:cNvPr id="2236" name="Google Shape;2236;p50"/>
          <p:cNvSpPr txBox="1"/>
          <p:nvPr/>
        </p:nvSpPr>
        <p:spPr>
          <a:xfrm>
            <a:off x="705002" y="2792578"/>
            <a:ext cx="124084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Easy Removal Promise</a:t>
            </a:r>
            <a:endParaRPr b="0" i="0" sz="800" u="none" cap="none" strike="noStrike">
              <a:solidFill>
                <a:schemeClr val="dk1"/>
              </a:solidFill>
              <a:latin typeface="Calibri"/>
              <a:ea typeface="Calibri"/>
              <a:cs typeface="Calibri"/>
              <a:sym typeface="Calibri"/>
            </a:endParaRPr>
          </a:p>
        </p:txBody>
      </p:sp>
      <p:sp>
        <p:nvSpPr>
          <p:cNvPr id="2237" name="Google Shape;2237;p50"/>
          <p:cNvSpPr txBox="1"/>
          <p:nvPr/>
        </p:nvSpPr>
        <p:spPr>
          <a:xfrm>
            <a:off x="705002" y="3282696"/>
            <a:ext cx="164134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Rental Solutions (16 mentions)</a:t>
            </a:r>
            <a:endParaRPr b="0" i="0" sz="800" u="none" cap="none" strike="noStrike">
              <a:solidFill>
                <a:schemeClr val="dk1"/>
              </a:solidFill>
              <a:latin typeface="Calibri"/>
              <a:ea typeface="Calibri"/>
              <a:cs typeface="Calibri"/>
              <a:sym typeface="Calibri"/>
            </a:endParaRPr>
          </a:p>
        </p:txBody>
      </p:sp>
      <p:sp>
        <p:nvSpPr>
          <p:cNvPr id="2238" name="Google Shape;2238;p50"/>
          <p:cNvSpPr txBox="1"/>
          <p:nvPr/>
        </p:nvSpPr>
        <p:spPr>
          <a:xfrm>
            <a:off x="705002" y="3467405"/>
            <a:ext cx="138440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Damage-Free Hanging (9)</a:t>
            </a:r>
            <a:endParaRPr b="0" i="0" sz="800" u="none" cap="none" strike="noStrike">
              <a:solidFill>
                <a:schemeClr val="dk1"/>
              </a:solidFill>
              <a:latin typeface="Calibri"/>
              <a:ea typeface="Calibri"/>
              <a:cs typeface="Calibri"/>
              <a:sym typeface="Calibri"/>
            </a:endParaRPr>
          </a:p>
        </p:txBody>
      </p:sp>
      <p:sp>
        <p:nvSpPr>
          <p:cNvPr id="2239" name="Google Shape;2239;p50"/>
          <p:cNvSpPr txBox="1"/>
          <p:nvPr/>
        </p:nvSpPr>
        <p:spPr>
          <a:xfrm>
            <a:off x="705002" y="3652114"/>
            <a:ext cx="1355141"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Seasonal Decorations (7)</a:t>
            </a:r>
            <a:endParaRPr b="0" i="0" sz="800" u="none" cap="none" strike="noStrike">
              <a:solidFill>
                <a:schemeClr val="dk1"/>
              </a:solidFill>
              <a:latin typeface="Calibri"/>
              <a:ea typeface="Calibri"/>
              <a:cs typeface="Calibri"/>
              <a:sym typeface="Calibri"/>
            </a:endParaRPr>
          </a:p>
        </p:txBody>
      </p:sp>
      <p:sp>
        <p:nvSpPr>
          <p:cNvPr id="2240" name="Google Shape;2240;p50"/>
          <p:cNvSpPr txBox="1"/>
          <p:nvPr/>
        </p:nvSpPr>
        <p:spPr>
          <a:xfrm>
            <a:off x="705002" y="4142232"/>
            <a:ext cx="2860243" cy="2953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00"/>
              <a:buFont typeface="Open Sans"/>
              <a:buNone/>
            </a:pPr>
            <a:r>
              <a:rPr b="0" i="1" lang="en-US" sz="800" u="none" cap="none" strike="noStrike">
                <a:solidFill>
                  <a:srgbClr val="4B5563"/>
                </a:solidFill>
                <a:latin typeface="Open Sans"/>
                <a:ea typeface="Open Sans"/>
                <a:cs typeface="Open Sans"/>
                <a:sym typeface="Open Sans"/>
              </a:rPr>
              <a:t>Kitchen &amp; Bath rental-friendly organization with humidity resistance</a:t>
            </a:r>
            <a:endParaRPr b="0" i="0" sz="800" u="none" cap="none" strike="noStrike">
              <a:solidFill>
                <a:schemeClr val="dk1"/>
              </a:solidFill>
              <a:latin typeface="Calibri"/>
              <a:ea typeface="Calibri"/>
              <a:cs typeface="Calibri"/>
              <a:sym typeface="Calibri"/>
            </a:endParaRPr>
          </a:p>
        </p:txBody>
      </p:sp>
      <p:sp>
        <p:nvSpPr>
          <p:cNvPr id="2241" name="Google Shape;2241;p50"/>
          <p:cNvSpPr/>
          <p:nvPr/>
        </p:nvSpPr>
        <p:spPr>
          <a:xfrm>
            <a:off x="4427525" y="1594714"/>
            <a:ext cx="3343046" cy="3133649"/>
          </a:xfrm>
          <a:prstGeom prst="roundRect">
            <a:avLst>
              <a:gd fmla="val 710" name="adj"/>
            </a:avLst>
          </a:prstGeom>
          <a:solidFill>
            <a:srgbClr val="16A085">
              <a:alpha val="4705"/>
            </a:srgbClr>
          </a:solidFill>
          <a:ln cap="flat" cmpd="sng" w="25400">
            <a:solidFill>
              <a:srgbClr val="16A085"/>
            </a:solidFill>
            <a:prstDash val="solid"/>
            <a:round/>
            <a:headEnd len="sm" w="sm" type="none"/>
            <a:tailEnd len="sm" w="sm" type="none"/>
          </a:ln>
          <a:effectLst>
            <a:outerShdw blurRad="635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0"/>
          <p:cNvSpPr/>
          <p:nvPr/>
        </p:nvSpPr>
        <p:spPr>
          <a:xfrm>
            <a:off x="4598518" y="2071116"/>
            <a:ext cx="3000146" cy="9144"/>
          </a:xfrm>
          <a:prstGeom prst="rect">
            <a:avLst/>
          </a:prstGeom>
          <a:solidFill>
            <a:srgbClr val="000000">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0"/>
          <p:cNvSpPr txBox="1"/>
          <p:nvPr/>
        </p:nvSpPr>
        <p:spPr>
          <a:xfrm>
            <a:off x="5293462" y="1784909"/>
            <a:ext cx="172455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085"/>
              </a:buClr>
              <a:buSzPts val="1200"/>
              <a:buFont typeface="Montserrat"/>
              <a:buNone/>
            </a:pPr>
            <a:r>
              <a:rPr b="1" i="0" lang="en-US" sz="1200" u="none" cap="none" strike="noStrike">
                <a:solidFill>
                  <a:srgbClr val="16A085"/>
                </a:solidFill>
                <a:latin typeface="Montserrat"/>
                <a:ea typeface="Montserrat"/>
                <a:cs typeface="Montserrat"/>
                <a:sym typeface="Montserrat"/>
              </a:rPr>
              <a:t>SCOTCH TERRITORY</a:t>
            </a:r>
            <a:endParaRPr b="0" i="0" sz="1200" u="none" cap="none" strike="noStrike">
              <a:solidFill>
                <a:schemeClr val="dk1"/>
              </a:solidFill>
              <a:latin typeface="Calibri"/>
              <a:ea typeface="Calibri"/>
              <a:cs typeface="Calibri"/>
              <a:sym typeface="Calibri"/>
            </a:endParaRPr>
          </a:p>
        </p:txBody>
      </p:sp>
      <p:sp>
        <p:nvSpPr>
          <p:cNvPr id="2244" name="Google Shape;2244;p50"/>
          <p:cNvSpPr txBox="1"/>
          <p:nvPr/>
        </p:nvSpPr>
        <p:spPr>
          <a:xfrm>
            <a:off x="4598518" y="2203704"/>
            <a:ext cx="12198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TERRITORY FOCUS</a:t>
            </a:r>
            <a:endParaRPr b="0" i="0" sz="900" u="none" cap="none" strike="noStrike">
              <a:solidFill>
                <a:schemeClr val="dk1"/>
              </a:solidFill>
              <a:latin typeface="Calibri"/>
              <a:ea typeface="Calibri"/>
              <a:cs typeface="Calibri"/>
              <a:sym typeface="Calibri"/>
            </a:endParaRPr>
          </a:p>
        </p:txBody>
      </p:sp>
      <p:sp>
        <p:nvSpPr>
          <p:cNvPr id="2245" name="Google Shape;2245;p50"/>
          <p:cNvSpPr txBox="1"/>
          <p:nvPr/>
        </p:nvSpPr>
        <p:spPr>
          <a:xfrm>
            <a:off x="4598518" y="3063240"/>
            <a:ext cx="12573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KEY APPLICATIONS</a:t>
            </a:r>
            <a:endParaRPr b="0" i="0" sz="900" u="none" cap="none" strike="noStrike">
              <a:solidFill>
                <a:schemeClr val="dk1"/>
              </a:solidFill>
              <a:latin typeface="Calibri"/>
              <a:ea typeface="Calibri"/>
              <a:cs typeface="Calibri"/>
              <a:sym typeface="Calibri"/>
            </a:endParaRPr>
          </a:p>
        </p:txBody>
      </p:sp>
      <p:sp>
        <p:nvSpPr>
          <p:cNvPr id="2246" name="Google Shape;2246;p50"/>
          <p:cNvSpPr txBox="1"/>
          <p:nvPr/>
        </p:nvSpPr>
        <p:spPr>
          <a:xfrm>
            <a:off x="4598518" y="3922776"/>
            <a:ext cx="9244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WHITE SPACE</a:t>
            </a:r>
            <a:endParaRPr b="0" i="0" sz="900" u="none" cap="none" strike="noStrike">
              <a:solidFill>
                <a:schemeClr val="dk1"/>
              </a:solidFill>
              <a:latin typeface="Calibri"/>
              <a:ea typeface="Calibri"/>
              <a:cs typeface="Calibri"/>
              <a:sym typeface="Calibri"/>
            </a:endParaRPr>
          </a:p>
        </p:txBody>
      </p:sp>
      <p:sp>
        <p:nvSpPr>
          <p:cNvPr id="2247" name="Google Shape;2247;p50"/>
          <p:cNvSpPr txBox="1"/>
          <p:nvPr/>
        </p:nvSpPr>
        <p:spPr>
          <a:xfrm>
            <a:off x="4598518" y="2423160"/>
            <a:ext cx="115580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DIY Projects &amp; Crafts</a:t>
            </a:r>
            <a:endParaRPr b="0" i="0" sz="800" u="none" cap="none" strike="noStrike">
              <a:solidFill>
                <a:schemeClr val="dk1"/>
              </a:solidFill>
              <a:latin typeface="Calibri"/>
              <a:ea typeface="Calibri"/>
              <a:cs typeface="Calibri"/>
              <a:sym typeface="Calibri"/>
            </a:endParaRPr>
          </a:p>
        </p:txBody>
      </p:sp>
      <p:sp>
        <p:nvSpPr>
          <p:cNvPr id="2248" name="Google Shape;2248;p50"/>
          <p:cNvSpPr txBox="1"/>
          <p:nvPr/>
        </p:nvSpPr>
        <p:spPr>
          <a:xfrm>
            <a:off x="4598518" y="2607869"/>
            <a:ext cx="117409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Permanent Solutions</a:t>
            </a:r>
            <a:endParaRPr b="0" i="0" sz="800" u="none" cap="none" strike="noStrike">
              <a:solidFill>
                <a:schemeClr val="dk1"/>
              </a:solidFill>
              <a:latin typeface="Calibri"/>
              <a:ea typeface="Calibri"/>
              <a:cs typeface="Calibri"/>
              <a:sym typeface="Calibri"/>
            </a:endParaRPr>
          </a:p>
        </p:txBody>
      </p:sp>
      <p:sp>
        <p:nvSpPr>
          <p:cNvPr id="2249" name="Google Shape;2249;p50"/>
          <p:cNvSpPr txBox="1"/>
          <p:nvPr/>
        </p:nvSpPr>
        <p:spPr>
          <a:xfrm>
            <a:off x="4598518" y="2792578"/>
            <a:ext cx="117409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Creative Applications</a:t>
            </a:r>
            <a:endParaRPr b="0" i="0" sz="800" u="none" cap="none" strike="noStrike">
              <a:solidFill>
                <a:schemeClr val="dk1"/>
              </a:solidFill>
              <a:latin typeface="Calibri"/>
              <a:ea typeface="Calibri"/>
              <a:cs typeface="Calibri"/>
              <a:sym typeface="Calibri"/>
            </a:endParaRPr>
          </a:p>
        </p:txBody>
      </p:sp>
      <p:sp>
        <p:nvSpPr>
          <p:cNvPr id="2250" name="Google Shape;2250;p50"/>
          <p:cNvSpPr txBox="1"/>
          <p:nvPr/>
        </p:nvSpPr>
        <p:spPr>
          <a:xfrm>
            <a:off x="4598518" y="3282696"/>
            <a:ext cx="143195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DIY Projects (34 mentions)</a:t>
            </a:r>
            <a:endParaRPr b="0" i="0" sz="800" u="none" cap="none" strike="noStrike">
              <a:solidFill>
                <a:schemeClr val="dk1"/>
              </a:solidFill>
              <a:latin typeface="Calibri"/>
              <a:ea typeface="Calibri"/>
              <a:cs typeface="Calibri"/>
              <a:sym typeface="Calibri"/>
            </a:endParaRPr>
          </a:p>
        </p:txBody>
      </p:sp>
      <p:sp>
        <p:nvSpPr>
          <p:cNvPr id="2251" name="Google Shape;2251;p50"/>
          <p:cNvSpPr txBox="1"/>
          <p:nvPr/>
        </p:nvSpPr>
        <p:spPr>
          <a:xfrm>
            <a:off x="4598518" y="3467405"/>
            <a:ext cx="142189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Strong Hold Solutions (27)</a:t>
            </a:r>
            <a:endParaRPr b="0" i="0" sz="800" u="none" cap="none" strike="noStrike">
              <a:solidFill>
                <a:schemeClr val="dk1"/>
              </a:solidFill>
              <a:latin typeface="Calibri"/>
              <a:ea typeface="Calibri"/>
              <a:cs typeface="Calibri"/>
              <a:sym typeface="Calibri"/>
            </a:endParaRPr>
          </a:p>
        </p:txBody>
      </p:sp>
      <p:sp>
        <p:nvSpPr>
          <p:cNvPr id="2252" name="Google Shape;2252;p50"/>
          <p:cNvSpPr txBox="1"/>
          <p:nvPr/>
        </p:nvSpPr>
        <p:spPr>
          <a:xfrm>
            <a:off x="4598518" y="3652114"/>
            <a:ext cx="122163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Multi-Surface Use (12)</a:t>
            </a:r>
            <a:endParaRPr b="0" i="0" sz="800" u="none" cap="none" strike="noStrike">
              <a:solidFill>
                <a:schemeClr val="dk1"/>
              </a:solidFill>
              <a:latin typeface="Calibri"/>
              <a:ea typeface="Calibri"/>
              <a:cs typeface="Calibri"/>
              <a:sym typeface="Calibri"/>
            </a:endParaRPr>
          </a:p>
        </p:txBody>
      </p:sp>
      <p:sp>
        <p:nvSpPr>
          <p:cNvPr id="2253" name="Google Shape;2253;p50"/>
          <p:cNvSpPr txBox="1"/>
          <p:nvPr/>
        </p:nvSpPr>
        <p:spPr>
          <a:xfrm>
            <a:off x="4598518" y="4142232"/>
            <a:ext cx="2679192" cy="2953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00"/>
              <a:buFont typeface="Open Sans"/>
              <a:buNone/>
            </a:pPr>
            <a:r>
              <a:rPr b="0" i="1" lang="en-US" sz="800" u="none" cap="none" strike="noStrike">
                <a:solidFill>
                  <a:srgbClr val="4B5563"/>
                </a:solidFill>
                <a:latin typeface="Open Sans"/>
                <a:ea typeface="Open Sans"/>
                <a:cs typeface="Open Sans"/>
                <a:sym typeface="Open Sans"/>
              </a:rPr>
              <a:t>All-temperature formulations for outdoor and garage applications</a:t>
            </a:r>
            <a:endParaRPr b="0" i="0" sz="800" u="none" cap="none" strike="noStrike">
              <a:solidFill>
                <a:schemeClr val="dk1"/>
              </a:solidFill>
              <a:latin typeface="Calibri"/>
              <a:ea typeface="Calibri"/>
              <a:cs typeface="Calibri"/>
              <a:sym typeface="Calibri"/>
            </a:endParaRPr>
          </a:p>
        </p:txBody>
      </p:sp>
      <p:sp>
        <p:nvSpPr>
          <p:cNvPr id="2254" name="Google Shape;2254;p50"/>
          <p:cNvSpPr/>
          <p:nvPr/>
        </p:nvSpPr>
        <p:spPr>
          <a:xfrm>
            <a:off x="8321040" y="1594714"/>
            <a:ext cx="3343046" cy="3133649"/>
          </a:xfrm>
          <a:prstGeom prst="roundRect">
            <a:avLst>
              <a:gd fmla="val 710" name="adj"/>
            </a:avLst>
          </a:prstGeom>
          <a:solidFill>
            <a:srgbClr val="6B7280">
              <a:alpha val="4705"/>
            </a:srgbClr>
          </a:solidFill>
          <a:ln cap="flat" cmpd="sng" w="25400">
            <a:solidFill>
              <a:srgbClr val="6B7280"/>
            </a:solidFill>
            <a:prstDash val="solid"/>
            <a:round/>
            <a:headEnd len="sm" w="sm" type="none"/>
            <a:tailEnd len="sm" w="sm" type="none"/>
          </a:ln>
          <a:effectLst>
            <a:outerShdw blurRad="635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0"/>
          <p:cNvSpPr/>
          <p:nvPr/>
        </p:nvSpPr>
        <p:spPr>
          <a:xfrm>
            <a:off x="8492033" y="2071116"/>
            <a:ext cx="3000146" cy="9144"/>
          </a:xfrm>
          <a:prstGeom prst="rect">
            <a:avLst/>
          </a:prstGeom>
          <a:solidFill>
            <a:srgbClr val="000000">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0"/>
          <p:cNvSpPr txBox="1"/>
          <p:nvPr/>
        </p:nvSpPr>
        <p:spPr>
          <a:xfrm>
            <a:off x="9130284" y="1784909"/>
            <a:ext cx="1838858" cy="18105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200"/>
              <a:buFont typeface="Montserrat"/>
              <a:buNone/>
            </a:pPr>
            <a:r>
              <a:rPr b="1" i="0" lang="en-US" sz="1200" u="none" cap="none" strike="noStrike">
                <a:solidFill>
                  <a:srgbClr val="6B7280"/>
                </a:solidFill>
                <a:latin typeface="Montserrat"/>
                <a:ea typeface="Montserrat"/>
                <a:cs typeface="Montserrat"/>
                <a:sym typeface="Montserrat"/>
              </a:rPr>
              <a:t>3M CLAW TERRITORY</a:t>
            </a:r>
            <a:endParaRPr b="0" i="0" sz="1200" u="none" cap="none" strike="noStrike">
              <a:solidFill>
                <a:schemeClr val="dk1"/>
              </a:solidFill>
              <a:latin typeface="Calibri"/>
              <a:ea typeface="Calibri"/>
              <a:cs typeface="Calibri"/>
              <a:sym typeface="Calibri"/>
            </a:endParaRPr>
          </a:p>
        </p:txBody>
      </p:sp>
      <p:sp>
        <p:nvSpPr>
          <p:cNvPr id="2257" name="Google Shape;2257;p50"/>
          <p:cNvSpPr txBox="1"/>
          <p:nvPr/>
        </p:nvSpPr>
        <p:spPr>
          <a:xfrm>
            <a:off x="8492033" y="2203704"/>
            <a:ext cx="12198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TERRITORY FOCUS</a:t>
            </a:r>
            <a:endParaRPr b="0" i="0" sz="900" u="none" cap="none" strike="noStrike">
              <a:solidFill>
                <a:schemeClr val="dk1"/>
              </a:solidFill>
              <a:latin typeface="Calibri"/>
              <a:ea typeface="Calibri"/>
              <a:cs typeface="Calibri"/>
              <a:sym typeface="Calibri"/>
            </a:endParaRPr>
          </a:p>
        </p:txBody>
      </p:sp>
      <p:sp>
        <p:nvSpPr>
          <p:cNvPr id="2258" name="Google Shape;2258;p50"/>
          <p:cNvSpPr txBox="1"/>
          <p:nvPr/>
        </p:nvSpPr>
        <p:spPr>
          <a:xfrm>
            <a:off x="8492033" y="3063240"/>
            <a:ext cx="12573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KEY APPLICATIONS</a:t>
            </a:r>
            <a:endParaRPr b="0" i="0" sz="900" u="none" cap="none" strike="noStrike">
              <a:solidFill>
                <a:schemeClr val="dk1"/>
              </a:solidFill>
              <a:latin typeface="Calibri"/>
              <a:ea typeface="Calibri"/>
              <a:cs typeface="Calibri"/>
              <a:sym typeface="Calibri"/>
            </a:endParaRPr>
          </a:p>
        </p:txBody>
      </p:sp>
      <p:sp>
        <p:nvSpPr>
          <p:cNvPr id="2259" name="Google Shape;2259;p50"/>
          <p:cNvSpPr txBox="1"/>
          <p:nvPr/>
        </p:nvSpPr>
        <p:spPr>
          <a:xfrm>
            <a:off x="8492033" y="3922776"/>
            <a:ext cx="9244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WHITE SPACE</a:t>
            </a:r>
            <a:endParaRPr b="0" i="0" sz="900" u="none" cap="none" strike="noStrike">
              <a:solidFill>
                <a:schemeClr val="dk1"/>
              </a:solidFill>
              <a:latin typeface="Calibri"/>
              <a:ea typeface="Calibri"/>
              <a:cs typeface="Calibri"/>
              <a:sym typeface="Calibri"/>
            </a:endParaRPr>
          </a:p>
        </p:txBody>
      </p:sp>
      <p:sp>
        <p:nvSpPr>
          <p:cNvPr id="2260" name="Google Shape;2260;p50"/>
          <p:cNvSpPr txBox="1"/>
          <p:nvPr/>
        </p:nvSpPr>
        <p:spPr>
          <a:xfrm>
            <a:off x="8492033" y="2423160"/>
            <a:ext cx="133593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Heavy-Duty Applications</a:t>
            </a:r>
            <a:endParaRPr b="0" i="0" sz="800" u="none" cap="none" strike="noStrike">
              <a:solidFill>
                <a:schemeClr val="dk1"/>
              </a:solidFill>
              <a:latin typeface="Calibri"/>
              <a:ea typeface="Calibri"/>
              <a:cs typeface="Calibri"/>
              <a:sym typeface="Calibri"/>
            </a:endParaRPr>
          </a:p>
        </p:txBody>
      </p:sp>
      <p:sp>
        <p:nvSpPr>
          <p:cNvPr id="2261" name="Google Shape;2261;p50"/>
          <p:cNvSpPr txBox="1"/>
          <p:nvPr/>
        </p:nvSpPr>
        <p:spPr>
          <a:xfrm>
            <a:off x="8492033" y="2607869"/>
            <a:ext cx="141274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Weight-Focused Solutions</a:t>
            </a:r>
            <a:endParaRPr b="0" i="0" sz="800" u="none" cap="none" strike="noStrike">
              <a:solidFill>
                <a:schemeClr val="dk1"/>
              </a:solidFill>
              <a:latin typeface="Calibri"/>
              <a:ea typeface="Calibri"/>
              <a:cs typeface="Calibri"/>
              <a:sym typeface="Calibri"/>
            </a:endParaRPr>
          </a:p>
        </p:txBody>
      </p:sp>
      <p:sp>
        <p:nvSpPr>
          <p:cNvPr id="2262" name="Google Shape;2262;p50"/>
          <p:cNvSpPr txBox="1"/>
          <p:nvPr/>
        </p:nvSpPr>
        <p:spPr>
          <a:xfrm>
            <a:off x="8492033" y="2792578"/>
            <a:ext cx="109819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Premium Durability</a:t>
            </a:r>
            <a:endParaRPr b="0" i="0" sz="800" u="none" cap="none" strike="noStrike">
              <a:solidFill>
                <a:schemeClr val="dk1"/>
              </a:solidFill>
              <a:latin typeface="Calibri"/>
              <a:ea typeface="Calibri"/>
              <a:cs typeface="Calibri"/>
              <a:sym typeface="Calibri"/>
            </a:endParaRPr>
          </a:p>
        </p:txBody>
      </p:sp>
      <p:sp>
        <p:nvSpPr>
          <p:cNvPr id="2263" name="Google Shape;2263;p50"/>
          <p:cNvSpPr txBox="1"/>
          <p:nvPr/>
        </p:nvSpPr>
        <p:spPr>
          <a:xfrm>
            <a:off x="8492033" y="3282696"/>
            <a:ext cx="145023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Heavy Items (63 mentions)</a:t>
            </a:r>
            <a:endParaRPr b="0" i="0" sz="800" u="none" cap="none" strike="noStrike">
              <a:solidFill>
                <a:schemeClr val="dk1"/>
              </a:solidFill>
              <a:latin typeface="Calibri"/>
              <a:ea typeface="Calibri"/>
              <a:cs typeface="Calibri"/>
              <a:sym typeface="Calibri"/>
            </a:endParaRPr>
          </a:p>
        </p:txBody>
      </p:sp>
      <p:sp>
        <p:nvSpPr>
          <p:cNvPr id="2264" name="Google Shape;2264;p50"/>
          <p:cNvSpPr txBox="1"/>
          <p:nvPr/>
        </p:nvSpPr>
        <p:spPr>
          <a:xfrm>
            <a:off x="8492033" y="3467405"/>
            <a:ext cx="1117397"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Mirrors &amp; Glass (18)</a:t>
            </a:r>
            <a:endParaRPr b="0" i="0" sz="800" u="none" cap="none" strike="noStrike">
              <a:solidFill>
                <a:schemeClr val="dk1"/>
              </a:solidFill>
              <a:latin typeface="Calibri"/>
              <a:ea typeface="Calibri"/>
              <a:cs typeface="Calibri"/>
              <a:sym typeface="Calibri"/>
            </a:endParaRPr>
          </a:p>
        </p:txBody>
      </p:sp>
      <p:sp>
        <p:nvSpPr>
          <p:cNvPr id="2265" name="Google Shape;2265;p50"/>
          <p:cNvSpPr txBox="1"/>
          <p:nvPr/>
        </p:nvSpPr>
        <p:spPr>
          <a:xfrm>
            <a:off x="8492033" y="3652114"/>
            <a:ext cx="128839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800"/>
              <a:buFont typeface="Open Sans"/>
              <a:buNone/>
            </a:pPr>
            <a:r>
              <a:rPr b="0" i="0" lang="en-US" sz="800" u="none" cap="none" strike="noStrike">
                <a:solidFill>
                  <a:srgbClr val="2C3E50"/>
                </a:solidFill>
                <a:latin typeface="Open Sans"/>
                <a:ea typeface="Open Sans"/>
                <a:cs typeface="Open Sans"/>
                <a:sym typeface="Open Sans"/>
              </a:rPr>
              <a:t>• Tools &amp; Equipment (11)</a:t>
            </a:r>
            <a:endParaRPr b="0" i="0" sz="800" u="none" cap="none" strike="noStrike">
              <a:solidFill>
                <a:schemeClr val="dk1"/>
              </a:solidFill>
              <a:latin typeface="Calibri"/>
              <a:ea typeface="Calibri"/>
              <a:cs typeface="Calibri"/>
              <a:sym typeface="Calibri"/>
            </a:endParaRPr>
          </a:p>
        </p:txBody>
      </p:sp>
      <p:sp>
        <p:nvSpPr>
          <p:cNvPr id="2266" name="Google Shape;2266;p50"/>
          <p:cNvSpPr txBox="1"/>
          <p:nvPr/>
        </p:nvSpPr>
        <p:spPr>
          <a:xfrm>
            <a:off x="8492033" y="4142232"/>
            <a:ext cx="2545690" cy="2953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800"/>
              <a:buFont typeface="Open Sans"/>
              <a:buNone/>
            </a:pPr>
            <a:r>
              <a:rPr b="0" i="1" lang="en-US" sz="800" u="none" cap="none" strike="noStrike">
                <a:solidFill>
                  <a:srgbClr val="4B5563"/>
                </a:solidFill>
                <a:latin typeface="Open Sans"/>
                <a:ea typeface="Open Sans"/>
                <a:cs typeface="Open Sans"/>
                <a:sym typeface="Open Sans"/>
              </a:rPr>
              <a:t>Value segment, simplified installation for premium performance</a:t>
            </a:r>
            <a:endParaRPr b="0" i="0" sz="800" u="none" cap="none" strike="noStrike">
              <a:solidFill>
                <a:schemeClr val="dk1"/>
              </a:solidFill>
              <a:latin typeface="Calibri"/>
              <a:ea typeface="Calibri"/>
              <a:cs typeface="Calibri"/>
              <a:sym typeface="Calibri"/>
            </a:endParaRPr>
          </a:p>
        </p:txBody>
      </p:sp>
      <p:sp>
        <p:nvSpPr>
          <p:cNvPr id="2267" name="Google Shape;2267;p50"/>
          <p:cNvSpPr/>
          <p:nvPr/>
        </p:nvSpPr>
        <p:spPr>
          <a:xfrm>
            <a:off x="4193438" y="4949647"/>
            <a:ext cx="3810305" cy="638251"/>
          </a:xfrm>
          <a:prstGeom prst="roundRect">
            <a:avLst>
              <a:gd fmla="val 17106" name="adj"/>
            </a:avLst>
          </a:prstGeom>
          <a:solidFill>
            <a:srgbClr val="F59E0B">
              <a:alpha val="14901"/>
            </a:srgbClr>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0"/>
          <p:cNvSpPr txBox="1"/>
          <p:nvPr/>
        </p:nvSpPr>
        <p:spPr>
          <a:xfrm>
            <a:off x="4441241" y="5135270"/>
            <a:ext cx="314554" cy="2578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500"/>
              <a:buFont typeface="Open Sans"/>
              <a:buNone/>
            </a:pPr>
            <a:r>
              <a:rPr b="0" i="0" lang="en-US" sz="1500" u="none" cap="none" strike="noStrike">
                <a:solidFill>
                  <a:srgbClr val="92400E"/>
                </a:solidFill>
                <a:latin typeface="Open Sans"/>
                <a:ea typeface="Open Sans"/>
                <a:cs typeface="Open Sans"/>
                <a:sym typeface="Open Sans"/>
              </a:rPr>
              <a:t>⟁</a:t>
            </a:r>
            <a:endParaRPr b="0" i="0" sz="1500" u="none" cap="none" strike="noStrike">
              <a:solidFill>
                <a:schemeClr val="dk1"/>
              </a:solidFill>
              <a:latin typeface="Calibri"/>
              <a:ea typeface="Calibri"/>
              <a:cs typeface="Calibri"/>
              <a:sym typeface="Calibri"/>
            </a:endParaRPr>
          </a:p>
        </p:txBody>
      </p:sp>
      <p:sp>
        <p:nvSpPr>
          <p:cNvPr id="2269" name="Google Shape;2269;p50"/>
          <p:cNvSpPr txBox="1"/>
          <p:nvPr/>
        </p:nvSpPr>
        <p:spPr>
          <a:xfrm>
            <a:off x="4725619" y="5092294"/>
            <a:ext cx="312907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000"/>
              <a:buFont typeface="Montserrat"/>
              <a:buNone/>
            </a:pPr>
            <a:r>
              <a:rPr b="1" i="0" lang="en-US" sz="1000" u="none" cap="none" strike="noStrike">
                <a:solidFill>
                  <a:srgbClr val="92400E"/>
                </a:solidFill>
                <a:latin typeface="Montserrat"/>
                <a:ea typeface="Montserrat"/>
                <a:cs typeface="Montserrat"/>
                <a:sym typeface="Montserrat"/>
              </a:rPr>
              <a:t>UNIVERSAL TERRITORY: PICTURE HANGING</a:t>
            </a:r>
            <a:endParaRPr b="0" i="0" sz="1000" u="none" cap="none" strike="noStrike">
              <a:solidFill>
                <a:schemeClr val="dk1"/>
              </a:solidFill>
              <a:latin typeface="Calibri"/>
              <a:ea typeface="Calibri"/>
              <a:cs typeface="Calibri"/>
              <a:sym typeface="Calibri"/>
            </a:endParaRPr>
          </a:p>
        </p:txBody>
      </p:sp>
      <p:sp>
        <p:nvSpPr>
          <p:cNvPr id="2270" name="Google Shape;2270;p50"/>
          <p:cNvSpPr txBox="1"/>
          <p:nvPr/>
        </p:nvSpPr>
        <p:spPr>
          <a:xfrm>
            <a:off x="4725619" y="5283403"/>
            <a:ext cx="264810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900"/>
              <a:buFont typeface="Open Sans"/>
              <a:buNone/>
            </a:pPr>
            <a:r>
              <a:rPr b="0" i="0" lang="en-US" sz="900" u="none" cap="none" strike="noStrike">
                <a:solidFill>
                  <a:srgbClr val="92400E"/>
                </a:solidFill>
                <a:latin typeface="Open Sans"/>
                <a:ea typeface="Open Sans"/>
                <a:cs typeface="Open Sans"/>
                <a:sym typeface="Open Sans"/>
              </a:rPr>
              <a:t>177 mentions across brands (76% of all content)</a:t>
            </a:r>
            <a:endParaRPr b="0" i="0" sz="900" u="none" cap="none" strike="noStrike">
              <a:solidFill>
                <a:schemeClr val="dk1"/>
              </a:solidFill>
              <a:latin typeface="Calibri"/>
              <a:ea typeface="Calibri"/>
              <a:cs typeface="Calibri"/>
              <a:sym typeface="Calibri"/>
            </a:endParaRPr>
          </a:p>
        </p:txBody>
      </p:sp>
      <p:sp>
        <p:nvSpPr>
          <p:cNvPr id="2271" name="Google Shape;2271;p50"/>
          <p:cNvSpPr/>
          <p:nvPr/>
        </p:nvSpPr>
        <p:spPr>
          <a:xfrm>
            <a:off x="1089965" y="5778094"/>
            <a:ext cx="10019995" cy="724205"/>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0"/>
          <p:cNvSpPr/>
          <p:nvPr/>
        </p:nvSpPr>
        <p:spPr>
          <a:xfrm>
            <a:off x="1089965" y="5778094"/>
            <a:ext cx="38405" cy="7242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0"/>
          <p:cNvSpPr txBox="1"/>
          <p:nvPr/>
        </p:nvSpPr>
        <p:spPr>
          <a:xfrm>
            <a:off x="1280160" y="5874106"/>
            <a:ext cx="972007"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Montserrat"/>
              <a:buNone/>
            </a:pPr>
            <a:r>
              <a:rPr b="1" i="0" lang="en-US" sz="900" u="none" cap="none" strike="noStrike">
                <a:solidFill>
                  <a:srgbClr val="2C3E50"/>
                </a:solidFill>
                <a:latin typeface="Montserrat"/>
                <a:ea typeface="Montserrat"/>
                <a:cs typeface="Montserrat"/>
                <a:sym typeface="Montserrat"/>
              </a:rPr>
              <a:t>◆HARD TRUTH</a:t>
            </a:r>
            <a:endParaRPr b="0" i="0" sz="900" u="none" cap="none" strike="noStrike">
              <a:solidFill>
                <a:schemeClr val="dk1"/>
              </a:solidFill>
              <a:latin typeface="Calibri"/>
              <a:ea typeface="Calibri"/>
              <a:cs typeface="Calibri"/>
              <a:sym typeface="Calibri"/>
            </a:endParaRPr>
          </a:p>
        </p:txBody>
      </p:sp>
      <p:sp>
        <p:nvSpPr>
          <p:cNvPr id="2274" name="Google Shape;2274;p50"/>
          <p:cNvSpPr txBox="1"/>
          <p:nvPr/>
        </p:nvSpPr>
        <p:spPr>
          <a:xfrm>
            <a:off x="1280160" y="6073445"/>
            <a:ext cx="9344254"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00"/>
              <a:buFont typeface="Open Sans"/>
              <a:buNone/>
            </a:pPr>
            <a:r>
              <a:rPr b="0" i="0" lang="en-US" sz="900" u="none" cap="none" strike="noStrike">
                <a:solidFill>
                  <a:srgbClr val="2C3E50"/>
                </a:solidFill>
                <a:latin typeface="Open Sans"/>
                <a:ea typeface="Open Sans"/>
                <a:cs typeface="Open Sans"/>
                <a:sym typeface="Open Sans"/>
              </a:rPr>
              <a:t>Rental households represent approximately 36% of US households, but rental-specific content coverage is modest (17.6%) across all brands. This suggests market opportunity exceeds current content marketing investment.</a:t>
            </a:r>
            <a:endParaRPr b="0" i="0" sz="900" u="none" cap="none" strike="noStrike">
              <a:solidFill>
                <a:schemeClr val="dk1"/>
              </a:solidFill>
              <a:latin typeface="Calibri"/>
              <a:ea typeface="Calibri"/>
              <a:cs typeface="Calibri"/>
              <a:sym typeface="Calibri"/>
            </a:endParaRPr>
          </a:p>
        </p:txBody>
      </p:sp>
      <p:sp>
        <p:nvSpPr>
          <p:cNvPr id="2275" name="Google Shape;2275;p50"/>
          <p:cNvSpPr txBox="1"/>
          <p:nvPr/>
        </p:nvSpPr>
        <p:spPr>
          <a:xfrm>
            <a:off x="5227625" y="6612941"/>
            <a:ext cx="1819656" cy="1243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18096"/>
              </a:buClr>
              <a:buSzPts val="800"/>
              <a:buFont typeface="Open Sans"/>
              <a:buNone/>
            </a:pPr>
            <a:r>
              <a:rPr b="0" i="1" lang="en-US" sz="800" u="none" cap="none" strike="noStrike">
                <a:solidFill>
                  <a:srgbClr val="718096"/>
                </a:solidFill>
                <a:latin typeface="Open Sans"/>
                <a:ea typeface="Open Sans"/>
                <a:cs typeface="Open Sans"/>
                <a:sym typeface="Open Sans"/>
              </a:rPr>
              <a:t>Source: Phase 2 Analysis, all brands (n=193)</a:t>
            </a:r>
            <a:endParaRPr b="0" i="0" sz="800" u="none" cap="none" strike="noStrike">
              <a:solidFill>
                <a:schemeClr val="dk1"/>
              </a:solidFill>
              <a:latin typeface="Calibri"/>
              <a:ea typeface="Calibri"/>
              <a:cs typeface="Calibri"/>
              <a:sym typeface="Calibri"/>
            </a:endParaRPr>
          </a:p>
        </p:txBody>
      </p:sp>
      <p:sp>
        <p:nvSpPr>
          <p:cNvPr id="2276" name="Google Shape;2276;p50"/>
          <p:cNvSpPr txBox="1"/>
          <p:nvPr/>
        </p:nvSpPr>
        <p:spPr>
          <a:xfrm>
            <a:off x="533095" y="6855257"/>
            <a:ext cx="221284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096"/>
              </a:buClr>
              <a:buSzPts val="800"/>
              <a:buFont typeface="Open Sans"/>
              <a:buNone/>
            </a:pPr>
            <a:r>
              <a:rPr b="0" i="0" lang="en-US" sz="800" u="none" cap="none" strike="noStrike">
                <a:solidFill>
                  <a:srgbClr val="718096"/>
                </a:solidFill>
                <a:latin typeface="Open Sans"/>
                <a:ea typeface="Open Sans"/>
                <a:cs typeface="Open Sans"/>
                <a:sym typeface="Open Sans"/>
              </a:rPr>
              <a:t>3M Internal - Strategic Category Intelligence</a:t>
            </a:r>
            <a:endParaRPr b="0" i="0" sz="800" u="none" cap="none" strike="noStrike">
              <a:solidFill>
                <a:schemeClr val="dk1"/>
              </a:solidFill>
              <a:latin typeface="Calibri"/>
              <a:ea typeface="Calibri"/>
              <a:cs typeface="Calibri"/>
              <a:sym typeface="Calibri"/>
            </a:endParaRPr>
          </a:p>
        </p:txBody>
      </p:sp>
      <p:sp>
        <p:nvSpPr>
          <p:cNvPr id="2277" name="Google Shape;2277;p50"/>
          <p:cNvSpPr txBox="1"/>
          <p:nvPr/>
        </p:nvSpPr>
        <p:spPr>
          <a:xfrm>
            <a:off x="11538814" y="6855257"/>
            <a:ext cx="202997"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8096"/>
              </a:buClr>
              <a:buSzPts val="800"/>
              <a:buFont typeface="Open Sans"/>
              <a:buNone/>
            </a:pPr>
            <a:r>
              <a:rPr b="0" i="0" lang="en-US" sz="800" u="none" cap="none" strike="noStrike">
                <a:solidFill>
                  <a:srgbClr val="718096"/>
                </a:solidFill>
                <a:latin typeface="Open Sans"/>
                <a:ea typeface="Open Sans"/>
                <a:cs typeface="Open Sans"/>
                <a:sym typeface="Open Sans"/>
              </a:rPr>
              <a:t>39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2" name="Shape 2282"/>
        <p:cNvGrpSpPr/>
        <p:nvPr/>
      </p:nvGrpSpPr>
      <p:grpSpPr>
        <a:xfrm>
          <a:off x="0" y="0"/>
          <a:ext cx="0" cy="0"/>
          <a:chOff x="0" y="0"/>
          <a:chExt cx="0" cy="0"/>
        </a:xfrm>
      </p:grpSpPr>
      <p:sp>
        <p:nvSpPr>
          <p:cNvPr id="2283" name="Google Shape;2283;p51"/>
          <p:cNvSpPr/>
          <p:nvPr/>
        </p:nvSpPr>
        <p:spPr>
          <a:xfrm>
            <a:off x="0" y="0"/>
            <a:ext cx="12191695" cy="79817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1"/>
          <p:cNvSpPr/>
          <p:nvPr/>
        </p:nvSpPr>
        <p:spPr>
          <a:xfrm>
            <a:off x="0" y="0"/>
            <a:ext cx="12191695" cy="79817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1"/>
          <p:cNvSpPr/>
          <p:nvPr/>
        </p:nvSpPr>
        <p:spPr>
          <a:xfrm>
            <a:off x="533095" y="381305"/>
            <a:ext cx="571500" cy="38405"/>
          </a:xfrm>
          <a:prstGeom prst="rect">
            <a:avLst/>
          </a:prstGeom>
          <a:solidFill>
            <a:srgbClr val="2C52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1"/>
          <p:cNvSpPr txBox="1"/>
          <p:nvPr/>
        </p:nvSpPr>
        <p:spPr>
          <a:xfrm>
            <a:off x="533095" y="571500"/>
            <a:ext cx="6782105"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2400"/>
              <a:buFont typeface="Montserrat"/>
              <a:buNone/>
            </a:pPr>
            <a:r>
              <a:rPr b="1" i="0" lang="en-US" sz="2400" u="none" cap="none" strike="noStrike">
                <a:solidFill>
                  <a:srgbClr val="2C3E50"/>
                </a:solidFill>
                <a:latin typeface="Montserrat"/>
                <a:ea typeface="Montserrat"/>
                <a:cs typeface="Montserrat"/>
                <a:sym typeface="Montserrat"/>
              </a:rPr>
              <a:t>Brand Pain Points: Command vs 3M Claw</a:t>
            </a:r>
            <a:endParaRPr b="0" i="0" sz="2400" u="none" cap="none" strike="noStrike">
              <a:solidFill>
                <a:schemeClr val="dk1"/>
              </a:solidFill>
              <a:latin typeface="Calibri"/>
              <a:ea typeface="Calibri"/>
              <a:cs typeface="Calibri"/>
              <a:sym typeface="Calibri"/>
            </a:endParaRPr>
          </a:p>
        </p:txBody>
      </p:sp>
      <p:sp>
        <p:nvSpPr>
          <p:cNvPr id="2287" name="Google Shape;2287;p51"/>
          <p:cNvSpPr txBox="1"/>
          <p:nvPr/>
        </p:nvSpPr>
        <p:spPr>
          <a:xfrm>
            <a:off x="533095" y="1095451"/>
            <a:ext cx="425836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Analysis of adhesive vs mechanical solutions</a:t>
            </a:r>
            <a:endParaRPr b="0" i="0" sz="1500" u="none" cap="none" strike="noStrike">
              <a:solidFill>
                <a:schemeClr val="dk1"/>
              </a:solidFill>
              <a:latin typeface="Calibri"/>
              <a:ea typeface="Calibri"/>
              <a:cs typeface="Calibri"/>
              <a:sym typeface="Calibri"/>
            </a:endParaRPr>
          </a:p>
        </p:txBody>
      </p:sp>
      <p:sp>
        <p:nvSpPr>
          <p:cNvPr id="2288" name="Google Shape;2288;p51"/>
          <p:cNvSpPr/>
          <p:nvPr/>
        </p:nvSpPr>
        <p:spPr>
          <a:xfrm>
            <a:off x="533095" y="2085746"/>
            <a:ext cx="5410505" cy="192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1"/>
          <p:cNvSpPr txBox="1"/>
          <p:nvPr/>
        </p:nvSpPr>
        <p:spPr>
          <a:xfrm>
            <a:off x="533095" y="1723644"/>
            <a:ext cx="3053182"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282"/>
              </a:buClr>
              <a:buSzPts val="1600"/>
              <a:buFont typeface="Inter"/>
              <a:buNone/>
            </a:pPr>
            <a:r>
              <a:rPr b="1" i="0" lang="en-US" sz="1600" u="none" cap="none" strike="noStrike">
                <a:solidFill>
                  <a:srgbClr val="2C5282"/>
                </a:solidFill>
                <a:latin typeface="Inter"/>
                <a:ea typeface="Inter"/>
                <a:cs typeface="Inter"/>
                <a:sym typeface="Inter"/>
              </a:rPr>
              <a:t>Command Hooks (Adhesive)</a:t>
            </a:r>
            <a:endParaRPr b="0" i="0" sz="1600" u="none" cap="none" strike="noStrike">
              <a:solidFill>
                <a:schemeClr val="dk1"/>
              </a:solidFill>
              <a:latin typeface="Calibri"/>
              <a:ea typeface="Calibri"/>
              <a:cs typeface="Calibri"/>
              <a:sym typeface="Calibri"/>
            </a:endParaRPr>
          </a:p>
        </p:txBody>
      </p:sp>
      <p:sp>
        <p:nvSpPr>
          <p:cNvPr id="2290" name="Google Shape;2290;p51"/>
          <p:cNvSpPr txBox="1"/>
          <p:nvPr/>
        </p:nvSpPr>
        <p:spPr>
          <a:xfrm>
            <a:off x="533095" y="2314346"/>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291" name="Google Shape;2291;p51"/>
          <p:cNvSpPr txBox="1"/>
          <p:nvPr/>
        </p:nvSpPr>
        <p:spPr>
          <a:xfrm>
            <a:off x="758952" y="2276856"/>
            <a:ext cx="44293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Market Presence: 60%+ of garage organization discussions</a:t>
            </a:r>
            <a:endParaRPr b="0" i="0" sz="1200" u="none" cap="none" strike="noStrike">
              <a:solidFill>
                <a:schemeClr val="dk1"/>
              </a:solidFill>
              <a:latin typeface="Calibri"/>
              <a:ea typeface="Calibri"/>
              <a:cs typeface="Calibri"/>
              <a:sym typeface="Calibri"/>
            </a:endParaRPr>
          </a:p>
        </p:txBody>
      </p:sp>
      <p:sp>
        <p:nvSpPr>
          <p:cNvPr id="2292" name="Google Shape;2292;p51"/>
          <p:cNvSpPr txBox="1"/>
          <p:nvPr/>
        </p:nvSpPr>
        <p:spPr>
          <a:xfrm>
            <a:off x="533095" y="2734056"/>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293" name="Google Shape;2293;p51"/>
          <p:cNvSpPr txBox="1"/>
          <p:nvPr/>
        </p:nvSpPr>
        <p:spPr>
          <a:xfrm>
            <a:off x="758952" y="2695651"/>
            <a:ext cx="51151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Key Pain Point: Removal damage (13.2% of Command-specific posts)</a:t>
            </a:r>
            <a:endParaRPr b="0" i="0" sz="1200" u="none" cap="none" strike="noStrike">
              <a:solidFill>
                <a:schemeClr val="dk1"/>
              </a:solidFill>
              <a:latin typeface="Calibri"/>
              <a:ea typeface="Calibri"/>
              <a:cs typeface="Calibri"/>
              <a:sym typeface="Calibri"/>
            </a:endParaRPr>
          </a:p>
        </p:txBody>
      </p:sp>
      <p:sp>
        <p:nvSpPr>
          <p:cNvPr id="2294" name="Google Shape;2294;p51"/>
          <p:cNvSpPr txBox="1"/>
          <p:nvPr/>
        </p:nvSpPr>
        <p:spPr>
          <a:xfrm>
            <a:off x="533095" y="3152851"/>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295" name="Google Shape;2295;p51"/>
          <p:cNvSpPr txBox="1"/>
          <p:nvPr/>
        </p:nvSpPr>
        <p:spPr>
          <a:xfrm>
            <a:off x="758952" y="3114446"/>
            <a:ext cx="528706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Paint Attribution Problem: Only 3.8% recognize paint failure vs adhesive failure</a:t>
            </a:r>
            <a:endParaRPr b="0" i="0" sz="1200" u="none" cap="none" strike="noStrike">
              <a:solidFill>
                <a:schemeClr val="dk1"/>
              </a:solidFill>
              <a:latin typeface="Calibri"/>
              <a:ea typeface="Calibri"/>
              <a:cs typeface="Calibri"/>
              <a:sym typeface="Calibri"/>
            </a:endParaRPr>
          </a:p>
        </p:txBody>
      </p:sp>
      <p:sp>
        <p:nvSpPr>
          <p:cNvPr id="2296" name="Google Shape;2296;p51"/>
          <p:cNvSpPr txBox="1"/>
          <p:nvPr/>
        </p:nvSpPr>
        <p:spPr>
          <a:xfrm>
            <a:off x="533095" y="3762756"/>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297" name="Google Shape;2297;p51"/>
          <p:cNvSpPr txBox="1"/>
          <p:nvPr/>
        </p:nvSpPr>
        <p:spPr>
          <a:xfrm>
            <a:off x="758952" y="3724351"/>
            <a:ext cx="51343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Rental Impact: Some landlords now BAN Command strips (allow nails)</a:t>
            </a:r>
            <a:endParaRPr b="0" i="0" sz="1200" u="none" cap="none" strike="noStrike">
              <a:solidFill>
                <a:schemeClr val="dk1"/>
              </a:solidFill>
              <a:latin typeface="Calibri"/>
              <a:ea typeface="Calibri"/>
              <a:cs typeface="Calibri"/>
              <a:sym typeface="Calibri"/>
            </a:endParaRPr>
          </a:p>
        </p:txBody>
      </p:sp>
      <p:sp>
        <p:nvSpPr>
          <p:cNvPr id="2298" name="Google Shape;2298;p51"/>
          <p:cNvSpPr txBox="1"/>
          <p:nvPr/>
        </p:nvSpPr>
        <p:spPr>
          <a:xfrm>
            <a:off x="533095" y="4181551"/>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299" name="Google Shape;2299;p51"/>
          <p:cNvSpPr txBox="1"/>
          <p:nvPr/>
        </p:nvSpPr>
        <p:spPr>
          <a:xfrm>
            <a:off x="758952" y="4143146"/>
            <a:ext cx="5162702" cy="6483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Temporal Patterns: Two failure modes: - Immediate (&lt;1 week): Installation/surface issues - Delayed (1-7 years): Catastrophic removal after years of success</a:t>
            </a:r>
            <a:endParaRPr b="0" i="0" sz="1200" u="none" cap="none" strike="noStrike">
              <a:solidFill>
                <a:schemeClr val="dk1"/>
              </a:solidFill>
              <a:latin typeface="Calibri"/>
              <a:ea typeface="Calibri"/>
              <a:cs typeface="Calibri"/>
              <a:sym typeface="Calibri"/>
            </a:endParaRPr>
          </a:p>
        </p:txBody>
      </p:sp>
      <p:sp>
        <p:nvSpPr>
          <p:cNvPr id="2300" name="Google Shape;2300;p51"/>
          <p:cNvSpPr/>
          <p:nvPr/>
        </p:nvSpPr>
        <p:spPr>
          <a:xfrm>
            <a:off x="6248095" y="2085746"/>
            <a:ext cx="5410505" cy="192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1"/>
          <p:cNvSpPr txBox="1"/>
          <p:nvPr/>
        </p:nvSpPr>
        <p:spPr>
          <a:xfrm>
            <a:off x="6248095" y="1723644"/>
            <a:ext cx="2424989"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282"/>
              </a:buClr>
              <a:buSzPts val="1600"/>
              <a:buFont typeface="Inter"/>
              <a:buNone/>
            </a:pPr>
            <a:r>
              <a:rPr b="1" i="0" lang="en-US" sz="1600" u="none" cap="none" strike="noStrike">
                <a:solidFill>
                  <a:srgbClr val="2C5282"/>
                </a:solidFill>
                <a:latin typeface="Inter"/>
                <a:ea typeface="Inter"/>
                <a:cs typeface="Inter"/>
                <a:sym typeface="Inter"/>
              </a:rPr>
              <a:t>3M Claw (Mechanical)</a:t>
            </a:r>
            <a:endParaRPr b="0" i="0" sz="1600" u="none" cap="none" strike="noStrike">
              <a:solidFill>
                <a:schemeClr val="dk1"/>
              </a:solidFill>
              <a:latin typeface="Calibri"/>
              <a:ea typeface="Calibri"/>
              <a:cs typeface="Calibri"/>
              <a:sym typeface="Calibri"/>
            </a:endParaRPr>
          </a:p>
        </p:txBody>
      </p:sp>
      <p:sp>
        <p:nvSpPr>
          <p:cNvPr id="2302" name="Google Shape;2302;p51"/>
          <p:cNvSpPr txBox="1"/>
          <p:nvPr/>
        </p:nvSpPr>
        <p:spPr>
          <a:xfrm>
            <a:off x="6248095" y="2314346"/>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303" name="Google Shape;2303;p51"/>
          <p:cNvSpPr txBox="1"/>
          <p:nvPr/>
        </p:nvSpPr>
        <p:spPr>
          <a:xfrm>
            <a:off x="6473952" y="2276856"/>
            <a:ext cx="41148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Market Presence: &lt;5% of discussions (requires drilling)</a:t>
            </a:r>
            <a:endParaRPr b="0" i="0" sz="1200" u="none" cap="none" strike="noStrike">
              <a:solidFill>
                <a:schemeClr val="dk1"/>
              </a:solidFill>
              <a:latin typeface="Calibri"/>
              <a:ea typeface="Calibri"/>
              <a:cs typeface="Calibri"/>
              <a:sym typeface="Calibri"/>
            </a:endParaRPr>
          </a:p>
        </p:txBody>
      </p:sp>
      <p:sp>
        <p:nvSpPr>
          <p:cNvPr id="2304" name="Google Shape;2304;p51"/>
          <p:cNvSpPr txBox="1"/>
          <p:nvPr/>
        </p:nvSpPr>
        <p:spPr>
          <a:xfrm>
            <a:off x="6248095" y="2734056"/>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305" name="Google Shape;2305;p51"/>
          <p:cNvSpPr txBox="1"/>
          <p:nvPr/>
        </p:nvSpPr>
        <p:spPr>
          <a:xfrm>
            <a:off x="6473952" y="2695651"/>
            <a:ext cx="29818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Key Advantage: No adhesive failure risk</a:t>
            </a:r>
            <a:endParaRPr b="0" i="0" sz="1200" u="none" cap="none" strike="noStrike">
              <a:solidFill>
                <a:schemeClr val="dk1"/>
              </a:solidFill>
              <a:latin typeface="Calibri"/>
              <a:ea typeface="Calibri"/>
              <a:cs typeface="Calibri"/>
              <a:sym typeface="Calibri"/>
            </a:endParaRPr>
          </a:p>
        </p:txBody>
      </p:sp>
      <p:sp>
        <p:nvSpPr>
          <p:cNvPr id="2306" name="Google Shape;2306;p51"/>
          <p:cNvSpPr txBox="1"/>
          <p:nvPr/>
        </p:nvSpPr>
        <p:spPr>
          <a:xfrm>
            <a:off x="6248095" y="3152851"/>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307" name="Google Shape;2307;p51"/>
          <p:cNvSpPr txBox="1"/>
          <p:nvPr/>
        </p:nvSpPr>
        <p:spPr>
          <a:xfrm>
            <a:off x="6473952" y="3114446"/>
            <a:ext cx="44869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Key Barrier: Drilling anxiety (same barrier it's meant to solve)</a:t>
            </a:r>
            <a:endParaRPr b="0" i="0" sz="1200" u="none" cap="none" strike="noStrike">
              <a:solidFill>
                <a:schemeClr val="dk1"/>
              </a:solidFill>
              <a:latin typeface="Calibri"/>
              <a:ea typeface="Calibri"/>
              <a:cs typeface="Calibri"/>
              <a:sym typeface="Calibri"/>
            </a:endParaRPr>
          </a:p>
        </p:txBody>
      </p:sp>
      <p:sp>
        <p:nvSpPr>
          <p:cNvPr id="2308" name="Google Shape;2308;p51"/>
          <p:cNvSpPr txBox="1"/>
          <p:nvPr/>
        </p:nvSpPr>
        <p:spPr>
          <a:xfrm>
            <a:off x="6248095" y="3571646"/>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1200"/>
              <a:buFont typeface="Inter"/>
              <a:buNone/>
            </a:pPr>
            <a:r>
              <a:rPr b="0" i="0" lang="en-US" sz="1200" u="none" cap="none" strike="noStrike">
                <a:solidFill>
                  <a:srgbClr val="4299E1"/>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309" name="Google Shape;2309;p51"/>
          <p:cNvSpPr txBox="1"/>
          <p:nvPr/>
        </p:nvSpPr>
        <p:spPr>
          <a:xfrm>
            <a:off x="6473952" y="3534156"/>
            <a:ext cx="38679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Discussion Volume: Minimal compared to Command</a:t>
            </a:r>
            <a:endParaRPr b="0" i="0" sz="1200" u="none" cap="none" strike="noStrike">
              <a:solidFill>
                <a:schemeClr val="dk1"/>
              </a:solidFill>
              <a:latin typeface="Calibri"/>
              <a:ea typeface="Calibri"/>
              <a:cs typeface="Calibri"/>
              <a:sym typeface="Calibri"/>
            </a:endParaRPr>
          </a:p>
        </p:txBody>
      </p:sp>
      <p:sp>
        <p:nvSpPr>
          <p:cNvPr id="2310" name="Google Shape;2310;p51"/>
          <p:cNvSpPr/>
          <p:nvPr/>
        </p:nvSpPr>
        <p:spPr>
          <a:xfrm>
            <a:off x="533095" y="5191049"/>
            <a:ext cx="5447995" cy="1781251"/>
          </a:xfrm>
          <a:prstGeom prst="rect">
            <a:avLst/>
          </a:prstGeom>
          <a:solidFill>
            <a:srgbClr val="F7FAFC"/>
          </a:solidFill>
          <a:ln>
            <a:noFill/>
          </a:ln>
          <a:effectLst>
            <a:outerShdw blurRad="635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51"/>
          <p:cNvSpPr/>
          <p:nvPr/>
        </p:nvSpPr>
        <p:spPr>
          <a:xfrm>
            <a:off x="533095" y="5191049"/>
            <a:ext cx="38405" cy="1781251"/>
          </a:xfrm>
          <a:prstGeom prst="rect">
            <a:avLst/>
          </a:prstGeom>
          <a:solidFill>
            <a:srgbClr val="FC81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51"/>
          <p:cNvSpPr/>
          <p:nvPr/>
        </p:nvSpPr>
        <p:spPr>
          <a:xfrm>
            <a:off x="6210605" y="5191049"/>
            <a:ext cx="5447995" cy="1781251"/>
          </a:xfrm>
          <a:prstGeom prst="rect">
            <a:avLst/>
          </a:prstGeom>
          <a:solidFill>
            <a:srgbClr val="F7FAFC"/>
          </a:solidFill>
          <a:ln>
            <a:noFill/>
          </a:ln>
          <a:effectLst>
            <a:outerShdw blurRad="635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1"/>
          <p:cNvSpPr/>
          <p:nvPr/>
        </p:nvSpPr>
        <p:spPr>
          <a:xfrm>
            <a:off x="6210605" y="5191049"/>
            <a:ext cx="38405" cy="1781251"/>
          </a:xfrm>
          <a:prstGeom prst="rect">
            <a:avLst/>
          </a:prstGeom>
          <a:solidFill>
            <a:srgbClr val="FC81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1"/>
          <p:cNvSpPr txBox="1"/>
          <p:nvPr/>
        </p:nvSpPr>
        <p:spPr>
          <a:xfrm>
            <a:off x="761695" y="5372100"/>
            <a:ext cx="19577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3E3E"/>
              </a:buClr>
              <a:buSzPts val="1300"/>
              <a:buFont typeface="Inter"/>
              <a:buNone/>
            </a:pPr>
            <a:r>
              <a:rPr b="1" i="0" lang="en-US" sz="1300" u="none" cap="none" strike="noStrike">
                <a:solidFill>
                  <a:srgbClr val="E53E3E"/>
                </a:solidFill>
                <a:latin typeface="Inter"/>
                <a:ea typeface="Inter"/>
                <a:cs typeface="Inter"/>
                <a:sym typeface="Inter"/>
              </a:rPr>
              <a:t>The Landlord Paradox</a:t>
            </a:r>
            <a:endParaRPr b="0" i="0" sz="1300" u="none" cap="none" strike="noStrike">
              <a:solidFill>
                <a:schemeClr val="dk1"/>
              </a:solidFill>
              <a:latin typeface="Calibri"/>
              <a:ea typeface="Calibri"/>
              <a:cs typeface="Calibri"/>
              <a:sym typeface="Calibri"/>
            </a:endParaRPr>
          </a:p>
        </p:txBody>
      </p:sp>
      <p:sp>
        <p:nvSpPr>
          <p:cNvPr id="2315" name="Google Shape;2315;p51"/>
          <p:cNvSpPr txBox="1"/>
          <p:nvPr/>
        </p:nvSpPr>
        <p:spPr>
          <a:xfrm>
            <a:off x="6439205" y="5372100"/>
            <a:ext cx="223387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3E3E"/>
              </a:buClr>
              <a:buSzPts val="1300"/>
              <a:buFont typeface="Inter"/>
              <a:buNone/>
            </a:pPr>
            <a:r>
              <a:rPr b="1" i="0" lang="en-US" sz="1300" u="none" cap="none" strike="noStrike">
                <a:solidFill>
                  <a:srgbClr val="E53E3E"/>
                </a:solidFill>
                <a:latin typeface="Inter"/>
                <a:ea typeface="Inter"/>
                <a:cs typeface="Inter"/>
                <a:sym typeface="Inter"/>
              </a:rPr>
              <a:t>Paint Attribution Problem</a:t>
            </a:r>
            <a:endParaRPr b="0" i="0" sz="1300" u="none" cap="none" strike="noStrike">
              <a:solidFill>
                <a:schemeClr val="dk1"/>
              </a:solidFill>
              <a:latin typeface="Calibri"/>
              <a:ea typeface="Calibri"/>
              <a:cs typeface="Calibri"/>
              <a:sym typeface="Calibri"/>
            </a:endParaRPr>
          </a:p>
        </p:txBody>
      </p:sp>
      <p:sp>
        <p:nvSpPr>
          <p:cNvPr id="2316" name="Google Shape;2316;p51"/>
          <p:cNvSpPr txBox="1"/>
          <p:nvPr/>
        </p:nvSpPr>
        <p:spPr>
          <a:xfrm>
            <a:off x="761695" y="5695798"/>
            <a:ext cx="5070348" cy="10954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100"/>
              <a:buFont typeface="Inter"/>
              <a:buNone/>
            </a:pPr>
            <a:r>
              <a:rPr b="0" i="0" lang="en-US" sz="1100" u="none" cap="none" strike="noStrike">
                <a:solidFill>
                  <a:srgbClr val="2D3748"/>
                </a:solidFill>
                <a:latin typeface="Inter"/>
                <a:ea typeface="Inter"/>
                <a:cs typeface="Inter"/>
                <a:sym typeface="Inter"/>
              </a:rPr>
              <a:t>Economic Reasoning: Small nail holes cost $2-5 to repair (spackle + touch-up paint). Command strip paint removal costs $50-200+ (paint matching, wall prep, potential repainting). Result: Some leases now specify 'NO command strips, but small nails are fine' - Command causing MORE damage than the alternative.</a:t>
            </a:r>
            <a:endParaRPr b="0" i="0" sz="1100" u="none" cap="none" strike="noStrike">
              <a:solidFill>
                <a:schemeClr val="dk1"/>
              </a:solidFill>
              <a:latin typeface="Calibri"/>
              <a:ea typeface="Calibri"/>
              <a:cs typeface="Calibri"/>
              <a:sym typeface="Calibri"/>
            </a:endParaRPr>
          </a:p>
        </p:txBody>
      </p:sp>
      <p:sp>
        <p:nvSpPr>
          <p:cNvPr id="2317" name="Google Shape;2317;p51"/>
          <p:cNvSpPr txBox="1"/>
          <p:nvPr/>
        </p:nvSpPr>
        <p:spPr>
          <a:xfrm>
            <a:off x="6439205" y="5695798"/>
            <a:ext cx="5070348" cy="10954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100"/>
              <a:buFont typeface="Inter"/>
              <a:buNone/>
            </a:pPr>
            <a:r>
              <a:rPr b="0" i="0" lang="en-US" sz="1100" u="none" cap="none" strike="noStrike">
                <a:solidFill>
                  <a:srgbClr val="2D3748"/>
                </a:solidFill>
                <a:latin typeface="Inter"/>
                <a:ea typeface="Inter"/>
                <a:cs typeface="Inter"/>
                <a:sym typeface="Inter"/>
              </a:rPr>
              <a:t>Failure Chain: Hook → Command adhesive (95%+ success) → Paint layer (90%+ success) → Paint-to-drywall adhesion (FAILURE POINT). Consumer perception: 'Command hooks ripped off paint' (not 'my paint wasn't adhered properly'). Only 3.8% of consumers recognize paint quality as root cause.</a:t>
            </a:r>
            <a:endParaRPr b="0" i="0" sz="1100" u="none" cap="none" strike="noStrike">
              <a:solidFill>
                <a:schemeClr val="dk1"/>
              </a:solidFill>
              <a:latin typeface="Calibri"/>
              <a:ea typeface="Calibri"/>
              <a:cs typeface="Calibri"/>
              <a:sym typeface="Calibri"/>
            </a:endParaRPr>
          </a:p>
        </p:txBody>
      </p:sp>
      <p:sp>
        <p:nvSpPr>
          <p:cNvPr id="2318" name="Google Shape;2318;p51"/>
          <p:cNvSpPr txBox="1"/>
          <p:nvPr/>
        </p:nvSpPr>
        <p:spPr>
          <a:xfrm>
            <a:off x="533095" y="7220102"/>
            <a:ext cx="6091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Analysis of Command and 3M Claw product discussions across social media platforms</a:t>
            </a:r>
            <a:endParaRPr b="0" i="0" sz="1000" u="none" cap="none" strike="noStrike">
              <a:solidFill>
                <a:schemeClr val="dk1"/>
              </a:solidFill>
              <a:latin typeface="Calibri"/>
              <a:ea typeface="Calibri"/>
              <a:cs typeface="Calibri"/>
              <a:sym typeface="Calibri"/>
            </a:endParaRPr>
          </a:p>
        </p:txBody>
      </p:sp>
      <p:sp>
        <p:nvSpPr>
          <p:cNvPr id="2319" name="Google Shape;2319;p51"/>
          <p:cNvSpPr txBox="1"/>
          <p:nvPr/>
        </p:nvSpPr>
        <p:spPr>
          <a:xfrm>
            <a:off x="533095" y="7648956"/>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320" name="Google Shape;2320;p51"/>
          <p:cNvSpPr txBox="1"/>
          <p:nvPr/>
        </p:nvSpPr>
        <p:spPr>
          <a:xfrm>
            <a:off x="11489436" y="76489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5" name="Shape 2325"/>
        <p:cNvGrpSpPr/>
        <p:nvPr/>
      </p:nvGrpSpPr>
      <p:grpSpPr>
        <a:xfrm>
          <a:off x="0" y="0"/>
          <a:ext cx="0" cy="0"/>
          <a:chOff x="0" y="0"/>
          <a:chExt cx="0" cy="0"/>
        </a:xfrm>
      </p:grpSpPr>
      <p:sp>
        <p:nvSpPr>
          <p:cNvPr id="2326" name="Google Shape;2326;p52"/>
          <p:cNvSpPr/>
          <p:nvPr/>
        </p:nvSpPr>
        <p:spPr>
          <a:xfrm>
            <a:off x="0" y="0"/>
            <a:ext cx="12191695" cy="8162849"/>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52"/>
          <p:cNvSpPr/>
          <p:nvPr/>
        </p:nvSpPr>
        <p:spPr>
          <a:xfrm>
            <a:off x="10287000" y="-952805"/>
            <a:ext cx="2857500" cy="2857500"/>
          </a:xfrm>
          <a:prstGeom prst="ellipse">
            <a:avLst/>
          </a:prstGeom>
          <a:solidFill>
            <a:srgbClr val="16A085">
              <a:alpha val="1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52"/>
          <p:cNvSpPr/>
          <p:nvPr/>
        </p:nvSpPr>
        <p:spPr>
          <a:xfrm>
            <a:off x="-1015898" y="6123737"/>
            <a:ext cx="3047695" cy="3047695"/>
          </a:xfrm>
          <a:prstGeom prst="ellipse">
            <a:avLst/>
          </a:prstGeom>
          <a:solidFill>
            <a:srgbClr val="16A085">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52"/>
          <p:cNvSpPr/>
          <p:nvPr/>
        </p:nvSpPr>
        <p:spPr>
          <a:xfrm>
            <a:off x="2476195" y="1467612"/>
            <a:ext cx="1143000" cy="1143000"/>
          </a:xfrm>
          <a:prstGeom prst="ellipse">
            <a:avLst/>
          </a:prstGeom>
          <a:solidFill>
            <a:srgbClr val="16A085">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52"/>
          <p:cNvSpPr/>
          <p:nvPr/>
        </p:nvSpPr>
        <p:spPr>
          <a:xfrm>
            <a:off x="8477402" y="5449824"/>
            <a:ext cx="1333195" cy="1333195"/>
          </a:xfrm>
          <a:prstGeom prst="ellipse">
            <a:avLst/>
          </a:prstGeom>
          <a:solidFill>
            <a:srgbClr val="16A085">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52"/>
          <p:cNvSpPr/>
          <p:nvPr/>
        </p:nvSpPr>
        <p:spPr>
          <a:xfrm>
            <a:off x="609905" y="815645"/>
            <a:ext cx="1904695" cy="1904695"/>
          </a:xfrm>
          <a:prstGeom prst="ellipse">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52"/>
          <p:cNvSpPr/>
          <p:nvPr/>
        </p:nvSpPr>
        <p:spPr>
          <a:xfrm>
            <a:off x="9502445" y="1631290"/>
            <a:ext cx="1714500" cy="1714500"/>
          </a:xfrm>
          <a:prstGeom prst="rect">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52"/>
          <p:cNvSpPr/>
          <p:nvPr/>
        </p:nvSpPr>
        <p:spPr>
          <a:xfrm>
            <a:off x="2438705" y="4646066"/>
            <a:ext cx="2286000" cy="2286000"/>
          </a:xfrm>
          <a:prstGeom prst="ellipse">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52"/>
          <p:cNvSpPr txBox="1"/>
          <p:nvPr/>
        </p:nvSpPr>
        <p:spPr>
          <a:xfrm>
            <a:off x="609905" y="7669987"/>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335" name="Google Shape;2335;p52"/>
          <p:cNvSpPr txBox="1"/>
          <p:nvPr/>
        </p:nvSpPr>
        <p:spPr>
          <a:xfrm>
            <a:off x="11409883" y="7669987"/>
            <a:ext cx="281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44</a:t>
            </a:r>
            <a:endParaRPr b="0" i="0" sz="1000" u="none" cap="none" strike="noStrike">
              <a:solidFill>
                <a:schemeClr val="dk1"/>
              </a:solidFill>
              <a:latin typeface="Calibri"/>
              <a:ea typeface="Calibri"/>
              <a:cs typeface="Calibri"/>
              <a:sym typeface="Calibri"/>
            </a:endParaRPr>
          </a:p>
        </p:txBody>
      </p:sp>
      <p:sp>
        <p:nvSpPr>
          <p:cNvPr id="2336" name="Google Shape;2336;p52"/>
          <p:cNvSpPr/>
          <p:nvPr/>
        </p:nvSpPr>
        <p:spPr>
          <a:xfrm>
            <a:off x="5524805" y="761695"/>
            <a:ext cx="1143000" cy="1143000"/>
          </a:xfrm>
          <a:prstGeom prst="roundRect">
            <a:avLst>
              <a:gd fmla="val 10667" name="adj"/>
            </a:avLst>
          </a:prstGeom>
          <a:solidFill>
            <a:srgbClr val="16A085"/>
          </a:solidFill>
          <a:ln>
            <a:noFill/>
          </a:ln>
          <a:effectLst>
            <a:outerShdw blurRad="228600" rotWithShape="0" algn="bl" dir="5400000" dist="76200">
              <a:srgbClr val="000000">
                <a:alpha val="2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37" name="Google Shape;2337;p52"/>
          <p:cNvPicPr preferRelativeResize="0"/>
          <p:nvPr/>
        </p:nvPicPr>
        <p:blipFill rotWithShape="1">
          <a:blip r:embed="rId3">
            <a:alphaModFix/>
          </a:blip>
          <a:srcRect b="0" l="0" r="0" t="0"/>
          <a:stretch/>
        </p:blipFill>
        <p:spPr>
          <a:xfrm>
            <a:off x="5790895" y="1028700"/>
            <a:ext cx="609905" cy="609905"/>
          </a:xfrm>
          <a:prstGeom prst="rect">
            <a:avLst/>
          </a:prstGeom>
          <a:noFill/>
          <a:ln>
            <a:noFill/>
          </a:ln>
        </p:spPr>
      </p:pic>
      <p:sp>
        <p:nvSpPr>
          <p:cNvPr id="2338" name="Google Shape;2338;p52"/>
          <p:cNvSpPr/>
          <p:nvPr/>
        </p:nvSpPr>
        <p:spPr>
          <a:xfrm>
            <a:off x="5333695" y="2286000"/>
            <a:ext cx="1524305" cy="75895"/>
          </a:xfrm>
          <a:prstGeom prst="roundRect">
            <a:avLst>
              <a:gd fmla="val 60241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52"/>
          <p:cNvSpPr txBox="1"/>
          <p:nvPr/>
        </p:nvSpPr>
        <p:spPr>
          <a:xfrm>
            <a:off x="1688897" y="2734056"/>
            <a:ext cx="9220810" cy="648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i="0" lang="en-US" sz="4200" u="none" cap="none" strike="noStrike">
                <a:solidFill>
                  <a:srgbClr val="FFFFFF"/>
                </a:solidFill>
                <a:latin typeface="Inter"/>
                <a:ea typeface="Inter"/>
                <a:cs typeface="Inter"/>
                <a:sym typeface="Inter"/>
              </a:rPr>
              <a:t>STRATEGIC RECOMMENDATIONS</a:t>
            </a:r>
            <a:endParaRPr b="0" i="0" sz="4200" u="none" cap="none" strike="noStrike">
              <a:solidFill>
                <a:schemeClr val="dk1"/>
              </a:solidFill>
              <a:latin typeface="Calibri"/>
              <a:ea typeface="Calibri"/>
              <a:cs typeface="Calibri"/>
              <a:sym typeface="Calibri"/>
            </a:endParaRPr>
          </a:p>
        </p:txBody>
      </p:sp>
      <p:sp>
        <p:nvSpPr>
          <p:cNvPr id="2340" name="Google Shape;2340;p52"/>
          <p:cNvSpPr txBox="1"/>
          <p:nvPr/>
        </p:nvSpPr>
        <p:spPr>
          <a:xfrm>
            <a:off x="2359152" y="3678631"/>
            <a:ext cx="7763256" cy="467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Decision Framework &amp; Discussion Guide</a:t>
            </a:r>
            <a:endParaRPr b="0" i="0" sz="3000" u="none" cap="none" strike="noStrike">
              <a:solidFill>
                <a:schemeClr val="dk1"/>
              </a:solidFill>
              <a:latin typeface="Calibri"/>
              <a:ea typeface="Calibri"/>
              <a:cs typeface="Calibri"/>
              <a:sym typeface="Calibri"/>
            </a:endParaRPr>
          </a:p>
        </p:txBody>
      </p:sp>
      <p:sp>
        <p:nvSpPr>
          <p:cNvPr id="2341" name="Google Shape;2341;p52"/>
          <p:cNvSpPr txBox="1"/>
          <p:nvPr/>
        </p:nvSpPr>
        <p:spPr>
          <a:xfrm>
            <a:off x="2308860" y="4631436"/>
            <a:ext cx="7754112" cy="1305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b="0" i="0" lang="en-US" sz="1800" u="none" cap="none" strike="noStrike">
                <a:solidFill>
                  <a:srgbClr val="E2E8F0"/>
                </a:solidFill>
                <a:latin typeface="Inter"/>
                <a:ea typeface="Inter"/>
                <a:cs typeface="Inter"/>
                <a:sym typeface="Inter"/>
              </a:rPr>
              <a:t>Translating category intelligence into actionable strategic discussions. The following framework helps 3M teams align on the right questions to determine market entry strategy, brand positioning, and go-to-market approach for garage organization.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sp>
        <p:nvSpPr>
          <p:cNvPr id="2347" name="Google Shape;2347;p53"/>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53"/>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53"/>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53"/>
          <p:cNvSpPr txBox="1"/>
          <p:nvPr/>
        </p:nvSpPr>
        <p:spPr>
          <a:xfrm>
            <a:off x="533095" y="780898"/>
            <a:ext cx="7896758"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Strategic Decision Framework: 5 Key Questions</a:t>
            </a:r>
            <a:endParaRPr b="0" i="0" sz="2700" u="none" cap="none" strike="noStrike">
              <a:solidFill>
                <a:schemeClr val="dk1"/>
              </a:solidFill>
              <a:latin typeface="Calibri"/>
              <a:ea typeface="Calibri"/>
              <a:cs typeface="Calibri"/>
              <a:sym typeface="Calibri"/>
            </a:endParaRPr>
          </a:p>
        </p:txBody>
      </p:sp>
      <p:sp>
        <p:nvSpPr>
          <p:cNvPr id="2351" name="Google Shape;2351;p53"/>
          <p:cNvSpPr txBox="1"/>
          <p:nvPr/>
        </p:nvSpPr>
        <p:spPr>
          <a:xfrm>
            <a:off x="533095" y="1485900"/>
            <a:ext cx="396301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GUIDING STRATEGIC CHOICES FROM CATEGORY INTELLIGENCE</a:t>
            </a:r>
            <a:endParaRPr b="0" i="0" sz="900" u="none" cap="none" strike="noStrike">
              <a:solidFill>
                <a:schemeClr val="dk1"/>
              </a:solidFill>
              <a:latin typeface="Calibri"/>
              <a:ea typeface="Calibri"/>
              <a:cs typeface="Calibri"/>
              <a:sym typeface="Calibri"/>
            </a:endParaRPr>
          </a:p>
        </p:txBody>
      </p:sp>
      <p:sp>
        <p:nvSpPr>
          <p:cNvPr id="2352" name="Google Shape;2352;p53"/>
          <p:cNvSpPr/>
          <p:nvPr/>
        </p:nvSpPr>
        <p:spPr>
          <a:xfrm>
            <a:off x="533095" y="1876349"/>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53"/>
          <p:cNvSpPr/>
          <p:nvPr/>
        </p:nvSpPr>
        <p:spPr>
          <a:xfrm>
            <a:off x="533095" y="1876349"/>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53"/>
          <p:cNvSpPr/>
          <p:nvPr/>
        </p:nvSpPr>
        <p:spPr>
          <a:xfrm>
            <a:off x="761695" y="206654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53"/>
          <p:cNvSpPr txBox="1"/>
          <p:nvPr/>
        </p:nvSpPr>
        <p:spPr>
          <a:xfrm>
            <a:off x="887882" y="2081174"/>
            <a:ext cx="253289"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1</a:t>
            </a:r>
            <a:endParaRPr b="0" i="0" sz="1600" u="none" cap="none" strike="noStrike">
              <a:solidFill>
                <a:schemeClr val="dk1"/>
              </a:solidFill>
              <a:latin typeface="Calibri"/>
              <a:ea typeface="Calibri"/>
              <a:cs typeface="Calibri"/>
              <a:sym typeface="Calibri"/>
            </a:endParaRPr>
          </a:p>
        </p:txBody>
      </p:sp>
      <p:sp>
        <p:nvSpPr>
          <p:cNvPr id="2356" name="Google Shape;2356;p53"/>
          <p:cNvSpPr txBox="1"/>
          <p:nvPr/>
        </p:nvSpPr>
        <p:spPr>
          <a:xfrm>
            <a:off x="1257300" y="2095805"/>
            <a:ext cx="1600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Channel Choice</a:t>
            </a:r>
            <a:endParaRPr b="0" i="0" sz="1500" u="none" cap="none" strike="noStrike">
              <a:solidFill>
                <a:schemeClr val="dk1"/>
              </a:solidFill>
              <a:latin typeface="Calibri"/>
              <a:ea typeface="Calibri"/>
              <a:cs typeface="Calibri"/>
              <a:sym typeface="Calibri"/>
            </a:endParaRPr>
          </a:p>
        </p:txBody>
      </p:sp>
      <p:sp>
        <p:nvSpPr>
          <p:cNvPr id="2357" name="Google Shape;2357;p53"/>
          <p:cNvSpPr txBox="1"/>
          <p:nvPr/>
        </p:nvSpPr>
        <p:spPr>
          <a:xfrm>
            <a:off x="1257300" y="2447849"/>
            <a:ext cx="400050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Premium (HD/Lowe's) or Mass (Walmart/Target)? This decision constrains all downstream choices.</a:t>
            </a:r>
            <a:endParaRPr b="0" i="0" sz="1200" u="none" cap="none" strike="noStrike">
              <a:solidFill>
                <a:schemeClr val="dk1"/>
              </a:solidFill>
              <a:latin typeface="Calibri"/>
              <a:ea typeface="Calibri"/>
              <a:cs typeface="Calibri"/>
              <a:sym typeface="Calibri"/>
            </a:endParaRPr>
          </a:p>
        </p:txBody>
      </p:sp>
      <p:sp>
        <p:nvSpPr>
          <p:cNvPr id="2358" name="Google Shape;2358;p53"/>
          <p:cNvSpPr/>
          <p:nvPr/>
        </p:nvSpPr>
        <p:spPr>
          <a:xfrm>
            <a:off x="533095" y="3267151"/>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3"/>
          <p:cNvSpPr/>
          <p:nvPr/>
        </p:nvSpPr>
        <p:spPr>
          <a:xfrm>
            <a:off x="533095" y="3267151"/>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3"/>
          <p:cNvSpPr/>
          <p:nvPr/>
        </p:nvSpPr>
        <p:spPr>
          <a:xfrm>
            <a:off x="761695" y="3457346"/>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53"/>
          <p:cNvSpPr txBox="1"/>
          <p:nvPr/>
        </p:nvSpPr>
        <p:spPr>
          <a:xfrm>
            <a:off x="867766" y="3471977"/>
            <a:ext cx="290779"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2</a:t>
            </a:r>
            <a:endParaRPr b="0" i="0" sz="1600" u="none" cap="none" strike="noStrike">
              <a:solidFill>
                <a:schemeClr val="dk1"/>
              </a:solidFill>
              <a:latin typeface="Calibri"/>
              <a:ea typeface="Calibri"/>
              <a:cs typeface="Calibri"/>
              <a:sym typeface="Calibri"/>
            </a:endParaRPr>
          </a:p>
        </p:txBody>
      </p:sp>
      <p:sp>
        <p:nvSpPr>
          <p:cNvPr id="2362" name="Google Shape;2362;p53"/>
          <p:cNvSpPr txBox="1"/>
          <p:nvPr/>
        </p:nvSpPr>
        <p:spPr>
          <a:xfrm>
            <a:off x="1257300" y="3486607"/>
            <a:ext cx="196230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Installation Solution</a:t>
            </a:r>
            <a:endParaRPr b="0" i="0" sz="1500" u="none" cap="none" strike="noStrike">
              <a:solidFill>
                <a:schemeClr val="dk1"/>
              </a:solidFill>
              <a:latin typeface="Calibri"/>
              <a:ea typeface="Calibri"/>
              <a:cs typeface="Calibri"/>
              <a:sym typeface="Calibri"/>
            </a:endParaRPr>
          </a:p>
        </p:txBody>
      </p:sp>
      <p:sp>
        <p:nvSpPr>
          <p:cNvPr id="2363" name="Google Shape;2363;p53"/>
          <p:cNvSpPr txBox="1"/>
          <p:nvPr/>
        </p:nvSpPr>
        <p:spPr>
          <a:xfrm>
            <a:off x="1257300" y="3838651"/>
            <a:ext cx="396301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What barrier-eliminating approach will address the #1 consumer pain point? (adhesive, hybrid, mechanical)</a:t>
            </a:r>
            <a:endParaRPr b="0" i="0" sz="1200" u="none" cap="none" strike="noStrike">
              <a:solidFill>
                <a:schemeClr val="dk1"/>
              </a:solidFill>
              <a:latin typeface="Calibri"/>
              <a:ea typeface="Calibri"/>
              <a:cs typeface="Calibri"/>
              <a:sym typeface="Calibri"/>
            </a:endParaRPr>
          </a:p>
        </p:txBody>
      </p:sp>
      <p:sp>
        <p:nvSpPr>
          <p:cNvPr id="2364" name="Google Shape;2364;p53"/>
          <p:cNvSpPr/>
          <p:nvPr/>
        </p:nvSpPr>
        <p:spPr>
          <a:xfrm>
            <a:off x="533095" y="4657954"/>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53"/>
          <p:cNvSpPr/>
          <p:nvPr/>
        </p:nvSpPr>
        <p:spPr>
          <a:xfrm>
            <a:off x="533095" y="4657954"/>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53"/>
          <p:cNvSpPr/>
          <p:nvPr/>
        </p:nvSpPr>
        <p:spPr>
          <a:xfrm>
            <a:off x="761695" y="4848149"/>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3"/>
          <p:cNvSpPr txBox="1"/>
          <p:nvPr/>
        </p:nvSpPr>
        <p:spPr>
          <a:xfrm>
            <a:off x="865937" y="4862779"/>
            <a:ext cx="300838"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3</a:t>
            </a:r>
            <a:endParaRPr b="0" i="0" sz="1600" u="none" cap="none" strike="noStrike">
              <a:solidFill>
                <a:schemeClr val="dk1"/>
              </a:solidFill>
              <a:latin typeface="Calibri"/>
              <a:ea typeface="Calibri"/>
              <a:cs typeface="Calibri"/>
              <a:sym typeface="Calibri"/>
            </a:endParaRPr>
          </a:p>
        </p:txBody>
      </p:sp>
      <p:sp>
        <p:nvSpPr>
          <p:cNvPr id="2368" name="Google Shape;2368;p53"/>
          <p:cNvSpPr txBox="1"/>
          <p:nvPr/>
        </p:nvSpPr>
        <p:spPr>
          <a:xfrm>
            <a:off x="1257300" y="4876495"/>
            <a:ext cx="133411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Proof Design</a:t>
            </a:r>
            <a:endParaRPr b="0" i="0" sz="1500" u="none" cap="none" strike="noStrike">
              <a:solidFill>
                <a:schemeClr val="dk1"/>
              </a:solidFill>
              <a:latin typeface="Calibri"/>
              <a:ea typeface="Calibri"/>
              <a:cs typeface="Calibri"/>
              <a:sym typeface="Calibri"/>
            </a:endParaRPr>
          </a:p>
        </p:txBody>
      </p:sp>
      <p:sp>
        <p:nvSpPr>
          <p:cNvPr id="2369" name="Google Shape;2369;p53"/>
          <p:cNvSpPr txBox="1"/>
          <p:nvPr/>
        </p:nvSpPr>
        <p:spPr>
          <a:xfrm>
            <a:off x="1257300" y="5229454"/>
            <a:ext cx="3639312"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How do we demonstrate indisputable capacity to overcome systemic category skepticism?</a:t>
            </a:r>
            <a:endParaRPr b="0" i="0" sz="1200" u="none" cap="none" strike="noStrike">
              <a:solidFill>
                <a:schemeClr val="dk1"/>
              </a:solidFill>
              <a:latin typeface="Calibri"/>
              <a:ea typeface="Calibri"/>
              <a:cs typeface="Calibri"/>
              <a:sym typeface="Calibri"/>
            </a:endParaRPr>
          </a:p>
        </p:txBody>
      </p:sp>
      <p:sp>
        <p:nvSpPr>
          <p:cNvPr id="2370" name="Google Shape;2370;p53"/>
          <p:cNvSpPr/>
          <p:nvPr/>
        </p:nvSpPr>
        <p:spPr>
          <a:xfrm>
            <a:off x="6476695" y="1876349"/>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3"/>
          <p:cNvSpPr/>
          <p:nvPr/>
        </p:nvSpPr>
        <p:spPr>
          <a:xfrm>
            <a:off x="6476695" y="1876349"/>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3"/>
          <p:cNvSpPr/>
          <p:nvPr/>
        </p:nvSpPr>
        <p:spPr>
          <a:xfrm>
            <a:off x="6705295" y="2066544"/>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3"/>
          <p:cNvSpPr txBox="1"/>
          <p:nvPr/>
        </p:nvSpPr>
        <p:spPr>
          <a:xfrm>
            <a:off x="6805879" y="2081174"/>
            <a:ext cx="300838"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4</a:t>
            </a:r>
            <a:endParaRPr b="0" i="0" sz="1600" u="none" cap="none" strike="noStrike">
              <a:solidFill>
                <a:schemeClr val="dk1"/>
              </a:solidFill>
              <a:latin typeface="Calibri"/>
              <a:ea typeface="Calibri"/>
              <a:cs typeface="Calibri"/>
              <a:sym typeface="Calibri"/>
            </a:endParaRPr>
          </a:p>
        </p:txBody>
      </p:sp>
      <p:sp>
        <p:nvSpPr>
          <p:cNvPr id="2374" name="Google Shape;2374;p53"/>
          <p:cNvSpPr txBox="1"/>
          <p:nvPr/>
        </p:nvSpPr>
        <p:spPr>
          <a:xfrm>
            <a:off x="7200900" y="2095805"/>
            <a:ext cx="2115007"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Platform Architecture</a:t>
            </a:r>
            <a:endParaRPr b="0" i="0" sz="1500" u="none" cap="none" strike="noStrike">
              <a:solidFill>
                <a:schemeClr val="dk1"/>
              </a:solidFill>
              <a:latin typeface="Calibri"/>
              <a:ea typeface="Calibri"/>
              <a:cs typeface="Calibri"/>
              <a:sym typeface="Calibri"/>
            </a:endParaRPr>
          </a:p>
        </p:txBody>
      </p:sp>
      <p:sp>
        <p:nvSpPr>
          <p:cNvPr id="2375" name="Google Shape;2375;p53"/>
          <p:cNvSpPr txBox="1"/>
          <p:nvPr/>
        </p:nvSpPr>
        <p:spPr>
          <a:xfrm>
            <a:off x="7200900" y="2447849"/>
            <a:ext cx="4295851"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What is our 18-month ecosystem roadmap to capture 3.2x LTV through follow-on purchases?</a:t>
            </a:r>
            <a:endParaRPr b="0" i="0" sz="1200" u="none" cap="none" strike="noStrike">
              <a:solidFill>
                <a:schemeClr val="dk1"/>
              </a:solidFill>
              <a:latin typeface="Calibri"/>
              <a:ea typeface="Calibri"/>
              <a:cs typeface="Calibri"/>
              <a:sym typeface="Calibri"/>
            </a:endParaRPr>
          </a:p>
        </p:txBody>
      </p:sp>
      <p:sp>
        <p:nvSpPr>
          <p:cNvPr id="2376" name="Google Shape;2376;p53"/>
          <p:cNvSpPr/>
          <p:nvPr/>
        </p:nvSpPr>
        <p:spPr>
          <a:xfrm>
            <a:off x="6476695" y="3267151"/>
            <a:ext cx="5181905" cy="1200607"/>
          </a:xfrm>
          <a:prstGeom prst="roundRect">
            <a:avLst>
              <a:gd fmla="val 3627"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3"/>
          <p:cNvSpPr/>
          <p:nvPr/>
        </p:nvSpPr>
        <p:spPr>
          <a:xfrm>
            <a:off x="6476695" y="3267151"/>
            <a:ext cx="38405" cy="1200607"/>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3"/>
          <p:cNvSpPr/>
          <p:nvPr/>
        </p:nvSpPr>
        <p:spPr>
          <a:xfrm>
            <a:off x="6705295" y="3457346"/>
            <a:ext cx="342900" cy="3429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3"/>
          <p:cNvSpPr txBox="1"/>
          <p:nvPr/>
        </p:nvSpPr>
        <p:spPr>
          <a:xfrm>
            <a:off x="6812280" y="3471977"/>
            <a:ext cx="290779" cy="3145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5</a:t>
            </a:r>
            <a:endParaRPr b="0" i="0" sz="1600" u="none" cap="none" strike="noStrike">
              <a:solidFill>
                <a:schemeClr val="dk1"/>
              </a:solidFill>
              <a:latin typeface="Calibri"/>
              <a:ea typeface="Calibri"/>
              <a:cs typeface="Calibri"/>
              <a:sym typeface="Calibri"/>
            </a:endParaRPr>
          </a:p>
        </p:txBody>
      </p:sp>
      <p:sp>
        <p:nvSpPr>
          <p:cNvPr id="2380" name="Google Shape;2380;p53"/>
          <p:cNvSpPr txBox="1"/>
          <p:nvPr/>
        </p:nvSpPr>
        <p:spPr>
          <a:xfrm>
            <a:off x="7200900" y="3486607"/>
            <a:ext cx="187726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500"/>
              <a:buFont typeface="Inter"/>
              <a:buNone/>
            </a:pPr>
            <a:r>
              <a:rPr b="1" i="0" lang="en-US" sz="1500" u="none" cap="none" strike="noStrike">
                <a:solidFill>
                  <a:srgbClr val="1E3A8A"/>
                </a:solidFill>
                <a:latin typeface="Inter"/>
                <a:ea typeface="Inter"/>
                <a:cs typeface="Inter"/>
                <a:sym typeface="Inter"/>
              </a:rPr>
              <a:t>Segment Selection</a:t>
            </a:r>
            <a:endParaRPr b="0" i="0" sz="1500" u="none" cap="none" strike="noStrike">
              <a:solidFill>
                <a:schemeClr val="dk1"/>
              </a:solidFill>
              <a:latin typeface="Calibri"/>
              <a:ea typeface="Calibri"/>
              <a:cs typeface="Calibri"/>
              <a:sym typeface="Calibri"/>
            </a:endParaRPr>
          </a:p>
        </p:txBody>
      </p:sp>
      <p:sp>
        <p:nvSpPr>
          <p:cNvPr id="2381" name="Google Shape;2381;p53"/>
          <p:cNvSpPr txBox="1"/>
          <p:nvPr/>
        </p:nvSpPr>
        <p:spPr>
          <a:xfrm>
            <a:off x="7200900" y="3838651"/>
            <a:ext cx="4191610"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Which customer are we serving—and which are we explicitly not? (Premium investment or mass commodity)</a:t>
            </a:r>
            <a:endParaRPr b="0" i="0" sz="1200" u="none" cap="none" strike="noStrike">
              <a:solidFill>
                <a:schemeClr val="dk1"/>
              </a:solidFill>
              <a:latin typeface="Calibri"/>
              <a:ea typeface="Calibri"/>
              <a:cs typeface="Calibri"/>
              <a:sym typeface="Calibri"/>
            </a:endParaRPr>
          </a:p>
        </p:txBody>
      </p:sp>
      <p:sp>
        <p:nvSpPr>
          <p:cNvPr id="2382" name="Google Shape;2382;p53"/>
          <p:cNvSpPr/>
          <p:nvPr/>
        </p:nvSpPr>
        <p:spPr>
          <a:xfrm>
            <a:off x="6476695" y="4695444"/>
            <a:ext cx="5181905" cy="1114654"/>
          </a:xfrm>
          <a:prstGeom prst="roundRect">
            <a:avLst>
              <a:gd fmla="val 420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3"/>
          <p:cNvSpPr/>
          <p:nvPr/>
        </p:nvSpPr>
        <p:spPr>
          <a:xfrm>
            <a:off x="6476695" y="4695444"/>
            <a:ext cx="38405" cy="1114654"/>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3"/>
          <p:cNvSpPr txBox="1"/>
          <p:nvPr/>
        </p:nvSpPr>
        <p:spPr>
          <a:xfrm>
            <a:off x="6705295" y="4905756"/>
            <a:ext cx="4817974"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 HARD TRUTH: Decision Sequence: Resolve Channel (#1) and Segment (#5) first, as these constrain all other strategic choices.</a:t>
            </a:r>
            <a:endParaRPr b="0" i="0" sz="1200" u="none" cap="none" strike="noStrike">
              <a:solidFill>
                <a:schemeClr val="dk1"/>
              </a:solidFill>
              <a:latin typeface="Calibri"/>
              <a:ea typeface="Calibri"/>
              <a:cs typeface="Calibri"/>
              <a:sym typeface="Calibri"/>
            </a:endParaRPr>
          </a:p>
        </p:txBody>
      </p:sp>
      <p:sp>
        <p:nvSpPr>
          <p:cNvPr id="2385" name="Google Shape;2385;p53"/>
          <p:cNvSpPr txBox="1"/>
          <p:nvPr/>
        </p:nvSpPr>
        <p:spPr>
          <a:xfrm>
            <a:off x="6476695" y="5928970"/>
            <a:ext cx="41321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Derived from 5 Big Boulders analysis of category constraints</a:t>
            </a:r>
            <a:endParaRPr b="0" i="0" sz="900" u="none" cap="none" strike="noStrike">
              <a:solidFill>
                <a:schemeClr val="dk1"/>
              </a:solidFill>
              <a:latin typeface="Calibri"/>
              <a:ea typeface="Calibri"/>
              <a:cs typeface="Calibri"/>
              <a:sym typeface="Calibri"/>
            </a:endParaRPr>
          </a:p>
        </p:txBody>
      </p:sp>
      <p:sp>
        <p:nvSpPr>
          <p:cNvPr id="2386" name="Google Shape;2386;p53"/>
          <p:cNvSpPr/>
          <p:nvPr/>
        </p:nvSpPr>
        <p:spPr>
          <a:xfrm>
            <a:off x="0" y="6205118"/>
            <a:ext cx="121916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3"/>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2388" name="Google Shape;2388;p53"/>
          <p:cNvSpPr txBox="1"/>
          <p:nvPr/>
        </p:nvSpPr>
        <p:spPr>
          <a:xfrm>
            <a:off x="11505895" y="6452921"/>
            <a:ext cx="2551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3" name="Shape 2393"/>
        <p:cNvGrpSpPr/>
        <p:nvPr/>
      </p:nvGrpSpPr>
      <p:grpSpPr>
        <a:xfrm>
          <a:off x="0" y="0"/>
          <a:ext cx="0" cy="0"/>
          <a:chOff x="0" y="0"/>
          <a:chExt cx="0" cy="0"/>
        </a:xfrm>
      </p:grpSpPr>
      <p:sp>
        <p:nvSpPr>
          <p:cNvPr id="2394" name="Google Shape;2394;p54"/>
          <p:cNvSpPr/>
          <p:nvPr/>
        </p:nvSpPr>
        <p:spPr>
          <a:xfrm>
            <a:off x="0" y="0"/>
            <a:ext cx="12191695" cy="100017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4"/>
          <p:cNvSpPr/>
          <p:nvPr/>
        </p:nvSpPr>
        <p:spPr>
          <a:xfrm>
            <a:off x="0" y="0"/>
            <a:ext cx="12191695" cy="100017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54"/>
          <p:cNvSpPr/>
          <p:nvPr/>
        </p:nvSpPr>
        <p:spPr>
          <a:xfrm>
            <a:off x="533095" y="381305"/>
            <a:ext cx="571500" cy="38405"/>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4"/>
          <p:cNvSpPr txBox="1"/>
          <p:nvPr/>
        </p:nvSpPr>
        <p:spPr>
          <a:xfrm>
            <a:off x="533095" y="609905"/>
            <a:ext cx="4867351"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Strategic Discussion Framework</a:t>
            </a:r>
            <a:endParaRPr b="0" i="0" sz="2400" u="none" cap="none" strike="noStrike">
              <a:solidFill>
                <a:schemeClr val="dk1"/>
              </a:solidFill>
              <a:latin typeface="Calibri"/>
              <a:ea typeface="Calibri"/>
              <a:cs typeface="Calibri"/>
              <a:sym typeface="Calibri"/>
            </a:endParaRPr>
          </a:p>
        </p:txBody>
      </p:sp>
      <p:sp>
        <p:nvSpPr>
          <p:cNvPr id="2398" name="Google Shape;2398;p54"/>
          <p:cNvSpPr txBox="1"/>
          <p:nvPr/>
        </p:nvSpPr>
        <p:spPr>
          <a:xfrm>
            <a:off x="533095" y="1095451"/>
            <a:ext cx="46442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Questions to Align on Category Challenge &amp; Brand Role</a:t>
            </a:r>
            <a:endParaRPr b="0" i="0" sz="1300" u="none" cap="none" strike="noStrike">
              <a:solidFill>
                <a:schemeClr val="dk1"/>
              </a:solidFill>
              <a:latin typeface="Calibri"/>
              <a:ea typeface="Calibri"/>
              <a:cs typeface="Calibri"/>
              <a:sym typeface="Calibri"/>
            </a:endParaRPr>
          </a:p>
        </p:txBody>
      </p:sp>
      <p:sp>
        <p:nvSpPr>
          <p:cNvPr id="2399" name="Google Shape;2399;p54"/>
          <p:cNvSpPr/>
          <p:nvPr/>
        </p:nvSpPr>
        <p:spPr>
          <a:xfrm>
            <a:off x="533095" y="1552651"/>
            <a:ext cx="11125505" cy="933602"/>
          </a:xfrm>
          <a:prstGeom prst="roundRect">
            <a:avLst>
              <a:gd fmla="val 3998" name="adj"/>
            </a:avLst>
          </a:prstGeom>
          <a:solidFill>
            <a:srgbClr val="F0FD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4"/>
          <p:cNvSpPr/>
          <p:nvPr/>
        </p:nvSpPr>
        <p:spPr>
          <a:xfrm>
            <a:off x="533095" y="1552651"/>
            <a:ext cx="38405" cy="933602"/>
          </a:xfrm>
          <a:prstGeom prst="rect">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4"/>
          <p:cNvSpPr txBox="1"/>
          <p:nvPr/>
        </p:nvSpPr>
        <p:spPr>
          <a:xfrm>
            <a:off x="724205" y="1714500"/>
            <a:ext cx="86045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800"/>
              <a:buFont typeface="Inter"/>
              <a:buNone/>
            </a:pPr>
            <a:r>
              <a:rPr b="1" i="0" lang="en-US" sz="800" u="none" cap="none" strike="noStrike">
                <a:solidFill>
                  <a:srgbClr val="16A085"/>
                </a:solidFill>
                <a:latin typeface="Inter"/>
                <a:ea typeface="Inter"/>
                <a:cs typeface="Inter"/>
                <a:sym typeface="Inter"/>
              </a:rPr>
              <a:t>THE PATTERN</a:t>
            </a:r>
            <a:endParaRPr b="0" i="0" sz="800" u="none" cap="none" strike="noStrike">
              <a:solidFill>
                <a:schemeClr val="dk1"/>
              </a:solidFill>
              <a:latin typeface="Calibri"/>
              <a:ea typeface="Calibri"/>
              <a:cs typeface="Calibri"/>
              <a:sym typeface="Calibri"/>
            </a:endParaRPr>
          </a:p>
        </p:txBody>
      </p:sp>
      <p:sp>
        <p:nvSpPr>
          <p:cNvPr id="2402" name="Google Shape;2402;p54"/>
          <p:cNvSpPr txBox="1"/>
          <p:nvPr/>
        </p:nvSpPr>
        <p:spPr>
          <a:xfrm>
            <a:off x="724205" y="1910182"/>
            <a:ext cx="10632643"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These questions surface the right strategic discussions between marketing and R&amp;D. The goal is NOT to specify product features, but to align on the marketing and technical challenge we're solving for.</a:t>
            </a:r>
            <a:endParaRPr b="0" i="0" sz="1100" u="none" cap="none" strike="noStrike">
              <a:solidFill>
                <a:schemeClr val="dk1"/>
              </a:solidFill>
              <a:latin typeface="Calibri"/>
              <a:ea typeface="Calibri"/>
              <a:cs typeface="Calibri"/>
              <a:sym typeface="Calibri"/>
            </a:endParaRPr>
          </a:p>
        </p:txBody>
      </p:sp>
      <p:sp>
        <p:nvSpPr>
          <p:cNvPr id="2403" name="Google Shape;2403;p54"/>
          <p:cNvSpPr/>
          <p:nvPr/>
        </p:nvSpPr>
        <p:spPr>
          <a:xfrm>
            <a:off x="533095" y="2671877"/>
            <a:ext cx="5467198" cy="2505456"/>
          </a:xfrm>
          <a:prstGeom prst="roundRect">
            <a:avLst>
              <a:gd fmla="val 1110" name="adj"/>
            </a:avLst>
          </a:prstGeom>
          <a:solidFill>
            <a:srgbClr val="FFFFFF"/>
          </a:solidFill>
          <a:ln cap="flat" cmpd="sng" w="12700">
            <a:solidFill>
              <a:srgbClr val="E5E7EB"/>
            </a:solidFill>
            <a:prstDash val="solid"/>
            <a:round/>
            <a:headEnd len="sm" w="sm" type="none"/>
            <a:tailEnd len="sm" w="sm" type="none"/>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4"/>
          <p:cNvSpPr/>
          <p:nvPr/>
        </p:nvSpPr>
        <p:spPr>
          <a:xfrm>
            <a:off x="6191402" y="2671877"/>
            <a:ext cx="5467198" cy="2505456"/>
          </a:xfrm>
          <a:prstGeom prst="roundRect">
            <a:avLst>
              <a:gd fmla="val 1110" name="adj"/>
            </a:avLst>
          </a:prstGeom>
          <a:solidFill>
            <a:srgbClr val="FFFFFF"/>
          </a:solidFill>
          <a:ln cap="flat" cmpd="sng" w="12700">
            <a:solidFill>
              <a:srgbClr val="E5E7EB"/>
            </a:solidFill>
            <a:prstDash val="solid"/>
            <a:round/>
            <a:headEnd len="sm" w="sm" type="none"/>
            <a:tailEnd len="sm" w="sm" type="none"/>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4"/>
          <p:cNvSpPr/>
          <p:nvPr/>
        </p:nvSpPr>
        <p:spPr>
          <a:xfrm>
            <a:off x="533095" y="5495544"/>
            <a:ext cx="5467198" cy="2714854"/>
          </a:xfrm>
          <a:prstGeom prst="roundRect">
            <a:avLst>
              <a:gd fmla="val 945" name="adj"/>
            </a:avLst>
          </a:prstGeom>
          <a:solidFill>
            <a:srgbClr val="FFFFFF"/>
          </a:solidFill>
          <a:ln cap="flat" cmpd="sng" w="12700">
            <a:solidFill>
              <a:srgbClr val="E5E7EB"/>
            </a:solidFill>
            <a:prstDash val="solid"/>
            <a:round/>
            <a:headEnd len="sm" w="sm" type="none"/>
            <a:tailEnd len="sm" w="sm" type="none"/>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4"/>
          <p:cNvSpPr/>
          <p:nvPr/>
        </p:nvSpPr>
        <p:spPr>
          <a:xfrm>
            <a:off x="6191402" y="5495544"/>
            <a:ext cx="5467198" cy="2714854"/>
          </a:xfrm>
          <a:prstGeom prst="roundRect">
            <a:avLst>
              <a:gd fmla="val 945" name="adj"/>
            </a:avLst>
          </a:prstGeom>
          <a:solidFill>
            <a:srgbClr val="FFFFFF"/>
          </a:solidFill>
          <a:ln cap="flat" cmpd="sng" w="12700">
            <a:solidFill>
              <a:srgbClr val="E5E7EB"/>
            </a:solidFill>
            <a:prstDash val="solid"/>
            <a:round/>
            <a:headEnd len="sm" w="sm" type="none"/>
            <a:tailEnd len="sm" w="sm" type="none"/>
          </a:ln>
          <a:effectLst>
            <a:outerShdw blurRad="25400" rotWithShape="0" algn="bl" dir="5400000" dist="127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4"/>
          <p:cNvSpPr txBox="1"/>
          <p:nvPr/>
        </p:nvSpPr>
        <p:spPr>
          <a:xfrm>
            <a:off x="714146" y="2862072"/>
            <a:ext cx="95554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QUESTION 1</a:t>
            </a:r>
            <a:endParaRPr b="0" i="0" sz="1100" u="none" cap="none" strike="noStrike">
              <a:solidFill>
                <a:schemeClr val="dk1"/>
              </a:solidFill>
              <a:latin typeface="Calibri"/>
              <a:ea typeface="Calibri"/>
              <a:cs typeface="Calibri"/>
              <a:sym typeface="Calibri"/>
            </a:endParaRPr>
          </a:p>
        </p:txBody>
      </p:sp>
      <p:sp>
        <p:nvSpPr>
          <p:cNvPr id="2408" name="Google Shape;2408;p54"/>
          <p:cNvSpPr txBox="1"/>
          <p:nvPr/>
        </p:nvSpPr>
        <p:spPr>
          <a:xfrm>
            <a:off x="6372454" y="2862072"/>
            <a:ext cx="9838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QUESTION 2</a:t>
            </a:r>
            <a:endParaRPr b="0" i="0" sz="1100" u="none" cap="none" strike="noStrike">
              <a:solidFill>
                <a:schemeClr val="dk1"/>
              </a:solidFill>
              <a:latin typeface="Calibri"/>
              <a:ea typeface="Calibri"/>
              <a:cs typeface="Calibri"/>
              <a:sym typeface="Calibri"/>
            </a:endParaRPr>
          </a:p>
        </p:txBody>
      </p:sp>
      <p:sp>
        <p:nvSpPr>
          <p:cNvPr id="2409" name="Google Shape;2409;p54"/>
          <p:cNvSpPr txBox="1"/>
          <p:nvPr/>
        </p:nvSpPr>
        <p:spPr>
          <a:xfrm>
            <a:off x="714146" y="5686654"/>
            <a:ext cx="9838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QUESTION 3</a:t>
            </a:r>
            <a:endParaRPr b="0" i="0" sz="1100" u="none" cap="none" strike="noStrike">
              <a:solidFill>
                <a:schemeClr val="dk1"/>
              </a:solidFill>
              <a:latin typeface="Calibri"/>
              <a:ea typeface="Calibri"/>
              <a:cs typeface="Calibri"/>
              <a:sym typeface="Calibri"/>
            </a:endParaRPr>
          </a:p>
        </p:txBody>
      </p:sp>
      <p:sp>
        <p:nvSpPr>
          <p:cNvPr id="2410" name="Google Shape;2410;p54"/>
          <p:cNvSpPr txBox="1"/>
          <p:nvPr/>
        </p:nvSpPr>
        <p:spPr>
          <a:xfrm>
            <a:off x="6372454" y="5686654"/>
            <a:ext cx="9930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085"/>
              </a:buClr>
              <a:buSzPts val="1100"/>
              <a:buFont typeface="Inter"/>
              <a:buNone/>
            </a:pPr>
            <a:r>
              <a:rPr b="1" i="0" lang="en-US" sz="1100" u="none" cap="none" strike="noStrike">
                <a:solidFill>
                  <a:srgbClr val="16A085"/>
                </a:solidFill>
                <a:latin typeface="Inter"/>
                <a:ea typeface="Inter"/>
                <a:cs typeface="Inter"/>
                <a:sym typeface="Inter"/>
              </a:rPr>
              <a:t>QUESTION 4</a:t>
            </a:r>
            <a:endParaRPr b="0" i="0" sz="1100" u="none" cap="none" strike="noStrike">
              <a:solidFill>
                <a:schemeClr val="dk1"/>
              </a:solidFill>
              <a:latin typeface="Calibri"/>
              <a:ea typeface="Calibri"/>
              <a:cs typeface="Calibri"/>
              <a:sym typeface="Calibri"/>
            </a:endParaRPr>
          </a:p>
        </p:txBody>
      </p:sp>
      <p:sp>
        <p:nvSpPr>
          <p:cNvPr id="2411" name="Google Shape;2411;p54"/>
          <p:cNvSpPr txBox="1"/>
          <p:nvPr/>
        </p:nvSpPr>
        <p:spPr>
          <a:xfrm>
            <a:off x="714146" y="3143707"/>
            <a:ext cx="416966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CONSUMER BARRIER VS. TECHNICAL CAPABILITY</a:t>
            </a:r>
            <a:endParaRPr b="0" i="0" sz="1200" u="none" cap="none" strike="noStrike">
              <a:solidFill>
                <a:schemeClr val="dk1"/>
              </a:solidFill>
              <a:latin typeface="Calibri"/>
              <a:ea typeface="Calibri"/>
              <a:cs typeface="Calibri"/>
              <a:sym typeface="Calibri"/>
            </a:endParaRPr>
          </a:p>
        </p:txBody>
      </p:sp>
      <p:sp>
        <p:nvSpPr>
          <p:cNvPr id="2412" name="Google Shape;2412;p54"/>
          <p:cNvSpPr txBox="1"/>
          <p:nvPr/>
        </p:nvSpPr>
        <p:spPr>
          <a:xfrm>
            <a:off x="6372454" y="3143707"/>
            <a:ext cx="276057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PROOF SYSTEM ARCHITECTURE</a:t>
            </a:r>
            <a:endParaRPr b="0" i="0" sz="1200" u="none" cap="none" strike="noStrike">
              <a:solidFill>
                <a:schemeClr val="dk1"/>
              </a:solidFill>
              <a:latin typeface="Calibri"/>
              <a:ea typeface="Calibri"/>
              <a:cs typeface="Calibri"/>
              <a:sym typeface="Calibri"/>
            </a:endParaRPr>
          </a:p>
        </p:txBody>
      </p:sp>
      <p:sp>
        <p:nvSpPr>
          <p:cNvPr id="2413" name="Google Shape;2413;p54"/>
          <p:cNvSpPr txBox="1"/>
          <p:nvPr/>
        </p:nvSpPr>
        <p:spPr>
          <a:xfrm>
            <a:off x="714146" y="5967374"/>
            <a:ext cx="251277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PLATFORM EXPANSION PATH</a:t>
            </a:r>
            <a:endParaRPr b="0" i="0" sz="1200" u="none" cap="none" strike="noStrike">
              <a:solidFill>
                <a:schemeClr val="dk1"/>
              </a:solidFill>
              <a:latin typeface="Calibri"/>
              <a:ea typeface="Calibri"/>
              <a:cs typeface="Calibri"/>
              <a:sym typeface="Calibri"/>
            </a:endParaRPr>
          </a:p>
        </p:txBody>
      </p:sp>
      <p:sp>
        <p:nvSpPr>
          <p:cNvPr id="2414" name="Google Shape;2414;p54"/>
          <p:cNvSpPr txBox="1"/>
          <p:nvPr/>
        </p:nvSpPr>
        <p:spPr>
          <a:xfrm>
            <a:off x="6372454" y="5967374"/>
            <a:ext cx="2836469"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00"/>
              <a:buFont typeface="Inter"/>
              <a:buNone/>
            </a:pPr>
            <a:r>
              <a:rPr b="1" i="0" lang="en-US" sz="1200" u="none" cap="none" strike="noStrike">
                <a:solidFill>
                  <a:srgbClr val="111827"/>
                </a:solidFill>
                <a:latin typeface="Inter"/>
                <a:ea typeface="Inter"/>
                <a:cs typeface="Inter"/>
                <a:sym typeface="Inter"/>
              </a:rPr>
              <a:t>CHANNEL &amp; BRAND POSITIONING</a:t>
            </a:r>
            <a:endParaRPr b="0" i="0" sz="1200" u="none" cap="none" strike="noStrike">
              <a:solidFill>
                <a:schemeClr val="dk1"/>
              </a:solidFill>
              <a:latin typeface="Calibri"/>
              <a:ea typeface="Calibri"/>
              <a:cs typeface="Calibri"/>
              <a:sym typeface="Calibri"/>
            </a:endParaRPr>
          </a:p>
        </p:txBody>
      </p:sp>
      <p:sp>
        <p:nvSpPr>
          <p:cNvPr id="2415" name="Google Shape;2415;p54"/>
          <p:cNvSpPr txBox="1"/>
          <p:nvPr/>
        </p:nvSpPr>
        <p:spPr>
          <a:xfrm>
            <a:off x="714146" y="3471977"/>
            <a:ext cx="5193792"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What is the fundamental consumer barrier we're solving—and which of 3M's existing technology platforms could address it without requiring net-new science?</a:t>
            </a:r>
            <a:endParaRPr b="0" i="0" sz="1100" u="none" cap="none" strike="noStrike">
              <a:solidFill>
                <a:schemeClr val="dk1"/>
              </a:solidFill>
              <a:latin typeface="Calibri"/>
              <a:ea typeface="Calibri"/>
              <a:cs typeface="Calibri"/>
              <a:sym typeface="Calibri"/>
            </a:endParaRPr>
          </a:p>
        </p:txBody>
      </p:sp>
      <p:sp>
        <p:nvSpPr>
          <p:cNvPr id="2416" name="Google Shape;2416;p54"/>
          <p:cNvSpPr txBox="1"/>
          <p:nvPr/>
        </p:nvSpPr>
        <p:spPr>
          <a:xfrm>
            <a:off x="6372454" y="3471977"/>
            <a:ext cx="5042002" cy="6199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How do we design a proof system (demonstrations, warranties, testing protocols) that rebuilds consumer trust given 58% weight failure mentions and 39% rust concerns?</a:t>
            </a:r>
            <a:endParaRPr b="0" i="0" sz="1100" u="none" cap="none" strike="noStrike">
              <a:solidFill>
                <a:schemeClr val="dk1"/>
              </a:solidFill>
              <a:latin typeface="Calibri"/>
              <a:ea typeface="Calibri"/>
              <a:cs typeface="Calibri"/>
              <a:sym typeface="Calibri"/>
            </a:endParaRPr>
          </a:p>
        </p:txBody>
      </p:sp>
      <p:sp>
        <p:nvSpPr>
          <p:cNvPr id="2417" name="Google Shape;2417;p54"/>
          <p:cNvSpPr txBox="1"/>
          <p:nvPr/>
        </p:nvSpPr>
        <p:spPr>
          <a:xfrm>
            <a:off x="714146" y="6295644"/>
            <a:ext cx="5146243" cy="8385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If 73% of consumers make follow-on purchases (observational data, MEDIUM confidence), what is the right platform architecture to capture lifetime value—and how does it differ from Gladiator/StoreWall's ecosystem approach?</a:t>
            </a:r>
            <a:endParaRPr b="0" i="0" sz="1100" u="none" cap="none" strike="noStrike">
              <a:solidFill>
                <a:schemeClr val="dk1"/>
              </a:solidFill>
              <a:latin typeface="Calibri"/>
              <a:ea typeface="Calibri"/>
              <a:cs typeface="Calibri"/>
              <a:sym typeface="Calibri"/>
            </a:endParaRPr>
          </a:p>
        </p:txBody>
      </p:sp>
      <p:sp>
        <p:nvSpPr>
          <p:cNvPr id="2418" name="Google Shape;2418;p54"/>
          <p:cNvSpPr txBox="1"/>
          <p:nvPr/>
        </p:nvSpPr>
        <p:spPr>
          <a:xfrm>
            <a:off x="6372454" y="6295644"/>
            <a:ext cx="4870094" cy="8385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Given the structural channel bifurcation (Premium 65% revenue at HD/Lowe's vs. Mass 35% at Walmart/Target), which channel-brand combination best positions us to own the 'Premium + Easy Install' white space?</a:t>
            </a:r>
            <a:endParaRPr b="0" i="0" sz="1100" u="none" cap="none" strike="noStrike">
              <a:solidFill>
                <a:schemeClr val="dk1"/>
              </a:solidFill>
              <a:latin typeface="Calibri"/>
              <a:ea typeface="Calibri"/>
              <a:cs typeface="Calibri"/>
              <a:sym typeface="Calibri"/>
            </a:endParaRPr>
          </a:p>
        </p:txBody>
      </p:sp>
      <p:sp>
        <p:nvSpPr>
          <p:cNvPr id="2419" name="Google Shape;2419;p54"/>
          <p:cNvSpPr/>
          <p:nvPr/>
        </p:nvSpPr>
        <p:spPr>
          <a:xfrm>
            <a:off x="714146" y="4200754"/>
            <a:ext cx="5105095" cy="790956"/>
          </a:xfrm>
          <a:prstGeom prst="roundRect">
            <a:avLst>
              <a:gd fmla="val 557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4"/>
          <p:cNvSpPr/>
          <p:nvPr/>
        </p:nvSpPr>
        <p:spPr>
          <a:xfrm>
            <a:off x="6372454" y="4200754"/>
            <a:ext cx="5105095" cy="590702"/>
          </a:xfrm>
          <a:prstGeom prst="roundRect">
            <a:avLst>
              <a:gd fmla="val 998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4"/>
          <p:cNvSpPr/>
          <p:nvPr/>
        </p:nvSpPr>
        <p:spPr>
          <a:xfrm>
            <a:off x="714146" y="7239305"/>
            <a:ext cx="5105095" cy="790956"/>
          </a:xfrm>
          <a:prstGeom prst="roundRect">
            <a:avLst>
              <a:gd fmla="val 557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4"/>
          <p:cNvSpPr/>
          <p:nvPr/>
        </p:nvSpPr>
        <p:spPr>
          <a:xfrm>
            <a:off x="6372454" y="7239305"/>
            <a:ext cx="5105095" cy="790956"/>
          </a:xfrm>
          <a:prstGeom prst="roundRect">
            <a:avLst>
              <a:gd fmla="val 5571"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4"/>
          <p:cNvSpPr txBox="1"/>
          <p:nvPr/>
        </p:nvSpPr>
        <p:spPr>
          <a:xfrm>
            <a:off x="809244" y="4304995"/>
            <a:ext cx="4806086" cy="5815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Open Sans"/>
              <a:buNone/>
            </a:pPr>
            <a:r>
              <a:rPr b="0" i="0" lang="en-US" sz="1000" u="none" cap="none" strike="noStrike">
                <a:solidFill>
                  <a:srgbClr val="4B5563"/>
                </a:solidFill>
                <a:latin typeface="Open Sans"/>
                <a:ea typeface="Open Sans"/>
                <a:cs typeface="Open Sans"/>
                <a:sym typeface="Open Sans"/>
              </a:rPr>
              <a:t>Consider Command's adhesive technologies, Scotch's bonding systems, and 3M Claw's mechanical solutions. What's the minimum viable technical proof required to overcome the 64% installation barrier?</a:t>
            </a:r>
            <a:endParaRPr b="0" i="0" sz="1000" u="none" cap="none" strike="noStrike">
              <a:solidFill>
                <a:schemeClr val="dk1"/>
              </a:solidFill>
              <a:latin typeface="Calibri"/>
              <a:ea typeface="Calibri"/>
              <a:cs typeface="Calibri"/>
              <a:sym typeface="Calibri"/>
            </a:endParaRPr>
          </a:p>
        </p:txBody>
      </p:sp>
      <p:sp>
        <p:nvSpPr>
          <p:cNvPr id="2424" name="Google Shape;2424;p54"/>
          <p:cNvSpPr txBox="1"/>
          <p:nvPr/>
        </p:nvSpPr>
        <p:spPr>
          <a:xfrm>
            <a:off x="6467551" y="4304995"/>
            <a:ext cx="4872838" cy="3813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Open Sans"/>
              <a:buNone/>
            </a:pPr>
            <a:r>
              <a:rPr b="0" i="0" lang="en-US" sz="1000" u="none" cap="none" strike="noStrike">
                <a:solidFill>
                  <a:srgbClr val="4B5563"/>
                </a:solidFill>
                <a:latin typeface="Open Sans"/>
                <a:ea typeface="Open Sans"/>
                <a:cs typeface="Open Sans"/>
                <a:sym typeface="Open Sans"/>
              </a:rPr>
              <a:t>What role does in-store demonstration play vs. packaging claims? How do we leverage 3M's scientific credibility without over-engineering the solution?</a:t>
            </a:r>
            <a:endParaRPr b="0" i="0" sz="1000" u="none" cap="none" strike="noStrike">
              <a:solidFill>
                <a:schemeClr val="dk1"/>
              </a:solidFill>
              <a:latin typeface="Calibri"/>
              <a:ea typeface="Calibri"/>
              <a:cs typeface="Calibri"/>
              <a:sym typeface="Calibri"/>
            </a:endParaRPr>
          </a:p>
        </p:txBody>
      </p:sp>
      <p:sp>
        <p:nvSpPr>
          <p:cNvPr id="2425" name="Google Shape;2425;p54"/>
          <p:cNvSpPr txBox="1"/>
          <p:nvPr/>
        </p:nvSpPr>
        <p:spPr>
          <a:xfrm>
            <a:off x="809244" y="7343546"/>
            <a:ext cx="4776826" cy="5815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Open Sans"/>
              <a:buNone/>
            </a:pPr>
            <a:r>
              <a:rPr b="0" i="0" lang="en-US" sz="1000" u="none" cap="none" strike="noStrike">
                <a:solidFill>
                  <a:srgbClr val="4B5563"/>
                </a:solidFill>
                <a:latin typeface="Open Sans"/>
                <a:ea typeface="Open Sans"/>
                <a:cs typeface="Open Sans"/>
                <a:sym typeface="Open Sans"/>
              </a:rPr>
              <a:t>Should we build a modular system from day one, or start with standalone solutions and retrofit compatibility? What's the trade-off between speed-to-market and platform planning?</a:t>
            </a:r>
            <a:endParaRPr b="0" i="0" sz="1000" u="none" cap="none" strike="noStrike">
              <a:solidFill>
                <a:schemeClr val="dk1"/>
              </a:solidFill>
              <a:latin typeface="Calibri"/>
              <a:ea typeface="Calibri"/>
              <a:cs typeface="Calibri"/>
              <a:sym typeface="Calibri"/>
            </a:endParaRPr>
          </a:p>
        </p:txBody>
      </p:sp>
      <p:sp>
        <p:nvSpPr>
          <p:cNvPr id="2426" name="Google Shape;2426;p54"/>
          <p:cNvSpPr txBox="1"/>
          <p:nvPr/>
        </p:nvSpPr>
        <p:spPr>
          <a:xfrm>
            <a:off x="6467551" y="7343546"/>
            <a:ext cx="4901184" cy="5815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000"/>
              <a:buFont typeface="Open Sans"/>
              <a:buNone/>
            </a:pPr>
            <a:r>
              <a:rPr b="0" i="0" lang="en-US" sz="1000" u="none" cap="none" strike="noStrike">
                <a:solidFill>
                  <a:srgbClr val="4B5563"/>
                </a:solidFill>
                <a:latin typeface="Open Sans"/>
                <a:ea typeface="Open Sans"/>
                <a:cs typeface="Open Sans"/>
                <a:sym typeface="Open Sans"/>
              </a:rPr>
              <a:t>Does Command extend into garage with premium formulations? Does 3M introduce a new brand? How do we avoid the $30-50 middle trap identified in Boulder #1?</a:t>
            </a:r>
            <a:endParaRPr b="0" i="0" sz="1000" u="none" cap="none" strike="noStrike">
              <a:solidFill>
                <a:schemeClr val="dk1"/>
              </a:solidFill>
              <a:latin typeface="Calibri"/>
              <a:ea typeface="Calibri"/>
              <a:cs typeface="Calibri"/>
              <a:sym typeface="Calibri"/>
            </a:endParaRPr>
          </a:p>
        </p:txBody>
      </p:sp>
      <p:sp>
        <p:nvSpPr>
          <p:cNvPr id="2427" name="Google Shape;2427;p54"/>
          <p:cNvSpPr/>
          <p:nvPr/>
        </p:nvSpPr>
        <p:spPr>
          <a:xfrm>
            <a:off x="533095" y="8438998"/>
            <a:ext cx="11125505" cy="933602"/>
          </a:xfrm>
          <a:prstGeom prst="roundRect">
            <a:avLst>
              <a:gd fmla="val 3998" name="adj"/>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4"/>
          <p:cNvSpPr/>
          <p:nvPr/>
        </p:nvSpPr>
        <p:spPr>
          <a:xfrm>
            <a:off x="533095" y="8438998"/>
            <a:ext cx="38405" cy="933602"/>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4"/>
          <p:cNvSpPr txBox="1"/>
          <p:nvPr/>
        </p:nvSpPr>
        <p:spPr>
          <a:xfrm>
            <a:off x="724205" y="8600846"/>
            <a:ext cx="1078992"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Inter"/>
              <a:buNone/>
            </a:pPr>
            <a:r>
              <a:rPr b="1" i="0" lang="en-US" sz="800" u="none" cap="none" strike="noStrike">
                <a:solidFill>
                  <a:srgbClr val="64748B"/>
                </a:solidFill>
                <a:latin typeface="Inter"/>
                <a:ea typeface="Inter"/>
                <a:cs typeface="Inter"/>
                <a:sym typeface="Inter"/>
              </a:rPr>
              <a:t>THE HARD TRUTH</a:t>
            </a:r>
            <a:endParaRPr b="0" i="0" sz="800" u="none" cap="none" strike="noStrike">
              <a:solidFill>
                <a:schemeClr val="dk1"/>
              </a:solidFill>
              <a:latin typeface="Calibri"/>
              <a:ea typeface="Calibri"/>
              <a:cs typeface="Calibri"/>
              <a:sym typeface="Calibri"/>
            </a:endParaRPr>
          </a:p>
        </p:txBody>
      </p:sp>
      <p:sp>
        <p:nvSpPr>
          <p:cNvPr id="2430" name="Google Shape;2430;p54"/>
          <p:cNvSpPr txBox="1"/>
          <p:nvPr/>
        </p:nvSpPr>
        <p:spPr>
          <a:xfrm>
            <a:off x="724205" y="8796528"/>
            <a:ext cx="10660990"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Open Sans"/>
              <a:buNone/>
            </a:pPr>
            <a:r>
              <a:rPr b="0" i="0" lang="en-US" sz="1100" u="none" cap="none" strike="noStrike">
                <a:solidFill>
                  <a:srgbClr val="111827"/>
                </a:solidFill>
                <a:latin typeface="Open Sans"/>
                <a:ea typeface="Open Sans"/>
                <a:cs typeface="Open Sans"/>
                <a:sym typeface="Open Sans"/>
              </a:rPr>
              <a:t>The right answers to these questions will send 3M in a clear strategic direction. The wrong assumption is that we need to invent a specific product—we need to align on the marketing and R&amp;D challenge first.</a:t>
            </a:r>
            <a:endParaRPr b="0" i="0" sz="1100" u="none" cap="none" strike="noStrike">
              <a:solidFill>
                <a:schemeClr val="dk1"/>
              </a:solidFill>
              <a:latin typeface="Calibri"/>
              <a:ea typeface="Calibri"/>
              <a:cs typeface="Calibri"/>
              <a:sym typeface="Calibri"/>
            </a:endParaRPr>
          </a:p>
        </p:txBody>
      </p:sp>
      <p:sp>
        <p:nvSpPr>
          <p:cNvPr id="2431" name="Google Shape;2431;p54"/>
          <p:cNvSpPr txBox="1"/>
          <p:nvPr/>
        </p:nvSpPr>
        <p:spPr>
          <a:xfrm>
            <a:off x="533095" y="9682582"/>
            <a:ext cx="58009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Strategic framework designed to facilitate cross-functional discussion between marketing and R&amp;D teams</a:t>
            </a:r>
            <a:endParaRPr b="0" i="0" sz="900" u="none" cap="none" strike="noStrike">
              <a:solidFill>
                <a:schemeClr val="dk1"/>
              </a:solidFill>
              <a:latin typeface="Calibri"/>
              <a:ea typeface="Calibri"/>
              <a:cs typeface="Calibri"/>
              <a:sym typeface="Calibri"/>
            </a:endParaRPr>
          </a:p>
        </p:txBody>
      </p:sp>
      <p:sp>
        <p:nvSpPr>
          <p:cNvPr id="2432" name="Google Shape;2432;p54"/>
          <p:cNvSpPr txBox="1"/>
          <p:nvPr/>
        </p:nvSpPr>
        <p:spPr>
          <a:xfrm>
            <a:off x="11514125" y="9682582"/>
            <a:ext cx="2386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7" name="Shape 2437"/>
        <p:cNvGrpSpPr/>
        <p:nvPr/>
      </p:nvGrpSpPr>
      <p:grpSpPr>
        <a:xfrm>
          <a:off x="0" y="0"/>
          <a:ext cx="0" cy="0"/>
          <a:chOff x="0" y="0"/>
          <a:chExt cx="0" cy="0"/>
        </a:xfrm>
      </p:grpSpPr>
      <p:sp>
        <p:nvSpPr>
          <p:cNvPr id="2438" name="Google Shape;2438;p5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55"/>
          <p:cNvSpPr/>
          <p:nvPr/>
        </p:nvSpPr>
        <p:spPr>
          <a:xfrm>
            <a:off x="0" y="0"/>
            <a:ext cx="12191695"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55"/>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55"/>
          <p:cNvSpPr txBox="1"/>
          <p:nvPr/>
        </p:nvSpPr>
        <p:spPr>
          <a:xfrm>
            <a:off x="533095" y="780898"/>
            <a:ext cx="7553858"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600" u="none" cap="none" strike="noStrike">
                <a:solidFill>
                  <a:srgbClr val="111827"/>
                </a:solidFill>
                <a:latin typeface="Inter"/>
                <a:ea typeface="Inter"/>
                <a:cs typeface="Inter"/>
                <a:sym typeface="Inter"/>
              </a:rPr>
              <a:t>Closing: Immutable Truths &amp; Success Factors</a:t>
            </a:r>
            <a:endParaRPr b="0" i="0" sz="2600" u="none" cap="none" strike="noStrike">
              <a:solidFill>
                <a:schemeClr val="dk1"/>
              </a:solidFill>
              <a:latin typeface="Calibri"/>
              <a:ea typeface="Calibri"/>
              <a:cs typeface="Calibri"/>
              <a:sym typeface="Calibri"/>
            </a:endParaRPr>
          </a:p>
        </p:txBody>
      </p:sp>
      <p:sp>
        <p:nvSpPr>
          <p:cNvPr id="2442" name="Google Shape;2442;p55"/>
          <p:cNvSpPr txBox="1"/>
          <p:nvPr/>
        </p:nvSpPr>
        <p:spPr>
          <a:xfrm>
            <a:off x="533095" y="1638605"/>
            <a:ext cx="1276502"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SUCCESS FACTORS</a:t>
            </a:r>
            <a:endParaRPr b="0" i="0" sz="900" u="none" cap="none" strike="noStrike">
              <a:solidFill>
                <a:schemeClr val="dk1"/>
              </a:solidFill>
              <a:latin typeface="Calibri"/>
              <a:ea typeface="Calibri"/>
              <a:cs typeface="Calibri"/>
              <a:sym typeface="Calibri"/>
            </a:endParaRPr>
          </a:p>
        </p:txBody>
      </p:sp>
      <p:sp>
        <p:nvSpPr>
          <p:cNvPr id="2443" name="Google Shape;2443;p55"/>
          <p:cNvSpPr txBox="1"/>
          <p:nvPr/>
        </p:nvSpPr>
        <p:spPr>
          <a:xfrm>
            <a:off x="533095" y="1952244"/>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Inter"/>
              <a:buNone/>
            </a:pPr>
            <a:r>
              <a:rPr b="0" i="0" lang="en-US" sz="1200" u="none" cap="none" strike="noStrike">
                <a:solidFill>
                  <a:srgbClr val="0891B2"/>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444" name="Google Shape;2444;p55"/>
          <p:cNvSpPr txBox="1"/>
          <p:nvPr/>
        </p:nvSpPr>
        <p:spPr>
          <a:xfrm>
            <a:off x="758952" y="1904695"/>
            <a:ext cx="505388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Choose your channel; avoid the $30–$50 middle ground that confuses both premium and mass market consumers</a:t>
            </a:r>
            <a:endParaRPr b="0" i="0" sz="1300" u="none" cap="none" strike="noStrike">
              <a:solidFill>
                <a:schemeClr val="dk1"/>
              </a:solidFill>
              <a:latin typeface="Calibri"/>
              <a:ea typeface="Calibri"/>
              <a:cs typeface="Calibri"/>
              <a:sym typeface="Calibri"/>
            </a:endParaRPr>
          </a:p>
        </p:txBody>
      </p:sp>
      <p:sp>
        <p:nvSpPr>
          <p:cNvPr id="2445" name="Google Shape;2445;p55"/>
          <p:cNvSpPr txBox="1"/>
          <p:nvPr/>
        </p:nvSpPr>
        <p:spPr>
          <a:xfrm>
            <a:off x="533095" y="2806294"/>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Inter"/>
              <a:buNone/>
            </a:pPr>
            <a:r>
              <a:rPr b="0" i="0" lang="en-US" sz="1200" u="none" cap="none" strike="noStrike">
                <a:solidFill>
                  <a:srgbClr val="0891B2"/>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446" name="Google Shape;2446;p55"/>
          <p:cNvSpPr txBox="1"/>
          <p:nvPr/>
        </p:nvSpPr>
        <p:spPr>
          <a:xfrm>
            <a:off x="758952" y="2758745"/>
            <a:ext cx="482528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Make installation the hero; solve anxiety and barriers first, features second</a:t>
            </a:r>
            <a:endParaRPr b="0" i="0" sz="1300" u="none" cap="none" strike="noStrike">
              <a:solidFill>
                <a:schemeClr val="dk1"/>
              </a:solidFill>
              <a:latin typeface="Calibri"/>
              <a:ea typeface="Calibri"/>
              <a:cs typeface="Calibri"/>
              <a:sym typeface="Calibri"/>
            </a:endParaRPr>
          </a:p>
        </p:txBody>
      </p:sp>
      <p:sp>
        <p:nvSpPr>
          <p:cNvPr id="2447" name="Google Shape;2447;p55"/>
          <p:cNvSpPr txBox="1"/>
          <p:nvPr/>
        </p:nvSpPr>
        <p:spPr>
          <a:xfrm>
            <a:off x="6476695" y="1638605"/>
            <a:ext cx="12573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CRITICAL ACTIONS</a:t>
            </a:r>
            <a:endParaRPr b="0" i="0" sz="900" u="none" cap="none" strike="noStrike">
              <a:solidFill>
                <a:schemeClr val="dk1"/>
              </a:solidFill>
              <a:latin typeface="Calibri"/>
              <a:ea typeface="Calibri"/>
              <a:cs typeface="Calibri"/>
              <a:sym typeface="Calibri"/>
            </a:endParaRPr>
          </a:p>
        </p:txBody>
      </p:sp>
      <p:sp>
        <p:nvSpPr>
          <p:cNvPr id="2448" name="Google Shape;2448;p55"/>
          <p:cNvSpPr txBox="1"/>
          <p:nvPr/>
        </p:nvSpPr>
        <p:spPr>
          <a:xfrm>
            <a:off x="6476695" y="1952244"/>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Inter"/>
              <a:buNone/>
            </a:pPr>
            <a:r>
              <a:rPr b="0" i="0" lang="en-US" sz="1200" u="none" cap="none" strike="noStrike">
                <a:solidFill>
                  <a:srgbClr val="0891B2"/>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449" name="Google Shape;2449;p55"/>
          <p:cNvSpPr txBox="1"/>
          <p:nvPr/>
        </p:nvSpPr>
        <p:spPr>
          <a:xfrm>
            <a:off x="6702552" y="1904695"/>
            <a:ext cx="4386377"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Earn trust with proof systems, not claims alone—demonstrate capacity visually, not just on packaging</a:t>
            </a:r>
            <a:endParaRPr b="0" i="0" sz="1300" u="none" cap="none" strike="noStrike">
              <a:solidFill>
                <a:schemeClr val="dk1"/>
              </a:solidFill>
              <a:latin typeface="Calibri"/>
              <a:ea typeface="Calibri"/>
              <a:cs typeface="Calibri"/>
              <a:sym typeface="Calibri"/>
            </a:endParaRPr>
          </a:p>
        </p:txBody>
      </p:sp>
      <p:sp>
        <p:nvSpPr>
          <p:cNvPr id="2450" name="Google Shape;2450;p55"/>
          <p:cNvSpPr txBox="1"/>
          <p:nvPr/>
        </p:nvSpPr>
        <p:spPr>
          <a:xfrm>
            <a:off x="6476695" y="2806294"/>
            <a:ext cx="210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Inter"/>
              <a:buNone/>
            </a:pPr>
            <a:r>
              <a:rPr b="0" i="0" lang="en-US" sz="1200" u="none" cap="none" strike="noStrike">
                <a:solidFill>
                  <a:srgbClr val="0891B2"/>
                </a:solidFill>
                <a:latin typeface="Inter"/>
                <a:ea typeface="Inter"/>
                <a:cs typeface="Inter"/>
                <a:sym typeface="Inter"/>
              </a:rPr>
              <a:t>●</a:t>
            </a:r>
            <a:endParaRPr b="0" i="0" sz="1200" u="none" cap="none" strike="noStrike">
              <a:solidFill>
                <a:schemeClr val="dk1"/>
              </a:solidFill>
              <a:latin typeface="Calibri"/>
              <a:ea typeface="Calibri"/>
              <a:cs typeface="Calibri"/>
              <a:sym typeface="Calibri"/>
            </a:endParaRPr>
          </a:p>
        </p:txBody>
      </p:sp>
      <p:sp>
        <p:nvSpPr>
          <p:cNvPr id="2451" name="Google Shape;2451;p55"/>
          <p:cNvSpPr txBox="1"/>
          <p:nvPr/>
        </p:nvSpPr>
        <p:spPr>
          <a:xfrm>
            <a:off x="6702552" y="2758745"/>
            <a:ext cx="4596689" cy="4764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Inter"/>
              <a:buNone/>
            </a:pPr>
            <a:r>
              <a:rPr b="0" i="0" lang="en-US" sz="1300" u="none" cap="none" strike="noStrike">
                <a:solidFill>
                  <a:srgbClr val="1F2937"/>
                </a:solidFill>
                <a:latin typeface="Inter"/>
                <a:ea typeface="Inter"/>
                <a:cs typeface="Inter"/>
                <a:sym typeface="Inter"/>
              </a:rPr>
              <a:t>Design the platform from SKU #1 to capture 3.2x LTV—ensure mechanical and visual compatibility across time</a:t>
            </a:r>
            <a:endParaRPr b="0" i="0" sz="1300" u="none" cap="none" strike="noStrike">
              <a:solidFill>
                <a:schemeClr val="dk1"/>
              </a:solidFill>
              <a:latin typeface="Calibri"/>
              <a:ea typeface="Calibri"/>
              <a:cs typeface="Calibri"/>
              <a:sym typeface="Calibri"/>
            </a:endParaRPr>
          </a:p>
        </p:txBody>
      </p:sp>
      <p:sp>
        <p:nvSpPr>
          <p:cNvPr id="2452" name="Google Shape;2452;p55"/>
          <p:cNvSpPr/>
          <p:nvPr/>
        </p:nvSpPr>
        <p:spPr>
          <a:xfrm>
            <a:off x="6476695" y="3583534"/>
            <a:ext cx="5181905" cy="1143000"/>
          </a:xfrm>
          <a:prstGeom prst="roundRect">
            <a:avLst>
              <a:gd fmla="val 4000" name="adj"/>
            </a:avLst>
          </a:prstGeom>
          <a:solidFill>
            <a:srgbClr val="F9FAFB"/>
          </a:solidFill>
          <a:ln>
            <a:noFill/>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5"/>
          <p:cNvSpPr/>
          <p:nvPr/>
        </p:nvSpPr>
        <p:spPr>
          <a:xfrm>
            <a:off x="6476695" y="3583534"/>
            <a:ext cx="47549" cy="11430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5"/>
          <p:cNvSpPr txBox="1"/>
          <p:nvPr/>
        </p:nvSpPr>
        <p:spPr>
          <a:xfrm>
            <a:off x="8353044" y="3812134"/>
            <a:ext cx="1700784"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200"/>
              <a:buFont typeface="Inter"/>
              <a:buNone/>
            </a:pPr>
            <a:r>
              <a:rPr b="1" i="0" lang="en-US" sz="2200" u="none" cap="none" strike="noStrike">
                <a:solidFill>
                  <a:srgbClr val="111827"/>
                </a:solidFill>
                <a:latin typeface="Inter"/>
                <a:ea typeface="Inter"/>
                <a:cs typeface="Inter"/>
                <a:sym typeface="Inter"/>
              </a:rPr>
              <a:t>Thank You</a:t>
            </a:r>
            <a:endParaRPr b="0" i="0" sz="2200" u="none" cap="none" strike="noStrike">
              <a:solidFill>
                <a:schemeClr val="dk1"/>
              </a:solidFill>
              <a:latin typeface="Calibri"/>
              <a:ea typeface="Calibri"/>
              <a:cs typeface="Calibri"/>
              <a:sym typeface="Calibri"/>
            </a:endParaRPr>
          </a:p>
        </p:txBody>
      </p:sp>
      <p:sp>
        <p:nvSpPr>
          <p:cNvPr id="2455" name="Google Shape;2455;p55"/>
          <p:cNvSpPr txBox="1"/>
          <p:nvPr/>
        </p:nvSpPr>
        <p:spPr>
          <a:xfrm>
            <a:off x="8020202" y="4250131"/>
            <a:ext cx="22860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500"/>
              <a:buFont typeface="Inter"/>
              <a:buNone/>
            </a:pPr>
            <a:r>
              <a:rPr b="0" i="0" lang="en-US" sz="1500" u="none" cap="none" strike="noStrike">
                <a:solidFill>
                  <a:srgbClr val="111827"/>
                </a:solidFill>
                <a:latin typeface="Inter"/>
                <a:ea typeface="Inter"/>
                <a:cs typeface="Inter"/>
                <a:sym typeface="Inter"/>
              </a:rPr>
              <a:t>Questions &amp; Discussion</a:t>
            </a:r>
            <a:endParaRPr b="0" i="0" sz="1500" u="none" cap="none" strike="noStrike">
              <a:solidFill>
                <a:schemeClr val="dk1"/>
              </a:solidFill>
              <a:latin typeface="Calibri"/>
              <a:ea typeface="Calibri"/>
              <a:cs typeface="Calibri"/>
              <a:sym typeface="Calibri"/>
            </a:endParaRPr>
          </a:p>
        </p:txBody>
      </p:sp>
      <p:sp>
        <p:nvSpPr>
          <p:cNvPr id="2456" name="Google Shape;2456;p55"/>
          <p:cNvSpPr txBox="1"/>
          <p:nvPr/>
        </p:nvSpPr>
        <p:spPr>
          <a:xfrm>
            <a:off x="533095" y="6452921"/>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2457" name="Google Shape;2457;p55"/>
          <p:cNvSpPr txBox="1"/>
          <p:nvPr/>
        </p:nvSpPr>
        <p:spPr>
          <a:xfrm>
            <a:off x="11500409" y="6452921"/>
            <a:ext cx="255118"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2" name="Shape 2462"/>
        <p:cNvGrpSpPr/>
        <p:nvPr/>
      </p:nvGrpSpPr>
      <p:grpSpPr>
        <a:xfrm>
          <a:off x="0" y="0"/>
          <a:ext cx="0" cy="0"/>
          <a:chOff x="0" y="0"/>
          <a:chExt cx="0" cy="0"/>
        </a:xfrm>
      </p:grpSpPr>
      <p:sp>
        <p:nvSpPr>
          <p:cNvPr id="2463" name="Google Shape;2463;p56"/>
          <p:cNvSpPr/>
          <p:nvPr/>
        </p:nvSpPr>
        <p:spPr>
          <a:xfrm>
            <a:off x="0" y="0"/>
            <a:ext cx="12191700" cy="8162700"/>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6"/>
          <p:cNvSpPr/>
          <p:nvPr/>
        </p:nvSpPr>
        <p:spPr>
          <a:xfrm>
            <a:off x="10287000" y="-952805"/>
            <a:ext cx="2857500" cy="2857500"/>
          </a:xfrm>
          <a:prstGeom prst="ellipse">
            <a:avLst/>
          </a:prstGeom>
          <a:solidFill>
            <a:srgbClr val="16A085">
              <a:alpha val="11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6"/>
          <p:cNvSpPr/>
          <p:nvPr/>
        </p:nvSpPr>
        <p:spPr>
          <a:xfrm>
            <a:off x="-1015898" y="6123737"/>
            <a:ext cx="3047700" cy="3047700"/>
          </a:xfrm>
          <a:prstGeom prst="ellipse">
            <a:avLst/>
          </a:prstGeom>
          <a:solidFill>
            <a:srgbClr val="16A085">
              <a:alpha val="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56"/>
          <p:cNvSpPr/>
          <p:nvPr/>
        </p:nvSpPr>
        <p:spPr>
          <a:xfrm>
            <a:off x="2476195" y="1467612"/>
            <a:ext cx="1143000" cy="1143000"/>
          </a:xfrm>
          <a:prstGeom prst="ellipse">
            <a:avLst/>
          </a:prstGeom>
          <a:solidFill>
            <a:srgbClr val="16A085">
              <a:alpha val="7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56"/>
          <p:cNvSpPr/>
          <p:nvPr/>
        </p:nvSpPr>
        <p:spPr>
          <a:xfrm>
            <a:off x="8477402" y="5449824"/>
            <a:ext cx="1333200" cy="1333200"/>
          </a:xfrm>
          <a:prstGeom prst="ellipse">
            <a:avLst/>
          </a:prstGeom>
          <a:solidFill>
            <a:srgbClr val="16A085">
              <a:alpha val="58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6"/>
          <p:cNvSpPr/>
          <p:nvPr/>
        </p:nvSpPr>
        <p:spPr>
          <a:xfrm>
            <a:off x="609905" y="815645"/>
            <a:ext cx="1904700" cy="1904700"/>
          </a:xfrm>
          <a:prstGeom prst="ellipse">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6"/>
          <p:cNvSpPr/>
          <p:nvPr/>
        </p:nvSpPr>
        <p:spPr>
          <a:xfrm>
            <a:off x="9502445" y="1631290"/>
            <a:ext cx="1714500" cy="1714500"/>
          </a:xfrm>
          <a:prstGeom prst="rect">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6"/>
          <p:cNvSpPr/>
          <p:nvPr/>
        </p:nvSpPr>
        <p:spPr>
          <a:xfrm>
            <a:off x="2438705" y="4646066"/>
            <a:ext cx="2286000" cy="2286000"/>
          </a:xfrm>
          <a:prstGeom prst="ellipse">
            <a:avLst/>
          </a:prstGeom>
          <a:noFill/>
          <a:ln cap="flat" cmpd="sng" w="25400">
            <a:solidFill>
              <a:srgbClr val="16A0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6"/>
          <p:cNvSpPr txBox="1"/>
          <p:nvPr/>
        </p:nvSpPr>
        <p:spPr>
          <a:xfrm>
            <a:off x="609905" y="7669987"/>
            <a:ext cx="29004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472" name="Google Shape;2472;p56"/>
          <p:cNvSpPr txBox="1"/>
          <p:nvPr/>
        </p:nvSpPr>
        <p:spPr>
          <a:xfrm>
            <a:off x="11409883" y="7669987"/>
            <a:ext cx="2817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Inter"/>
              <a:buNone/>
            </a:pPr>
            <a:r>
              <a:rPr b="0" i="0" lang="en-US" sz="1000" u="none" cap="none" strike="noStrike">
                <a:solidFill>
                  <a:srgbClr val="9CA3AF"/>
                </a:solidFill>
                <a:latin typeface="Inter"/>
                <a:ea typeface="Inter"/>
                <a:cs typeface="Inter"/>
                <a:sym typeface="Inter"/>
              </a:rPr>
              <a:t>44</a:t>
            </a:r>
            <a:endParaRPr b="0" i="0" sz="1000" u="none" cap="none" strike="noStrike">
              <a:solidFill>
                <a:schemeClr val="dk1"/>
              </a:solidFill>
              <a:latin typeface="Calibri"/>
              <a:ea typeface="Calibri"/>
              <a:cs typeface="Calibri"/>
              <a:sym typeface="Calibri"/>
            </a:endParaRPr>
          </a:p>
        </p:txBody>
      </p:sp>
      <p:sp>
        <p:nvSpPr>
          <p:cNvPr id="2473" name="Google Shape;2473;p56"/>
          <p:cNvSpPr/>
          <p:nvPr/>
        </p:nvSpPr>
        <p:spPr>
          <a:xfrm>
            <a:off x="5524805" y="761695"/>
            <a:ext cx="1143000" cy="1143000"/>
          </a:xfrm>
          <a:prstGeom prst="roundRect">
            <a:avLst>
              <a:gd fmla="val 10667" name="adj"/>
            </a:avLst>
          </a:prstGeom>
          <a:solidFill>
            <a:srgbClr val="16A085"/>
          </a:solidFill>
          <a:ln>
            <a:noFill/>
          </a:ln>
          <a:effectLst>
            <a:outerShdw blurRad="228600" rotWithShape="0" algn="bl" dir="5400000" dist="76200">
              <a:srgbClr val="000000">
                <a:alpha val="2471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74" name="Google Shape;2474;p56"/>
          <p:cNvPicPr preferRelativeResize="0"/>
          <p:nvPr/>
        </p:nvPicPr>
        <p:blipFill rotWithShape="1">
          <a:blip r:embed="rId3">
            <a:alphaModFix/>
          </a:blip>
          <a:srcRect b="0" l="0" r="0" t="0"/>
          <a:stretch/>
        </p:blipFill>
        <p:spPr>
          <a:xfrm>
            <a:off x="5790895" y="1028700"/>
            <a:ext cx="609905" cy="609905"/>
          </a:xfrm>
          <a:prstGeom prst="rect">
            <a:avLst/>
          </a:prstGeom>
          <a:noFill/>
          <a:ln>
            <a:noFill/>
          </a:ln>
        </p:spPr>
      </p:pic>
      <p:sp>
        <p:nvSpPr>
          <p:cNvPr id="2475" name="Google Shape;2475;p56"/>
          <p:cNvSpPr/>
          <p:nvPr/>
        </p:nvSpPr>
        <p:spPr>
          <a:xfrm>
            <a:off x="5333695" y="2286000"/>
            <a:ext cx="1524300" cy="75900"/>
          </a:xfrm>
          <a:prstGeom prst="roundRect">
            <a:avLst>
              <a:gd fmla="val 602411" name="adj"/>
            </a:avLst>
          </a:prstGeom>
          <a:solidFill>
            <a:srgbClr val="16A0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56"/>
          <p:cNvSpPr txBox="1"/>
          <p:nvPr/>
        </p:nvSpPr>
        <p:spPr>
          <a:xfrm>
            <a:off x="1688897" y="2734056"/>
            <a:ext cx="9220800" cy="648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Inter"/>
              <a:buNone/>
            </a:pPr>
            <a:r>
              <a:rPr b="1" lang="en-US" sz="4200">
                <a:solidFill>
                  <a:srgbClr val="FFFFFF"/>
                </a:solidFill>
                <a:latin typeface="Inter"/>
                <a:ea typeface="Inter"/>
                <a:cs typeface="Inter"/>
                <a:sym typeface="Inter"/>
              </a:rPr>
              <a:t>APPENDIX</a:t>
            </a:r>
            <a:endParaRPr b="0" i="0" sz="4200" u="none" cap="none" strike="noStrike">
              <a:solidFill>
                <a:schemeClr val="dk1"/>
              </a:solidFill>
              <a:latin typeface="Calibri"/>
              <a:ea typeface="Calibri"/>
              <a:cs typeface="Calibri"/>
              <a:sym typeface="Calibri"/>
            </a:endParaRPr>
          </a:p>
        </p:txBody>
      </p:sp>
      <p:sp>
        <p:nvSpPr>
          <p:cNvPr id="2477" name="Google Shape;2477;p56"/>
          <p:cNvSpPr txBox="1"/>
          <p:nvPr/>
        </p:nvSpPr>
        <p:spPr>
          <a:xfrm>
            <a:off x="2359152" y="3678631"/>
            <a:ext cx="7763400" cy="46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lang="en-US" sz="3000">
                <a:solidFill>
                  <a:srgbClr val="FFFFFF"/>
                </a:solidFill>
                <a:latin typeface="Inter"/>
                <a:ea typeface="Inter"/>
                <a:cs typeface="Inter"/>
                <a:sym typeface="Inter"/>
              </a:rPr>
              <a:t>Audit Trail</a:t>
            </a:r>
            <a:endParaRPr b="0" i="0" sz="3000" u="none" cap="none" strike="noStrike">
              <a:solidFill>
                <a:schemeClr val="dk1"/>
              </a:solidFill>
              <a:latin typeface="Calibri"/>
              <a:ea typeface="Calibri"/>
              <a:cs typeface="Calibri"/>
              <a:sym typeface="Calibri"/>
            </a:endParaRPr>
          </a:p>
        </p:txBody>
      </p:sp>
      <p:sp>
        <p:nvSpPr>
          <p:cNvPr id="2478" name="Google Shape;2478;p56"/>
          <p:cNvSpPr txBox="1"/>
          <p:nvPr/>
        </p:nvSpPr>
        <p:spPr>
          <a:xfrm>
            <a:off x="2363810" y="3627211"/>
            <a:ext cx="7754100" cy="13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800"/>
              <a:buFont typeface="Inter"/>
              <a:buNone/>
            </a:pPr>
            <a:r>
              <a:rPr lang="en-US" sz="1100">
                <a:solidFill>
                  <a:srgbClr val="E2E8F0"/>
                </a:solidFill>
                <a:latin typeface="Inter"/>
                <a:ea typeface="Inter"/>
                <a:cs typeface="Inter"/>
                <a:sym typeface="Inter"/>
              </a:rPr>
              <a:t>All analysis and raw data inputs are included in the client delivery pack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3" name="Shape 2483"/>
        <p:cNvGrpSpPr/>
        <p:nvPr/>
      </p:nvGrpSpPr>
      <p:grpSpPr>
        <a:xfrm>
          <a:off x="0" y="0"/>
          <a:ext cx="0" cy="0"/>
          <a:chOff x="0" y="0"/>
          <a:chExt cx="0" cy="0"/>
        </a:xfrm>
      </p:grpSpPr>
      <p:sp>
        <p:nvSpPr>
          <p:cNvPr id="2484" name="Google Shape;2484;p57"/>
          <p:cNvSpPr/>
          <p:nvPr/>
        </p:nvSpPr>
        <p:spPr>
          <a:xfrm>
            <a:off x="0" y="0"/>
            <a:ext cx="12191695" cy="114684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7"/>
          <p:cNvSpPr/>
          <p:nvPr/>
        </p:nvSpPr>
        <p:spPr>
          <a:xfrm>
            <a:off x="0" y="0"/>
            <a:ext cx="12191695" cy="114684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7"/>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7"/>
          <p:cNvSpPr txBox="1"/>
          <p:nvPr/>
        </p:nvSpPr>
        <p:spPr>
          <a:xfrm>
            <a:off x="609905" y="685800"/>
            <a:ext cx="6792163"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Appendix – Brand Perception Audit Trails</a:t>
            </a:r>
            <a:endParaRPr b="0" i="0" sz="2400" u="none" cap="none" strike="noStrike">
              <a:solidFill>
                <a:schemeClr val="dk1"/>
              </a:solidFill>
              <a:latin typeface="Calibri"/>
              <a:ea typeface="Calibri"/>
              <a:cs typeface="Calibri"/>
              <a:sym typeface="Calibri"/>
            </a:endParaRPr>
          </a:p>
        </p:txBody>
      </p:sp>
      <p:sp>
        <p:nvSpPr>
          <p:cNvPr id="2488" name="Google Shape;2488;p57"/>
          <p:cNvSpPr txBox="1"/>
          <p:nvPr/>
        </p:nvSpPr>
        <p:spPr>
          <a:xfrm>
            <a:off x="609905" y="1218895"/>
            <a:ext cx="10435133"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Phase 2 Brand Perception dataset (phase2_full_analysis.json); Transcript assets (processing_log.json + transcripts); Review corpus (product_reviews.json + review_trait_summary.json)</a:t>
            </a:r>
            <a:endParaRPr b="0" i="0" sz="1000" u="none" cap="none" strike="noStrike">
              <a:solidFill>
                <a:schemeClr val="dk1"/>
              </a:solidFill>
              <a:latin typeface="Calibri"/>
              <a:ea typeface="Calibri"/>
              <a:cs typeface="Calibri"/>
              <a:sym typeface="Calibri"/>
            </a:endParaRPr>
          </a:p>
        </p:txBody>
      </p:sp>
      <p:sp>
        <p:nvSpPr>
          <p:cNvPr id="2489" name="Google Shape;2489;p57"/>
          <p:cNvSpPr/>
          <p:nvPr/>
        </p:nvSpPr>
        <p:spPr>
          <a:xfrm>
            <a:off x="609905" y="1752905"/>
            <a:ext cx="10972800" cy="2467051"/>
          </a:xfrm>
          <a:prstGeom prst="roundRect">
            <a:avLst>
              <a:gd fmla="val 1145"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57"/>
          <p:cNvSpPr/>
          <p:nvPr/>
        </p:nvSpPr>
        <p:spPr>
          <a:xfrm>
            <a:off x="609905" y="4371746"/>
            <a:ext cx="10972800" cy="2467051"/>
          </a:xfrm>
          <a:prstGeom prst="roundRect">
            <a:avLst>
              <a:gd fmla="val 1145"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57"/>
          <p:cNvSpPr/>
          <p:nvPr/>
        </p:nvSpPr>
        <p:spPr>
          <a:xfrm>
            <a:off x="609905" y="6991502"/>
            <a:ext cx="10972800" cy="3666744"/>
          </a:xfrm>
          <a:prstGeom prst="roundRect">
            <a:avLst>
              <a:gd fmla="val 51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57"/>
          <p:cNvSpPr/>
          <p:nvPr/>
        </p:nvSpPr>
        <p:spPr>
          <a:xfrm>
            <a:off x="619049" y="1762049"/>
            <a:ext cx="10953598" cy="4572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57"/>
          <p:cNvSpPr/>
          <p:nvPr/>
        </p:nvSpPr>
        <p:spPr>
          <a:xfrm>
            <a:off x="619049" y="4381805"/>
            <a:ext cx="10953598" cy="4572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57"/>
          <p:cNvSpPr/>
          <p:nvPr/>
        </p:nvSpPr>
        <p:spPr>
          <a:xfrm>
            <a:off x="619049" y="7000646"/>
            <a:ext cx="10953598" cy="457200"/>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57"/>
          <p:cNvSpPr txBox="1"/>
          <p:nvPr/>
        </p:nvSpPr>
        <p:spPr>
          <a:xfrm>
            <a:off x="771754" y="1895551"/>
            <a:ext cx="417240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Creator Video Summary (phase2_full_analysis.json)</a:t>
            </a:r>
            <a:endParaRPr b="0" i="0" sz="1200" u="none" cap="none" strike="noStrike">
              <a:solidFill>
                <a:schemeClr val="dk1"/>
              </a:solidFill>
              <a:latin typeface="Calibri"/>
              <a:ea typeface="Calibri"/>
              <a:cs typeface="Calibri"/>
              <a:sym typeface="Calibri"/>
            </a:endParaRPr>
          </a:p>
        </p:txBody>
      </p:sp>
      <p:sp>
        <p:nvSpPr>
          <p:cNvPr id="2496" name="Google Shape;2496;p57"/>
          <p:cNvSpPr txBox="1"/>
          <p:nvPr/>
        </p:nvSpPr>
        <p:spPr>
          <a:xfrm>
            <a:off x="771754" y="4515307"/>
            <a:ext cx="594360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3M Claw Transcript Checkpoints (processing_log.json + transcripts/*.json)</a:t>
            </a:r>
            <a:endParaRPr b="0" i="0" sz="1200" u="none" cap="none" strike="noStrike">
              <a:solidFill>
                <a:schemeClr val="dk1"/>
              </a:solidFill>
              <a:latin typeface="Calibri"/>
              <a:ea typeface="Calibri"/>
              <a:cs typeface="Calibri"/>
              <a:sym typeface="Calibri"/>
            </a:endParaRPr>
          </a:p>
        </p:txBody>
      </p:sp>
      <p:sp>
        <p:nvSpPr>
          <p:cNvPr id="2497" name="Google Shape;2497;p57"/>
          <p:cNvSpPr txBox="1"/>
          <p:nvPr/>
        </p:nvSpPr>
        <p:spPr>
          <a:xfrm>
            <a:off x="771754" y="7134149"/>
            <a:ext cx="409651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ontserrat"/>
              <a:buNone/>
            </a:pPr>
            <a:r>
              <a:rPr b="1" i="0" lang="en-US" sz="1200" u="none" cap="none" strike="noStrike">
                <a:solidFill>
                  <a:srgbClr val="FFFFFF"/>
                </a:solidFill>
                <a:latin typeface="Montserrat"/>
                <a:ea typeface="Montserrat"/>
                <a:cs typeface="Montserrat"/>
                <a:sym typeface="Montserrat"/>
              </a:rPr>
              <a:t>Review Trait Analysis (review_trait_summary.json)</a:t>
            </a:r>
            <a:endParaRPr b="0" i="0" sz="1200" u="none" cap="none" strike="noStrike">
              <a:solidFill>
                <a:schemeClr val="dk1"/>
              </a:solidFill>
              <a:latin typeface="Calibri"/>
              <a:ea typeface="Calibri"/>
              <a:cs typeface="Calibri"/>
              <a:sym typeface="Calibri"/>
            </a:endParaRPr>
          </a:p>
        </p:txBody>
      </p:sp>
      <p:sp>
        <p:nvSpPr>
          <p:cNvPr id="2498" name="Google Shape;2498;p57"/>
          <p:cNvSpPr/>
          <p:nvPr/>
        </p:nvSpPr>
        <p:spPr>
          <a:xfrm>
            <a:off x="619049" y="2219249"/>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7"/>
          <p:cNvSpPr/>
          <p:nvPr/>
        </p:nvSpPr>
        <p:spPr>
          <a:xfrm>
            <a:off x="619049" y="261061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7"/>
          <p:cNvSpPr/>
          <p:nvPr/>
        </p:nvSpPr>
        <p:spPr>
          <a:xfrm>
            <a:off x="619049" y="2619756"/>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7"/>
          <p:cNvSpPr/>
          <p:nvPr/>
        </p:nvSpPr>
        <p:spPr>
          <a:xfrm>
            <a:off x="619049" y="301111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7"/>
          <p:cNvSpPr/>
          <p:nvPr/>
        </p:nvSpPr>
        <p:spPr>
          <a:xfrm>
            <a:off x="619049" y="3019349"/>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7"/>
          <p:cNvSpPr/>
          <p:nvPr/>
        </p:nvSpPr>
        <p:spPr>
          <a:xfrm>
            <a:off x="619049" y="341071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7"/>
          <p:cNvSpPr/>
          <p:nvPr/>
        </p:nvSpPr>
        <p:spPr>
          <a:xfrm>
            <a:off x="619049" y="3419856"/>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7"/>
          <p:cNvSpPr/>
          <p:nvPr/>
        </p:nvSpPr>
        <p:spPr>
          <a:xfrm>
            <a:off x="619049" y="381121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7"/>
          <p:cNvSpPr/>
          <p:nvPr/>
        </p:nvSpPr>
        <p:spPr>
          <a:xfrm>
            <a:off x="619049" y="3819449"/>
            <a:ext cx="10953598" cy="3904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7"/>
          <p:cNvSpPr/>
          <p:nvPr/>
        </p:nvSpPr>
        <p:spPr>
          <a:xfrm>
            <a:off x="619049" y="4839005"/>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7"/>
          <p:cNvSpPr/>
          <p:nvPr/>
        </p:nvSpPr>
        <p:spPr>
          <a:xfrm>
            <a:off x="619049" y="523036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57"/>
          <p:cNvSpPr/>
          <p:nvPr/>
        </p:nvSpPr>
        <p:spPr>
          <a:xfrm>
            <a:off x="619049" y="5238598"/>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57"/>
          <p:cNvSpPr/>
          <p:nvPr/>
        </p:nvSpPr>
        <p:spPr>
          <a:xfrm>
            <a:off x="619049" y="56299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7"/>
          <p:cNvSpPr/>
          <p:nvPr/>
        </p:nvSpPr>
        <p:spPr>
          <a:xfrm>
            <a:off x="619049" y="5639105"/>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7"/>
          <p:cNvSpPr/>
          <p:nvPr/>
        </p:nvSpPr>
        <p:spPr>
          <a:xfrm>
            <a:off x="619049" y="603046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7"/>
          <p:cNvSpPr/>
          <p:nvPr/>
        </p:nvSpPr>
        <p:spPr>
          <a:xfrm>
            <a:off x="619049" y="6038698"/>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7"/>
          <p:cNvSpPr/>
          <p:nvPr/>
        </p:nvSpPr>
        <p:spPr>
          <a:xfrm>
            <a:off x="619049" y="643006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7"/>
          <p:cNvSpPr/>
          <p:nvPr/>
        </p:nvSpPr>
        <p:spPr>
          <a:xfrm>
            <a:off x="619049" y="6439205"/>
            <a:ext cx="10953598" cy="3904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57"/>
          <p:cNvSpPr/>
          <p:nvPr/>
        </p:nvSpPr>
        <p:spPr>
          <a:xfrm>
            <a:off x="619049" y="7457846"/>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7"/>
          <p:cNvSpPr/>
          <p:nvPr/>
        </p:nvSpPr>
        <p:spPr>
          <a:xfrm>
            <a:off x="619049" y="78492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7"/>
          <p:cNvSpPr/>
          <p:nvPr/>
        </p:nvSpPr>
        <p:spPr>
          <a:xfrm>
            <a:off x="619049" y="7858354"/>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7"/>
          <p:cNvSpPr/>
          <p:nvPr/>
        </p:nvSpPr>
        <p:spPr>
          <a:xfrm>
            <a:off x="619049" y="824971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7"/>
          <p:cNvSpPr/>
          <p:nvPr/>
        </p:nvSpPr>
        <p:spPr>
          <a:xfrm>
            <a:off x="619049" y="8257946"/>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57"/>
          <p:cNvSpPr/>
          <p:nvPr/>
        </p:nvSpPr>
        <p:spPr>
          <a:xfrm>
            <a:off x="619049" y="86493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7"/>
          <p:cNvSpPr/>
          <p:nvPr/>
        </p:nvSpPr>
        <p:spPr>
          <a:xfrm>
            <a:off x="619049" y="8658454"/>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7"/>
          <p:cNvSpPr/>
          <p:nvPr/>
        </p:nvSpPr>
        <p:spPr>
          <a:xfrm>
            <a:off x="619049" y="904981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57"/>
          <p:cNvSpPr/>
          <p:nvPr/>
        </p:nvSpPr>
        <p:spPr>
          <a:xfrm>
            <a:off x="619049" y="9058046"/>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57"/>
          <p:cNvSpPr/>
          <p:nvPr/>
        </p:nvSpPr>
        <p:spPr>
          <a:xfrm>
            <a:off x="619049" y="94494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7"/>
          <p:cNvSpPr/>
          <p:nvPr/>
        </p:nvSpPr>
        <p:spPr>
          <a:xfrm>
            <a:off x="619049" y="9458554"/>
            <a:ext cx="10953598" cy="400507"/>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57"/>
          <p:cNvSpPr/>
          <p:nvPr/>
        </p:nvSpPr>
        <p:spPr>
          <a:xfrm>
            <a:off x="619049" y="984991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57"/>
          <p:cNvSpPr/>
          <p:nvPr/>
        </p:nvSpPr>
        <p:spPr>
          <a:xfrm>
            <a:off x="619049" y="9858146"/>
            <a:ext cx="10953598" cy="40050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57"/>
          <p:cNvSpPr/>
          <p:nvPr/>
        </p:nvSpPr>
        <p:spPr>
          <a:xfrm>
            <a:off x="619049" y="10249510"/>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7"/>
          <p:cNvSpPr/>
          <p:nvPr/>
        </p:nvSpPr>
        <p:spPr>
          <a:xfrm>
            <a:off x="619049" y="10258654"/>
            <a:ext cx="10953598" cy="390449"/>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7"/>
          <p:cNvSpPr txBox="1"/>
          <p:nvPr/>
        </p:nvSpPr>
        <p:spPr>
          <a:xfrm>
            <a:off x="733349" y="2333549"/>
            <a:ext cx="4910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Brand</a:t>
            </a:r>
            <a:endParaRPr b="0" i="0" sz="1000" u="none" cap="none" strike="noStrike">
              <a:solidFill>
                <a:schemeClr val="dk1"/>
              </a:solidFill>
              <a:latin typeface="Calibri"/>
              <a:ea typeface="Calibri"/>
              <a:cs typeface="Calibri"/>
              <a:sym typeface="Calibri"/>
            </a:endParaRPr>
          </a:p>
        </p:txBody>
      </p:sp>
      <p:sp>
        <p:nvSpPr>
          <p:cNvPr id="2532" name="Google Shape;2532;p57"/>
          <p:cNvSpPr txBox="1"/>
          <p:nvPr/>
        </p:nvSpPr>
        <p:spPr>
          <a:xfrm>
            <a:off x="1828800" y="2333549"/>
            <a:ext cx="7763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Videos (n)</a:t>
            </a:r>
            <a:endParaRPr b="0" i="0" sz="1000" u="none" cap="none" strike="noStrike">
              <a:solidFill>
                <a:schemeClr val="dk1"/>
              </a:solidFill>
              <a:latin typeface="Calibri"/>
              <a:ea typeface="Calibri"/>
              <a:cs typeface="Calibri"/>
              <a:sym typeface="Calibri"/>
            </a:endParaRPr>
          </a:p>
        </p:txBody>
      </p:sp>
      <p:sp>
        <p:nvSpPr>
          <p:cNvPr id="2533" name="Google Shape;2533;p57"/>
          <p:cNvSpPr txBox="1"/>
          <p:nvPr/>
        </p:nvSpPr>
        <p:spPr>
          <a:xfrm>
            <a:off x="2924251" y="2333549"/>
            <a:ext cx="11100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Sentiment (+/-)</a:t>
            </a:r>
            <a:endParaRPr b="0" i="0" sz="1000" u="none" cap="none" strike="noStrike">
              <a:solidFill>
                <a:schemeClr val="dk1"/>
              </a:solidFill>
              <a:latin typeface="Calibri"/>
              <a:ea typeface="Calibri"/>
              <a:cs typeface="Calibri"/>
              <a:sym typeface="Calibri"/>
            </a:endParaRPr>
          </a:p>
        </p:txBody>
      </p:sp>
      <p:sp>
        <p:nvSpPr>
          <p:cNvPr id="2534" name="Google Shape;2534;p57"/>
          <p:cNvSpPr txBox="1"/>
          <p:nvPr/>
        </p:nvSpPr>
        <p:spPr>
          <a:xfrm>
            <a:off x="4895698" y="2333549"/>
            <a:ext cx="9198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Heavy Items</a:t>
            </a:r>
            <a:endParaRPr b="0" i="0" sz="1000" u="none" cap="none" strike="noStrike">
              <a:solidFill>
                <a:schemeClr val="dk1"/>
              </a:solidFill>
              <a:latin typeface="Calibri"/>
              <a:ea typeface="Calibri"/>
              <a:cs typeface="Calibri"/>
              <a:sym typeface="Calibri"/>
            </a:endParaRPr>
          </a:p>
        </p:txBody>
      </p:sp>
      <p:sp>
        <p:nvSpPr>
          <p:cNvPr id="2535" name="Google Shape;2535;p57"/>
          <p:cNvSpPr txBox="1"/>
          <p:nvPr/>
        </p:nvSpPr>
        <p:spPr>
          <a:xfrm>
            <a:off x="7086600" y="2333549"/>
            <a:ext cx="16340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Damage-Free Mentions</a:t>
            </a:r>
            <a:endParaRPr b="0" i="0" sz="1000" u="none" cap="none" strike="noStrike">
              <a:solidFill>
                <a:schemeClr val="dk1"/>
              </a:solidFill>
              <a:latin typeface="Calibri"/>
              <a:ea typeface="Calibri"/>
              <a:cs typeface="Calibri"/>
              <a:sym typeface="Calibri"/>
            </a:endParaRPr>
          </a:p>
        </p:txBody>
      </p:sp>
      <p:sp>
        <p:nvSpPr>
          <p:cNvPr id="2536" name="Google Shape;2536;p57"/>
          <p:cNvSpPr txBox="1"/>
          <p:nvPr/>
        </p:nvSpPr>
        <p:spPr>
          <a:xfrm>
            <a:off x="9496044" y="2333549"/>
            <a:ext cx="1757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Surface Damage Severity</a:t>
            </a:r>
            <a:endParaRPr b="0" i="0" sz="1000" u="none" cap="none" strike="noStrike">
              <a:solidFill>
                <a:schemeClr val="dk1"/>
              </a:solidFill>
              <a:latin typeface="Calibri"/>
              <a:ea typeface="Calibri"/>
              <a:cs typeface="Calibri"/>
              <a:sym typeface="Calibri"/>
            </a:endParaRPr>
          </a:p>
        </p:txBody>
      </p:sp>
      <p:sp>
        <p:nvSpPr>
          <p:cNvPr id="2537" name="Google Shape;2537;p57"/>
          <p:cNvSpPr txBox="1"/>
          <p:nvPr/>
        </p:nvSpPr>
        <p:spPr>
          <a:xfrm>
            <a:off x="733349" y="2734056"/>
            <a:ext cx="747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Command</a:t>
            </a:r>
            <a:endParaRPr b="0" i="0" sz="1000" u="none" cap="none" strike="noStrike">
              <a:solidFill>
                <a:schemeClr val="dk1"/>
              </a:solidFill>
              <a:latin typeface="Calibri"/>
              <a:ea typeface="Calibri"/>
              <a:cs typeface="Calibri"/>
              <a:sym typeface="Calibri"/>
            </a:endParaRPr>
          </a:p>
        </p:txBody>
      </p:sp>
      <p:sp>
        <p:nvSpPr>
          <p:cNvPr id="2538" name="Google Shape;2538;p57"/>
          <p:cNvSpPr txBox="1"/>
          <p:nvPr/>
        </p:nvSpPr>
        <p:spPr>
          <a:xfrm>
            <a:off x="733349" y="3133649"/>
            <a:ext cx="5477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Scotch</a:t>
            </a:r>
            <a:endParaRPr b="0" i="0" sz="1000" u="none" cap="none" strike="noStrike">
              <a:solidFill>
                <a:schemeClr val="dk1"/>
              </a:solidFill>
              <a:latin typeface="Calibri"/>
              <a:ea typeface="Calibri"/>
              <a:cs typeface="Calibri"/>
              <a:sym typeface="Calibri"/>
            </a:endParaRPr>
          </a:p>
        </p:txBody>
      </p:sp>
      <p:sp>
        <p:nvSpPr>
          <p:cNvPr id="2539" name="Google Shape;2539;p57"/>
          <p:cNvSpPr txBox="1"/>
          <p:nvPr/>
        </p:nvSpPr>
        <p:spPr>
          <a:xfrm>
            <a:off x="733349" y="3534156"/>
            <a:ext cx="6620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3M Claw</a:t>
            </a:r>
            <a:endParaRPr b="0" i="0" sz="1000" u="none" cap="none" strike="noStrike">
              <a:solidFill>
                <a:schemeClr val="dk1"/>
              </a:solidFill>
              <a:latin typeface="Calibri"/>
              <a:ea typeface="Calibri"/>
              <a:cs typeface="Calibri"/>
              <a:sym typeface="Calibri"/>
            </a:endParaRPr>
          </a:p>
        </p:txBody>
      </p:sp>
      <p:sp>
        <p:nvSpPr>
          <p:cNvPr id="2540" name="Google Shape;2540;p57"/>
          <p:cNvSpPr txBox="1"/>
          <p:nvPr/>
        </p:nvSpPr>
        <p:spPr>
          <a:xfrm>
            <a:off x="733349" y="3933749"/>
            <a:ext cx="4526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Other</a:t>
            </a:r>
            <a:endParaRPr b="0" i="0" sz="1000" u="none" cap="none" strike="noStrike">
              <a:solidFill>
                <a:schemeClr val="dk1"/>
              </a:solidFill>
              <a:latin typeface="Calibri"/>
              <a:ea typeface="Calibri"/>
              <a:cs typeface="Calibri"/>
              <a:sym typeface="Calibri"/>
            </a:endParaRPr>
          </a:p>
        </p:txBody>
      </p:sp>
      <p:sp>
        <p:nvSpPr>
          <p:cNvPr id="2541" name="Google Shape;2541;p57"/>
          <p:cNvSpPr txBox="1"/>
          <p:nvPr/>
        </p:nvSpPr>
        <p:spPr>
          <a:xfrm>
            <a:off x="1828800" y="27340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62</a:t>
            </a:r>
            <a:endParaRPr b="0" i="0" sz="1000" u="none" cap="none" strike="noStrike">
              <a:solidFill>
                <a:schemeClr val="dk1"/>
              </a:solidFill>
              <a:latin typeface="Calibri"/>
              <a:ea typeface="Calibri"/>
              <a:cs typeface="Calibri"/>
              <a:sym typeface="Calibri"/>
            </a:endParaRPr>
          </a:p>
        </p:txBody>
      </p:sp>
      <p:sp>
        <p:nvSpPr>
          <p:cNvPr id="2542" name="Google Shape;2542;p57"/>
          <p:cNvSpPr txBox="1"/>
          <p:nvPr/>
        </p:nvSpPr>
        <p:spPr>
          <a:xfrm>
            <a:off x="1828800" y="3133649"/>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68</a:t>
            </a:r>
            <a:endParaRPr b="0" i="0" sz="1000" u="none" cap="none" strike="noStrike">
              <a:solidFill>
                <a:schemeClr val="dk1"/>
              </a:solidFill>
              <a:latin typeface="Calibri"/>
              <a:ea typeface="Calibri"/>
              <a:cs typeface="Calibri"/>
              <a:sym typeface="Calibri"/>
            </a:endParaRPr>
          </a:p>
        </p:txBody>
      </p:sp>
      <p:sp>
        <p:nvSpPr>
          <p:cNvPr id="2543" name="Google Shape;2543;p57"/>
          <p:cNvSpPr txBox="1"/>
          <p:nvPr/>
        </p:nvSpPr>
        <p:spPr>
          <a:xfrm>
            <a:off x="1828800" y="35341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63</a:t>
            </a:r>
            <a:endParaRPr b="0" i="0" sz="1000" u="none" cap="none" strike="noStrike">
              <a:solidFill>
                <a:schemeClr val="dk1"/>
              </a:solidFill>
              <a:latin typeface="Calibri"/>
              <a:ea typeface="Calibri"/>
              <a:cs typeface="Calibri"/>
              <a:sym typeface="Calibri"/>
            </a:endParaRPr>
          </a:p>
        </p:txBody>
      </p:sp>
      <p:sp>
        <p:nvSpPr>
          <p:cNvPr id="2544" name="Google Shape;2544;p57"/>
          <p:cNvSpPr txBox="1"/>
          <p:nvPr/>
        </p:nvSpPr>
        <p:spPr>
          <a:xfrm>
            <a:off x="1828800" y="3933749"/>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21</a:t>
            </a:r>
            <a:endParaRPr b="0" i="0" sz="1000" u="none" cap="none" strike="noStrike">
              <a:solidFill>
                <a:schemeClr val="dk1"/>
              </a:solidFill>
              <a:latin typeface="Calibri"/>
              <a:ea typeface="Calibri"/>
              <a:cs typeface="Calibri"/>
              <a:sym typeface="Calibri"/>
            </a:endParaRPr>
          </a:p>
        </p:txBody>
      </p:sp>
      <p:sp>
        <p:nvSpPr>
          <p:cNvPr id="2545" name="Google Shape;2545;p57"/>
          <p:cNvSpPr txBox="1"/>
          <p:nvPr/>
        </p:nvSpPr>
        <p:spPr>
          <a:xfrm>
            <a:off x="2924251" y="2734056"/>
            <a:ext cx="1319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6.5% (4) / 6.5% (4)</a:t>
            </a:r>
            <a:endParaRPr b="0" i="0" sz="1000" u="none" cap="none" strike="noStrike">
              <a:solidFill>
                <a:schemeClr val="dk1"/>
              </a:solidFill>
              <a:latin typeface="Calibri"/>
              <a:ea typeface="Calibri"/>
              <a:cs typeface="Calibri"/>
              <a:sym typeface="Calibri"/>
            </a:endParaRPr>
          </a:p>
        </p:txBody>
      </p:sp>
      <p:sp>
        <p:nvSpPr>
          <p:cNvPr id="2546" name="Google Shape;2546;p57"/>
          <p:cNvSpPr txBox="1"/>
          <p:nvPr/>
        </p:nvSpPr>
        <p:spPr>
          <a:xfrm>
            <a:off x="3636569" y="3133649"/>
            <a:ext cx="6812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 1.5% (1)</a:t>
            </a:r>
            <a:endParaRPr b="0" i="0" sz="1000" u="none" cap="none" strike="noStrike">
              <a:solidFill>
                <a:schemeClr val="dk1"/>
              </a:solidFill>
              <a:latin typeface="Calibri"/>
              <a:ea typeface="Calibri"/>
              <a:cs typeface="Calibri"/>
              <a:sym typeface="Calibri"/>
            </a:endParaRPr>
          </a:p>
        </p:txBody>
      </p:sp>
      <p:sp>
        <p:nvSpPr>
          <p:cNvPr id="2547" name="Google Shape;2547;p57"/>
          <p:cNvSpPr txBox="1"/>
          <p:nvPr/>
        </p:nvSpPr>
        <p:spPr>
          <a:xfrm>
            <a:off x="2924251" y="3534156"/>
            <a:ext cx="1377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17.5% (11) / 4.8% (3)</a:t>
            </a:r>
            <a:endParaRPr b="0" i="0" sz="1000" u="none" cap="none" strike="noStrike">
              <a:solidFill>
                <a:schemeClr val="dk1"/>
              </a:solidFill>
              <a:latin typeface="Calibri"/>
              <a:ea typeface="Calibri"/>
              <a:cs typeface="Calibri"/>
              <a:sym typeface="Calibri"/>
            </a:endParaRPr>
          </a:p>
        </p:txBody>
      </p:sp>
      <p:sp>
        <p:nvSpPr>
          <p:cNvPr id="2548" name="Google Shape;2548;p57"/>
          <p:cNvSpPr txBox="1"/>
          <p:nvPr/>
        </p:nvSpPr>
        <p:spPr>
          <a:xfrm>
            <a:off x="2924251" y="3933749"/>
            <a:ext cx="9866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0% / 9.5% (2)</a:t>
            </a:r>
            <a:endParaRPr b="0" i="0" sz="1000" u="none" cap="none" strike="noStrike">
              <a:solidFill>
                <a:schemeClr val="dk1"/>
              </a:solidFill>
              <a:latin typeface="Calibri"/>
              <a:ea typeface="Calibri"/>
              <a:cs typeface="Calibri"/>
              <a:sym typeface="Calibri"/>
            </a:endParaRPr>
          </a:p>
        </p:txBody>
      </p:sp>
      <p:sp>
        <p:nvSpPr>
          <p:cNvPr id="2549" name="Google Shape;2549;p57"/>
          <p:cNvSpPr txBox="1"/>
          <p:nvPr/>
        </p:nvSpPr>
        <p:spPr>
          <a:xfrm>
            <a:off x="4895698" y="27340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a:t>
            </a:r>
            <a:endParaRPr b="0" i="0" sz="1000" u="none" cap="none" strike="noStrike">
              <a:solidFill>
                <a:schemeClr val="dk1"/>
              </a:solidFill>
              <a:latin typeface="Calibri"/>
              <a:ea typeface="Calibri"/>
              <a:cs typeface="Calibri"/>
              <a:sym typeface="Calibri"/>
            </a:endParaRPr>
          </a:p>
        </p:txBody>
      </p:sp>
      <p:sp>
        <p:nvSpPr>
          <p:cNvPr id="2550" name="Google Shape;2550;p57"/>
          <p:cNvSpPr txBox="1"/>
          <p:nvPr/>
        </p:nvSpPr>
        <p:spPr>
          <a:xfrm>
            <a:off x="4895698" y="3133649"/>
            <a:ext cx="262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25</a:t>
            </a:r>
            <a:endParaRPr b="0" i="0" sz="1000" u="none" cap="none" strike="noStrike">
              <a:solidFill>
                <a:schemeClr val="dk1"/>
              </a:solidFill>
              <a:latin typeface="Calibri"/>
              <a:ea typeface="Calibri"/>
              <a:cs typeface="Calibri"/>
              <a:sym typeface="Calibri"/>
            </a:endParaRPr>
          </a:p>
        </p:txBody>
      </p:sp>
      <p:sp>
        <p:nvSpPr>
          <p:cNvPr id="2551" name="Google Shape;2551;p57"/>
          <p:cNvSpPr txBox="1"/>
          <p:nvPr/>
        </p:nvSpPr>
        <p:spPr>
          <a:xfrm>
            <a:off x="4895698" y="393374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5</a:t>
            </a:r>
            <a:endParaRPr b="0" i="0" sz="1000" u="none" cap="none" strike="noStrike">
              <a:solidFill>
                <a:schemeClr val="dk1"/>
              </a:solidFill>
              <a:latin typeface="Calibri"/>
              <a:ea typeface="Calibri"/>
              <a:cs typeface="Calibri"/>
              <a:sym typeface="Calibri"/>
            </a:endParaRPr>
          </a:p>
        </p:txBody>
      </p:sp>
      <p:sp>
        <p:nvSpPr>
          <p:cNvPr id="2552" name="Google Shape;2552;p57"/>
          <p:cNvSpPr txBox="1"/>
          <p:nvPr/>
        </p:nvSpPr>
        <p:spPr>
          <a:xfrm>
            <a:off x="7086600" y="27340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32</a:t>
            </a:r>
            <a:endParaRPr b="0" i="0" sz="1000" u="none" cap="none" strike="noStrike">
              <a:solidFill>
                <a:schemeClr val="dk1"/>
              </a:solidFill>
              <a:latin typeface="Calibri"/>
              <a:ea typeface="Calibri"/>
              <a:cs typeface="Calibri"/>
              <a:sym typeface="Calibri"/>
            </a:endParaRPr>
          </a:p>
        </p:txBody>
      </p:sp>
      <p:sp>
        <p:nvSpPr>
          <p:cNvPr id="2553" name="Google Shape;2553;p57"/>
          <p:cNvSpPr txBox="1"/>
          <p:nvPr/>
        </p:nvSpPr>
        <p:spPr>
          <a:xfrm>
            <a:off x="7086600" y="3534156"/>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52</a:t>
            </a:r>
            <a:endParaRPr b="0" i="0" sz="1000" u="none" cap="none" strike="noStrike">
              <a:solidFill>
                <a:schemeClr val="dk1"/>
              </a:solidFill>
              <a:latin typeface="Calibri"/>
              <a:ea typeface="Calibri"/>
              <a:cs typeface="Calibri"/>
              <a:sym typeface="Calibri"/>
            </a:endParaRPr>
          </a:p>
        </p:txBody>
      </p:sp>
      <p:sp>
        <p:nvSpPr>
          <p:cNvPr id="2554" name="Google Shape;2554;p57"/>
          <p:cNvSpPr txBox="1"/>
          <p:nvPr/>
        </p:nvSpPr>
        <p:spPr>
          <a:xfrm>
            <a:off x="9496044" y="2734056"/>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19</a:t>
            </a:r>
            <a:endParaRPr b="0" i="0" sz="1000" u="none" cap="none" strike="noStrike">
              <a:solidFill>
                <a:schemeClr val="dk1"/>
              </a:solidFill>
              <a:latin typeface="Calibri"/>
              <a:ea typeface="Calibri"/>
              <a:cs typeface="Calibri"/>
              <a:sym typeface="Calibri"/>
            </a:endParaRPr>
          </a:p>
        </p:txBody>
      </p:sp>
      <p:sp>
        <p:nvSpPr>
          <p:cNvPr id="2555" name="Google Shape;2555;p57"/>
          <p:cNvSpPr txBox="1"/>
          <p:nvPr/>
        </p:nvSpPr>
        <p:spPr>
          <a:xfrm>
            <a:off x="9496044" y="3133649"/>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19</a:t>
            </a:r>
            <a:endParaRPr b="0" i="0" sz="1000" u="none" cap="none" strike="noStrike">
              <a:solidFill>
                <a:schemeClr val="dk1"/>
              </a:solidFill>
              <a:latin typeface="Calibri"/>
              <a:ea typeface="Calibri"/>
              <a:cs typeface="Calibri"/>
              <a:sym typeface="Calibri"/>
            </a:endParaRPr>
          </a:p>
        </p:txBody>
      </p:sp>
      <p:sp>
        <p:nvSpPr>
          <p:cNvPr id="2556" name="Google Shape;2556;p57"/>
          <p:cNvSpPr txBox="1"/>
          <p:nvPr/>
        </p:nvSpPr>
        <p:spPr>
          <a:xfrm>
            <a:off x="9496044" y="3534156"/>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12</a:t>
            </a:r>
            <a:endParaRPr b="0" i="0" sz="1000" u="none" cap="none" strike="noStrike">
              <a:solidFill>
                <a:schemeClr val="dk1"/>
              </a:solidFill>
              <a:latin typeface="Calibri"/>
              <a:ea typeface="Calibri"/>
              <a:cs typeface="Calibri"/>
              <a:sym typeface="Calibri"/>
            </a:endParaRPr>
          </a:p>
        </p:txBody>
      </p:sp>
      <p:sp>
        <p:nvSpPr>
          <p:cNvPr id="2557" name="Google Shape;2557;p57"/>
          <p:cNvSpPr txBox="1"/>
          <p:nvPr/>
        </p:nvSpPr>
        <p:spPr>
          <a:xfrm>
            <a:off x="9496044" y="3933749"/>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0</a:t>
            </a:r>
            <a:endParaRPr b="0" i="0" sz="1000" u="none" cap="none" strike="noStrike">
              <a:solidFill>
                <a:schemeClr val="dk1"/>
              </a:solidFill>
              <a:latin typeface="Calibri"/>
              <a:ea typeface="Calibri"/>
              <a:cs typeface="Calibri"/>
              <a:sym typeface="Calibri"/>
            </a:endParaRPr>
          </a:p>
        </p:txBody>
      </p:sp>
      <p:sp>
        <p:nvSpPr>
          <p:cNvPr id="2558" name="Google Shape;2558;p57"/>
          <p:cNvSpPr txBox="1"/>
          <p:nvPr/>
        </p:nvSpPr>
        <p:spPr>
          <a:xfrm>
            <a:off x="2924251" y="3133649"/>
            <a:ext cx="8147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20.6% (14)</a:t>
            </a:r>
            <a:endParaRPr b="0" i="0" sz="1000" u="none" cap="none" strike="noStrike">
              <a:solidFill>
                <a:schemeClr val="dk1"/>
              </a:solidFill>
              <a:latin typeface="Calibri"/>
              <a:ea typeface="Calibri"/>
              <a:cs typeface="Calibri"/>
              <a:sym typeface="Calibri"/>
            </a:endParaRPr>
          </a:p>
        </p:txBody>
      </p:sp>
      <p:sp>
        <p:nvSpPr>
          <p:cNvPr id="2559" name="Google Shape;2559;p57"/>
          <p:cNvSpPr txBox="1"/>
          <p:nvPr/>
        </p:nvSpPr>
        <p:spPr>
          <a:xfrm>
            <a:off x="7086600" y="3133649"/>
            <a:ext cx="243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21</a:t>
            </a:r>
            <a:endParaRPr b="0" i="0" sz="1000" u="none" cap="none" strike="noStrike">
              <a:solidFill>
                <a:schemeClr val="dk1"/>
              </a:solidFill>
              <a:latin typeface="Calibri"/>
              <a:ea typeface="Calibri"/>
              <a:cs typeface="Calibri"/>
              <a:sym typeface="Calibri"/>
            </a:endParaRPr>
          </a:p>
        </p:txBody>
      </p:sp>
      <p:sp>
        <p:nvSpPr>
          <p:cNvPr id="2560" name="Google Shape;2560;p57"/>
          <p:cNvSpPr txBox="1"/>
          <p:nvPr/>
        </p:nvSpPr>
        <p:spPr>
          <a:xfrm>
            <a:off x="7086600" y="3933749"/>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7</a:t>
            </a:r>
            <a:endParaRPr b="0" i="0" sz="1000" u="none" cap="none" strike="noStrike">
              <a:solidFill>
                <a:schemeClr val="dk1"/>
              </a:solidFill>
              <a:latin typeface="Calibri"/>
              <a:ea typeface="Calibri"/>
              <a:cs typeface="Calibri"/>
              <a:sym typeface="Calibri"/>
            </a:endParaRPr>
          </a:p>
        </p:txBody>
      </p:sp>
      <p:sp>
        <p:nvSpPr>
          <p:cNvPr id="2561" name="Google Shape;2561;p57"/>
          <p:cNvSpPr txBox="1"/>
          <p:nvPr/>
        </p:nvSpPr>
        <p:spPr>
          <a:xfrm>
            <a:off x="4895698" y="3534156"/>
            <a:ext cx="281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63</a:t>
            </a:r>
            <a:endParaRPr b="0" i="0" sz="1000" u="none" cap="none" strike="noStrike">
              <a:solidFill>
                <a:schemeClr val="dk1"/>
              </a:solidFill>
              <a:latin typeface="Calibri"/>
              <a:ea typeface="Calibri"/>
              <a:cs typeface="Calibri"/>
              <a:sym typeface="Calibri"/>
            </a:endParaRPr>
          </a:p>
        </p:txBody>
      </p:sp>
      <p:sp>
        <p:nvSpPr>
          <p:cNvPr id="2562" name="Google Shape;2562;p57"/>
          <p:cNvSpPr txBox="1"/>
          <p:nvPr/>
        </p:nvSpPr>
        <p:spPr>
          <a:xfrm>
            <a:off x="733349" y="4953305"/>
            <a:ext cx="6528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Video ID</a:t>
            </a:r>
            <a:endParaRPr b="0" i="0" sz="1000" u="none" cap="none" strike="noStrike">
              <a:solidFill>
                <a:schemeClr val="dk1"/>
              </a:solidFill>
              <a:latin typeface="Calibri"/>
              <a:ea typeface="Calibri"/>
              <a:cs typeface="Calibri"/>
              <a:sym typeface="Calibri"/>
            </a:endParaRPr>
          </a:p>
        </p:txBody>
      </p:sp>
      <p:sp>
        <p:nvSpPr>
          <p:cNvPr id="2563" name="Google Shape;2563;p57"/>
          <p:cNvSpPr txBox="1"/>
          <p:nvPr/>
        </p:nvSpPr>
        <p:spPr>
          <a:xfrm>
            <a:off x="2376526" y="4953305"/>
            <a:ext cx="643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Channel</a:t>
            </a:r>
            <a:endParaRPr b="0" i="0" sz="1000" u="none" cap="none" strike="noStrike">
              <a:solidFill>
                <a:schemeClr val="dk1"/>
              </a:solidFill>
              <a:latin typeface="Calibri"/>
              <a:ea typeface="Calibri"/>
              <a:cs typeface="Calibri"/>
              <a:sym typeface="Calibri"/>
            </a:endParaRPr>
          </a:p>
        </p:txBody>
      </p:sp>
      <p:sp>
        <p:nvSpPr>
          <p:cNvPr id="2564" name="Google Shape;2564;p57"/>
          <p:cNvSpPr txBox="1"/>
          <p:nvPr/>
        </p:nvSpPr>
        <p:spPr>
          <a:xfrm>
            <a:off x="4567428" y="4953305"/>
            <a:ext cx="9006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Upload Date</a:t>
            </a:r>
            <a:endParaRPr b="0" i="0" sz="1000" u="none" cap="none" strike="noStrike">
              <a:solidFill>
                <a:schemeClr val="dk1"/>
              </a:solidFill>
              <a:latin typeface="Calibri"/>
              <a:ea typeface="Calibri"/>
              <a:cs typeface="Calibri"/>
              <a:sym typeface="Calibri"/>
            </a:endParaRPr>
          </a:p>
        </p:txBody>
      </p:sp>
      <p:sp>
        <p:nvSpPr>
          <p:cNvPr id="2565" name="Google Shape;2565;p57"/>
          <p:cNvSpPr txBox="1"/>
          <p:nvPr/>
        </p:nvSpPr>
        <p:spPr>
          <a:xfrm>
            <a:off x="6210605" y="4953305"/>
            <a:ext cx="7763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Key Quote</a:t>
            </a:r>
            <a:endParaRPr b="0" i="0" sz="1000" u="none" cap="none" strike="noStrike">
              <a:solidFill>
                <a:schemeClr val="dk1"/>
              </a:solidFill>
              <a:latin typeface="Calibri"/>
              <a:ea typeface="Calibri"/>
              <a:cs typeface="Calibri"/>
              <a:sym typeface="Calibri"/>
            </a:endParaRPr>
          </a:p>
        </p:txBody>
      </p:sp>
      <p:sp>
        <p:nvSpPr>
          <p:cNvPr id="2566" name="Google Shape;2566;p57"/>
          <p:cNvSpPr txBox="1"/>
          <p:nvPr/>
        </p:nvSpPr>
        <p:spPr>
          <a:xfrm>
            <a:off x="9496044" y="4953305"/>
            <a:ext cx="5577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Theme</a:t>
            </a:r>
            <a:endParaRPr b="0" i="0" sz="1000" u="none" cap="none" strike="noStrike">
              <a:solidFill>
                <a:schemeClr val="dk1"/>
              </a:solidFill>
              <a:latin typeface="Calibri"/>
              <a:ea typeface="Calibri"/>
              <a:cs typeface="Calibri"/>
              <a:sym typeface="Calibri"/>
            </a:endParaRPr>
          </a:p>
        </p:txBody>
      </p:sp>
      <p:sp>
        <p:nvSpPr>
          <p:cNvPr id="2567" name="Google Shape;2567;p57"/>
          <p:cNvSpPr txBox="1"/>
          <p:nvPr/>
        </p:nvSpPr>
        <p:spPr>
          <a:xfrm>
            <a:off x="733349" y="5352898"/>
            <a:ext cx="1090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9r8SWWZz8Gg</a:t>
            </a:r>
            <a:endParaRPr b="0" i="0" sz="1000" u="none" cap="none" strike="noStrike">
              <a:solidFill>
                <a:schemeClr val="dk1"/>
              </a:solidFill>
              <a:latin typeface="Calibri"/>
              <a:ea typeface="Calibri"/>
              <a:cs typeface="Calibri"/>
              <a:sym typeface="Calibri"/>
            </a:endParaRPr>
          </a:p>
        </p:txBody>
      </p:sp>
      <p:sp>
        <p:nvSpPr>
          <p:cNvPr id="2568" name="Google Shape;2568;p57"/>
          <p:cNvSpPr txBox="1"/>
          <p:nvPr/>
        </p:nvSpPr>
        <p:spPr>
          <a:xfrm>
            <a:off x="733349" y="5753405"/>
            <a:ext cx="10049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rXCD67bZBy4</a:t>
            </a:r>
            <a:endParaRPr b="0" i="0" sz="1000" u="none" cap="none" strike="noStrike">
              <a:solidFill>
                <a:schemeClr val="dk1"/>
              </a:solidFill>
              <a:latin typeface="Calibri"/>
              <a:ea typeface="Calibri"/>
              <a:cs typeface="Calibri"/>
              <a:sym typeface="Calibri"/>
            </a:endParaRPr>
          </a:p>
        </p:txBody>
      </p:sp>
      <p:sp>
        <p:nvSpPr>
          <p:cNvPr id="2569" name="Google Shape;2569;p57"/>
          <p:cNvSpPr txBox="1"/>
          <p:nvPr/>
        </p:nvSpPr>
        <p:spPr>
          <a:xfrm>
            <a:off x="733349" y="6152998"/>
            <a:ext cx="9198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3Ii0UGiRqO0</a:t>
            </a:r>
            <a:endParaRPr b="0" i="0" sz="1000" u="none" cap="none" strike="noStrike">
              <a:solidFill>
                <a:schemeClr val="dk1"/>
              </a:solidFill>
              <a:latin typeface="Calibri"/>
              <a:ea typeface="Calibri"/>
              <a:cs typeface="Calibri"/>
              <a:sym typeface="Calibri"/>
            </a:endParaRPr>
          </a:p>
        </p:txBody>
      </p:sp>
      <p:sp>
        <p:nvSpPr>
          <p:cNvPr id="2570" name="Google Shape;2570;p57"/>
          <p:cNvSpPr txBox="1"/>
          <p:nvPr/>
        </p:nvSpPr>
        <p:spPr>
          <a:xfrm>
            <a:off x="733349" y="6553505"/>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xKfM10_83DA</a:t>
            </a:r>
            <a:endParaRPr b="0" i="0" sz="1000" u="none" cap="none" strike="noStrike">
              <a:solidFill>
                <a:schemeClr val="dk1"/>
              </a:solidFill>
              <a:latin typeface="Calibri"/>
              <a:ea typeface="Calibri"/>
              <a:cs typeface="Calibri"/>
              <a:sym typeface="Calibri"/>
            </a:endParaRPr>
          </a:p>
        </p:txBody>
      </p:sp>
      <p:sp>
        <p:nvSpPr>
          <p:cNvPr id="2571" name="Google Shape;2571;p57"/>
          <p:cNvSpPr txBox="1"/>
          <p:nvPr/>
        </p:nvSpPr>
        <p:spPr>
          <a:xfrm>
            <a:off x="2376526" y="5352898"/>
            <a:ext cx="9674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XO, MaCenna</a:t>
            </a:r>
            <a:endParaRPr b="0" i="0" sz="1000" u="none" cap="none" strike="noStrike">
              <a:solidFill>
                <a:schemeClr val="dk1"/>
              </a:solidFill>
              <a:latin typeface="Calibri"/>
              <a:ea typeface="Calibri"/>
              <a:cs typeface="Calibri"/>
              <a:sym typeface="Calibri"/>
            </a:endParaRPr>
          </a:p>
        </p:txBody>
      </p:sp>
      <p:sp>
        <p:nvSpPr>
          <p:cNvPr id="2572" name="Google Shape;2572;p57"/>
          <p:cNvSpPr txBox="1"/>
          <p:nvPr/>
        </p:nvSpPr>
        <p:spPr>
          <a:xfrm>
            <a:off x="2376526" y="5753405"/>
            <a:ext cx="9098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 Point Films</a:t>
            </a:r>
            <a:endParaRPr b="0" i="0" sz="1000" u="none" cap="none" strike="noStrike">
              <a:solidFill>
                <a:schemeClr val="dk1"/>
              </a:solidFill>
              <a:latin typeface="Calibri"/>
              <a:ea typeface="Calibri"/>
              <a:cs typeface="Calibri"/>
              <a:sym typeface="Calibri"/>
            </a:endParaRPr>
          </a:p>
        </p:txBody>
      </p:sp>
      <p:sp>
        <p:nvSpPr>
          <p:cNvPr id="2573" name="Google Shape;2573;p57"/>
          <p:cNvSpPr txBox="1"/>
          <p:nvPr/>
        </p:nvSpPr>
        <p:spPr>
          <a:xfrm>
            <a:off x="2376526" y="6152998"/>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Go Build Stuff</a:t>
            </a:r>
            <a:endParaRPr b="0" i="0" sz="1000" u="none" cap="none" strike="noStrike">
              <a:solidFill>
                <a:schemeClr val="dk1"/>
              </a:solidFill>
              <a:latin typeface="Calibri"/>
              <a:ea typeface="Calibri"/>
              <a:cs typeface="Calibri"/>
              <a:sym typeface="Calibri"/>
            </a:endParaRPr>
          </a:p>
        </p:txBody>
      </p:sp>
      <p:sp>
        <p:nvSpPr>
          <p:cNvPr id="2574" name="Google Shape;2574;p57"/>
          <p:cNvSpPr txBox="1"/>
          <p:nvPr/>
        </p:nvSpPr>
        <p:spPr>
          <a:xfrm>
            <a:off x="2376526" y="6553505"/>
            <a:ext cx="9098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DIY Creators</a:t>
            </a:r>
            <a:endParaRPr b="0" i="0" sz="1000" u="none" cap="none" strike="noStrike">
              <a:solidFill>
                <a:schemeClr val="dk1"/>
              </a:solidFill>
              <a:latin typeface="Calibri"/>
              <a:ea typeface="Calibri"/>
              <a:cs typeface="Calibri"/>
              <a:sym typeface="Calibri"/>
            </a:endParaRPr>
          </a:p>
        </p:txBody>
      </p:sp>
      <p:sp>
        <p:nvSpPr>
          <p:cNvPr id="2575" name="Google Shape;2575;p57"/>
          <p:cNvSpPr txBox="1"/>
          <p:nvPr/>
        </p:nvSpPr>
        <p:spPr>
          <a:xfrm>
            <a:off x="4567428" y="5352898"/>
            <a:ext cx="8531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2025-05-18</a:t>
            </a:r>
            <a:endParaRPr b="0" i="0" sz="1000" u="none" cap="none" strike="noStrike">
              <a:solidFill>
                <a:schemeClr val="dk1"/>
              </a:solidFill>
              <a:latin typeface="Calibri"/>
              <a:ea typeface="Calibri"/>
              <a:cs typeface="Calibri"/>
              <a:sym typeface="Calibri"/>
            </a:endParaRPr>
          </a:p>
        </p:txBody>
      </p:sp>
      <p:sp>
        <p:nvSpPr>
          <p:cNvPr id="2576" name="Google Shape;2576;p57"/>
          <p:cNvSpPr txBox="1"/>
          <p:nvPr/>
        </p:nvSpPr>
        <p:spPr>
          <a:xfrm>
            <a:off x="4567428" y="5753405"/>
            <a:ext cx="8814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2024-09-27</a:t>
            </a:r>
            <a:endParaRPr b="0" i="0" sz="1000" u="none" cap="none" strike="noStrike">
              <a:solidFill>
                <a:schemeClr val="dk1"/>
              </a:solidFill>
              <a:latin typeface="Calibri"/>
              <a:ea typeface="Calibri"/>
              <a:cs typeface="Calibri"/>
              <a:sym typeface="Calibri"/>
            </a:endParaRPr>
          </a:p>
        </p:txBody>
      </p:sp>
      <p:sp>
        <p:nvSpPr>
          <p:cNvPr id="2577" name="Google Shape;2577;p57"/>
          <p:cNvSpPr txBox="1"/>
          <p:nvPr/>
        </p:nvSpPr>
        <p:spPr>
          <a:xfrm>
            <a:off x="4567428" y="6152998"/>
            <a:ext cx="8814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2022-09-23</a:t>
            </a:r>
            <a:endParaRPr b="0" i="0" sz="1000" u="none" cap="none" strike="noStrike">
              <a:solidFill>
                <a:schemeClr val="dk1"/>
              </a:solidFill>
              <a:latin typeface="Calibri"/>
              <a:ea typeface="Calibri"/>
              <a:cs typeface="Calibri"/>
              <a:sym typeface="Calibri"/>
            </a:endParaRPr>
          </a:p>
        </p:txBody>
      </p:sp>
      <p:sp>
        <p:nvSpPr>
          <p:cNvPr id="2578" name="Google Shape;2578;p57"/>
          <p:cNvSpPr txBox="1"/>
          <p:nvPr/>
        </p:nvSpPr>
        <p:spPr>
          <a:xfrm>
            <a:off x="4567428" y="6553505"/>
            <a:ext cx="8531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2024-05-21</a:t>
            </a:r>
            <a:endParaRPr b="0" i="0" sz="1000" u="none" cap="none" strike="noStrike">
              <a:solidFill>
                <a:schemeClr val="dk1"/>
              </a:solidFill>
              <a:latin typeface="Calibri"/>
              <a:ea typeface="Calibri"/>
              <a:cs typeface="Calibri"/>
              <a:sym typeface="Calibri"/>
            </a:endParaRPr>
          </a:p>
        </p:txBody>
      </p:sp>
      <p:sp>
        <p:nvSpPr>
          <p:cNvPr id="2579" name="Google Shape;2579;p57"/>
          <p:cNvSpPr txBox="1"/>
          <p:nvPr/>
        </p:nvSpPr>
        <p:spPr>
          <a:xfrm>
            <a:off x="6210605" y="5352898"/>
            <a:ext cx="23957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 studs… no tools… no big holes."</a:t>
            </a:r>
            <a:endParaRPr b="0" i="0" sz="1000" u="none" cap="none" strike="noStrike">
              <a:solidFill>
                <a:schemeClr val="dk1"/>
              </a:solidFill>
              <a:latin typeface="Calibri"/>
              <a:ea typeface="Calibri"/>
              <a:cs typeface="Calibri"/>
              <a:sym typeface="Calibri"/>
            </a:endParaRPr>
          </a:p>
        </p:txBody>
      </p:sp>
      <p:sp>
        <p:nvSpPr>
          <p:cNvPr id="2580" name="Google Shape;2580;p57"/>
          <p:cNvSpPr txBox="1"/>
          <p:nvPr/>
        </p:nvSpPr>
        <p:spPr>
          <a:xfrm>
            <a:off x="6210605" y="5753405"/>
            <a:ext cx="19577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"Won't go in… fairly useless."</a:t>
            </a:r>
            <a:endParaRPr b="0" i="0" sz="1000" u="none" cap="none" strike="noStrike">
              <a:solidFill>
                <a:schemeClr val="dk1"/>
              </a:solidFill>
              <a:latin typeface="Calibri"/>
              <a:ea typeface="Calibri"/>
              <a:cs typeface="Calibri"/>
              <a:sym typeface="Calibri"/>
            </a:endParaRPr>
          </a:p>
        </p:txBody>
      </p:sp>
      <p:sp>
        <p:nvSpPr>
          <p:cNvPr id="2581" name="Google Shape;2581;p57"/>
          <p:cNvSpPr txBox="1"/>
          <p:nvPr/>
        </p:nvSpPr>
        <p:spPr>
          <a:xfrm>
            <a:off x="6210605" y="6152998"/>
            <a:ext cx="20244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"Holds 45 pounds… no studs."</a:t>
            </a:r>
            <a:endParaRPr b="0" i="0" sz="1000" u="none" cap="none" strike="noStrike">
              <a:solidFill>
                <a:schemeClr val="dk1"/>
              </a:solidFill>
              <a:latin typeface="Calibri"/>
              <a:ea typeface="Calibri"/>
              <a:cs typeface="Calibri"/>
              <a:sym typeface="Calibri"/>
            </a:endParaRPr>
          </a:p>
        </p:txBody>
      </p:sp>
      <p:sp>
        <p:nvSpPr>
          <p:cNvPr id="2582" name="Google Shape;2582;p57"/>
          <p:cNvSpPr txBox="1"/>
          <p:nvPr/>
        </p:nvSpPr>
        <p:spPr>
          <a:xfrm>
            <a:off x="6210605" y="6553505"/>
            <a:ext cx="2481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"Quick push install for heavy frames."</a:t>
            </a:r>
            <a:endParaRPr b="0" i="0" sz="1000" u="none" cap="none" strike="noStrike">
              <a:solidFill>
                <a:schemeClr val="dk1"/>
              </a:solidFill>
              <a:latin typeface="Calibri"/>
              <a:ea typeface="Calibri"/>
              <a:cs typeface="Calibri"/>
              <a:sym typeface="Calibri"/>
            </a:endParaRPr>
          </a:p>
        </p:txBody>
      </p:sp>
      <p:sp>
        <p:nvSpPr>
          <p:cNvPr id="2583" name="Google Shape;2583;p57"/>
          <p:cNvSpPr txBox="1"/>
          <p:nvPr/>
        </p:nvSpPr>
        <p:spPr>
          <a:xfrm>
            <a:off x="9496044" y="5352898"/>
            <a:ext cx="14721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Benefit reinforcement</a:t>
            </a:r>
            <a:endParaRPr b="0" i="0" sz="1000" u="none" cap="none" strike="noStrike">
              <a:solidFill>
                <a:schemeClr val="dk1"/>
              </a:solidFill>
              <a:latin typeface="Calibri"/>
              <a:ea typeface="Calibri"/>
              <a:cs typeface="Calibri"/>
              <a:sym typeface="Calibri"/>
            </a:endParaRPr>
          </a:p>
        </p:txBody>
      </p:sp>
      <p:sp>
        <p:nvSpPr>
          <p:cNvPr id="2584" name="Google Shape;2584;p57"/>
          <p:cNvSpPr txBox="1"/>
          <p:nvPr/>
        </p:nvSpPr>
        <p:spPr>
          <a:xfrm>
            <a:off x="9496044" y="5753405"/>
            <a:ext cx="13478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Failure/damage risk</a:t>
            </a:r>
            <a:endParaRPr b="0" i="0" sz="1000" u="none" cap="none" strike="noStrike">
              <a:solidFill>
                <a:schemeClr val="dk1"/>
              </a:solidFill>
              <a:latin typeface="Calibri"/>
              <a:ea typeface="Calibri"/>
              <a:cs typeface="Calibri"/>
              <a:sym typeface="Calibri"/>
            </a:endParaRPr>
          </a:p>
        </p:txBody>
      </p:sp>
      <p:sp>
        <p:nvSpPr>
          <p:cNvPr id="2585" name="Google Shape;2585;p57"/>
          <p:cNvSpPr txBox="1"/>
          <p:nvPr/>
        </p:nvSpPr>
        <p:spPr>
          <a:xfrm>
            <a:off x="9496044" y="6152998"/>
            <a:ext cx="10149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Strength claim</a:t>
            </a:r>
            <a:endParaRPr b="0" i="0" sz="1000" u="none" cap="none" strike="noStrike">
              <a:solidFill>
                <a:schemeClr val="dk1"/>
              </a:solidFill>
              <a:latin typeface="Calibri"/>
              <a:ea typeface="Calibri"/>
              <a:cs typeface="Calibri"/>
              <a:sym typeface="Calibri"/>
            </a:endParaRPr>
          </a:p>
        </p:txBody>
      </p:sp>
      <p:sp>
        <p:nvSpPr>
          <p:cNvPr id="2586" name="Google Shape;2586;p57"/>
          <p:cNvSpPr txBox="1"/>
          <p:nvPr/>
        </p:nvSpPr>
        <p:spPr>
          <a:xfrm>
            <a:off x="9496044" y="6553505"/>
            <a:ext cx="976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Speed &amp; ease</a:t>
            </a:r>
            <a:endParaRPr b="0" i="0" sz="1000" u="none" cap="none" strike="noStrike">
              <a:solidFill>
                <a:schemeClr val="dk1"/>
              </a:solidFill>
              <a:latin typeface="Calibri"/>
              <a:ea typeface="Calibri"/>
              <a:cs typeface="Calibri"/>
              <a:sym typeface="Calibri"/>
            </a:endParaRPr>
          </a:p>
        </p:txBody>
      </p:sp>
      <p:sp>
        <p:nvSpPr>
          <p:cNvPr id="2587" name="Google Shape;2587;p57"/>
          <p:cNvSpPr txBox="1"/>
          <p:nvPr/>
        </p:nvSpPr>
        <p:spPr>
          <a:xfrm>
            <a:off x="733349" y="7572146"/>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Trait</a:t>
            </a:r>
            <a:endParaRPr b="0" i="0" sz="1000" u="none" cap="none" strike="noStrike">
              <a:solidFill>
                <a:schemeClr val="dk1"/>
              </a:solidFill>
              <a:latin typeface="Calibri"/>
              <a:ea typeface="Calibri"/>
              <a:cs typeface="Calibri"/>
              <a:sym typeface="Calibri"/>
            </a:endParaRPr>
          </a:p>
        </p:txBody>
      </p:sp>
      <p:sp>
        <p:nvSpPr>
          <p:cNvPr id="2588" name="Google Shape;2588;p57"/>
          <p:cNvSpPr txBox="1"/>
          <p:nvPr/>
        </p:nvSpPr>
        <p:spPr>
          <a:xfrm>
            <a:off x="2376526" y="7572146"/>
            <a:ext cx="710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Category</a:t>
            </a:r>
            <a:endParaRPr b="0" i="0" sz="1000" u="none" cap="none" strike="noStrike">
              <a:solidFill>
                <a:schemeClr val="dk1"/>
              </a:solidFill>
              <a:latin typeface="Calibri"/>
              <a:ea typeface="Calibri"/>
              <a:cs typeface="Calibri"/>
              <a:sym typeface="Calibri"/>
            </a:endParaRPr>
          </a:p>
        </p:txBody>
      </p:sp>
      <p:sp>
        <p:nvSpPr>
          <p:cNvPr id="2589" name="Google Shape;2589;p57"/>
          <p:cNvSpPr txBox="1"/>
          <p:nvPr/>
        </p:nvSpPr>
        <p:spPr>
          <a:xfrm>
            <a:off x="3690518" y="7572146"/>
            <a:ext cx="7763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Command</a:t>
            </a:r>
            <a:endParaRPr b="0" i="0" sz="1000" u="none" cap="none" strike="noStrike">
              <a:solidFill>
                <a:schemeClr val="dk1"/>
              </a:solidFill>
              <a:latin typeface="Calibri"/>
              <a:ea typeface="Calibri"/>
              <a:cs typeface="Calibri"/>
              <a:sym typeface="Calibri"/>
            </a:endParaRPr>
          </a:p>
        </p:txBody>
      </p:sp>
      <p:sp>
        <p:nvSpPr>
          <p:cNvPr id="2590" name="Google Shape;2590;p57"/>
          <p:cNvSpPr txBox="1"/>
          <p:nvPr/>
        </p:nvSpPr>
        <p:spPr>
          <a:xfrm>
            <a:off x="5005426" y="7572146"/>
            <a:ext cx="5577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Scotch</a:t>
            </a:r>
            <a:endParaRPr b="0" i="0" sz="1000" u="none" cap="none" strike="noStrike">
              <a:solidFill>
                <a:schemeClr val="dk1"/>
              </a:solidFill>
              <a:latin typeface="Calibri"/>
              <a:ea typeface="Calibri"/>
              <a:cs typeface="Calibri"/>
              <a:sym typeface="Calibri"/>
            </a:endParaRPr>
          </a:p>
        </p:txBody>
      </p:sp>
      <p:sp>
        <p:nvSpPr>
          <p:cNvPr id="2591" name="Google Shape;2591;p57"/>
          <p:cNvSpPr txBox="1"/>
          <p:nvPr/>
        </p:nvSpPr>
        <p:spPr>
          <a:xfrm>
            <a:off x="6319418" y="7572146"/>
            <a:ext cx="6720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3M Claw</a:t>
            </a:r>
            <a:endParaRPr b="0" i="0" sz="1000" u="none" cap="none" strike="noStrike">
              <a:solidFill>
                <a:schemeClr val="dk1"/>
              </a:solidFill>
              <a:latin typeface="Calibri"/>
              <a:ea typeface="Calibri"/>
              <a:cs typeface="Calibri"/>
              <a:sym typeface="Calibri"/>
            </a:endParaRPr>
          </a:p>
        </p:txBody>
      </p:sp>
      <p:sp>
        <p:nvSpPr>
          <p:cNvPr id="2592" name="Google Shape;2592;p57"/>
          <p:cNvSpPr txBox="1"/>
          <p:nvPr/>
        </p:nvSpPr>
        <p:spPr>
          <a:xfrm>
            <a:off x="7634326" y="7572146"/>
            <a:ext cx="21387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Coverage % (Cmd / Sco / Claw)</a:t>
            </a:r>
            <a:endParaRPr b="0" i="0" sz="1000" u="none" cap="none" strike="noStrike">
              <a:solidFill>
                <a:schemeClr val="dk1"/>
              </a:solidFill>
              <a:latin typeface="Calibri"/>
              <a:ea typeface="Calibri"/>
              <a:cs typeface="Calibri"/>
              <a:sym typeface="Calibri"/>
            </a:endParaRPr>
          </a:p>
        </p:txBody>
      </p:sp>
      <p:sp>
        <p:nvSpPr>
          <p:cNvPr id="2593" name="Google Shape;2593;p57"/>
          <p:cNvSpPr txBox="1"/>
          <p:nvPr/>
        </p:nvSpPr>
        <p:spPr>
          <a:xfrm>
            <a:off x="733349" y="7972654"/>
            <a:ext cx="11676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Holding Strength</a:t>
            </a:r>
            <a:endParaRPr b="0" i="0" sz="1000" u="none" cap="none" strike="noStrike">
              <a:solidFill>
                <a:schemeClr val="dk1"/>
              </a:solidFill>
              <a:latin typeface="Calibri"/>
              <a:ea typeface="Calibri"/>
              <a:cs typeface="Calibri"/>
              <a:sym typeface="Calibri"/>
            </a:endParaRPr>
          </a:p>
        </p:txBody>
      </p:sp>
      <p:sp>
        <p:nvSpPr>
          <p:cNvPr id="2594" name="Google Shape;2594;p57"/>
          <p:cNvSpPr txBox="1"/>
          <p:nvPr/>
        </p:nvSpPr>
        <p:spPr>
          <a:xfrm>
            <a:off x="733349" y="8372246"/>
            <a:ext cx="11192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Installation Ease</a:t>
            </a:r>
            <a:endParaRPr b="0" i="0" sz="1000" u="none" cap="none" strike="noStrike">
              <a:solidFill>
                <a:schemeClr val="dk1"/>
              </a:solidFill>
              <a:latin typeface="Calibri"/>
              <a:ea typeface="Calibri"/>
              <a:cs typeface="Calibri"/>
              <a:sym typeface="Calibri"/>
            </a:endParaRPr>
          </a:p>
        </p:txBody>
      </p:sp>
      <p:sp>
        <p:nvSpPr>
          <p:cNvPr id="2595" name="Google Shape;2595;p57"/>
          <p:cNvSpPr txBox="1"/>
          <p:nvPr/>
        </p:nvSpPr>
        <p:spPr>
          <a:xfrm>
            <a:off x="733349" y="8772754"/>
            <a:ext cx="9674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Damage-Free</a:t>
            </a:r>
            <a:endParaRPr b="0" i="0" sz="1000" u="none" cap="none" strike="noStrike">
              <a:solidFill>
                <a:schemeClr val="dk1"/>
              </a:solidFill>
              <a:latin typeface="Calibri"/>
              <a:ea typeface="Calibri"/>
              <a:cs typeface="Calibri"/>
              <a:sym typeface="Calibri"/>
            </a:endParaRPr>
          </a:p>
        </p:txBody>
      </p:sp>
      <p:sp>
        <p:nvSpPr>
          <p:cNvPr id="2596" name="Google Shape;2596;p57"/>
          <p:cNvSpPr txBox="1"/>
          <p:nvPr/>
        </p:nvSpPr>
        <p:spPr>
          <a:xfrm>
            <a:off x="733349" y="9172346"/>
            <a:ext cx="7004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Durability</a:t>
            </a:r>
            <a:endParaRPr b="0" i="0" sz="1000" u="none" cap="none" strike="noStrike">
              <a:solidFill>
                <a:schemeClr val="dk1"/>
              </a:solidFill>
              <a:latin typeface="Calibri"/>
              <a:ea typeface="Calibri"/>
              <a:cs typeface="Calibri"/>
              <a:sym typeface="Calibri"/>
            </a:endParaRPr>
          </a:p>
        </p:txBody>
      </p:sp>
      <p:sp>
        <p:nvSpPr>
          <p:cNvPr id="2597" name="Google Shape;2597;p57"/>
          <p:cNvSpPr txBox="1"/>
          <p:nvPr/>
        </p:nvSpPr>
        <p:spPr>
          <a:xfrm>
            <a:off x="733349" y="9572854"/>
            <a:ext cx="4526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Value</a:t>
            </a:r>
            <a:endParaRPr b="0" i="0" sz="1000" u="none" cap="none" strike="noStrike">
              <a:solidFill>
                <a:schemeClr val="dk1"/>
              </a:solidFill>
              <a:latin typeface="Calibri"/>
              <a:ea typeface="Calibri"/>
              <a:cs typeface="Calibri"/>
              <a:sym typeface="Calibri"/>
            </a:endParaRPr>
          </a:p>
        </p:txBody>
      </p:sp>
      <p:sp>
        <p:nvSpPr>
          <p:cNvPr id="2598" name="Google Shape;2598;p57"/>
          <p:cNvSpPr txBox="1"/>
          <p:nvPr/>
        </p:nvSpPr>
        <p:spPr>
          <a:xfrm>
            <a:off x="733349" y="9972446"/>
            <a:ext cx="7287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Versatility</a:t>
            </a:r>
            <a:endParaRPr b="0" i="0" sz="1000" u="none" cap="none" strike="noStrike">
              <a:solidFill>
                <a:schemeClr val="dk1"/>
              </a:solidFill>
              <a:latin typeface="Calibri"/>
              <a:ea typeface="Calibri"/>
              <a:cs typeface="Calibri"/>
              <a:sym typeface="Calibri"/>
            </a:endParaRPr>
          </a:p>
        </p:txBody>
      </p:sp>
      <p:sp>
        <p:nvSpPr>
          <p:cNvPr id="2599" name="Google Shape;2599;p57"/>
          <p:cNvSpPr txBox="1"/>
          <p:nvPr/>
        </p:nvSpPr>
        <p:spPr>
          <a:xfrm>
            <a:off x="733349" y="10372954"/>
            <a:ext cx="1196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 Tools Needed</a:t>
            </a:r>
            <a:endParaRPr b="0" i="0" sz="1000" u="none" cap="none" strike="noStrike">
              <a:solidFill>
                <a:schemeClr val="dk1"/>
              </a:solidFill>
              <a:latin typeface="Calibri"/>
              <a:ea typeface="Calibri"/>
              <a:cs typeface="Calibri"/>
              <a:sym typeface="Calibri"/>
            </a:endParaRPr>
          </a:p>
        </p:txBody>
      </p:sp>
      <p:sp>
        <p:nvSpPr>
          <p:cNvPr id="2600" name="Google Shape;2600;p57"/>
          <p:cNvSpPr txBox="1"/>
          <p:nvPr/>
        </p:nvSpPr>
        <p:spPr>
          <a:xfrm>
            <a:off x="2376526" y="79726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3.95</a:t>
            </a:r>
            <a:endParaRPr b="0" i="0" sz="1000" u="none" cap="none" strike="noStrike">
              <a:solidFill>
                <a:schemeClr val="dk1"/>
              </a:solidFill>
              <a:latin typeface="Calibri"/>
              <a:ea typeface="Calibri"/>
              <a:cs typeface="Calibri"/>
              <a:sym typeface="Calibri"/>
            </a:endParaRPr>
          </a:p>
        </p:txBody>
      </p:sp>
      <p:sp>
        <p:nvSpPr>
          <p:cNvPr id="2601" name="Google Shape;2601;p57"/>
          <p:cNvSpPr txBox="1"/>
          <p:nvPr/>
        </p:nvSpPr>
        <p:spPr>
          <a:xfrm>
            <a:off x="2376526" y="8772754"/>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3.77</a:t>
            </a:r>
            <a:endParaRPr b="0" i="0" sz="1000" u="none" cap="none" strike="noStrike">
              <a:solidFill>
                <a:schemeClr val="dk1"/>
              </a:solidFill>
              <a:latin typeface="Calibri"/>
              <a:ea typeface="Calibri"/>
              <a:cs typeface="Calibri"/>
              <a:sym typeface="Calibri"/>
            </a:endParaRPr>
          </a:p>
        </p:txBody>
      </p:sp>
      <p:sp>
        <p:nvSpPr>
          <p:cNvPr id="2602" name="Google Shape;2602;p57"/>
          <p:cNvSpPr txBox="1"/>
          <p:nvPr/>
        </p:nvSpPr>
        <p:spPr>
          <a:xfrm>
            <a:off x="2376526" y="9172346"/>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3.78</a:t>
            </a:r>
            <a:endParaRPr b="0" i="0" sz="1000" u="none" cap="none" strike="noStrike">
              <a:solidFill>
                <a:schemeClr val="dk1"/>
              </a:solidFill>
              <a:latin typeface="Calibri"/>
              <a:ea typeface="Calibri"/>
              <a:cs typeface="Calibri"/>
              <a:sym typeface="Calibri"/>
            </a:endParaRPr>
          </a:p>
        </p:txBody>
      </p:sp>
      <p:sp>
        <p:nvSpPr>
          <p:cNvPr id="2603" name="Google Shape;2603;p57"/>
          <p:cNvSpPr txBox="1"/>
          <p:nvPr/>
        </p:nvSpPr>
        <p:spPr>
          <a:xfrm>
            <a:off x="2376526" y="9572854"/>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3.76</a:t>
            </a:r>
            <a:endParaRPr b="0" i="0" sz="1000" u="none" cap="none" strike="noStrike">
              <a:solidFill>
                <a:schemeClr val="dk1"/>
              </a:solidFill>
              <a:latin typeface="Calibri"/>
              <a:ea typeface="Calibri"/>
              <a:cs typeface="Calibri"/>
              <a:sym typeface="Calibri"/>
            </a:endParaRPr>
          </a:p>
        </p:txBody>
      </p:sp>
      <p:sp>
        <p:nvSpPr>
          <p:cNvPr id="2604" name="Google Shape;2604;p57"/>
          <p:cNvSpPr txBox="1"/>
          <p:nvPr/>
        </p:nvSpPr>
        <p:spPr>
          <a:xfrm>
            <a:off x="2376526" y="9972446"/>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3.84</a:t>
            </a:r>
            <a:endParaRPr b="0" i="0" sz="1000" u="none" cap="none" strike="noStrike">
              <a:solidFill>
                <a:schemeClr val="dk1"/>
              </a:solidFill>
              <a:latin typeface="Calibri"/>
              <a:ea typeface="Calibri"/>
              <a:cs typeface="Calibri"/>
              <a:sym typeface="Calibri"/>
            </a:endParaRPr>
          </a:p>
        </p:txBody>
      </p:sp>
      <p:sp>
        <p:nvSpPr>
          <p:cNvPr id="2605" name="Google Shape;2605;p57"/>
          <p:cNvSpPr txBox="1"/>
          <p:nvPr/>
        </p:nvSpPr>
        <p:spPr>
          <a:xfrm>
            <a:off x="3690518" y="79726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3.96</a:t>
            </a:r>
            <a:endParaRPr b="0" i="0" sz="1000" u="none" cap="none" strike="noStrike">
              <a:solidFill>
                <a:schemeClr val="dk1"/>
              </a:solidFill>
              <a:latin typeface="Calibri"/>
              <a:ea typeface="Calibri"/>
              <a:cs typeface="Calibri"/>
              <a:sym typeface="Calibri"/>
            </a:endParaRPr>
          </a:p>
        </p:txBody>
      </p:sp>
      <p:sp>
        <p:nvSpPr>
          <p:cNvPr id="2606" name="Google Shape;2606;p57"/>
          <p:cNvSpPr txBox="1"/>
          <p:nvPr/>
        </p:nvSpPr>
        <p:spPr>
          <a:xfrm>
            <a:off x="3690518" y="8372246"/>
            <a:ext cx="3575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4.14</a:t>
            </a:r>
            <a:endParaRPr b="0" i="0" sz="1000" u="none" cap="none" strike="noStrike">
              <a:solidFill>
                <a:schemeClr val="dk1"/>
              </a:solidFill>
              <a:latin typeface="Calibri"/>
              <a:ea typeface="Calibri"/>
              <a:cs typeface="Calibri"/>
              <a:sym typeface="Calibri"/>
            </a:endParaRPr>
          </a:p>
        </p:txBody>
      </p:sp>
      <p:sp>
        <p:nvSpPr>
          <p:cNvPr id="2607" name="Google Shape;2607;p57"/>
          <p:cNvSpPr txBox="1"/>
          <p:nvPr/>
        </p:nvSpPr>
        <p:spPr>
          <a:xfrm>
            <a:off x="3690518" y="87727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3.68</a:t>
            </a:r>
            <a:endParaRPr b="0" i="0" sz="1000" u="none" cap="none" strike="noStrike">
              <a:solidFill>
                <a:schemeClr val="dk1"/>
              </a:solidFill>
              <a:latin typeface="Calibri"/>
              <a:ea typeface="Calibri"/>
              <a:cs typeface="Calibri"/>
              <a:sym typeface="Calibri"/>
            </a:endParaRPr>
          </a:p>
        </p:txBody>
      </p:sp>
      <p:sp>
        <p:nvSpPr>
          <p:cNvPr id="2608" name="Google Shape;2608;p57"/>
          <p:cNvSpPr txBox="1"/>
          <p:nvPr/>
        </p:nvSpPr>
        <p:spPr>
          <a:xfrm>
            <a:off x="3690518" y="9172346"/>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3.77</a:t>
            </a:r>
            <a:endParaRPr b="0" i="0" sz="1000" u="none" cap="none" strike="noStrike">
              <a:solidFill>
                <a:schemeClr val="dk1"/>
              </a:solidFill>
              <a:latin typeface="Calibri"/>
              <a:ea typeface="Calibri"/>
              <a:cs typeface="Calibri"/>
              <a:sym typeface="Calibri"/>
            </a:endParaRPr>
          </a:p>
        </p:txBody>
      </p:sp>
      <p:sp>
        <p:nvSpPr>
          <p:cNvPr id="2609" name="Google Shape;2609;p57"/>
          <p:cNvSpPr txBox="1"/>
          <p:nvPr/>
        </p:nvSpPr>
        <p:spPr>
          <a:xfrm>
            <a:off x="3690518" y="95728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3.69</a:t>
            </a:r>
            <a:endParaRPr b="0" i="0" sz="1000" u="none" cap="none" strike="noStrike">
              <a:solidFill>
                <a:schemeClr val="dk1"/>
              </a:solidFill>
              <a:latin typeface="Calibri"/>
              <a:ea typeface="Calibri"/>
              <a:cs typeface="Calibri"/>
              <a:sym typeface="Calibri"/>
            </a:endParaRPr>
          </a:p>
        </p:txBody>
      </p:sp>
      <p:sp>
        <p:nvSpPr>
          <p:cNvPr id="2610" name="Google Shape;2610;p57"/>
          <p:cNvSpPr txBox="1"/>
          <p:nvPr/>
        </p:nvSpPr>
        <p:spPr>
          <a:xfrm>
            <a:off x="3690518" y="9972446"/>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3.89</a:t>
            </a:r>
            <a:endParaRPr b="0" i="0" sz="1000" u="none" cap="none" strike="noStrike">
              <a:solidFill>
                <a:schemeClr val="dk1"/>
              </a:solidFill>
              <a:latin typeface="Calibri"/>
              <a:ea typeface="Calibri"/>
              <a:cs typeface="Calibri"/>
              <a:sym typeface="Calibri"/>
            </a:endParaRPr>
          </a:p>
        </p:txBody>
      </p:sp>
      <p:sp>
        <p:nvSpPr>
          <p:cNvPr id="2611" name="Google Shape;2611;p57"/>
          <p:cNvSpPr txBox="1"/>
          <p:nvPr/>
        </p:nvSpPr>
        <p:spPr>
          <a:xfrm>
            <a:off x="5005426" y="7972654"/>
            <a:ext cx="3575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3.51</a:t>
            </a:r>
            <a:endParaRPr b="0" i="0" sz="1000" u="none" cap="none" strike="noStrike">
              <a:solidFill>
                <a:schemeClr val="dk1"/>
              </a:solidFill>
              <a:latin typeface="Calibri"/>
              <a:ea typeface="Calibri"/>
              <a:cs typeface="Calibri"/>
              <a:sym typeface="Calibri"/>
            </a:endParaRPr>
          </a:p>
        </p:txBody>
      </p:sp>
      <p:sp>
        <p:nvSpPr>
          <p:cNvPr id="2612" name="Google Shape;2612;p57"/>
          <p:cNvSpPr txBox="1"/>
          <p:nvPr/>
        </p:nvSpPr>
        <p:spPr>
          <a:xfrm>
            <a:off x="5005426" y="8372246"/>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3.92</a:t>
            </a:r>
            <a:endParaRPr b="0" i="0" sz="1000" u="none" cap="none" strike="noStrike">
              <a:solidFill>
                <a:schemeClr val="dk1"/>
              </a:solidFill>
              <a:latin typeface="Calibri"/>
              <a:ea typeface="Calibri"/>
              <a:cs typeface="Calibri"/>
              <a:sym typeface="Calibri"/>
            </a:endParaRPr>
          </a:p>
        </p:txBody>
      </p:sp>
      <p:sp>
        <p:nvSpPr>
          <p:cNvPr id="2613" name="Google Shape;2613;p57"/>
          <p:cNvSpPr txBox="1"/>
          <p:nvPr/>
        </p:nvSpPr>
        <p:spPr>
          <a:xfrm>
            <a:off x="5005426" y="8772754"/>
            <a:ext cx="3959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3.43</a:t>
            </a:r>
            <a:endParaRPr b="0" i="0" sz="1000" u="none" cap="none" strike="noStrike">
              <a:solidFill>
                <a:schemeClr val="dk1"/>
              </a:solidFill>
              <a:latin typeface="Calibri"/>
              <a:ea typeface="Calibri"/>
              <a:cs typeface="Calibri"/>
              <a:sym typeface="Calibri"/>
            </a:endParaRPr>
          </a:p>
        </p:txBody>
      </p:sp>
      <p:sp>
        <p:nvSpPr>
          <p:cNvPr id="2614" name="Google Shape;2614;p57"/>
          <p:cNvSpPr txBox="1"/>
          <p:nvPr/>
        </p:nvSpPr>
        <p:spPr>
          <a:xfrm>
            <a:off x="5005426" y="95728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3.26</a:t>
            </a:r>
            <a:endParaRPr b="0" i="0" sz="1000" u="none" cap="none" strike="noStrike">
              <a:solidFill>
                <a:schemeClr val="dk1"/>
              </a:solidFill>
              <a:latin typeface="Calibri"/>
              <a:ea typeface="Calibri"/>
              <a:cs typeface="Calibri"/>
              <a:sym typeface="Calibri"/>
            </a:endParaRPr>
          </a:p>
        </p:txBody>
      </p:sp>
      <p:sp>
        <p:nvSpPr>
          <p:cNvPr id="2615" name="Google Shape;2615;p57"/>
          <p:cNvSpPr txBox="1"/>
          <p:nvPr/>
        </p:nvSpPr>
        <p:spPr>
          <a:xfrm>
            <a:off x="5005426" y="9972446"/>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3.45</a:t>
            </a:r>
            <a:endParaRPr b="0" i="0" sz="1000" u="none" cap="none" strike="noStrike">
              <a:solidFill>
                <a:schemeClr val="dk1"/>
              </a:solidFill>
              <a:latin typeface="Calibri"/>
              <a:ea typeface="Calibri"/>
              <a:cs typeface="Calibri"/>
              <a:sym typeface="Calibri"/>
            </a:endParaRPr>
          </a:p>
        </p:txBody>
      </p:sp>
      <p:sp>
        <p:nvSpPr>
          <p:cNvPr id="2616" name="Google Shape;2616;p57"/>
          <p:cNvSpPr txBox="1"/>
          <p:nvPr/>
        </p:nvSpPr>
        <p:spPr>
          <a:xfrm>
            <a:off x="6319418" y="79726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4.47</a:t>
            </a:r>
            <a:endParaRPr b="0" i="0" sz="1000" u="none" cap="none" strike="noStrike">
              <a:solidFill>
                <a:schemeClr val="dk1"/>
              </a:solidFill>
              <a:latin typeface="Calibri"/>
              <a:ea typeface="Calibri"/>
              <a:cs typeface="Calibri"/>
              <a:sym typeface="Calibri"/>
            </a:endParaRPr>
          </a:p>
        </p:txBody>
      </p:sp>
      <p:sp>
        <p:nvSpPr>
          <p:cNvPr id="2617" name="Google Shape;2617;p57"/>
          <p:cNvSpPr txBox="1"/>
          <p:nvPr/>
        </p:nvSpPr>
        <p:spPr>
          <a:xfrm>
            <a:off x="6319418" y="8372246"/>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4.54</a:t>
            </a:r>
            <a:endParaRPr b="0" i="0" sz="1000" u="none" cap="none" strike="noStrike">
              <a:solidFill>
                <a:schemeClr val="dk1"/>
              </a:solidFill>
              <a:latin typeface="Calibri"/>
              <a:ea typeface="Calibri"/>
              <a:cs typeface="Calibri"/>
              <a:sym typeface="Calibri"/>
            </a:endParaRPr>
          </a:p>
        </p:txBody>
      </p:sp>
      <p:sp>
        <p:nvSpPr>
          <p:cNvPr id="2618" name="Google Shape;2618;p57"/>
          <p:cNvSpPr txBox="1"/>
          <p:nvPr/>
        </p:nvSpPr>
        <p:spPr>
          <a:xfrm>
            <a:off x="6319418" y="87727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4.25</a:t>
            </a:r>
            <a:endParaRPr b="0" i="0" sz="1000" u="none" cap="none" strike="noStrike">
              <a:solidFill>
                <a:schemeClr val="dk1"/>
              </a:solidFill>
              <a:latin typeface="Calibri"/>
              <a:ea typeface="Calibri"/>
              <a:cs typeface="Calibri"/>
              <a:sym typeface="Calibri"/>
            </a:endParaRPr>
          </a:p>
        </p:txBody>
      </p:sp>
      <p:sp>
        <p:nvSpPr>
          <p:cNvPr id="2619" name="Google Shape;2619;p57"/>
          <p:cNvSpPr txBox="1"/>
          <p:nvPr/>
        </p:nvSpPr>
        <p:spPr>
          <a:xfrm>
            <a:off x="6319418" y="9172346"/>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4.42</a:t>
            </a:r>
            <a:endParaRPr b="0" i="0" sz="1000" u="none" cap="none" strike="noStrike">
              <a:solidFill>
                <a:schemeClr val="dk1"/>
              </a:solidFill>
              <a:latin typeface="Calibri"/>
              <a:ea typeface="Calibri"/>
              <a:cs typeface="Calibri"/>
              <a:sym typeface="Calibri"/>
            </a:endParaRPr>
          </a:p>
        </p:txBody>
      </p:sp>
      <p:sp>
        <p:nvSpPr>
          <p:cNvPr id="2620" name="Google Shape;2620;p57"/>
          <p:cNvSpPr txBox="1"/>
          <p:nvPr/>
        </p:nvSpPr>
        <p:spPr>
          <a:xfrm>
            <a:off x="6319418" y="9572854"/>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4.41</a:t>
            </a:r>
            <a:endParaRPr b="0" i="0" sz="1000" u="none" cap="none" strike="noStrike">
              <a:solidFill>
                <a:schemeClr val="dk1"/>
              </a:solidFill>
              <a:latin typeface="Calibri"/>
              <a:ea typeface="Calibri"/>
              <a:cs typeface="Calibri"/>
              <a:sym typeface="Calibri"/>
            </a:endParaRPr>
          </a:p>
        </p:txBody>
      </p:sp>
      <p:sp>
        <p:nvSpPr>
          <p:cNvPr id="2621" name="Google Shape;2621;p57"/>
          <p:cNvSpPr txBox="1"/>
          <p:nvPr/>
        </p:nvSpPr>
        <p:spPr>
          <a:xfrm>
            <a:off x="6319418" y="9972446"/>
            <a:ext cx="3959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4.67</a:t>
            </a:r>
            <a:endParaRPr b="0" i="0" sz="1000" u="none" cap="none" strike="noStrike">
              <a:solidFill>
                <a:schemeClr val="dk1"/>
              </a:solidFill>
              <a:latin typeface="Calibri"/>
              <a:ea typeface="Calibri"/>
              <a:cs typeface="Calibri"/>
              <a:sym typeface="Calibri"/>
            </a:endParaRPr>
          </a:p>
        </p:txBody>
      </p:sp>
      <p:sp>
        <p:nvSpPr>
          <p:cNvPr id="2622" name="Google Shape;2622;p57"/>
          <p:cNvSpPr txBox="1"/>
          <p:nvPr/>
        </p:nvSpPr>
        <p:spPr>
          <a:xfrm>
            <a:off x="7634326" y="7972654"/>
            <a:ext cx="15864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36.3% / 46.6% / 38.9%</a:t>
            </a:r>
            <a:endParaRPr b="0" i="0" sz="1000" u="none" cap="none" strike="noStrike">
              <a:solidFill>
                <a:schemeClr val="dk1"/>
              </a:solidFill>
              <a:latin typeface="Calibri"/>
              <a:ea typeface="Calibri"/>
              <a:cs typeface="Calibri"/>
              <a:sym typeface="Calibri"/>
            </a:endParaRPr>
          </a:p>
        </p:txBody>
      </p:sp>
      <p:sp>
        <p:nvSpPr>
          <p:cNvPr id="2623" name="Google Shape;2623;p57"/>
          <p:cNvSpPr txBox="1"/>
          <p:nvPr/>
        </p:nvSpPr>
        <p:spPr>
          <a:xfrm>
            <a:off x="7634326" y="8372246"/>
            <a:ext cx="10817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21.9% / 12.5% /</a:t>
            </a:r>
            <a:endParaRPr b="0" i="0" sz="1000" u="none" cap="none" strike="noStrike">
              <a:solidFill>
                <a:schemeClr val="dk1"/>
              </a:solidFill>
              <a:latin typeface="Calibri"/>
              <a:ea typeface="Calibri"/>
              <a:cs typeface="Calibri"/>
              <a:sym typeface="Calibri"/>
            </a:endParaRPr>
          </a:p>
        </p:txBody>
      </p:sp>
      <p:sp>
        <p:nvSpPr>
          <p:cNvPr id="2624" name="Google Shape;2624;p57"/>
          <p:cNvSpPr txBox="1"/>
          <p:nvPr/>
        </p:nvSpPr>
        <p:spPr>
          <a:xfrm>
            <a:off x="8072323" y="8772754"/>
            <a:ext cx="6812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 25.0% /</a:t>
            </a:r>
            <a:endParaRPr b="0" i="0" sz="1000" u="none" cap="none" strike="noStrike">
              <a:solidFill>
                <a:schemeClr val="dk1"/>
              </a:solidFill>
              <a:latin typeface="Calibri"/>
              <a:ea typeface="Calibri"/>
              <a:cs typeface="Calibri"/>
              <a:sym typeface="Calibri"/>
            </a:endParaRPr>
          </a:p>
        </p:txBody>
      </p:sp>
      <p:sp>
        <p:nvSpPr>
          <p:cNvPr id="2625" name="Google Shape;2625;p57"/>
          <p:cNvSpPr txBox="1"/>
          <p:nvPr/>
        </p:nvSpPr>
        <p:spPr>
          <a:xfrm>
            <a:off x="7634326" y="9172346"/>
            <a:ext cx="14337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17.9% / 15.1% / 16.5%</a:t>
            </a:r>
            <a:endParaRPr b="0" i="0" sz="1000" u="none" cap="none" strike="noStrike">
              <a:solidFill>
                <a:schemeClr val="dk1"/>
              </a:solidFill>
              <a:latin typeface="Calibri"/>
              <a:ea typeface="Calibri"/>
              <a:cs typeface="Calibri"/>
              <a:sym typeface="Calibri"/>
            </a:endParaRPr>
          </a:p>
        </p:txBody>
      </p:sp>
      <p:sp>
        <p:nvSpPr>
          <p:cNvPr id="2626" name="Google Shape;2626;p57"/>
          <p:cNvSpPr txBox="1"/>
          <p:nvPr/>
        </p:nvSpPr>
        <p:spPr>
          <a:xfrm>
            <a:off x="7634326" y="9572854"/>
            <a:ext cx="1424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11.5% / 9.3% / 12.2%</a:t>
            </a:r>
            <a:endParaRPr b="0" i="0" sz="1000" u="none" cap="none" strike="noStrike">
              <a:solidFill>
                <a:schemeClr val="dk1"/>
              </a:solidFill>
              <a:latin typeface="Calibri"/>
              <a:ea typeface="Calibri"/>
              <a:cs typeface="Calibri"/>
              <a:sym typeface="Calibri"/>
            </a:endParaRPr>
          </a:p>
        </p:txBody>
      </p:sp>
      <p:sp>
        <p:nvSpPr>
          <p:cNvPr id="2627" name="Google Shape;2627;p57"/>
          <p:cNvSpPr txBox="1"/>
          <p:nvPr/>
        </p:nvSpPr>
        <p:spPr>
          <a:xfrm>
            <a:off x="7634326" y="9972446"/>
            <a:ext cx="5102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9.7% /</a:t>
            </a:r>
            <a:endParaRPr b="0" i="0" sz="1000" u="none" cap="none" strike="noStrike">
              <a:solidFill>
                <a:schemeClr val="dk1"/>
              </a:solidFill>
              <a:latin typeface="Calibri"/>
              <a:ea typeface="Calibri"/>
              <a:cs typeface="Calibri"/>
              <a:sym typeface="Calibri"/>
            </a:endParaRPr>
          </a:p>
        </p:txBody>
      </p:sp>
      <p:sp>
        <p:nvSpPr>
          <p:cNvPr id="2628" name="Google Shape;2628;p57"/>
          <p:cNvSpPr txBox="1"/>
          <p:nvPr/>
        </p:nvSpPr>
        <p:spPr>
          <a:xfrm>
            <a:off x="8436254" y="9972446"/>
            <a:ext cx="5193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 6.9%</a:t>
            </a:r>
            <a:endParaRPr b="0" i="0" sz="1000" u="none" cap="none" strike="noStrike">
              <a:solidFill>
                <a:schemeClr val="dk1"/>
              </a:solidFill>
              <a:latin typeface="Calibri"/>
              <a:ea typeface="Calibri"/>
              <a:cs typeface="Calibri"/>
              <a:sym typeface="Calibri"/>
            </a:endParaRPr>
          </a:p>
        </p:txBody>
      </p:sp>
      <p:sp>
        <p:nvSpPr>
          <p:cNvPr id="2629" name="Google Shape;2629;p57"/>
          <p:cNvSpPr txBox="1"/>
          <p:nvPr/>
        </p:nvSpPr>
        <p:spPr>
          <a:xfrm>
            <a:off x="7634326" y="10372954"/>
            <a:ext cx="9674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6.3% / 5.4% /</a:t>
            </a:r>
            <a:endParaRPr b="0" i="0" sz="1000" u="none" cap="none" strike="noStrike">
              <a:solidFill>
                <a:schemeClr val="dk1"/>
              </a:solidFill>
              <a:latin typeface="Calibri"/>
              <a:ea typeface="Calibri"/>
              <a:cs typeface="Calibri"/>
              <a:sym typeface="Calibri"/>
            </a:endParaRPr>
          </a:p>
        </p:txBody>
      </p:sp>
      <p:sp>
        <p:nvSpPr>
          <p:cNvPr id="2630" name="Google Shape;2630;p57"/>
          <p:cNvSpPr txBox="1"/>
          <p:nvPr/>
        </p:nvSpPr>
        <p:spPr>
          <a:xfrm>
            <a:off x="2376526" y="8372246"/>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4.26</a:t>
            </a:r>
            <a:endParaRPr b="0" i="0" sz="1000" u="none" cap="none" strike="noStrike">
              <a:solidFill>
                <a:schemeClr val="dk1"/>
              </a:solidFill>
              <a:latin typeface="Calibri"/>
              <a:ea typeface="Calibri"/>
              <a:cs typeface="Calibri"/>
              <a:sym typeface="Calibri"/>
            </a:endParaRPr>
          </a:p>
        </p:txBody>
      </p:sp>
      <p:sp>
        <p:nvSpPr>
          <p:cNvPr id="2631" name="Google Shape;2631;p57"/>
          <p:cNvSpPr txBox="1"/>
          <p:nvPr/>
        </p:nvSpPr>
        <p:spPr>
          <a:xfrm>
            <a:off x="2376526" y="10372954"/>
            <a:ext cx="3767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4.31</a:t>
            </a:r>
            <a:endParaRPr b="0" i="0" sz="1000" u="none" cap="none" strike="noStrike">
              <a:solidFill>
                <a:schemeClr val="dk1"/>
              </a:solidFill>
              <a:latin typeface="Calibri"/>
              <a:ea typeface="Calibri"/>
              <a:cs typeface="Calibri"/>
              <a:sym typeface="Calibri"/>
            </a:endParaRPr>
          </a:p>
        </p:txBody>
      </p:sp>
      <p:sp>
        <p:nvSpPr>
          <p:cNvPr id="2632" name="Google Shape;2632;p57"/>
          <p:cNvSpPr txBox="1"/>
          <p:nvPr/>
        </p:nvSpPr>
        <p:spPr>
          <a:xfrm>
            <a:off x="8611819" y="8372246"/>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49.2%</a:t>
            </a:r>
            <a:endParaRPr b="0" i="0" sz="1000" u="none" cap="none" strike="noStrike">
              <a:solidFill>
                <a:schemeClr val="dk1"/>
              </a:solidFill>
              <a:latin typeface="Calibri"/>
              <a:ea typeface="Calibri"/>
              <a:cs typeface="Calibri"/>
              <a:sym typeface="Calibri"/>
            </a:endParaRPr>
          </a:p>
        </p:txBody>
      </p:sp>
      <p:sp>
        <p:nvSpPr>
          <p:cNvPr id="2633" name="Google Shape;2633;p57"/>
          <p:cNvSpPr txBox="1"/>
          <p:nvPr/>
        </p:nvSpPr>
        <p:spPr>
          <a:xfrm>
            <a:off x="7634326" y="8772754"/>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34.0%</a:t>
            </a:r>
            <a:endParaRPr b="0" i="0" sz="1000" u="none" cap="none" strike="noStrike">
              <a:solidFill>
                <a:schemeClr val="dk1"/>
              </a:solidFill>
              <a:latin typeface="Calibri"/>
              <a:ea typeface="Calibri"/>
              <a:cs typeface="Calibri"/>
              <a:sym typeface="Calibri"/>
            </a:endParaRPr>
          </a:p>
        </p:txBody>
      </p:sp>
      <p:sp>
        <p:nvSpPr>
          <p:cNvPr id="2634" name="Google Shape;2634;p57"/>
          <p:cNvSpPr txBox="1"/>
          <p:nvPr/>
        </p:nvSpPr>
        <p:spPr>
          <a:xfrm>
            <a:off x="8650224" y="8772754"/>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45.5%</a:t>
            </a:r>
            <a:endParaRPr b="0" i="0" sz="1000" u="none" cap="none" strike="noStrike">
              <a:solidFill>
                <a:schemeClr val="dk1"/>
              </a:solidFill>
              <a:latin typeface="Calibri"/>
              <a:ea typeface="Calibri"/>
              <a:cs typeface="Calibri"/>
              <a:sym typeface="Calibri"/>
            </a:endParaRPr>
          </a:p>
        </p:txBody>
      </p:sp>
      <p:sp>
        <p:nvSpPr>
          <p:cNvPr id="2635" name="Google Shape;2635;p57"/>
          <p:cNvSpPr txBox="1"/>
          <p:nvPr/>
        </p:nvSpPr>
        <p:spPr>
          <a:xfrm>
            <a:off x="8042148" y="9972446"/>
            <a:ext cx="5001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16.7%</a:t>
            </a:r>
            <a:endParaRPr b="0" i="0" sz="1000" u="none" cap="none" strike="noStrike">
              <a:solidFill>
                <a:schemeClr val="dk1"/>
              </a:solidFill>
              <a:latin typeface="Calibri"/>
              <a:ea typeface="Calibri"/>
              <a:cs typeface="Calibri"/>
              <a:sym typeface="Calibri"/>
            </a:endParaRPr>
          </a:p>
        </p:txBody>
      </p:sp>
      <p:sp>
        <p:nvSpPr>
          <p:cNvPr id="2636" name="Google Shape;2636;p57"/>
          <p:cNvSpPr txBox="1"/>
          <p:nvPr/>
        </p:nvSpPr>
        <p:spPr>
          <a:xfrm>
            <a:off x="8500262" y="10372954"/>
            <a:ext cx="4718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27.1%</a:t>
            </a:r>
            <a:endParaRPr b="0" i="0" sz="1000" u="none" cap="none" strike="noStrike">
              <a:solidFill>
                <a:schemeClr val="dk1"/>
              </a:solidFill>
              <a:latin typeface="Calibri"/>
              <a:ea typeface="Calibri"/>
              <a:cs typeface="Calibri"/>
              <a:sym typeface="Calibri"/>
            </a:endParaRPr>
          </a:p>
        </p:txBody>
      </p:sp>
      <p:sp>
        <p:nvSpPr>
          <p:cNvPr id="2637" name="Google Shape;2637;p57"/>
          <p:cNvSpPr txBox="1"/>
          <p:nvPr/>
        </p:nvSpPr>
        <p:spPr>
          <a:xfrm>
            <a:off x="5005426" y="9172346"/>
            <a:ext cx="3575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3.17</a:t>
            </a:r>
            <a:endParaRPr b="0" i="0" sz="1000" u="none" cap="none" strike="noStrike">
              <a:solidFill>
                <a:schemeClr val="dk1"/>
              </a:solidFill>
              <a:latin typeface="Calibri"/>
              <a:ea typeface="Calibri"/>
              <a:cs typeface="Calibri"/>
              <a:sym typeface="Calibri"/>
            </a:endParaRPr>
          </a:p>
        </p:txBody>
      </p:sp>
      <p:sp>
        <p:nvSpPr>
          <p:cNvPr id="2638" name="Google Shape;2638;p57"/>
          <p:cNvSpPr txBox="1"/>
          <p:nvPr/>
        </p:nvSpPr>
        <p:spPr>
          <a:xfrm>
            <a:off x="5005426" y="103729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4.33</a:t>
            </a:r>
            <a:endParaRPr b="0" i="0" sz="1000" u="none" cap="none" strike="noStrike">
              <a:solidFill>
                <a:schemeClr val="dk1"/>
              </a:solidFill>
              <a:latin typeface="Calibri"/>
              <a:ea typeface="Calibri"/>
              <a:cs typeface="Calibri"/>
              <a:sym typeface="Calibri"/>
            </a:endParaRPr>
          </a:p>
        </p:txBody>
      </p:sp>
      <p:sp>
        <p:nvSpPr>
          <p:cNvPr id="2639" name="Google Shape;2639;p57"/>
          <p:cNvSpPr txBox="1"/>
          <p:nvPr/>
        </p:nvSpPr>
        <p:spPr>
          <a:xfrm>
            <a:off x="3690518" y="103729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4.33</a:t>
            </a:r>
            <a:endParaRPr b="0" i="0" sz="1000" u="none" cap="none" strike="noStrike">
              <a:solidFill>
                <a:schemeClr val="dk1"/>
              </a:solidFill>
              <a:latin typeface="Calibri"/>
              <a:ea typeface="Calibri"/>
              <a:cs typeface="Calibri"/>
              <a:sym typeface="Calibri"/>
            </a:endParaRPr>
          </a:p>
        </p:txBody>
      </p:sp>
      <p:sp>
        <p:nvSpPr>
          <p:cNvPr id="2640" name="Google Shape;2640;p57"/>
          <p:cNvSpPr txBox="1"/>
          <p:nvPr/>
        </p:nvSpPr>
        <p:spPr>
          <a:xfrm>
            <a:off x="6319418" y="10372954"/>
            <a:ext cx="3858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4.26</a:t>
            </a:r>
            <a:endParaRPr b="0" i="0" sz="1000" u="none" cap="none" strike="noStrike">
              <a:solidFill>
                <a:schemeClr val="dk1"/>
              </a:solidFill>
              <a:latin typeface="Calibri"/>
              <a:ea typeface="Calibri"/>
              <a:cs typeface="Calibri"/>
              <a:sym typeface="Calibri"/>
            </a:endParaRPr>
          </a:p>
        </p:txBody>
      </p:sp>
      <p:sp>
        <p:nvSpPr>
          <p:cNvPr id="2641" name="Google Shape;2641;p57"/>
          <p:cNvSpPr txBox="1"/>
          <p:nvPr/>
        </p:nvSpPr>
        <p:spPr>
          <a:xfrm>
            <a:off x="609905" y="11058754"/>
            <a:ext cx="3672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 | Nov 2025</a:t>
            </a:r>
            <a:endParaRPr b="0" i="0" sz="1000" u="none" cap="none" strike="noStrike">
              <a:solidFill>
                <a:schemeClr val="dk1"/>
              </a:solidFill>
              <a:latin typeface="Calibri"/>
              <a:ea typeface="Calibri"/>
              <a:cs typeface="Calibri"/>
              <a:sym typeface="Calibri"/>
            </a:endParaRPr>
          </a:p>
        </p:txBody>
      </p:sp>
      <p:sp>
        <p:nvSpPr>
          <p:cNvPr id="2642" name="Google Shape;2642;p57"/>
          <p:cNvSpPr txBox="1"/>
          <p:nvPr/>
        </p:nvSpPr>
        <p:spPr>
          <a:xfrm>
            <a:off x="11407140" y="11058754"/>
            <a:ext cx="2816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44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7" name="Shape 2647"/>
        <p:cNvGrpSpPr/>
        <p:nvPr/>
      </p:nvGrpSpPr>
      <p:grpSpPr>
        <a:xfrm>
          <a:off x="0" y="0"/>
          <a:ext cx="0" cy="0"/>
          <a:chOff x="0" y="0"/>
          <a:chExt cx="0" cy="0"/>
        </a:xfrm>
      </p:grpSpPr>
      <p:sp>
        <p:nvSpPr>
          <p:cNvPr id="2648" name="Google Shape;2648;p58"/>
          <p:cNvSpPr/>
          <p:nvPr/>
        </p:nvSpPr>
        <p:spPr>
          <a:xfrm>
            <a:off x="0" y="0"/>
            <a:ext cx="12191695" cy="79342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58"/>
          <p:cNvSpPr/>
          <p:nvPr/>
        </p:nvSpPr>
        <p:spPr>
          <a:xfrm>
            <a:off x="0" y="0"/>
            <a:ext cx="12191695" cy="79342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8"/>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58"/>
          <p:cNvSpPr txBox="1"/>
          <p:nvPr/>
        </p:nvSpPr>
        <p:spPr>
          <a:xfrm>
            <a:off x="609905" y="685800"/>
            <a:ext cx="8086954"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Appendix A: Platform Breakdown &amp; Data Sources</a:t>
            </a:r>
            <a:endParaRPr b="0" i="0" sz="2400" u="none" cap="none" strike="noStrike">
              <a:solidFill>
                <a:schemeClr val="dk1"/>
              </a:solidFill>
              <a:latin typeface="Calibri"/>
              <a:ea typeface="Calibri"/>
              <a:cs typeface="Calibri"/>
              <a:sym typeface="Calibri"/>
            </a:endParaRPr>
          </a:p>
        </p:txBody>
      </p:sp>
      <p:sp>
        <p:nvSpPr>
          <p:cNvPr id="2652" name="Google Shape;2652;p58"/>
          <p:cNvSpPr txBox="1"/>
          <p:nvPr/>
        </p:nvSpPr>
        <p:spPr>
          <a:xfrm>
            <a:off x="609905" y="1218895"/>
            <a:ext cx="29535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0" i="0" lang="en-US" sz="1200" u="none" cap="none" strike="noStrike">
                <a:solidFill>
                  <a:srgbClr val="374151"/>
                </a:solidFill>
                <a:latin typeface="Inter"/>
                <a:ea typeface="Inter"/>
                <a:cs typeface="Inter"/>
                <a:sym typeface="Inter"/>
              </a:rPr>
              <a:t>Base: 3,084 records across 6 platforms</a:t>
            </a:r>
            <a:endParaRPr b="0" i="0" sz="1200" u="none" cap="none" strike="noStrike">
              <a:solidFill>
                <a:schemeClr val="dk1"/>
              </a:solidFill>
              <a:latin typeface="Calibri"/>
              <a:ea typeface="Calibri"/>
              <a:cs typeface="Calibri"/>
              <a:sym typeface="Calibri"/>
            </a:endParaRPr>
          </a:p>
        </p:txBody>
      </p:sp>
      <p:sp>
        <p:nvSpPr>
          <p:cNvPr id="2653" name="Google Shape;2653;p58"/>
          <p:cNvSpPr/>
          <p:nvPr/>
        </p:nvSpPr>
        <p:spPr>
          <a:xfrm>
            <a:off x="609905" y="1772107"/>
            <a:ext cx="10972800" cy="3705149"/>
          </a:xfrm>
          <a:prstGeom prst="roundRect">
            <a:avLst>
              <a:gd fmla="val 508"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58"/>
          <p:cNvSpPr/>
          <p:nvPr/>
        </p:nvSpPr>
        <p:spPr>
          <a:xfrm>
            <a:off x="619049" y="1781251"/>
            <a:ext cx="10953598" cy="76169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E3A8A"/>
              </a:solidFill>
            </a:endParaRPr>
          </a:p>
        </p:txBody>
      </p:sp>
      <p:sp>
        <p:nvSpPr>
          <p:cNvPr id="2655" name="Google Shape;2655;p58"/>
          <p:cNvSpPr/>
          <p:nvPr/>
        </p:nvSpPr>
        <p:spPr>
          <a:xfrm>
            <a:off x="619049" y="253380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8"/>
          <p:cNvSpPr/>
          <p:nvPr/>
        </p:nvSpPr>
        <p:spPr>
          <a:xfrm>
            <a:off x="619049" y="2537460"/>
            <a:ext cx="10953598" cy="4956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58"/>
          <p:cNvSpPr/>
          <p:nvPr/>
        </p:nvSpPr>
        <p:spPr>
          <a:xfrm>
            <a:off x="619049" y="302392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58"/>
          <p:cNvSpPr/>
          <p:nvPr/>
        </p:nvSpPr>
        <p:spPr>
          <a:xfrm>
            <a:off x="619049" y="3027578"/>
            <a:ext cx="10953598" cy="4956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8"/>
          <p:cNvSpPr/>
          <p:nvPr/>
        </p:nvSpPr>
        <p:spPr>
          <a:xfrm>
            <a:off x="619049" y="3514039"/>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8"/>
          <p:cNvSpPr/>
          <p:nvPr/>
        </p:nvSpPr>
        <p:spPr>
          <a:xfrm>
            <a:off x="619049" y="3516782"/>
            <a:ext cx="10953598" cy="4956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58"/>
          <p:cNvSpPr/>
          <p:nvPr/>
        </p:nvSpPr>
        <p:spPr>
          <a:xfrm>
            <a:off x="619049" y="4003243"/>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58"/>
          <p:cNvSpPr/>
          <p:nvPr/>
        </p:nvSpPr>
        <p:spPr>
          <a:xfrm>
            <a:off x="619049" y="4006901"/>
            <a:ext cx="10953598" cy="4956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58"/>
          <p:cNvSpPr/>
          <p:nvPr/>
        </p:nvSpPr>
        <p:spPr>
          <a:xfrm>
            <a:off x="619049" y="4493362"/>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58"/>
          <p:cNvSpPr/>
          <p:nvPr/>
        </p:nvSpPr>
        <p:spPr>
          <a:xfrm>
            <a:off x="619049" y="4496105"/>
            <a:ext cx="10953598" cy="4956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58"/>
          <p:cNvSpPr/>
          <p:nvPr/>
        </p:nvSpPr>
        <p:spPr>
          <a:xfrm>
            <a:off x="619049" y="498256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58"/>
          <p:cNvSpPr txBox="1"/>
          <p:nvPr/>
        </p:nvSpPr>
        <p:spPr>
          <a:xfrm>
            <a:off x="923544" y="2066544"/>
            <a:ext cx="710489"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Montserrat"/>
              <a:buNone/>
            </a:pPr>
            <a:r>
              <a:rPr b="1" i="0" lang="en-US" sz="1000" u="none" cap="none" strike="noStrike">
                <a:solidFill>
                  <a:srgbClr val="1E3A8A"/>
                </a:solidFill>
                <a:latin typeface="Montserrat"/>
                <a:ea typeface="Montserrat"/>
                <a:cs typeface="Montserrat"/>
                <a:sym typeface="Montserrat"/>
              </a:rPr>
              <a:t>Platform</a:t>
            </a:r>
            <a:endParaRPr b="0" i="0" sz="1000" u="none" cap="none" strike="noStrike">
              <a:solidFill>
                <a:srgbClr val="1E3A8A"/>
              </a:solidFill>
              <a:latin typeface="Calibri"/>
              <a:ea typeface="Calibri"/>
              <a:cs typeface="Calibri"/>
              <a:sym typeface="Calibri"/>
            </a:endParaRPr>
          </a:p>
        </p:txBody>
      </p:sp>
      <p:sp>
        <p:nvSpPr>
          <p:cNvPr id="2667" name="Google Shape;2667;p58"/>
          <p:cNvSpPr txBox="1"/>
          <p:nvPr/>
        </p:nvSpPr>
        <p:spPr>
          <a:xfrm>
            <a:off x="771754" y="2690165"/>
            <a:ext cx="5193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Reddit</a:t>
            </a:r>
            <a:endParaRPr b="0" i="0" sz="1000" u="none" cap="none" strike="noStrike">
              <a:solidFill>
                <a:schemeClr val="dk1"/>
              </a:solidFill>
              <a:latin typeface="Calibri"/>
              <a:ea typeface="Calibri"/>
              <a:cs typeface="Calibri"/>
              <a:sym typeface="Calibri"/>
            </a:endParaRPr>
          </a:p>
        </p:txBody>
      </p:sp>
      <p:sp>
        <p:nvSpPr>
          <p:cNvPr id="2668" name="Google Shape;2668;p58"/>
          <p:cNvSpPr txBox="1"/>
          <p:nvPr/>
        </p:nvSpPr>
        <p:spPr>
          <a:xfrm>
            <a:off x="771754" y="3179369"/>
            <a:ext cx="11484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YouTube Videos</a:t>
            </a:r>
            <a:endParaRPr b="0" i="0" sz="1000" u="none" cap="none" strike="noStrike">
              <a:solidFill>
                <a:schemeClr val="dk1"/>
              </a:solidFill>
              <a:latin typeface="Calibri"/>
              <a:ea typeface="Calibri"/>
              <a:cs typeface="Calibri"/>
              <a:sym typeface="Calibri"/>
            </a:endParaRPr>
          </a:p>
        </p:txBody>
      </p:sp>
      <p:sp>
        <p:nvSpPr>
          <p:cNvPr id="2669" name="Google Shape;2669;p58"/>
          <p:cNvSpPr txBox="1"/>
          <p:nvPr/>
        </p:nvSpPr>
        <p:spPr>
          <a:xfrm>
            <a:off x="771754" y="3669487"/>
            <a:ext cx="13962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YouTube Comments</a:t>
            </a:r>
            <a:endParaRPr b="0" i="0" sz="1000" u="none" cap="none" strike="noStrike">
              <a:solidFill>
                <a:schemeClr val="dk1"/>
              </a:solidFill>
              <a:latin typeface="Calibri"/>
              <a:ea typeface="Calibri"/>
              <a:cs typeface="Calibri"/>
              <a:sym typeface="Calibri"/>
            </a:endParaRPr>
          </a:p>
        </p:txBody>
      </p:sp>
      <p:sp>
        <p:nvSpPr>
          <p:cNvPr id="2670" name="Google Shape;2670;p58"/>
          <p:cNvSpPr txBox="1"/>
          <p:nvPr/>
        </p:nvSpPr>
        <p:spPr>
          <a:xfrm>
            <a:off x="771754" y="4158691"/>
            <a:ext cx="5294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TikTok</a:t>
            </a:r>
            <a:endParaRPr b="0" i="0" sz="1000" u="none" cap="none" strike="noStrike">
              <a:solidFill>
                <a:schemeClr val="dk1"/>
              </a:solidFill>
              <a:latin typeface="Calibri"/>
              <a:ea typeface="Calibri"/>
              <a:cs typeface="Calibri"/>
              <a:sym typeface="Calibri"/>
            </a:endParaRPr>
          </a:p>
        </p:txBody>
      </p:sp>
      <p:sp>
        <p:nvSpPr>
          <p:cNvPr id="2671" name="Google Shape;2671;p58"/>
          <p:cNvSpPr txBox="1"/>
          <p:nvPr/>
        </p:nvSpPr>
        <p:spPr>
          <a:xfrm>
            <a:off x="771754" y="4648810"/>
            <a:ext cx="7580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Instagram</a:t>
            </a:r>
            <a:endParaRPr b="0" i="0" sz="1000" u="none" cap="none" strike="noStrike">
              <a:solidFill>
                <a:schemeClr val="dk1"/>
              </a:solidFill>
              <a:latin typeface="Calibri"/>
              <a:ea typeface="Calibri"/>
              <a:cs typeface="Calibri"/>
              <a:sym typeface="Calibri"/>
            </a:endParaRPr>
          </a:p>
        </p:txBody>
      </p:sp>
      <p:sp>
        <p:nvSpPr>
          <p:cNvPr id="2672" name="Google Shape;2672;p58"/>
          <p:cNvSpPr txBox="1"/>
          <p:nvPr/>
        </p:nvSpPr>
        <p:spPr>
          <a:xfrm>
            <a:off x="3044038" y="2066544"/>
            <a:ext cx="672084" cy="171907"/>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ontserrat"/>
              <a:buNone/>
            </a:pPr>
            <a:r>
              <a:rPr b="1" i="0" lang="en-US" sz="1000" u="none" cap="none" strike="noStrike">
                <a:solidFill>
                  <a:srgbClr val="1E3A8A"/>
                </a:solidFill>
                <a:latin typeface="Montserrat"/>
                <a:ea typeface="Montserrat"/>
                <a:cs typeface="Montserrat"/>
                <a:sym typeface="Montserrat"/>
              </a:rPr>
              <a:t>Records</a:t>
            </a:r>
            <a:endParaRPr b="0" i="0" sz="1000" u="none" cap="none" strike="noStrike">
              <a:solidFill>
                <a:srgbClr val="1E3A8A"/>
              </a:solidFill>
              <a:latin typeface="Calibri"/>
              <a:ea typeface="Calibri"/>
              <a:cs typeface="Calibri"/>
              <a:sym typeface="Calibri"/>
            </a:endParaRPr>
          </a:p>
        </p:txBody>
      </p:sp>
      <p:sp>
        <p:nvSpPr>
          <p:cNvPr id="2673" name="Google Shape;2673;p58"/>
          <p:cNvSpPr txBox="1"/>
          <p:nvPr/>
        </p:nvSpPr>
        <p:spPr>
          <a:xfrm>
            <a:off x="3124505" y="3179369"/>
            <a:ext cx="348386"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383</a:t>
            </a:r>
            <a:endParaRPr b="0" i="0" sz="1000" u="none" cap="none" strike="noStrike">
              <a:solidFill>
                <a:schemeClr val="dk1"/>
              </a:solidFill>
              <a:latin typeface="Calibri"/>
              <a:ea typeface="Calibri"/>
              <a:cs typeface="Calibri"/>
              <a:sym typeface="Calibri"/>
            </a:endParaRPr>
          </a:p>
        </p:txBody>
      </p:sp>
      <p:sp>
        <p:nvSpPr>
          <p:cNvPr id="2674" name="Google Shape;2674;p58"/>
          <p:cNvSpPr txBox="1"/>
          <p:nvPr/>
        </p:nvSpPr>
        <p:spPr>
          <a:xfrm>
            <a:off x="3129991" y="3669487"/>
            <a:ext cx="33832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572</a:t>
            </a:r>
            <a:endParaRPr b="0" i="0" sz="1000" u="none" cap="none" strike="noStrike">
              <a:solidFill>
                <a:schemeClr val="dk1"/>
              </a:solidFill>
              <a:latin typeface="Calibri"/>
              <a:ea typeface="Calibri"/>
              <a:cs typeface="Calibri"/>
              <a:sym typeface="Calibri"/>
            </a:endParaRPr>
          </a:p>
        </p:txBody>
      </p:sp>
      <p:sp>
        <p:nvSpPr>
          <p:cNvPr id="2675" name="Google Shape;2675;p58"/>
          <p:cNvSpPr txBox="1"/>
          <p:nvPr/>
        </p:nvSpPr>
        <p:spPr>
          <a:xfrm>
            <a:off x="3128162" y="4158691"/>
            <a:ext cx="348386"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780</a:t>
            </a:r>
            <a:endParaRPr b="0" i="0" sz="1000" u="none" cap="none" strike="noStrike">
              <a:solidFill>
                <a:schemeClr val="dk1"/>
              </a:solidFill>
              <a:latin typeface="Calibri"/>
              <a:ea typeface="Calibri"/>
              <a:cs typeface="Calibri"/>
              <a:sym typeface="Calibri"/>
            </a:endParaRPr>
          </a:p>
        </p:txBody>
      </p:sp>
      <p:sp>
        <p:nvSpPr>
          <p:cNvPr id="2676" name="Google Shape;2676;p58"/>
          <p:cNvSpPr txBox="1"/>
          <p:nvPr/>
        </p:nvSpPr>
        <p:spPr>
          <a:xfrm>
            <a:off x="3151937" y="4648810"/>
            <a:ext cx="300838"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110</a:t>
            </a:r>
            <a:endParaRPr b="0" i="0" sz="1000" u="none" cap="none" strike="noStrike">
              <a:solidFill>
                <a:schemeClr val="dk1"/>
              </a:solidFill>
              <a:latin typeface="Calibri"/>
              <a:ea typeface="Calibri"/>
              <a:cs typeface="Calibri"/>
              <a:sym typeface="Calibri"/>
            </a:endParaRPr>
          </a:p>
        </p:txBody>
      </p:sp>
      <p:sp>
        <p:nvSpPr>
          <p:cNvPr id="2677" name="Google Shape;2677;p58"/>
          <p:cNvSpPr txBox="1"/>
          <p:nvPr/>
        </p:nvSpPr>
        <p:spPr>
          <a:xfrm>
            <a:off x="4118458" y="2066544"/>
            <a:ext cx="357530"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Montserrat"/>
              <a:buNone/>
            </a:pPr>
            <a:r>
              <a:rPr b="1" i="0" lang="en-US" sz="1000" u="none" cap="none" strike="noStrike">
                <a:solidFill>
                  <a:srgbClr val="1E3A8A"/>
                </a:solidFill>
                <a:latin typeface="Montserrat"/>
                <a:ea typeface="Montserrat"/>
                <a:cs typeface="Montserrat"/>
                <a:sym typeface="Montserrat"/>
              </a:rPr>
              <a:t>File</a:t>
            </a:r>
            <a:endParaRPr b="0" i="0" sz="1000" u="none" cap="none" strike="noStrike">
              <a:solidFill>
                <a:srgbClr val="1E3A8A"/>
              </a:solidFill>
              <a:latin typeface="Calibri"/>
              <a:ea typeface="Calibri"/>
              <a:cs typeface="Calibri"/>
              <a:sym typeface="Calibri"/>
            </a:endParaRPr>
          </a:p>
        </p:txBody>
      </p:sp>
      <p:sp>
        <p:nvSpPr>
          <p:cNvPr id="2678" name="Google Shape;2678;p58"/>
          <p:cNvSpPr txBox="1"/>
          <p:nvPr/>
        </p:nvSpPr>
        <p:spPr>
          <a:xfrm>
            <a:off x="4058107" y="2690165"/>
            <a:ext cx="19577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social_media_posts_final.json</a:t>
            </a:r>
            <a:endParaRPr b="0" i="0" sz="1000" u="none" cap="none" strike="noStrike">
              <a:solidFill>
                <a:schemeClr val="dk1"/>
              </a:solidFill>
              <a:latin typeface="Calibri"/>
              <a:ea typeface="Calibri"/>
              <a:cs typeface="Calibri"/>
              <a:sym typeface="Calibri"/>
            </a:endParaRPr>
          </a:p>
        </p:txBody>
      </p:sp>
      <p:sp>
        <p:nvSpPr>
          <p:cNvPr id="2679" name="Google Shape;2679;p58"/>
          <p:cNvSpPr txBox="1"/>
          <p:nvPr/>
        </p:nvSpPr>
        <p:spPr>
          <a:xfrm>
            <a:off x="4058107" y="3179369"/>
            <a:ext cx="13862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youtube_videos.json</a:t>
            </a:r>
            <a:endParaRPr b="0" i="0" sz="1000" u="none" cap="none" strike="noStrike">
              <a:solidFill>
                <a:schemeClr val="dk1"/>
              </a:solidFill>
              <a:latin typeface="Calibri"/>
              <a:ea typeface="Calibri"/>
              <a:cs typeface="Calibri"/>
              <a:sym typeface="Calibri"/>
            </a:endParaRPr>
          </a:p>
        </p:txBody>
      </p:sp>
      <p:sp>
        <p:nvSpPr>
          <p:cNvPr id="2680" name="Google Shape;2680;p58"/>
          <p:cNvSpPr txBox="1"/>
          <p:nvPr/>
        </p:nvSpPr>
        <p:spPr>
          <a:xfrm>
            <a:off x="4058107" y="3669487"/>
            <a:ext cx="19577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social_media_posts_final.json</a:t>
            </a:r>
            <a:endParaRPr b="0" i="0" sz="1000" u="none" cap="none" strike="noStrike">
              <a:solidFill>
                <a:schemeClr val="dk1"/>
              </a:solidFill>
              <a:latin typeface="Calibri"/>
              <a:ea typeface="Calibri"/>
              <a:cs typeface="Calibri"/>
              <a:sym typeface="Calibri"/>
            </a:endParaRPr>
          </a:p>
        </p:txBody>
      </p:sp>
      <p:sp>
        <p:nvSpPr>
          <p:cNvPr id="2681" name="Google Shape;2681;p58"/>
          <p:cNvSpPr txBox="1"/>
          <p:nvPr/>
        </p:nvSpPr>
        <p:spPr>
          <a:xfrm>
            <a:off x="4058107" y="4158691"/>
            <a:ext cx="12152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tiktok_videos.json</a:t>
            </a:r>
            <a:endParaRPr b="0" i="0" sz="1000" u="none" cap="none" strike="noStrike">
              <a:solidFill>
                <a:schemeClr val="dk1"/>
              </a:solidFill>
              <a:latin typeface="Calibri"/>
              <a:ea typeface="Calibri"/>
              <a:cs typeface="Calibri"/>
              <a:sym typeface="Calibri"/>
            </a:endParaRPr>
          </a:p>
        </p:txBody>
      </p:sp>
      <p:sp>
        <p:nvSpPr>
          <p:cNvPr id="2682" name="Google Shape;2682;p58"/>
          <p:cNvSpPr txBox="1"/>
          <p:nvPr/>
        </p:nvSpPr>
        <p:spPr>
          <a:xfrm>
            <a:off x="4058107" y="4648810"/>
            <a:ext cx="1786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instagram_videos_raw.json</a:t>
            </a:r>
            <a:endParaRPr b="0" i="0" sz="1000" u="none" cap="none" strike="noStrike">
              <a:solidFill>
                <a:schemeClr val="dk1"/>
              </a:solidFill>
              <a:latin typeface="Calibri"/>
              <a:ea typeface="Calibri"/>
              <a:cs typeface="Calibri"/>
              <a:sym typeface="Calibri"/>
            </a:endParaRPr>
          </a:p>
        </p:txBody>
      </p:sp>
      <p:sp>
        <p:nvSpPr>
          <p:cNvPr id="2683" name="Google Shape;2683;p58"/>
          <p:cNvSpPr txBox="1"/>
          <p:nvPr/>
        </p:nvSpPr>
        <p:spPr>
          <a:xfrm>
            <a:off x="6781190" y="2066544"/>
            <a:ext cx="1386230"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Montserrat"/>
              <a:buNone/>
            </a:pPr>
            <a:r>
              <a:rPr b="1" i="0" lang="en-US" sz="1000" u="none" cap="none" strike="noStrike">
                <a:solidFill>
                  <a:srgbClr val="1E3A8A"/>
                </a:solidFill>
                <a:latin typeface="Montserrat"/>
                <a:ea typeface="Montserrat"/>
                <a:cs typeface="Montserrat"/>
                <a:sym typeface="Montserrat"/>
              </a:rPr>
              <a:t>Collection Method</a:t>
            </a:r>
            <a:endParaRPr b="0" i="0" sz="1000" u="none" cap="none" strike="noStrike">
              <a:solidFill>
                <a:srgbClr val="1E3A8A"/>
              </a:solidFill>
              <a:latin typeface="Calibri"/>
              <a:ea typeface="Calibri"/>
              <a:cs typeface="Calibri"/>
              <a:sym typeface="Calibri"/>
            </a:endParaRPr>
          </a:p>
        </p:txBody>
      </p:sp>
      <p:sp>
        <p:nvSpPr>
          <p:cNvPr id="2684" name="Google Shape;2684;p58"/>
          <p:cNvSpPr txBox="1"/>
          <p:nvPr/>
        </p:nvSpPr>
        <p:spPr>
          <a:xfrm>
            <a:off x="6795821" y="2690165"/>
            <a:ext cx="18717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BrightData Web Scraper API</a:t>
            </a:r>
            <a:endParaRPr b="0" i="0" sz="1000" u="none" cap="none" strike="noStrike">
              <a:solidFill>
                <a:schemeClr val="dk1"/>
              </a:solidFill>
              <a:latin typeface="Calibri"/>
              <a:ea typeface="Calibri"/>
              <a:cs typeface="Calibri"/>
              <a:sym typeface="Calibri"/>
            </a:endParaRPr>
          </a:p>
        </p:txBody>
      </p:sp>
      <p:sp>
        <p:nvSpPr>
          <p:cNvPr id="2685" name="Google Shape;2685;p58"/>
          <p:cNvSpPr txBox="1"/>
          <p:nvPr/>
        </p:nvSpPr>
        <p:spPr>
          <a:xfrm>
            <a:off x="6795821" y="3179369"/>
            <a:ext cx="17291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BrightData + YouTube API</a:t>
            </a:r>
            <a:endParaRPr b="0" i="0" sz="1000" u="none" cap="none" strike="noStrike">
              <a:solidFill>
                <a:schemeClr val="dk1"/>
              </a:solidFill>
              <a:latin typeface="Calibri"/>
              <a:ea typeface="Calibri"/>
              <a:cs typeface="Calibri"/>
              <a:sym typeface="Calibri"/>
            </a:endParaRPr>
          </a:p>
        </p:txBody>
      </p:sp>
      <p:sp>
        <p:nvSpPr>
          <p:cNvPr id="2686" name="Google Shape;2686;p58"/>
          <p:cNvSpPr txBox="1"/>
          <p:nvPr/>
        </p:nvSpPr>
        <p:spPr>
          <a:xfrm>
            <a:off x="6795821" y="3669487"/>
            <a:ext cx="9006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YouTube API</a:t>
            </a:r>
            <a:endParaRPr b="0" i="0" sz="1000" u="none" cap="none" strike="noStrike">
              <a:solidFill>
                <a:schemeClr val="dk1"/>
              </a:solidFill>
              <a:latin typeface="Calibri"/>
              <a:ea typeface="Calibri"/>
              <a:cs typeface="Calibri"/>
              <a:sym typeface="Calibri"/>
            </a:endParaRPr>
          </a:p>
        </p:txBody>
      </p:sp>
      <p:sp>
        <p:nvSpPr>
          <p:cNvPr id="2687" name="Google Shape;2687;p58"/>
          <p:cNvSpPr txBox="1"/>
          <p:nvPr/>
        </p:nvSpPr>
        <p:spPr>
          <a:xfrm>
            <a:off x="6795821" y="4158691"/>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BrightData API</a:t>
            </a:r>
            <a:endParaRPr b="0" i="0" sz="1000" u="none" cap="none" strike="noStrike">
              <a:solidFill>
                <a:schemeClr val="dk1"/>
              </a:solidFill>
              <a:latin typeface="Calibri"/>
              <a:ea typeface="Calibri"/>
              <a:cs typeface="Calibri"/>
              <a:sym typeface="Calibri"/>
            </a:endParaRPr>
          </a:p>
        </p:txBody>
      </p:sp>
      <p:sp>
        <p:nvSpPr>
          <p:cNvPr id="2688" name="Google Shape;2688;p58"/>
          <p:cNvSpPr txBox="1"/>
          <p:nvPr/>
        </p:nvSpPr>
        <p:spPr>
          <a:xfrm>
            <a:off x="6795821" y="4648810"/>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BrightData API</a:t>
            </a:r>
            <a:endParaRPr b="0" i="0" sz="1000" u="none" cap="none" strike="noStrike">
              <a:solidFill>
                <a:schemeClr val="dk1"/>
              </a:solidFill>
              <a:latin typeface="Calibri"/>
              <a:ea typeface="Calibri"/>
              <a:cs typeface="Calibri"/>
              <a:sym typeface="Calibri"/>
            </a:endParaRPr>
          </a:p>
        </p:txBody>
      </p:sp>
      <p:sp>
        <p:nvSpPr>
          <p:cNvPr id="2689" name="Google Shape;2689;p58"/>
          <p:cNvSpPr txBox="1"/>
          <p:nvPr/>
        </p:nvSpPr>
        <p:spPr>
          <a:xfrm>
            <a:off x="8910828" y="2066544"/>
            <a:ext cx="1795882"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Montserrat"/>
              <a:buNone/>
            </a:pPr>
            <a:r>
              <a:rPr b="1" i="0" lang="en-US" sz="1000" u="none" cap="none" strike="noStrike">
                <a:solidFill>
                  <a:srgbClr val="1E3A8A"/>
                </a:solidFill>
                <a:latin typeface="Montserrat"/>
                <a:ea typeface="Montserrat"/>
                <a:cs typeface="Montserrat"/>
                <a:sym typeface="Montserrat"/>
              </a:rPr>
              <a:t>Platform Characteristics</a:t>
            </a:r>
            <a:endParaRPr b="0" i="0" sz="1000" u="none" cap="none" strike="noStrike">
              <a:solidFill>
                <a:srgbClr val="1E3A8A"/>
              </a:solidFill>
              <a:latin typeface="Calibri"/>
              <a:ea typeface="Calibri"/>
              <a:cs typeface="Calibri"/>
              <a:sym typeface="Calibri"/>
            </a:endParaRPr>
          </a:p>
        </p:txBody>
      </p:sp>
      <p:sp>
        <p:nvSpPr>
          <p:cNvPr id="2690" name="Google Shape;2690;p58"/>
          <p:cNvSpPr txBox="1"/>
          <p:nvPr/>
        </p:nvSpPr>
        <p:spPr>
          <a:xfrm>
            <a:off x="8986723" y="2690165"/>
            <a:ext cx="21003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Post-purchase problem-solving</a:t>
            </a:r>
            <a:endParaRPr b="0" i="0" sz="1000" u="none" cap="none" strike="noStrike">
              <a:solidFill>
                <a:schemeClr val="dk1"/>
              </a:solidFill>
              <a:latin typeface="Calibri"/>
              <a:ea typeface="Calibri"/>
              <a:cs typeface="Calibri"/>
              <a:sym typeface="Calibri"/>
            </a:endParaRPr>
          </a:p>
        </p:txBody>
      </p:sp>
      <p:sp>
        <p:nvSpPr>
          <p:cNvPr id="2691" name="Google Shape;2691;p58"/>
          <p:cNvSpPr txBox="1"/>
          <p:nvPr/>
        </p:nvSpPr>
        <p:spPr>
          <a:xfrm>
            <a:off x="8986723" y="3179369"/>
            <a:ext cx="20628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Pre-purchase research; demos</a:t>
            </a:r>
            <a:endParaRPr b="0" i="0" sz="1000" u="none" cap="none" strike="noStrike">
              <a:solidFill>
                <a:schemeClr val="dk1"/>
              </a:solidFill>
              <a:latin typeface="Calibri"/>
              <a:ea typeface="Calibri"/>
              <a:cs typeface="Calibri"/>
              <a:sym typeface="Calibri"/>
            </a:endParaRPr>
          </a:p>
        </p:txBody>
      </p:sp>
      <p:sp>
        <p:nvSpPr>
          <p:cNvPr id="2692" name="Google Shape;2692;p58"/>
          <p:cNvSpPr txBox="1"/>
          <p:nvPr/>
        </p:nvSpPr>
        <p:spPr>
          <a:xfrm>
            <a:off x="8986723" y="3669487"/>
            <a:ext cx="1681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Q&amp;A and troubleshooting</a:t>
            </a:r>
            <a:endParaRPr b="0" i="0" sz="1000" u="none" cap="none" strike="noStrike">
              <a:solidFill>
                <a:schemeClr val="dk1"/>
              </a:solidFill>
              <a:latin typeface="Calibri"/>
              <a:ea typeface="Calibri"/>
              <a:cs typeface="Calibri"/>
              <a:sym typeface="Calibri"/>
            </a:endParaRPr>
          </a:p>
        </p:txBody>
      </p:sp>
      <p:sp>
        <p:nvSpPr>
          <p:cNvPr id="2693" name="Google Shape;2693;p58"/>
          <p:cNvSpPr txBox="1"/>
          <p:nvPr/>
        </p:nvSpPr>
        <p:spPr>
          <a:xfrm>
            <a:off x="8986723" y="4158691"/>
            <a:ext cx="21771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Discovery and aspiration content</a:t>
            </a:r>
            <a:endParaRPr b="0" i="0" sz="1000" u="none" cap="none" strike="noStrike">
              <a:solidFill>
                <a:schemeClr val="dk1"/>
              </a:solidFill>
              <a:latin typeface="Calibri"/>
              <a:ea typeface="Calibri"/>
              <a:cs typeface="Calibri"/>
              <a:sym typeface="Calibri"/>
            </a:endParaRPr>
          </a:p>
        </p:txBody>
      </p:sp>
      <p:sp>
        <p:nvSpPr>
          <p:cNvPr id="2694" name="Google Shape;2694;p58"/>
          <p:cNvSpPr txBox="1"/>
          <p:nvPr/>
        </p:nvSpPr>
        <p:spPr>
          <a:xfrm>
            <a:off x="8986723" y="4648810"/>
            <a:ext cx="17391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Curated aesthetic content</a:t>
            </a:r>
            <a:endParaRPr b="0" i="0" sz="1000" u="none" cap="none" strike="noStrike">
              <a:solidFill>
                <a:schemeClr val="dk1"/>
              </a:solidFill>
              <a:latin typeface="Calibri"/>
              <a:ea typeface="Calibri"/>
              <a:cs typeface="Calibri"/>
              <a:sym typeface="Calibri"/>
            </a:endParaRPr>
          </a:p>
        </p:txBody>
      </p:sp>
      <p:sp>
        <p:nvSpPr>
          <p:cNvPr id="2695" name="Google Shape;2695;p58"/>
          <p:cNvSpPr txBox="1"/>
          <p:nvPr/>
        </p:nvSpPr>
        <p:spPr>
          <a:xfrm>
            <a:off x="3088843" y="2690165"/>
            <a:ext cx="424282"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1,129</a:t>
            </a:r>
            <a:endParaRPr b="0" i="0" sz="1000" u="none" cap="none" strike="noStrike">
              <a:solidFill>
                <a:schemeClr val="dk1"/>
              </a:solidFill>
              <a:latin typeface="Calibri"/>
              <a:ea typeface="Calibri"/>
              <a:cs typeface="Calibri"/>
              <a:sym typeface="Calibri"/>
            </a:endParaRPr>
          </a:p>
        </p:txBody>
      </p:sp>
      <p:sp>
        <p:nvSpPr>
          <p:cNvPr id="2696" name="Google Shape;2696;p58"/>
          <p:cNvSpPr/>
          <p:nvPr/>
        </p:nvSpPr>
        <p:spPr>
          <a:xfrm>
            <a:off x="619049" y="4985309"/>
            <a:ext cx="10953598" cy="4855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58"/>
          <p:cNvSpPr txBox="1"/>
          <p:nvPr/>
        </p:nvSpPr>
        <p:spPr>
          <a:xfrm>
            <a:off x="771754" y="5138014"/>
            <a:ext cx="5385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TOTAL</a:t>
            </a:r>
            <a:endParaRPr b="0" i="0" sz="1000" u="none" cap="none" strike="noStrike">
              <a:solidFill>
                <a:schemeClr val="dk1"/>
              </a:solidFill>
              <a:latin typeface="Calibri"/>
              <a:ea typeface="Calibri"/>
              <a:cs typeface="Calibri"/>
              <a:sym typeface="Calibri"/>
            </a:endParaRPr>
          </a:p>
        </p:txBody>
      </p:sp>
      <p:sp>
        <p:nvSpPr>
          <p:cNvPr id="2698" name="Google Shape;2698;p58"/>
          <p:cNvSpPr txBox="1"/>
          <p:nvPr/>
        </p:nvSpPr>
        <p:spPr>
          <a:xfrm>
            <a:off x="3052267" y="5138014"/>
            <a:ext cx="500177" cy="1627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8A"/>
              </a:buClr>
              <a:buSzPts val="1000"/>
              <a:buFont typeface="Inter"/>
              <a:buNone/>
            </a:pPr>
            <a:r>
              <a:rPr b="1" i="0" lang="en-US" sz="1000" u="none" cap="none" strike="noStrike">
                <a:solidFill>
                  <a:srgbClr val="1E3A8A"/>
                </a:solidFill>
                <a:latin typeface="Inter"/>
                <a:ea typeface="Inter"/>
                <a:cs typeface="Inter"/>
                <a:sym typeface="Inter"/>
              </a:rPr>
              <a:t>3,084</a:t>
            </a:r>
            <a:endParaRPr b="0" i="0" sz="1000" u="none" cap="none" strike="noStrike">
              <a:solidFill>
                <a:schemeClr val="dk1"/>
              </a:solidFill>
              <a:latin typeface="Calibri"/>
              <a:ea typeface="Calibri"/>
              <a:cs typeface="Calibri"/>
              <a:sym typeface="Calibri"/>
            </a:endParaRPr>
          </a:p>
        </p:txBody>
      </p:sp>
      <p:sp>
        <p:nvSpPr>
          <p:cNvPr id="2699" name="Google Shape;2699;p58"/>
          <p:cNvSpPr txBox="1"/>
          <p:nvPr/>
        </p:nvSpPr>
        <p:spPr>
          <a:xfrm>
            <a:off x="4058107" y="5138014"/>
            <a:ext cx="5001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6 files</a:t>
            </a:r>
            <a:endParaRPr b="0" i="0" sz="1000" u="none" cap="none" strike="noStrike">
              <a:solidFill>
                <a:schemeClr val="dk1"/>
              </a:solidFill>
              <a:latin typeface="Calibri"/>
              <a:ea typeface="Calibri"/>
              <a:cs typeface="Calibri"/>
              <a:sym typeface="Calibri"/>
            </a:endParaRPr>
          </a:p>
        </p:txBody>
      </p:sp>
      <p:sp>
        <p:nvSpPr>
          <p:cNvPr id="2700" name="Google Shape;2700;p58"/>
          <p:cNvSpPr txBox="1"/>
          <p:nvPr/>
        </p:nvSpPr>
        <p:spPr>
          <a:xfrm>
            <a:off x="6795821" y="5138014"/>
            <a:ext cx="10241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API Collection</a:t>
            </a:r>
            <a:endParaRPr b="0" i="0" sz="1000" u="none" cap="none" strike="noStrike">
              <a:solidFill>
                <a:schemeClr val="dk1"/>
              </a:solidFill>
              <a:latin typeface="Calibri"/>
              <a:ea typeface="Calibri"/>
              <a:cs typeface="Calibri"/>
              <a:sym typeface="Calibri"/>
            </a:endParaRPr>
          </a:p>
        </p:txBody>
      </p:sp>
      <p:sp>
        <p:nvSpPr>
          <p:cNvPr id="2701" name="Google Shape;2701;p58"/>
          <p:cNvSpPr txBox="1"/>
          <p:nvPr/>
        </p:nvSpPr>
        <p:spPr>
          <a:xfrm>
            <a:off x="8986723" y="5138014"/>
            <a:ext cx="185348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1" i="0" lang="en-US" sz="1000" u="none" cap="none" strike="noStrike">
                <a:solidFill>
                  <a:srgbClr val="111827"/>
                </a:solidFill>
                <a:latin typeface="Inter"/>
                <a:ea typeface="Inter"/>
                <a:cs typeface="Inter"/>
                <a:sym typeface="Inter"/>
              </a:rPr>
              <a:t>Multi-platform perspective</a:t>
            </a:r>
            <a:endParaRPr b="0" i="0" sz="1000" u="none" cap="none" strike="noStrike">
              <a:solidFill>
                <a:schemeClr val="dk1"/>
              </a:solidFill>
              <a:latin typeface="Calibri"/>
              <a:ea typeface="Calibri"/>
              <a:cs typeface="Calibri"/>
              <a:sym typeface="Calibri"/>
            </a:endParaRPr>
          </a:p>
        </p:txBody>
      </p:sp>
      <p:sp>
        <p:nvSpPr>
          <p:cNvPr id="2702" name="Google Shape;2702;p58"/>
          <p:cNvSpPr/>
          <p:nvPr/>
        </p:nvSpPr>
        <p:spPr>
          <a:xfrm>
            <a:off x="609905" y="5704027"/>
            <a:ext cx="10972800" cy="9902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8"/>
          <p:cNvSpPr/>
          <p:nvPr/>
        </p:nvSpPr>
        <p:spPr>
          <a:xfrm>
            <a:off x="609905" y="5704027"/>
            <a:ext cx="38405" cy="9902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8"/>
          <p:cNvSpPr txBox="1"/>
          <p:nvPr/>
        </p:nvSpPr>
        <p:spPr>
          <a:xfrm>
            <a:off x="838505" y="5875020"/>
            <a:ext cx="10384841" cy="6382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Platform Characteristics: Different platforms serve distinct roles in the consumer journey. Reddit captures post-purchase experiences. YouTube provides pre-purchase research content. TikTok/Instagram showcase discovery and aspiration phases. Pain point analysis uses Reddit-only base (n=1,129) as TikTok/Instagram content is primarily aspirational.</a:t>
            </a:r>
            <a:endParaRPr b="0" i="0" sz="1100" u="none" cap="none" strike="noStrike">
              <a:solidFill>
                <a:schemeClr val="dk1"/>
              </a:solidFill>
              <a:latin typeface="Calibri"/>
              <a:ea typeface="Calibri"/>
              <a:cs typeface="Calibri"/>
              <a:sym typeface="Calibri"/>
            </a:endParaRPr>
          </a:p>
        </p:txBody>
      </p:sp>
      <p:sp>
        <p:nvSpPr>
          <p:cNvPr id="2705" name="Google Shape;2705;p58"/>
          <p:cNvSpPr txBox="1"/>
          <p:nvPr/>
        </p:nvSpPr>
        <p:spPr>
          <a:xfrm>
            <a:off x="609905" y="6789420"/>
            <a:ext cx="44631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Social media data collected December 2024 - October 2025.</a:t>
            </a:r>
            <a:endParaRPr b="0" i="0" sz="1000" u="none" cap="none" strike="noStrike">
              <a:solidFill>
                <a:schemeClr val="dk1"/>
              </a:solidFill>
              <a:latin typeface="Calibri"/>
              <a:ea typeface="Calibri"/>
              <a:cs typeface="Calibri"/>
              <a:sym typeface="Calibri"/>
            </a:endParaRPr>
          </a:p>
        </p:txBody>
      </p:sp>
      <p:sp>
        <p:nvSpPr>
          <p:cNvPr id="2706" name="Google Shape;2706;p58"/>
          <p:cNvSpPr txBox="1"/>
          <p:nvPr/>
        </p:nvSpPr>
        <p:spPr>
          <a:xfrm>
            <a:off x="609905" y="7446874"/>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707" name="Google Shape;2707;p58"/>
          <p:cNvSpPr txBox="1"/>
          <p:nvPr/>
        </p:nvSpPr>
        <p:spPr>
          <a:xfrm>
            <a:off x="11421770" y="7446874"/>
            <a:ext cx="262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55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2" name="Shape 2712"/>
        <p:cNvGrpSpPr/>
        <p:nvPr/>
      </p:nvGrpSpPr>
      <p:grpSpPr>
        <a:xfrm>
          <a:off x="0" y="0"/>
          <a:ext cx="0" cy="0"/>
          <a:chOff x="0" y="0"/>
          <a:chExt cx="0" cy="0"/>
        </a:xfrm>
      </p:grpSpPr>
      <p:sp>
        <p:nvSpPr>
          <p:cNvPr id="2713" name="Google Shape;2713;p59"/>
          <p:cNvSpPr/>
          <p:nvPr/>
        </p:nvSpPr>
        <p:spPr>
          <a:xfrm>
            <a:off x="0" y="0"/>
            <a:ext cx="12191695" cy="8563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59"/>
          <p:cNvSpPr/>
          <p:nvPr/>
        </p:nvSpPr>
        <p:spPr>
          <a:xfrm>
            <a:off x="0" y="0"/>
            <a:ext cx="12191695" cy="856335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59"/>
          <p:cNvSpPr/>
          <p:nvPr/>
        </p:nvSpPr>
        <p:spPr>
          <a:xfrm>
            <a:off x="533095" y="381305"/>
            <a:ext cx="571500" cy="38405"/>
          </a:xfrm>
          <a:prstGeom prst="rect">
            <a:avLst/>
          </a:prstGeom>
          <a:solidFill>
            <a:srgbClr val="2C52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59"/>
          <p:cNvSpPr txBox="1"/>
          <p:nvPr/>
        </p:nvSpPr>
        <p:spPr>
          <a:xfrm>
            <a:off x="533095" y="609905"/>
            <a:ext cx="5772607"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Appendix B: Full Verbatims &amp; Context</a:t>
            </a:r>
            <a:endParaRPr b="0" i="0" sz="2400" u="none" cap="none" strike="noStrike">
              <a:solidFill>
                <a:schemeClr val="dk1"/>
              </a:solidFill>
              <a:latin typeface="Calibri"/>
              <a:ea typeface="Calibri"/>
              <a:cs typeface="Calibri"/>
              <a:sym typeface="Calibri"/>
            </a:endParaRPr>
          </a:p>
        </p:txBody>
      </p:sp>
      <p:pic>
        <p:nvPicPr>
          <p:cNvPr descr="preencoded.png" id="2717" name="Google Shape;2717;p59"/>
          <p:cNvPicPr preferRelativeResize="0"/>
          <p:nvPr/>
        </p:nvPicPr>
        <p:blipFill rotWithShape="1">
          <a:blip r:embed="rId3">
            <a:alphaModFix/>
          </a:blip>
          <a:srcRect b="0" l="-760" r="-759" t="0"/>
          <a:stretch/>
        </p:blipFill>
        <p:spPr>
          <a:xfrm>
            <a:off x="533095" y="1221638"/>
            <a:ext cx="152705" cy="171907"/>
          </a:xfrm>
          <a:prstGeom prst="rect">
            <a:avLst/>
          </a:prstGeom>
          <a:noFill/>
          <a:ln>
            <a:noFill/>
          </a:ln>
        </p:spPr>
      </p:pic>
      <p:sp>
        <p:nvSpPr>
          <p:cNvPr id="2718" name="Google Shape;2718;p59"/>
          <p:cNvSpPr txBox="1"/>
          <p:nvPr/>
        </p:nvSpPr>
        <p:spPr>
          <a:xfrm>
            <a:off x="761695" y="1195121"/>
            <a:ext cx="3419856"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Inter"/>
              <a:buNone/>
            </a:pPr>
            <a:r>
              <a:rPr b="1" i="0" lang="en-US" sz="1200" u="none" cap="none" strike="noStrike">
                <a:solidFill>
                  <a:srgbClr val="374151"/>
                </a:solidFill>
                <a:latin typeface="Inter"/>
                <a:ea typeface="Inter"/>
                <a:cs typeface="Inter"/>
                <a:sym typeface="Inter"/>
              </a:rPr>
              <a:t>Consumer feedback from Reddit discussions</a:t>
            </a:r>
            <a:endParaRPr b="0" i="0" sz="1200" u="none" cap="none" strike="noStrike">
              <a:solidFill>
                <a:schemeClr val="dk1"/>
              </a:solidFill>
              <a:latin typeface="Calibri"/>
              <a:ea typeface="Calibri"/>
              <a:cs typeface="Calibri"/>
              <a:sym typeface="Calibri"/>
            </a:endParaRPr>
          </a:p>
        </p:txBody>
      </p:sp>
      <p:sp>
        <p:nvSpPr>
          <p:cNvPr id="2719" name="Google Shape;2719;p59"/>
          <p:cNvSpPr/>
          <p:nvPr/>
        </p:nvSpPr>
        <p:spPr>
          <a:xfrm>
            <a:off x="533095" y="1705356"/>
            <a:ext cx="5467198" cy="2723998"/>
          </a:xfrm>
          <a:prstGeom prst="roundRect">
            <a:avLst>
              <a:gd fmla="val 939" name="adj"/>
            </a:avLst>
          </a:prstGeom>
          <a:solidFill>
            <a:srgbClr val="F7FAFC"/>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59"/>
          <p:cNvSpPr/>
          <p:nvPr/>
        </p:nvSpPr>
        <p:spPr>
          <a:xfrm>
            <a:off x="733349" y="2400300"/>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59"/>
          <p:cNvSpPr/>
          <p:nvPr/>
        </p:nvSpPr>
        <p:spPr>
          <a:xfrm>
            <a:off x="733349" y="1904695"/>
            <a:ext cx="381305" cy="381305"/>
          </a:xfrm>
          <a:prstGeom prst="ellipse">
            <a:avLst/>
          </a:prstGeom>
          <a:solidFill>
            <a:srgbClr val="2C5282"/>
          </a:solidFill>
          <a:ln>
            <a:noFill/>
          </a:ln>
          <a:effectLst>
            <a:outerShdw blurRad="50800" rotWithShape="0" algn="bl" dir="5400000" dist="25400">
              <a:srgbClr val="2C5282">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2" name="Google Shape;2722;p59"/>
          <p:cNvPicPr preferRelativeResize="0"/>
          <p:nvPr/>
        </p:nvPicPr>
        <p:blipFill rotWithShape="1">
          <a:blip r:embed="rId4">
            <a:alphaModFix/>
          </a:blip>
          <a:srcRect b="0" l="-1064" r="-1064" t="0"/>
          <a:stretch/>
        </p:blipFill>
        <p:spPr>
          <a:xfrm>
            <a:off x="814730" y="2009851"/>
            <a:ext cx="219456" cy="171907"/>
          </a:xfrm>
          <a:prstGeom prst="rect">
            <a:avLst/>
          </a:prstGeom>
          <a:noFill/>
          <a:ln>
            <a:noFill/>
          </a:ln>
        </p:spPr>
      </p:pic>
      <p:sp>
        <p:nvSpPr>
          <p:cNvPr id="2723" name="Google Shape;2723;p59"/>
          <p:cNvSpPr/>
          <p:nvPr/>
        </p:nvSpPr>
        <p:spPr>
          <a:xfrm>
            <a:off x="6191402" y="1705356"/>
            <a:ext cx="5467198" cy="2723998"/>
          </a:xfrm>
          <a:prstGeom prst="roundRect">
            <a:avLst>
              <a:gd fmla="val 939" name="adj"/>
            </a:avLst>
          </a:prstGeom>
          <a:solidFill>
            <a:srgbClr val="F7FAFC"/>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59"/>
          <p:cNvSpPr/>
          <p:nvPr/>
        </p:nvSpPr>
        <p:spPr>
          <a:xfrm>
            <a:off x="533095" y="4614977"/>
            <a:ext cx="5467198" cy="2915107"/>
          </a:xfrm>
          <a:prstGeom prst="roundRect">
            <a:avLst>
              <a:gd fmla="val 820" name="adj"/>
            </a:avLst>
          </a:prstGeom>
          <a:solidFill>
            <a:srgbClr val="F7FAFC"/>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59"/>
          <p:cNvSpPr/>
          <p:nvPr/>
        </p:nvSpPr>
        <p:spPr>
          <a:xfrm>
            <a:off x="6191402" y="4614977"/>
            <a:ext cx="5467198" cy="2915107"/>
          </a:xfrm>
          <a:prstGeom prst="roundRect">
            <a:avLst>
              <a:gd fmla="val 820" name="adj"/>
            </a:avLst>
          </a:prstGeom>
          <a:solidFill>
            <a:srgbClr val="F7FAFC"/>
          </a:solidFill>
          <a:ln cap="flat" cmpd="sng" w="12700">
            <a:solidFill>
              <a:srgbClr val="E5E7EB"/>
            </a:solidFill>
            <a:prstDash val="solid"/>
            <a:round/>
            <a:headEnd len="sm" w="sm" type="none"/>
            <a:tailEnd len="sm" w="sm" type="none"/>
          </a:ln>
          <a:effectLst>
            <a:outerShdw blurRad="381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59"/>
          <p:cNvSpPr/>
          <p:nvPr/>
        </p:nvSpPr>
        <p:spPr>
          <a:xfrm>
            <a:off x="6391656" y="2400300"/>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59"/>
          <p:cNvSpPr/>
          <p:nvPr/>
        </p:nvSpPr>
        <p:spPr>
          <a:xfrm>
            <a:off x="733349" y="5310835"/>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59"/>
          <p:cNvSpPr/>
          <p:nvPr/>
        </p:nvSpPr>
        <p:spPr>
          <a:xfrm>
            <a:off x="6391656" y="5310835"/>
            <a:ext cx="506760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9"/>
          <p:cNvSpPr/>
          <p:nvPr/>
        </p:nvSpPr>
        <p:spPr>
          <a:xfrm>
            <a:off x="6391656" y="1904695"/>
            <a:ext cx="381305" cy="381305"/>
          </a:xfrm>
          <a:prstGeom prst="ellipse">
            <a:avLst/>
          </a:prstGeom>
          <a:solidFill>
            <a:srgbClr val="2C5282"/>
          </a:solidFill>
          <a:ln>
            <a:noFill/>
          </a:ln>
          <a:effectLst>
            <a:outerShdw blurRad="50800" rotWithShape="0" algn="bl" dir="5400000" dist="25400">
              <a:srgbClr val="2C5282">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9"/>
          <p:cNvSpPr/>
          <p:nvPr/>
        </p:nvSpPr>
        <p:spPr>
          <a:xfrm>
            <a:off x="733349" y="4815230"/>
            <a:ext cx="381305" cy="381305"/>
          </a:xfrm>
          <a:prstGeom prst="ellipse">
            <a:avLst/>
          </a:prstGeom>
          <a:solidFill>
            <a:srgbClr val="2C5282"/>
          </a:solidFill>
          <a:ln>
            <a:noFill/>
          </a:ln>
          <a:effectLst>
            <a:outerShdw blurRad="50800" rotWithShape="0" algn="bl" dir="5400000" dist="25400">
              <a:srgbClr val="2C5282">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59"/>
          <p:cNvSpPr/>
          <p:nvPr/>
        </p:nvSpPr>
        <p:spPr>
          <a:xfrm>
            <a:off x="6391656" y="4815230"/>
            <a:ext cx="381305" cy="381305"/>
          </a:xfrm>
          <a:prstGeom prst="ellipse">
            <a:avLst/>
          </a:prstGeom>
          <a:solidFill>
            <a:srgbClr val="2C5282"/>
          </a:solidFill>
          <a:ln>
            <a:noFill/>
          </a:ln>
          <a:effectLst>
            <a:outerShdw blurRad="50800" rotWithShape="0" algn="bl" dir="5400000" dist="25400">
              <a:srgbClr val="2C5282">
                <a:alpha val="2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59"/>
          <p:cNvSpPr txBox="1"/>
          <p:nvPr/>
        </p:nvSpPr>
        <p:spPr>
          <a:xfrm>
            <a:off x="1266444" y="1904695"/>
            <a:ext cx="1586484"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Removal Damage</a:t>
            </a:r>
            <a:endParaRPr b="0" i="0" sz="1300" u="none" cap="none" strike="noStrike">
              <a:solidFill>
                <a:schemeClr val="dk1"/>
              </a:solidFill>
              <a:latin typeface="Calibri"/>
              <a:ea typeface="Calibri"/>
              <a:cs typeface="Calibri"/>
              <a:sym typeface="Calibri"/>
            </a:endParaRPr>
          </a:p>
        </p:txBody>
      </p:sp>
      <p:sp>
        <p:nvSpPr>
          <p:cNvPr id="2733" name="Google Shape;2733;p59"/>
          <p:cNvSpPr txBox="1"/>
          <p:nvPr/>
        </p:nvSpPr>
        <p:spPr>
          <a:xfrm>
            <a:off x="6924751" y="1904695"/>
            <a:ext cx="20720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Paint Quality Confound</a:t>
            </a:r>
            <a:endParaRPr b="0" i="0" sz="1300" u="none" cap="none" strike="noStrike">
              <a:solidFill>
                <a:schemeClr val="dk1"/>
              </a:solidFill>
              <a:latin typeface="Calibri"/>
              <a:ea typeface="Calibri"/>
              <a:cs typeface="Calibri"/>
              <a:sym typeface="Calibri"/>
            </a:endParaRPr>
          </a:p>
        </p:txBody>
      </p:sp>
      <p:sp>
        <p:nvSpPr>
          <p:cNvPr id="2734" name="Google Shape;2734;p59"/>
          <p:cNvSpPr txBox="1"/>
          <p:nvPr/>
        </p:nvSpPr>
        <p:spPr>
          <a:xfrm>
            <a:off x="1266444" y="4815230"/>
            <a:ext cx="235823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Weight Capacity + Trauma</a:t>
            </a:r>
            <a:endParaRPr b="0" i="0" sz="1300" u="none" cap="none" strike="noStrike">
              <a:solidFill>
                <a:schemeClr val="dk1"/>
              </a:solidFill>
              <a:latin typeface="Calibri"/>
              <a:ea typeface="Calibri"/>
              <a:cs typeface="Calibri"/>
              <a:sym typeface="Calibri"/>
            </a:endParaRPr>
          </a:p>
        </p:txBody>
      </p:sp>
      <p:sp>
        <p:nvSpPr>
          <p:cNvPr id="2735" name="Google Shape;2735;p59"/>
          <p:cNvSpPr txBox="1"/>
          <p:nvPr/>
        </p:nvSpPr>
        <p:spPr>
          <a:xfrm>
            <a:off x="6924751" y="4815230"/>
            <a:ext cx="1595628"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00"/>
              <a:buFont typeface="Inter"/>
              <a:buNone/>
            </a:pPr>
            <a:r>
              <a:rPr b="1" i="0" lang="en-US" sz="1300" u="none" cap="none" strike="noStrike">
                <a:solidFill>
                  <a:srgbClr val="111827"/>
                </a:solidFill>
                <a:latin typeface="Inter"/>
                <a:ea typeface="Inter"/>
                <a:cs typeface="Inter"/>
                <a:sym typeface="Inter"/>
              </a:rPr>
              <a:t>Landlord Paradox</a:t>
            </a:r>
            <a:endParaRPr b="0" i="0" sz="1300" u="none" cap="none" strike="noStrike">
              <a:solidFill>
                <a:schemeClr val="dk1"/>
              </a:solidFill>
              <a:latin typeface="Calibri"/>
              <a:ea typeface="Calibri"/>
              <a:cs typeface="Calibri"/>
              <a:sym typeface="Calibri"/>
            </a:endParaRPr>
          </a:p>
        </p:txBody>
      </p:sp>
      <p:sp>
        <p:nvSpPr>
          <p:cNvPr id="2736" name="Google Shape;2736;p59"/>
          <p:cNvSpPr/>
          <p:nvPr/>
        </p:nvSpPr>
        <p:spPr>
          <a:xfrm>
            <a:off x="733349" y="2562149"/>
            <a:ext cx="5067605" cy="790956"/>
          </a:xfrm>
          <a:prstGeom prst="roundRect">
            <a:avLst>
              <a:gd fmla="val 5571" name="adj"/>
            </a:avLst>
          </a:prstGeom>
          <a:solidFill>
            <a:srgbClr val="2C5282">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59"/>
          <p:cNvSpPr/>
          <p:nvPr/>
        </p:nvSpPr>
        <p:spPr>
          <a:xfrm>
            <a:off x="733349" y="2562149"/>
            <a:ext cx="38405" cy="790956"/>
          </a:xfrm>
          <a:prstGeom prst="rect">
            <a:avLst/>
          </a:prstGeom>
          <a:solidFill>
            <a:srgbClr val="4299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59"/>
          <p:cNvSpPr/>
          <p:nvPr/>
        </p:nvSpPr>
        <p:spPr>
          <a:xfrm>
            <a:off x="6391656" y="2562149"/>
            <a:ext cx="5067605" cy="590702"/>
          </a:xfrm>
          <a:prstGeom prst="roundRect">
            <a:avLst>
              <a:gd fmla="val 9987" name="adj"/>
            </a:avLst>
          </a:prstGeom>
          <a:solidFill>
            <a:srgbClr val="2C5282">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59"/>
          <p:cNvSpPr/>
          <p:nvPr/>
        </p:nvSpPr>
        <p:spPr>
          <a:xfrm>
            <a:off x="6391656" y="2562149"/>
            <a:ext cx="38405" cy="590702"/>
          </a:xfrm>
          <a:prstGeom prst="rect">
            <a:avLst/>
          </a:prstGeom>
          <a:solidFill>
            <a:srgbClr val="4299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59"/>
          <p:cNvSpPr/>
          <p:nvPr/>
        </p:nvSpPr>
        <p:spPr>
          <a:xfrm>
            <a:off x="733349" y="5471770"/>
            <a:ext cx="5067605" cy="590702"/>
          </a:xfrm>
          <a:prstGeom prst="roundRect">
            <a:avLst>
              <a:gd fmla="val 9987" name="adj"/>
            </a:avLst>
          </a:prstGeom>
          <a:solidFill>
            <a:srgbClr val="2C5282">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9"/>
          <p:cNvSpPr/>
          <p:nvPr/>
        </p:nvSpPr>
        <p:spPr>
          <a:xfrm>
            <a:off x="733349" y="5471770"/>
            <a:ext cx="38405" cy="590702"/>
          </a:xfrm>
          <a:prstGeom prst="rect">
            <a:avLst/>
          </a:prstGeom>
          <a:solidFill>
            <a:srgbClr val="4299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9"/>
          <p:cNvSpPr/>
          <p:nvPr/>
        </p:nvSpPr>
        <p:spPr>
          <a:xfrm>
            <a:off x="6391656" y="5471770"/>
            <a:ext cx="5067605" cy="790956"/>
          </a:xfrm>
          <a:prstGeom prst="roundRect">
            <a:avLst>
              <a:gd fmla="val 5571" name="adj"/>
            </a:avLst>
          </a:prstGeom>
          <a:solidFill>
            <a:srgbClr val="2C5282">
              <a:alpha val="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9"/>
          <p:cNvSpPr/>
          <p:nvPr/>
        </p:nvSpPr>
        <p:spPr>
          <a:xfrm>
            <a:off x="6391656" y="5471770"/>
            <a:ext cx="38405" cy="790956"/>
          </a:xfrm>
          <a:prstGeom prst="rect">
            <a:avLst/>
          </a:prstGeom>
          <a:solidFill>
            <a:srgbClr val="4299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9"/>
          <p:cNvSpPr txBox="1"/>
          <p:nvPr/>
        </p:nvSpPr>
        <p:spPr>
          <a:xfrm>
            <a:off x="866851" y="2676449"/>
            <a:ext cx="4920386" cy="5623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000"/>
              <a:buFont typeface="Inter"/>
              <a:buNone/>
            </a:pPr>
            <a:r>
              <a:rPr b="0" i="1" lang="en-US" sz="1000" u="none" cap="none" strike="noStrike">
                <a:solidFill>
                  <a:srgbClr val="2D3748"/>
                </a:solidFill>
                <a:latin typeface="Inter"/>
                <a:ea typeface="Inter"/>
                <a:cs typeface="Inter"/>
                <a:sym typeface="Inter"/>
              </a:rPr>
              <a:t>"Command hooks left marks on the ceiling. We recently had some command hooks on the ceiling that did not release as easily as was advertised... Just the paper was torn from the ceiling."</a:t>
            </a:r>
            <a:endParaRPr b="0" i="0" sz="1000" u="none" cap="none" strike="noStrike">
              <a:solidFill>
                <a:schemeClr val="dk1"/>
              </a:solidFill>
              <a:latin typeface="Calibri"/>
              <a:ea typeface="Calibri"/>
              <a:cs typeface="Calibri"/>
              <a:sym typeface="Calibri"/>
            </a:endParaRPr>
          </a:p>
        </p:txBody>
      </p:sp>
      <p:sp>
        <p:nvSpPr>
          <p:cNvPr id="2745" name="Google Shape;2745;p59"/>
          <p:cNvSpPr txBox="1"/>
          <p:nvPr/>
        </p:nvSpPr>
        <p:spPr>
          <a:xfrm>
            <a:off x="6524244" y="2676449"/>
            <a:ext cx="4567428"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000"/>
              <a:buFont typeface="Inter"/>
              <a:buNone/>
            </a:pPr>
            <a:r>
              <a:rPr b="0" i="1" lang="en-US" sz="1000" u="none" cap="none" strike="noStrike">
                <a:solidFill>
                  <a:srgbClr val="2D3748"/>
                </a:solidFill>
                <a:latin typeface="Inter"/>
                <a:ea typeface="Inter"/>
                <a:cs typeface="Inter"/>
                <a:sym typeface="Inter"/>
              </a:rPr>
              <a:t>"Not much you can do... the adhesive sticks to the paint; then the paint peels off the wall."</a:t>
            </a:r>
            <a:endParaRPr b="0" i="0" sz="1000" u="none" cap="none" strike="noStrike">
              <a:solidFill>
                <a:schemeClr val="dk1"/>
              </a:solidFill>
              <a:latin typeface="Calibri"/>
              <a:ea typeface="Calibri"/>
              <a:cs typeface="Calibri"/>
              <a:sym typeface="Calibri"/>
            </a:endParaRPr>
          </a:p>
        </p:txBody>
      </p:sp>
      <p:sp>
        <p:nvSpPr>
          <p:cNvPr id="2746" name="Google Shape;2746;p59"/>
          <p:cNvSpPr txBox="1"/>
          <p:nvPr/>
        </p:nvSpPr>
        <p:spPr>
          <a:xfrm>
            <a:off x="6524244" y="5586070"/>
            <a:ext cx="4843577" cy="5623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000"/>
              <a:buFont typeface="Inter"/>
              <a:buNone/>
            </a:pPr>
            <a:r>
              <a:rPr b="0" i="1" lang="en-US" sz="1000" u="none" cap="none" strike="noStrike">
                <a:solidFill>
                  <a:srgbClr val="2D3748"/>
                </a:solidFill>
                <a:latin typeface="Inter"/>
                <a:ea typeface="Inter"/>
                <a:cs typeface="Inter"/>
                <a:sym typeface="Inter"/>
              </a:rPr>
              <a:t>"Command strip hooks tend to take the paint with them when you pull them off... My current lease specifies NO command strips, but small picture-hanging nails are fine."</a:t>
            </a:r>
            <a:endParaRPr b="0" i="0" sz="1000" u="none" cap="none" strike="noStrike">
              <a:solidFill>
                <a:schemeClr val="dk1"/>
              </a:solidFill>
              <a:latin typeface="Calibri"/>
              <a:ea typeface="Calibri"/>
              <a:cs typeface="Calibri"/>
              <a:sym typeface="Calibri"/>
            </a:endParaRPr>
          </a:p>
        </p:txBody>
      </p:sp>
      <p:sp>
        <p:nvSpPr>
          <p:cNvPr id="2747" name="Google Shape;2747;p59"/>
          <p:cNvSpPr txBox="1"/>
          <p:nvPr/>
        </p:nvSpPr>
        <p:spPr>
          <a:xfrm>
            <a:off x="733349" y="3448202"/>
            <a:ext cx="1090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Author/Source:</a:t>
            </a:r>
            <a:endParaRPr b="0" i="0" sz="1000" u="none" cap="none" strike="noStrike">
              <a:solidFill>
                <a:schemeClr val="dk1"/>
              </a:solidFill>
              <a:latin typeface="Calibri"/>
              <a:ea typeface="Calibri"/>
              <a:cs typeface="Calibri"/>
              <a:sym typeface="Calibri"/>
            </a:endParaRPr>
          </a:p>
        </p:txBody>
      </p:sp>
      <p:sp>
        <p:nvSpPr>
          <p:cNvPr id="2748" name="Google Shape;2748;p59"/>
          <p:cNvSpPr txBox="1"/>
          <p:nvPr/>
        </p:nvSpPr>
        <p:spPr>
          <a:xfrm>
            <a:off x="733349" y="3743554"/>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URL:</a:t>
            </a:r>
            <a:endParaRPr b="0" i="0" sz="1000" u="none" cap="none" strike="noStrike">
              <a:solidFill>
                <a:schemeClr val="dk1"/>
              </a:solidFill>
              <a:latin typeface="Calibri"/>
              <a:ea typeface="Calibri"/>
              <a:cs typeface="Calibri"/>
              <a:sym typeface="Calibri"/>
            </a:endParaRPr>
          </a:p>
        </p:txBody>
      </p:sp>
      <p:sp>
        <p:nvSpPr>
          <p:cNvPr id="2749" name="Google Shape;2749;p59"/>
          <p:cNvSpPr txBox="1"/>
          <p:nvPr/>
        </p:nvSpPr>
        <p:spPr>
          <a:xfrm>
            <a:off x="733349" y="4043477"/>
            <a:ext cx="6528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Context:</a:t>
            </a:r>
            <a:endParaRPr b="0" i="0" sz="1000" u="none" cap="none" strike="noStrike">
              <a:solidFill>
                <a:schemeClr val="dk1"/>
              </a:solidFill>
              <a:latin typeface="Calibri"/>
              <a:ea typeface="Calibri"/>
              <a:cs typeface="Calibri"/>
              <a:sym typeface="Calibri"/>
            </a:endParaRPr>
          </a:p>
        </p:txBody>
      </p:sp>
      <p:sp>
        <p:nvSpPr>
          <p:cNvPr id="2750" name="Google Shape;2750;p59"/>
          <p:cNvSpPr txBox="1"/>
          <p:nvPr/>
        </p:nvSpPr>
        <p:spPr>
          <a:xfrm>
            <a:off x="6391656" y="3247949"/>
            <a:ext cx="1090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Author/Source:</a:t>
            </a:r>
            <a:endParaRPr b="0" i="0" sz="1000" u="none" cap="none" strike="noStrike">
              <a:solidFill>
                <a:schemeClr val="dk1"/>
              </a:solidFill>
              <a:latin typeface="Calibri"/>
              <a:ea typeface="Calibri"/>
              <a:cs typeface="Calibri"/>
              <a:sym typeface="Calibri"/>
            </a:endParaRPr>
          </a:p>
        </p:txBody>
      </p:sp>
      <p:sp>
        <p:nvSpPr>
          <p:cNvPr id="2751" name="Google Shape;2751;p59"/>
          <p:cNvSpPr txBox="1"/>
          <p:nvPr/>
        </p:nvSpPr>
        <p:spPr>
          <a:xfrm>
            <a:off x="6391656" y="3543300"/>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URL:</a:t>
            </a:r>
            <a:endParaRPr b="0" i="0" sz="1000" u="none" cap="none" strike="noStrike">
              <a:solidFill>
                <a:schemeClr val="dk1"/>
              </a:solidFill>
              <a:latin typeface="Calibri"/>
              <a:ea typeface="Calibri"/>
              <a:cs typeface="Calibri"/>
              <a:sym typeface="Calibri"/>
            </a:endParaRPr>
          </a:p>
        </p:txBody>
      </p:sp>
      <p:sp>
        <p:nvSpPr>
          <p:cNvPr id="2752" name="Google Shape;2752;p59"/>
          <p:cNvSpPr txBox="1"/>
          <p:nvPr/>
        </p:nvSpPr>
        <p:spPr>
          <a:xfrm>
            <a:off x="6391656" y="3843223"/>
            <a:ext cx="6528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Context:</a:t>
            </a:r>
            <a:endParaRPr b="0" i="0" sz="1000" u="none" cap="none" strike="noStrike">
              <a:solidFill>
                <a:schemeClr val="dk1"/>
              </a:solidFill>
              <a:latin typeface="Calibri"/>
              <a:ea typeface="Calibri"/>
              <a:cs typeface="Calibri"/>
              <a:sym typeface="Calibri"/>
            </a:endParaRPr>
          </a:p>
        </p:txBody>
      </p:sp>
      <p:sp>
        <p:nvSpPr>
          <p:cNvPr id="2753" name="Google Shape;2753;p59"/>
          <p:cNvSpPr txBox="1"/>
          <p:nvPr/>
        </p:nvSpPr>
        <p:spPr>
          <a:xfrm>
            <a:off x="733349" y="6452921"/>
            <a:ext cx="4050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URL:</a:t>
            </a:r>
            <a:endParaRPr b="0" i="0" sz="1000" u="none" cap="none" strike="noStrike">
              <a:solidFill>
                <a:schemeClr val="dk1"/>
              </a:solidFill>
              <a:latin typeface="Calibri"/>
              <a:ea typeface="Calibri"/>
              <a:cs typeface="Calibri"/>
              <a:sym typeface="Calibri"/>
            </a:endParaRPr>
          </a:p>
        </p:txBody>
      </p:sp>
      <p:sp>
        <p:nvSpPr>
          <p:cNvPr id="2754" name="Google Shape;2754;p59"/>
          <p:cNvSpPr txBox="1"/>
          <p:nvPr/>
        </p:nvSpPr>
        <p:spPr>
          <a:xfrm>
            <a:off x="733349" y="6752844"/>
            <a:ext cx="6528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Context:</a:t>
            </a:r>
            <a:endParaRPr b="0" i="0" sz="1000" u="none" cap="none" strike="noStrike">
              <a:solidFill>
                <a:schemeClr val="dk1"/>
              </a:solidFill>
              <a:latin typeface="Calibri"/>
              <a:ea typeface="Calibri"/>
              <a:cs typeface="Calibri"/>
              <a:sym typeface="Calibri"/>
            </a:endParaRPr>
          </a:p>
        </p:txBody>
      </p:sp>
      <p:sp>
        <p:nvSpPr>
          <p:cNvPr id="2755" name="Google Shape;2755;p59"/>
          <p:cNvSpPr txBox="1"/>
          <p:nvPr/>
        </p:nvSpPr>
        <p:spPr>
          <a:xfrm>
            <a:off x="6391656" y="7148779"/>
            <a:ext cx="8339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Frequency:</a:t>
            </a:r>
            <a:endParaRPr b="0" i="0" sz="1000" u="none" cap="none" strike="noStrike">
              <a:solidFill>
                <a:schemeClr val="dk1"/>
              </a:solidFill>
              <a:latin typeface="Calibri"/>
              <a:ea typeface="Calibri"/>
              <a:cs typeface="Calibri"/>
              <a:sym typeface="Calibri"/>
            </a:endParaRPr>
          </a:p>
        </p:txBody>
      </p:sp>
      <p:sp>
        <p:nvSpPr>
          <p:cNvPr id="2756" name="Google Shape;2756;p59"/>
          <p:cNvSpPr txBox="1"/>
          <p:nvPr/>
        </p:nvSpPr>
        <p:spPr>
          <a:xfrm>
            <a:off x="1876349" y="3448202"/>
            <a:ext cx="252008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u/WyattTehRobot, r/DIY, July 20, 2023</a:t>
            </a:r>
            <a:endParaRPr b="0" i="0" sz="1000" u="none" cap="none" strike="noStrike">
              <a:solidFill>
                <a:schemeClr val="dk1"/>
              </a:solidFill>
              <a:latin typeface="Calibri"/>
              <a:ea typeface="Calibri"/>
              <a:cs typeface="Calibri"/>
              <a:sym typeface="Calibri"/>
            </a:endParaRPr>
          </a:p>
        </p:txBody>
      </p:sp>
      <p:sp>
        <p:nvSpPr>
          <p:cNvPr id="2757" name="Google Shape;2757;p59"/>
          <p:cNvSpPr txBox="1"/>
          <p:nvPr/>
        </p:nvSpPr>
        <p:spPr>
          <a:xfrm>
            <a:off x="1876349" y="4043477"/>
            <a:ext cx="39867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Product worked during use; damage occurred during removal</a:t>
            </a:r>
            <a:endParaRPr b="0" i="0" sz="1000" u="none" cap="none" strike="noStrike">
              <a:solidFill>
                <a:schemeClr val="dk1"/>
              </a:solidFill>
              <a:latin typeface="Calibri"/>
              <a:ea typeface="Calibri"/>
              <a:cs typeface="Calibri"/>
              <a:sym typeface="Calibri"/>
            </a:endParaRPr>
          </a:p>
        </p:txBody>
      </p:sp>
      <p:sp>
        <p:nvSpPr>
          <p:cNvPr id="2758" name="Google Shape;2758;p59"/>
          <p:cNvSpPr txBox="1"/>
          <p:nvPr/>
        </p:nvSpPr>
        <p:spPr>
          <a:xfrm>
            <a:off x="7534656" y="3843223"/>
            <a:ext cx="32625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Explaining interaction between paint and adhesive</a:t>
            </a:r>
            <a:endParaRPr b="0" i="0" sz="1000" u="none" cap="none" strike="noStrike">
              <a:solidFill>
                <a:schemeClr val="dk1"/>
              </a:solidFill>
              <a:latin typeface="Calibri"/>
              <a:ea typeface="Calibri"/>
              <a:cs typeface="Calibri"/>
              <a:sym typeface="Calibri"/>
            </a:endParaRPr>
          </a:p>
        </p:txBody>
      </p:sp>
      <p:sp>
        <p:nvSpPr>
          <p:cNvPr id="2759" name="Google Shape;2759;p59"/>
          <p:cNvSpPr txBox="1"/>
          <p:nvPr/>
        </p:nvSpPr>
        <p:spPr>
          <a:xfrm>
            <a:off x="1876349" y="3752698"/>
            <a:ext cx="305592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900"/>
              <a:buFont typeface="Inter"/>
              <a:buNone/>
            </a:pPr>
            <a:r>
              <a:rPr b="0" i="0" lang="en-US" sz="900" u="none" cap="none" strike="noStrike">
                <a:solidFill>
                  <a:srgbClr val="4299E1"/>
                </a:solidFill>
                <a:latin typeface="Inter"/>
                <a:ea typeface="Inter"/>
                <a:cs typeface="Inter"/>
                <a:sym typeface="Inter"/>
              </a:rPr>
              <a:t>https://www.reddit.com/r/DIY/comments/154p7e8/</a:t>
            </a:r>
            <a:endParaRPr b="0" i="0" sz="900" u="none" cap="none" strike="noStrike">
              <a:solidFill>
                <a:schemeClr val="dk1"/>
              </a:solidFill>
              <a:latin typeface="Calibri"/>
              <a:ea typeface="Calibri"/>
              <a:cs typeface="Calibri"/>
              <a:sym typeface="Calibri"/>
            </a:endParaRPr>
          </a:p>
        </p:txBody>
      </p:sp>
      <p:pic>
        <p:nvPicPr>
          <p:cNvPr descr="preencoded.png" id="2760" name="Google Shape;2760;p59"/>
          <p:cNvPicPr preferRelativeResize="0"/>
          <p:nvPr/>
        </p:nvPicPr>
        <p:blipFill rotWithShape="1">
          <a:blip r:embed="rId5">
            <a:alphaModFix/>
          </a:blip>
          <a:srcRect b="0" l="0" r="0" t="0"/>
          <a:stretch/>
        </p:blipFill>
        <p:spPr>
          <a:xfrm>
            <a:off x="6495898" y="2009851"/>
            <a:ext cx="171907" cy="171907"/>
          </a:xfrm>
          <a:prstGeom prst="rect">
            <a:avLst/>
          </a:prstGeom>
          <a:noFill/>
          <a:ln>
            <a:noFill/>
          </a:ln>
        </p:spPr>
      </p:pic>
      <p:sp>
        <p:nvSpPr>
          <p:cNvPr id="2761" name="Google Shape;2761;p59"/>
          <p:cNvSpPr txBox="1"/>
          <p:nvPr/>
        </p:nvSpPr>
        <p:spPr>
          <a:xfrm>
            <a:off x="7534656" y="3247949"/>
            <a:ext cx="27962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Reddit r/HomeImprovement, October 2024</a:t>
            </a:r>
            <a:endParaRPr b="0" i="0" sz="1000" u="none" cap="none" strike="noStrike">
              <a:solidFill>
                <a:schemeClr val="dk1"/>
              </a:solidFill>
              <a:latin typeface="Calibri"/>
              <a:ea typeface="Calibri"/>
              <a:cs typeface="Calibri"/>
              <a:sym typeface="Calibri"/>
            </a:endParaRPr>
          </a:p>
        </p:txBody>
      </p:sp>
      <p:pic>
        <p:nvPicPr>
          <p:cNvPr descr="preencoded.png" id="2762" name="Google Shape;2762;p59"/>
          <p:cNvPicPr preferRelativeResize="0"/>
          <p:nvPr/>
        </p:nvPicPr>
        <p:blipFill rotWithShape="1">
          <a:blip r:embed="rId6">
            <a:alphaModFix/>
          </a:blip>
          <a:srcRect b="0" l="0" r="0" t="0"/>
          <a:stretch/>
        </p:blipFill>
        <p:spPr>
          <a:xfrm>
            <a:off x="838505" y="4919472"/>
            <a:ext cx="171907" cy="171907"/>
          </a:xfrm>
          <a:prstGeom prst="rect">
            <a:avLst/>
          </a:prstGeom>
          <a:noFill/>
          <a:ln>
            <a:noFill/>
          </a:ln>
        </p:spPr>
      </p:pic>
      <p:sp>
        <p:nvSpPr>
          <p:cNvPr id="2763" name="Google Shape;2763;p59"/>
          <p:cNvSpPr txBox="1"/>
          <p:nvPr/>
        </p:nvSpPr>
        <p:spPr>
          <a:xfrm>
            <a:off x="866851" y="5586070"/>
            <a:ext cx="4939589"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000"/>
              <a:buFont typeface="Inter"/>
              <a:buNone/>
            </a:pPr>
            <a:r>
              <a:rPr b="0" i="1" lang="en-US" sz="1000" u="none" cap="none" strike="noStrike">
                <a:solidFill>
                  <a:srgbClr val="2D3748"/>
                </a:solidFill>
                <a:latin typeface="Inter"/>
                <a:ea typeface="Inter"/>
                <a:cs typeface="Inter"/>
                <a:sym typeface="Inter"/>
              </a:rPr>
              <a:t>"3M Command large 5lb Hooks fell along with Ikea curtain and rod, made me jump from sleep... only some wall paint fell... this truly gave me trauma."</a:t>
            </a:r>
            <a:endParaRPr b="0" i="0" sz="1000" u="none" cap="none" strike="noStrike">
              <a:solidFill>
                <a:schemeClr val="dk1"/>
              </a:solidFill>
              <a:latin typeface="Calibri"/>
              <a:ea typeface="Calibri"/>
              <a:cs typeface="Calibri"/>
              <a:sym typeface="Calibri"/>
            </a:endParaRPr>
          </a:p>
        </p:txBody>
      </p:sp>
      <p:sp>
        <p:nvSpPr>
          <p:cNvPr id="2764" name="Google Shape;2764;p59"/>
          <p:cNvSpPr txBox="1"/>
          <p:nvPr/>
        </p:nvSpPr>
        <p:spPr>
          <a:xfrm>
            <a:off x="733349" y="6157570"/>
            <a:ext cx="1090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Author/Source:</a:t>
            </a:r>
            <a:endParaRPr b="0" i="0" sz="1000" u="none" cap="none" strike="noStrike">
              <a:solidFill>
                <a:schemeClr val="dk1"/>
              </a:solidFill>
              <a:latin typeface="Calibri"/>
              <a:ea typeface="Calibri"/>
              <a:cs typeface="Calibri"/>
              <a:sym typeface="Calibri"/>
            </a:endParaRPr>
          </a:p>
        </p:txBody>
      </p:sp>
      <p:sp>
        <p:nvSpPr>
          <p:cNvPr id="2765" name="Google Shape;2765;p59"/>
          <p:cNvSpPr txBox="1"/>
          <p:nvPr/>
        </p:nvSpPr>
        <p:spPr>
          <a:xfrm>
            <a:off x="6391656" y="6357823"/>
            <a:ext cx="10908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Author/Source:</a:t>
            </a:r>
            <a:endParaRPr b="0" i="0" sz="1000" u="none" cap="none" strike="noStrike">
              <a:solidFill>
                <a:schemeClr val="dk1"/>
              </a:solidFill>
              <a:latin typeface="Calibri"/>
              <a:ea typeface="Calibri"/>
              <a:cs typeface="Calibri"/>
              <a:sym typeface="Calibri"/>
            </a:endParaRPr>
          </a:p>
        </p:txBody>
      </p:sp>
      <p:sp>
        <p:nvSpPr>
          <p:cNvPr id="2766" name="Google Shape;2766;p59"/>
          <p:cNvSpPr txBox="1"/>
          <p:nvPr/>
        </p:nvSpPr>
        <p:spPr>
          <a:xfrm>
            <a:off x="6391656" y="6653174"/>
            <a:ext cx="6528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Inter"/>
              <a:buNone/>
            </a:pPr>
            <a:r>
              <a:rPr b="1" i="0" lang="en-US" sz="1000" u="none" cap="none" strike="noStrike">
                <a:solidFill>
                  <a:srgbClr val="374151"/>
                </a:solidFill>
                <a:latin typeface="Inter"/>
                <a:ea typeface="Inter"/>
                <a:cs typeface="Inter"/>
                <a:sym typeface="Inter"/>
              </a:rPr>
              <a:t>Context:</a:t>
            </a:r>
            <a:endParaRPr b="0" i="0" sz="1000" u="none" cap="none" strike="noStrike">
              <a:solidFill>
                <a:schemeClr val="dk1"/>
              </a:solidFill>
              <a:latin typeface="Calibri"/>
              <a:ea typeface="Calibri"/>
              <a:cs typeface="Calibri"/>
              <a:sym typeface="Calibri"/>
            </a:endParaRPr>
          </a:p>
        </p:txBody>
      </p:sp>
      <p:sp>
        <p:nvSpPr>
          <p:cNvPr id="2767" name="Google Shape;2767;p59"/>
          <p:cNvSpPr txBox="1"/>
          <p:nvPr/>
        </p:nvSpPr>
        <p:spPr>
          <a:xfrm>
            <a:off x="1876349" y="6157570"/>
            <a:ext cx="23390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u/simochiology, r/DIY, July 17, 2023</a:t>
            </a:r>
            <a:endParaRPr b="0" i="0" sz="1000" u="none" cap="none" strike="noStrike">
              <a:solidFill>
                <a:schemeClr val="dk1"/>
              </a:solidFill>
              <a:latin typeface="Calibri"/>
              <a:ea typeface="Calibri"/>
              <a:cs typeface="Calibri"/>
              <a:sym typeface="Calibri"/>
            </a:endParaRPr>
          </a:p>
        </p:txBody>
      </p:sp>
      <p:sp>
        <p:nvSpPr>
          <p:cNvPr id="2768" name="Google Shape;2768;p59"/>
          <p:cNvSpPr txBox="1"/>
          <p:nvPr/>
        </p:nvSpPr>
        <p:spPr>
          <a:xfrm>
            <a:off x="1876349" y="6752844"/>
            <a:ext cx="3529584"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Product failed during night, causing emotional distress</a:t>
            </a:r>
            <a:endParaRPr b="0" i="0" sz="1000" u="none" cap="none" strike="noStrike">
              <a:solidFill>
                <a:schemeClr val="dk1"/>
              </a:solidFill>
              <a:latin typeface="Calibri"/>
              <a:ea typeface="Calibri"/>
              <a:cs typeface="Calibri"/>
              <a:sym typeface="Calibri"/>
            </a:endParaRPr>
          </a:p>
        </p:txBody>
      </p:sp>
      <p:sp>
        <p:nvSpPr>
          <p:cNvPr id="2769" name="Google Shape;2769;p59"/>
          <p:cNvSpPr txBox="1"/>
          <p:nvPr/>
        </p:nvSpPr>
        <p:spPr>
          <a:xfrm>
            <a:off x="7534656" y="6357823"/>
            <a:ext cx="15956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Reddit, multiple threads</a:t>
            </a:r>
            <a:endParaRPr b="0" i="0" sz="1000" u="none" cap="none" strike="noStrike">
              <a:solidFill>
                <a:schemeClr val="dk1"/>
              </a:solidFill>
              <a:latin typeface="Calibri"/>
              <a:ea typeface="Calibri"/>
              <a:cs typeface="Calibri"/>
              <a:sym typeface="Calibri"/>
            </a:endParaRPr>
          </a:p>
        </p:txBody>
      </p:sp>
      <p:sp>
        <p:nvSpPr>
          <p:cNvPr id="2770" name="Google Shape;2770;p59"/>
          <p:cNvSpPr txBox="1"/>
          <p:nvPr/>
        </p:nvSpPr>
        <p:spPr>
          <a:xfrm>
            <a:off x="7534656" y="6653174"/>
            <a:ext cx="3700577" cy="3621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Some landlords now prefer small nail holes over potential paint damage</a:t>
            </a:r>
            <a:endParaRPr b="0" i="0" sz="1000" u="none" cap="none" strike="noStrike">
              <a:solidFill>
                <a:schemeClr val="dk1"/>
              </a:solidFill>
              <a:latin typeface="Calibri"/>
              <a:ea typeface="Calibri"/>
              <a:cs typeface="Calibri"/>
              <a:sym typeface="Calibri"/>
            </a:endParaRPr>
          </a:p>
        </p:txBody>
      </p:sp>
      <p:sp>
        <p:nvSpPr>
          <p:cNvPr id="2771" name="Google Shape;2771;p59"/>
          <p:cNvSpPr txBox="1"/>
          <p:nvPr/>
        </p:nvSpPr>
        <p:spPr>
          <a:xfrm>
            <a:off x="7534656" y="7148779"/>
            <a:ext cx="28721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25-30 similar mentions in rental discussions</a:t>
            </a:r>
            <a:endParaRPr b="0" i="0" sz="1000" u="none" cap="none" strike="noStrike">
              <a:solidFill>
                <a:schemeClr val="dk1"/>
              </a:solidFill>
              <a:latin typeface="Calibri"/>
              <a:ea typeface="Calibri"/>
              <a:cs typeface="Calibri"/>
              <a:sym typeface="Calibri"/>
            </a:endParaRPr>
          </a:p>
        </p:txBody>
      </p:sp>
      <p:sp>
        <p:nvSpPr>
          <p:cNvPr id="2772" name="Google Shape;2772;p59"/>
          <p:cNvSpPr txBox="1"/>
          <p:nvPr/>
        </p:nvSpPr>
        <p:spPr>
          <a:xfrm>
            <a:off x="7534656" y="3552444"/>
            <a:ext cx="389351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900"/>
              <a:buFont typeface="Inter"/>
              <a:buNone/>
            </a:pPr>
            <a:r>
              <a:rPr b="0" i="0" lang="en-US" sz="900" u="none" cap="none" strike="noStrike">
                <a:solidFill>
                  <a:srgbClr val="4299E1"/>
                </a:solidFill>
                <a:latin typeface="Inter"/>
                <a:ea typeface="Inter"/>
                <a:cs typeface="Inter"/>
                <a:sym typeface="Inter"/>
              </a:rPr>
              <a:t>https://www.reddit.com/r/HomeImprovement/comments/1n92jfo/</a:t>
            </a:r>
            <a:endParaRPr b="0" i="0" sz="900" u="none" cap="none" strike="noStrike">
              <a:solidFill>
                <a:schemeClr val="dk1"/>
              </a:solidFill>
              <a:latin typeface="Calibri"/>
              <a:ea typeface="Calibri"/>
              <a:cs typeface="Calibri"/>
              <a:sym typeface="Calibri"/>
            </a:endParaRPr>
          </a:p>
        </p:txBody>
      </p:sp>
      <p:sp>
        <p:nvSpPr>
          <p:cNvPr id="2773" name="Google Shape;2773;p59"/>
          <p:cNvSpPr txBox="1"/>
          <p:nvPr/>
        </p:nvSpPr>
        <p:spPr>
          <a:xfrm>
            <a:off x="1876349" y="6462979"/>
            <a:ext cx="301752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99E1"/>
              </a:buClr>
              <a:buSzPts val="900"/>
              <a:buFont typeface="Inter"/>
              <a:buNone/>
            </a:pPr>
            <a:r>
              <a:rPr b="0" i="0" lang="en-US" sz="900" u="none" cap="none" strike="noStrike">
                <a:solidFill>
                  <a:srgbClr val="4299E1"/>
                </a:solidFill>
                <a:latin typeface="Inter"/>
                <a:ea typeface="Inter"/>
                <a:cs typeface="Inter"/>
                <a:sym typeface="Inter"/>
              </a:rPr>
              <a:t>https://www.reddit.com/r/DIY/comments/151nhse/</a:t>
            </a:r>
            <a:endParaRPr b="0" i="0" sz="900" u="none" cap="none" strike="noStrike">
              <a:solidFill>
                <a:schemeClr val="dk1"/>
              </a:solidFill>
              <a:latin typeface="Calibri"/>
              <a:ea typeface="Calibri"/>
              <a:cs typeface="Calibri"/>
              <a:sym typeface="Calibri"/>
            </a:endParaRPr>
          </a:p>
        </p:txBody>
      </p:sp>
      <p:pic>
        <p:nvPicPr>
          <p:cNvPr descr="preencoded.png" id="2774" name="Google Shape;2774;p59"/>
          <p:cNvPicPr preferRelativeResize="0"/>
          <p:nvPr/>
        </p:nvPicPr>
        <p:blipFill rotWithShape="1">
          <a:blip r:embed="rId7">
            <a:alphaModFix/>
          </a:blip>
          <a:srcRect b="0" l="-1773" r="-1773" t="0"/>
          <a:stretch/>
        </p:blipFill>
        <p:spPr>
          <a:xfrm>
            <a:off x="6515100" y="4919472"/>
            <a:ext cx="133502" cy="171907"/>
          </a:xfrm>
          <a:prstGeom prst="rect">
            <a:avLst/>
          </a:prstGeom>
          <a:noFill/>
          <a:ln>
            <a:noFill/>
          </a:ln>
        </p:spPr>
      </p:pic>
      <p:sp>
        <p:nvSpPr>
          <p:cNvPr id="2775" name="Google Shape;2775;p59"/>
          <p:cNvSpPr txBox="1"/>
          <p:nvPr/>
        </p:nvSpPr>
        <p:spPr>
          <a:xfrm>
            <a:off x="7279538" y="7767828"/>
            <a:ext cx="4467758" cy="143561"/>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Reddit posts from DIY, HomeImprovement and rental-focused subreddits</a:t>
            </a:r>
            <a:endParaRPr b="0" i="0" sz="900" u="none" cap="none" strike="noStrike">
              <a:solidFill>
                <a:schemeClr val="dk1"/>
              </a:solidFill>
              <a:latin typeface="Calibri"/>
              <a:ea typeface="Calibri"/>
              <a:cs typeface="Calibri"/>
              <a:sym typeface="Calibri"/>
            </a:endParaRPr>
          </a:p>
        </p:txBody>
      </p:sp>
      <p:sp>
        <p:nvSpPr>
          <p:cNvPr id="2776" name="Google Shape;2776;p59"/>
          <p:cNvSpPr txBox="1"/>
          <p:nvPr/>
        </p:nvSpPr>
        <p:spPr>
          <a:xfrm>
            <a:off x="533095" y="8167421"/>
            <a:ext cx="24862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2777" name="Google Shape;2777;p59"/>
          <p:cNvSpPr txBox="1"/>
          <p:nvPr/>
        </p:nvSpPr>
        <p:spPr>
          <a:xfrm>
            <a:off x="11519611" y="8167421"/>
            <a:ext cx="228600"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0" lang="en-US" sz="900" u="none" cap="none" strike="noStrike">
                <a:solidFill>
                  <a:srgbClr val="6B7280"/>
                </a:solidFill>
                <a:latin typeface="Inter"/>
                <a:ea typeface="Inter"/>
                <a:cs typeface="Inter"/>
                <a:sym typeface="Inter"/>
              </a:rPr>
              <a:t>56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2" name="Shape 2782"/>
        <p:cNvGrpSpPr/>
        <p:nvPr/>
      </p:nvGrpSpPr>
      <p:grpSpPr>
        <a:xfrm>
          <a:off x="0" y="0"/>
          <a:ext cx="0" cy="0"/>
          <a:chOff x="0" y="0"/>
          <a:chExt cx="0" cy="0"/>
        </a:xfrm>
      </p:grpSpPr>
      <p:sp>
        <p:nvSpPr>
          <p:cNvPr id="2783" name="Google Shape;2783;p60"/>
          <p:cNvSpPr/>
          <p:nvPr/>
        </p:nvSpPr>
        <p:spPr>
          <a:xfrm>
            <a:off x="0" y="0"/>
            <a:ext cx="12191695" cy="109444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60"/>
          <p:cNvSpPr/>
          <p:nvPr/>
        </p:nvSpPr>
        <p:spPr>
          <a:xfrm>
            <a:off x="0" y="0"/>
            <a:ext cx="12191695" cy="109444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60"/>
          <p:cNvSpPr/>
          <p:nvPr/>
        </p:nvSpPr>
        <p:spPr>
          <a:xfrm>
            <a:off x="609905" y="381305"/>
            <a:ext cx="761695"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60"/>
          <p:cNvSpPr txBox="1"/>
          <p:nvPr/>
        </p:nvSpPr>
        <p:spPr>
          <a:xfrm>
            <a:off x="609905" y="647395"/>
            <a:ext cx="398221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Inter"/>
              <a:buNone/>
            </a:pPr>
            <a:r>
              <a:rPr b="1" i="0" lang="en-US" sz="2400" u="none" cap="none" strike="noStrike">
                <a:solidFill>
                  <a:srgbClr val="111827"/>
                </a:solidFill>
                <a:latin typeface="Inter"/>
                <a:ea typeface="Inter"/>
                <a:cs typeface="Inter"/>
                <a:sym typeface="Inter"/>
              </a:rPr>
              <a:t>Appendix C: Methodology</a:t>
            </a:r>
            <a:endParaRPr b="0" i="0" sz="2400" u="none" cap="none" strike="noStrike">
              <a:solidFill>
                <a:schemeClr val="dk1"/>
              </a:solidFill>
              <a:latin typeface="Calibri"/>
              <a:ea typeface="Calibri"/>
              <a:cs typeface="Calibri"/>
              <a:sym typeface="Calibri"/>
            </a:endParaRPr>
          </a:p>
        </p:txBody>
      </p:sp>
      <p:sp>
        <p:nvSpPr>
          <p:cNvPr id="2787" name="Google Shape;2787;p60"/>
          <p:cNvSpPr/>
          <p:nvPr/>
        </p:nvSpPr>
        <p:spPr>
          <a:xfrm>
            <a:off x="609905" y="1933956"/>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60"/>
          <p:cNvSpPr/>
          <p:nvPr/>
        </p:nvSpPr>
        <p:spPr>
          <a:xfrm>
            <a:off x="609905" y="4431182"/>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60"/>
          <p:cNvSpPr/>
          <p:nvPr/>
        </p:nvSpPr>
        <p:spPr>
          <a:xfrm>
            <a:off x="609905" y="7671816"/>
            <a:ext cx="10972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60"/>
          <p:cNvSpPr txBox="1"/>
          <p:nvPr/>
        </p:nvSpPr>
        <p:spPr>
          <a:xfrm>
            <a:off x="609905" y="1591056"/>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2791" name="Google Shape;2791;p60"/>
          <p:cNvSpPr txBox="1"/>
          <p:nvPr/>
        </p:nvSpPr>
        <p:spPr>
          <a:xfrm>
            <a:off x="897941" y="1604772"/>
            <a:ext cx="2581351"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4-Phase Analysis Process</a:t>
            </a:r>
            <a:endParaRPr b="0" i="0" sz="1500" u="none" cap="none" strike="noStrike">
              <a:solidFill>
                <a:schemeClr val="dk1"/>
              </a:solidFill>
              <a:latin typeface="Calibri"/>
              <a:ea typeface="Calibri"/>
              <a:cs typeface="Calibri"/>
              <a:sym typeface="Calibri"/>
            </a:endParaRPr>
          </a:p>
        </p:txBody>
      </p:sp>
      <p:sp>
        <p:nvSpPr>
          <p:cNvPr id="2792" name="Google Shape;2792;p60"/>
          <p:cNvSpPr txBox="1"/>
          <p:nvPr/>
        </p:nvSpPr>
        <p:spPr>
          <a:xfrm>
            <a:off x="609905" y="4088282"/>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2793" name="Google Shape;2793;p60"/>
          <p:cNvSpPr txBox="1"/>
          <p:nvPr/>
        </p:nvSpPr>
        <p:spPr>
          <a:xfrm>
            <a:off x="897941" y="4101998"/>
            <a:ext cx="2628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Key Analytical Discoveries</a:t>
            </a:r>
            <a:endParaRPr b="0" i="0" sz="1500" u="none" cap="none" strike="noStrike">
              <a:solidFill>
                <a:schemeClr val="dk1"/>
              </a:solidFill>
              <a:latin typeface="Calibri"/>
              <a:ea typeface="Calibri"/>
              <a:cs typeface="Calibri"/>
              <a:sym typeface="Calibri"/>
            </a:endParaRPr>
          </a:p>
        </p:txBody>
      </p:sp>
      <p:sp>
        <p:nvSpPr>
          <p:cNvPr id="2794" name="Google Shape;2794;p60"/>
          <p:cNvSpPr txBox="1"/>
          <p:nvPr/>
        </p:nvSpPr>
        <p:spPr>
          <a:xfrm>
            <a:off x="609905" y="7328002"/>
            <a:ext cx="338328"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600"/>
              <a:buFont typeface="Inter"/>
              <a:buNone/>
            </a:pPr>
            <a:r>
              <a:rPr b="1" i="0" lang="en-US" sz="1600" u="none" cap="none" strike="noStrike">
                <a:solidFill>
                  <a:srgbClr val="1E3A8A"/>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2795" name="Google Shape;2795;p60"/>
          <p:cNvSpPr txBox="1"/>
          <p:nvPr/>
        </p:nvSpPr>
        <p:spPr>
          <a:xfrm>
            <a:off x="897941" y="7341718"/>
            <a:ext cx="2563063"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500"/>
              <a:buFont typeface="Inter"/>
              <a:buNone/>
            </a:pPr>
            <a:r>
              <a:rPr b="1" i="0" lang="en-US" sz="1500" u="none" cap="none" strike="noStrike">
                <a:solidFill>
                  <a:srgbClr val="374151"/>
                </a:solidFill>
                <a:latin typeface="Inter"/>
                <a:ea typeface="Inter"/>
                <a:cs typeface="Inter"/>
                <a:sym typeface="Inter"/>
              </a:rPr>
              <a:t>Data Traceability Example</a:t>
            </a:r>
            <a:endParaRPr b="0" i="0" sz="1500" u="none" cap="none" strike="noStrike">
              <a:solidFill>
                <a:schemeClr val="dk1"/>
              </a:solidFill>
              <a:latin typeface="Calibri"/>
              <a:ea typeface="Calibri"/>
              <a:cs typeface="Calibri"/>
              <a:sym typeface="Calibri"/>
            </a:endParaRPr>
          </a:p>
        </p:txBody>
      </p:sp>
      <p:sp>
        <p:nvSpPr>
          <p:cNvPr id="2796" name="Google Shape;2796;p60"/>
          <p:cNvSpPr/>
          <p:nvPr/>
        </p:nvSpPr>
        <p:spPr>
          <a:xfrm>
            <a:off x="609905" y="2095805"/>
            <a:ext cx="2628900" cy="1781251"/>
          </a:xfrm>
          <a:prstGeom prst="roundRect">
            <a:avLst>
              <a:gd fmla="val 164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60"/>
          <p:cNvSpPr/>
          <p:nvPr/>
        </p:nvSpPr>
        <p:spPr>
          <a:xfrm>
            <a:off x="609905" y="2095805"/>
            <a:ext cx="28346" cy="17812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60"/>
          <p:cNvSpPr/>
          <p:nvPr/>
        </p:nvSpPr>
        <p:spPr>
          <a:xfrm>
            <a:off x="3390595" y="2095805"/>
            <a:ext cx="2628900" cy="1781251"/>
          </a:xfrm>
          <a:prstGeom prst="roundRect">
            <a:avLst>
              <a:gd fmla="val 164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60"/>
          <p:cNvSpPr/>
          <p:nvPr/>
        </p:nvSpPr>
        <p:spPr>
          <a:xfrm>
            <a:off x="3390595" y="2095805"/>
            <a:ext cx="28346" cy="17812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60"/>
          <p:cNvSpPr/>
          <p:nvPr/>
        </p:nvSpPr>
        <p:spPr>
          <a:xfrm>
            <a:off x="6172200" y="2095805"/>
            <a:ext cx="2628900" cy="1781251"/>
          </a:xfrm>
          <a:prstGeom prst="roundRect">
            <a:avLst>
              <a:gd fmla="val 164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60"/>
          <p:cNvSpPr/>
          <p:nvPr/>
        </p:nvSpPr>
        <p:spPr>
          <a:xfrm>
            <a:off x="6172200" y="2095805"/>
            <a:ext cx="28346" cy="17812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60"/>
          <p:cNvSpPr/>
          <p:nvPr/>
        </p:nvSpPr>
        <p:spPr>
          <a:xfrm>
            <a:off x="8953805" y="2095805"/>
            <a:ext cx="2628900" cy="1781251"/>
          </a:xfrm>
          <a:prstGeom prst="roundRect">
            <a:avLst>
              <a:gd fmla="val 1647" name="adj"/>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60"/>
          <p:cNvSpPr/>
          <p:nvPr/>
        </p:nvSpPr>
        <p:spPr>
          <a:xfrm>
            <a:off x="8953805" y="2095805"/>
            <a:ext cx="28346" cy="1781251"/>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60"/>
          <p:cNvSpPr txBox="1"/>
          <p:nvPr/>
        </p:nvSpPr>
        <p:spPr>
          <a:xfrm>
            <a:off x="752551" y="2286000"/>
            <a:ext cx="204826"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1</a:t>
            </a:r>
            <a:endParaRPr b="0" i="0" sz="1300" u="none" cap="none" strike="noStrike">
              <a:solidFill>
                <a:schemeClr val="dk1"/>
              </a:solidFill>
              <a:latin typeface="Calibri"/>
              <a:ea typeface="Calibri"/>
              <a:cs typeface="Calibri"/>
              <a:sym typeface="Calibri"/>
            </a:endParaRPr>
          </a:p>
        </p:txBody>
      </p:sp>
      <p:sp>
        <p:nvSpPr>
          <p:cNvPr id="2805" name="Google Shape;2805;p60"/>
          <p:cNvSpPr txBox="1"/>
          <p:nvPr/>
        </p:nvSpPr>
        <p:spPr>
          <a:xfrm>
            <a:off x="752551" y="2607869"/>
            <a:ext cx="13624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Raw Data Review</a:t>
            </a:r>
            <a:endParaRPr b="0" i="0" sz="1200" u="none" cap="none" strike="noStrike">
              <a:solidFill>
                <a:schemeClr val="dk1"/>
              </a:solidFill>
              <a:latin typeface="Calibri"/>
              <a:ea typeface="Calibri"/>
              <a:cs typeface="Calibri"/>
              <a:sym typeface="Calibri"/>
            </a:endParaRPr>
          </a:p>
        </p:txBody>
      </p:sp>
      <p:sp>
        <p:nvSpPr>
          <p:cNvPr id="2806" name="Google Shape;2806;p60"/>
          <p:cNvSpPr txBox="1"/>
          <p:nvPr/>
        </p:nvSpPr>
        <p:spPr>
          <a:xfrm>
            <a:off x="752551" y="2899562"/>
            <a:ext cx="19623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100+ posts read manually</a:t>
            </a:r>
            <a:endParaRPr b="0" i="0" sz="1200" u="none" cap="none" strike="noStrike">
              <a:solidFill>
                <a:schemeClr val="dk1"/>
              </a:solidFill>
              <a:latin typeface="Calibri"/>
              <a:ea typeface="Calibri"/>
              <a:cs typeface="Calibri"/>
              <a:sym typeface="Calibri"/>
            </a:endParaRPr>
          </a:p>
        </p:txBody>
      </p:sp>
      <p:sp>
        <p:nvSpPr>
          <p:cNvPr id="2807" name="Google Shape;2807;p60"/>
          <p:cNvSpPr txBox="1"/>
          <p:nvPr/>
        </p:nvSpPr>
        <p:spPr>
          <a:xfrm>
            <a:off x="752551" y="3190342"/>
            <a:ext cx="2171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Direct observation approach</a:t>
            </a:r>
            <a:endParaRPr b="0" i="0" sz="1200" u="none" cap="none" strike="noStrike">
              <a:solidFill>
                <a:schemeClr val="dk1"/>
              </a:solidFill>
              <a:latin typeface="Calibri"/>
              <a:ea typeface="Calibri"/>
              <a:cs typeface="Calibri"/>
              <a:sym typeface="Calibri"/>
            </a:endParaRPr>
          </a:p>
        </p:txBody>
      </p:sp>
      <p:sp>
        <p:nvSpPr>
          <p:cNvPr id="2808" name="Google Shape;2808;p60"/>
          <p:cNvSpPr txBox="1"/>
          <p:nvPr/>
        </p:nvSpPr>
        <p:spPr>
          <a:xfrm>
            <a:off x="752551" y="3482035"/>
            <a:ext cx="16102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Pattern identification</a:t>
            </a:r>
            <a:endParaRPr b="0" i="0" sz="1200" u="none" cap="none" strike="noStrike">
              <a:solidFill>
                <a:schemeClr val="dk1"/>
              </a:solidFill>
              <a:latin typeface="Calibri"/>
              <a:ea typeface="Calibri"/>
              <a:cs typeface="Calibri"/>
              <a:sym typeface="Calibri"/>
            </a:endParaRPr>
          </a:p>
        </p:txBody>
      </p:sp>
      <p:sp>
        <p:nvSpPr>
          <p:cNvPr id="2809" name="Google Shape;2809;p60"/>
          <p:cNvSpPr txBox="1"/>
          <p:nvPr/>
        </p:nvSpPr>
        <p:spPr>
          <a:xfrm>
            <a:off x="3534156" y="2286000"/>
            <a:ext cx="2432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2</a:t>
            </a:r>
            <a:endParaRPr b="0" i="0" sz="1300" u="none" cap="none" strike="noStrike">
              <a:solidFill>
                <a:schemeClr val="dk1"/>
              </a:solidFill>
              <a:latin typeface="Calibri"/>
              <a:ea typeface="Calibri"/>
              <a:cs typeface="Calibri"/>
              <a:sym typeface="Calibri"/>
            </a:endParaRPr>
          </a:p>
        </p:txBody>
      </p:sp>
      <p:sp>
        <p:nvSpPr>
          <p:cNvPr id="2810" name="Google Shape;2810;p60"/>
          <p:cNvSpPr txBox="1"/>
          <p:nvPr/>
        </p:nvSpPr>
        <p:spPr>
          <a:xfrm>
            <a:off x="3534156" y="2607869"/>
            <a:ext cx="16962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Hypothesis Formation</a:t>
            </a:r>
            <a:endParaRPr b="0" i="0" sz="1200" u="none" cap="none" strike="noStrike">
              <a:solidFill>
                <a:schemeClr val="dk1"/>
              </a:solidFill>
              <a:latin typeface="Calibri"/>
              <a:ea typeface="Calibri"/>
              <a:cs typeface="Calibri"/>
              <a:sym typeface="Calibri"/>
            </a:endParaRPr>
          </a:p>
        </p:txBody>
      </p:sp>
      <p:sp>
        <p:nvSpPr>
          <p:cNvPr id="2811" name="Google Shape;2811;p60"/>
          <p:cNvSpPr txBox="1"/>
          <p:nvPr/>
        </p:nvSpPr>
        <p:spPr>
          <a:xfrm>
            <a:off x="3534156" y="2899562"/>
            <a:ext cx="17053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7 testable hypotheses</a:t>
            </a:r>
            <a:endParaRPr b="0" i="0" sz="1200" u="none" cap="none" strike="noStrike">
              <a:solidFill>
                <a:schemeClr val="dk1"/>
              </a:solidFill>
              <a:latin typeface="Calibri"/>
              <a:ea typeface="Calibri"/>
              <a:cs typeface="Calibri"/>
              <a:sym typeface="Calibri"/>
            </a:endParaRPr>
          </a:p>
        </p:txBody>
      </p:sp>
      <p:sp>
        <p:nvSpPr>
          <p:cNvPr id="2812" name="Google Shape;2812;p60"/>
          <p:cNvSpPr txBox="1"/>
          <p:nvPr/>
        </p:nvSpPr>
        <p:spPr>
          <a:xfrm>
            <a:off x="3534156" y="3190342"/>
            <a:ext cx="22576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Based on consumer language</a:t>
            </a:r>
            <a:endParaRPr b="0" i="0" sz="1200" u="none" cap="none" strike="noStrike">
              <a:solidFill>
                <a:schemeClr val="dk1"/>
              </a:solidFill>
              <a:latin typeface="Calibri"/>
              <a:ea typeface="Calibri"/>
              <a:cs typeface="Calibri"/>
              <a:sym typeface="Calibri"/>
            </a:endParaRPr>
          </a:p>
        </p:txBody>
      </p:sp>
      <p:sp>
        <p:nvSpPr>
          <p:cNvPr id="2813" name="Google Shape;2813;p60"/>
          <p:cNvSpPr txBox="1"/>
          <p:nvPr/>
        </p:nvSpPr>
        <p:spPr>
          <a:xfrm>
            <a:off x="3534156" y="3482035"/>
            <a:ext cx="18480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Cross-platform patterns</a:t>
            </a:r>
            <a:endParaRPr b="0" i="0" sz="1200" u="none" cap="none" strike="noStrike">
              <a:solidFill>
                <a:schemeClr val="dk1"/>
              </a:solidFill>
              <a:latin typeface="Calibri"/>
              <a:ea typeface="Calibri"/>
              <a:cs typeface="Calibri"/>
              <a:sym typeface="Calibri"/>
            </a:endParaRPr>
          </a:p>
        </p:txBody>
      </p:sp>
      <p:sp>
        <p:nvSpPr>
          <p:cNvPr id="2814" name="Google Shape;2814;p60"/>
          <p:cNvSpPr txBox="1"/>
          <p:nvPr/>
        </p:nvSpPr>
        <p:spPr>
          <a:xfrm>
            <a:off x="6314846" y="2286000"/>
            <a:ext cx="243230"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3</a:t>
            </a:r>
            <a:endParaRPr b="0" i="0" sz="1300" u="none" cap="none" strike="noStrike">
              <a:solidFill>
                <a:schemeClr val="dk1"/>
              </a:solidFill>
              <a:latin typeface="Calibri"/>
              <a:ea typeface="Calibri"/>
              <a:cs typeface="Calibri"/>
              <a:sym typeface="Calibri"/>
            </a:endParaRPr>
          </a:p>
        </p:txBody>
      </p:sp>
      <p:sp>
        <p:nvSpPr>
          <p:cNvPr id="2815" name="Google Shape;2815;p60"/>
          <p:cNvSpPr txBox="1"/>
          <p:nvPr/>
        </p:nvSpPr>
        <p:spPr>
          <a:xfrm>
            <a:off x="6314846" y="2607869"/>
            <a:ext cx="14859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Systematic Testing</a:t>
            </a:r>
            <a:endParaRPr b="0" i="0" sz="1200" u="none" cap="none" strike="noStrike">
              <a:solidFill>
                <a:schemeClr val="dk1"/>
              </a:solidFill>
              <a:latin typeface="Calibri"/>
              <a:ea typeface="Calibri"/>
              <a:cs typeface="Calibri"/>
              <a:sym typeface="Calibri"/>
            </a:endParaRPr>
          </a:p>
        </p:txBody>
      </p:sp>
      <p:sp>
        <p:nvSpPr>
          <p:cNvPr id="2816" name="Google Shape;2816;p60"/>
          <p:cNvSpPr txBox="1"/>
          <p:nvPr/>
        </p:nvSpPr>
        <p:spPr>
          <a:xfrm>
            <a:off x="6314846" y="2899562"/>
            <a:ext cx="16861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Text pattern searches</a:t>
            </a:r>
            <a:endParaRPr b="0" i="0" sz="1200" u="none" cap="none" strike="noStrike">
              <a:solidFill>
                <a:schemeClr val="dk1"/>
              </a:solidFill>
              <a:latin typeface="Calibri"/>
              <a:ea typeface="Calibri"/>
              <a:cs typeface="Calibri"/>
              <a:sym typeface="Calibri"/>
            </a:endParaRPr>
          </a:p>
        </p:txBody>
      </p:sp>
      <p:sp>
        <p:nvSpPr>
          <p:cNvPr id="2817" name="Google Shape;2817;p60"/>
          <p:cNvSpPr txBox="1"/>
          <p:nvPr/>
        </p:nvSpPr>
        <p:spPr>
          <a:xfrm>
            <a:off x="6314846" y="3190342"/>
            <a:ext cx="16669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Context classification</a:t>
            </a:r>
            <a:endParaRPr b="0" i="0" sz="1200" u="none" cap="none" strike="noStrike">
              <a:solidFill>
                <a:schemeClr val="dk1"/>
              </a:solidFill>
              <a:latin typeface="Calibri"/>
              <a:ea typeface="Calibri"/>
              <a:cs typeface="Calibri"/>
              <a:sym typeface="Calibri"/>
            </a:endParaRPr>
          </a:p>
        </p:txBody>
      </p:sp>
      <p:sp>
        <p:nvSpPr>
          <p:cNvPr id="2818" name="Google Shape;2818;p60"/>
          <p:cNvSpPr txBox="1"/>
          <p:nvPr/>
        </p:nvSpPr>
        <p:spPr>
          <a:xfrm>
            <a:off x="6314846" y="3482035"/>
            <a:ext cx="15718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Data documentation</a:t>
            </a:r>
            <a:endParaRPr b="0" i="0" sz="1200" u="none" cap="none" strike="noStrike">
              <a:solidFill>
                <a:schemeClr val="dk1"/>
              </a:solidFill>
              <a:latin typeface="Calibri"/>
              <a:ea typeface="Calibri"/>
              <a:cs typeface="Calibri"/>
              <a:sym typeface="Calibri"/>
            </a:endParaRPr>
          </a:p>
        </p:txBody>
      </p:sp>
      <p:sp>
        <p:nvSpPr>
          <p:cNvPr id="2819" name="Google Shape;2819;p60"/>
          <p:cNvSpPr txBox="1"/>
          <p:nvPr/>
        </p:nvSpPr>
        <p:spPr>
          <a:xfrm>
            <a:off x="9096451" y="2286000"/>
            <a:ext cx="253289" cy="2002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8A"/>
              </a:buClr>
              <a:buSzPts val="1300"/>
              <a:buFont typeface="Inter"/>
              <a:buNone/>
            </a:pPr>
            <a:r>
              <a:rPr b="1" i="0" lang="en-US" sz="1300" u="none" cap="none" strike="noStrike">
                <a:solidFill>
                  <a:srgbClr val="1E3A8A"/>
                </a:solidFill>
                <a:latin typeface="Inter"/>
                <a:ea typeface="Inter"/>
                <a:cs typeface="Inter"/>
                <a:sym typeface="Inter"/>
              </a:rPr>
              <a:t>4</a:t>
            </a:r>
            <a:endParaRPr b="0" i="0" sz="1300" u="none" cap="none" strike="noStrike">
              <a:solidFill>
                <a:schemeClr val="dk1"/>
              </a:solidFill>
              <a:latin typeface="Calibri"/>
              <a:ea typeface="Calibri"/>
              <a:cs typeface="Calibri"/>
              <a:sym typeface="Calibri"/>
            </a:endParaRPr>
          </a:p>
        </p:txBody>
      </p:sp>
      <p:sp>
        <p:nvSpPr>
          <p:cNvPr id="2820" name="Google Shape;2820;p60"/>
          <p:cNvSpPr txBox="1"/>
          <p:nvPr/>
        </p:nvSpPr>
        <p:spPr>
          <a:xfrm>
            <a:off x="9096451" y="2607869"/>
            <a:ext cx="128656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Results Analysis</a:t>
            </a:r>
            <a:endParaRPr b="0" i="0" sz="1200" u="none" cap="none" strike="noStrike">
              <a:solidFill>
                <a:schemeClr val="dk1"/>
              </a:solidFill>
              <a:latin typeface="Calibri"/>
              <a:ea typeface="Calibri"/>
              <a:cs typeface="Calibri"/>
              <a:sym typeface="Calibri"/>
            </a:endParaRPr>
          </a:p>
        </p:txBody>
      </p:sp>
      <p:sp>
        <p:nvSpPr>
          <p:cNvPr id="2821" name="Google Shape;2821;p60"/>
          <p:cNvSpPr txBox="1"/>
          <p:nvPr/>
        </p:nvSpPr>
        <p:spPr>
          <a:xfrm>
            <a:off x="9096451" y="2899562"/>
            <a:ext cx="2105863"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6 of 7 hypotheses validated</a:t>
            </a:r>
            <a:endParaRPr b="0" i="0" sz="1200" u="none" cap="none" strike="noStrike">
              <a:solidFill>
                <a:schemeClr val="dk1"/>
              </a:solidFill>
              <a:latin typeface="Calibri"/>
              <a:ea typeface="Calibri"/>
              <a:cs typeface="Calibri"/>
              <a:sym typeface="Calibri"/>
            </a:endParaRPr>
          </a:p>
        </p:txBody>
      </p:sp>
      <p:sp>
        <p:nvSpPr>
          <p:cNvPr id="2822" name="Google Shape;2822;p60"/>
          <p:cNvSpPr txBox="1"/>
          <p:nvPr/>
        </p:nvSpPr>
        <p:spPr>
          <a:xfrm>
            <a:off x="9096451" y="3190342"/>
            <a:ext cx="17337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Statistical significance</a:t>
            </a:r>
            <a:endParaRPr b="0" i="0" sz="1200" u="none" cap="none" strike="noStrike">
              <a:solidFill>
                <a:schemeClr val="dk1"/>
              </a:solidFill>
              <a:latin typeface="Calibri"/>
              <a:ea typeface="Calibri"/>
              <a:cs typeface="Calibri"/>
              <a:sym typeface="Calibri"/>
            </a:endParaRPr>
          </a:p>
        </p:txBody>
      </p:sp>
      <p:sp>
        <p:nvSpPr>
          <p:cNvPr id="2823" name="Google Shape;2823;p60"/>
          <p:cNvSpPr txBox="1"/>
          <p:nvPr/>
        </p:nvSpPr>
        <p:spPr>
          <a:xfrm>
            <a:off x="9096451" y="3482035"/>
            <a:ext cx="12097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Documentation</a:t>
            </a:r>
            <a:endParaRPr b="0" i="0" sz="1200" u="none" cap="none" strike="noStrike">
              <a:solidFill>
                <a:schemeClr val="dk1"/>
              </a:solidFill>
              <a:latin typeface="Calibri"/>
              <a:ea typeface="Calibri"/>
              <a:cs typeface="Calibri"/>
              <a:sym typeface="Calibri"/>
            </a:endParaRPr>
          </a:p>
        </p:txBody>
      </p:sp>
      <p:sp>
        <p:nvSpPr>
          <p:cNvPr id="2824" name="Google Shape;2824;p60"/>
          <p:cNvSpPr/>
          <p:nvPr/>
        </p:nvSpPr>
        <p:spPr>
          <a:xfrm>
            <a:off x="609905" y="4593031"/>
            <a:ext cx="1561795" cy="448056"/>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60"/>
          <p:cNvSpPr/>
          <p:nvPr/>
        </p:nvSpPr>
        <p:spPr>
          <a:xfrm>
            <a:off x="609905" y="5021885"/>
            <a:ext cx="1561795" cy="192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60"/>
          <p:cNvSpPr/>
          <p:nvPr/>
        </p:nvSpPr>
        <p:spPr>
          <a:xfrm>
            <a:off x="2166214" y="4593031"/>
            <a:ext cx="4172407" cy="448056"/>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60"/>
          <p:cNvSpPr/>
          <p:nvPr/>
        </p:nvSpPr>
        <p:spPr>
          <a:xfrm>
            <a:off x="2166214" y="5021885"/>
            <a:ext cx="4172407" cy="192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60"/>
          <p:cNvSpPr/>
          <p:nvPr/>
        </p:nvSpPr>
        <p:spPr>
          <a:xfrm>
            <a:off x="6333134" y="4593031"/>
            <a:ext cx="5257800" cy="448056"/>
          </a:xfrm>
          <a:prstGeom prst="rect">
            <a:avLst/>
          </a:prstGeom>
          <a:solidFill>
            <a:srgbClr val="F3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60"/>
          <p:cNvSpPr/>
          <p:nvPr/>
        </p:nvSpPr>
        <p:spPr>
          <a:xfrm>
            <a:off x="6333134" y="5021885"/>
            <a:ext cx="5257800" cy="19202"/>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60"/>
          <p:cNvSpPr txBox="1"/>
          <p:nvPr/>
        </p:nvSpPr>
        <p:spPr>
          <a:xfrm>
            <a:off x="724205" y="4707331"/>
            <a:ext cx="8577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Discovery</a:t>
            </a:r>
            <a:endParaRPr b="0" i="0" sz="1200" u="none" cap="none" strike="noStrike">
              <a:solidFill>
                <a:schemeClr val="dk1"/>
              </a:solidFill>
              <a:latin typeface="Calibri"/>
              <a:ea typeface="Calibri"/>
              <a:cs typeface="Calibri"/>
              <a:sym typeface="Calibri"/>
            </a:endParaRPr>
          </a:p>
        </p:txBody>
      </p:sp>
      <p:sp>
        <p:nvSpPr>
          <p:cNvPr id="2831" name="Google Shape;2831;p60"/>
          <p:cNvSpPr txBox="1"/>
          <p:nvPr/>
        </p:nvSpPr>
        <p:spPr>
          <a:xfrm>
            <a:off x="2280514" y="4707331"/>
            <a:ext cx="16194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Analytical Approach</a:t>
            </a:r>
            <a:endParaRPr b="0" i="0" sz="1200" u="none" cap="none" strike="noStrike">
              <a:solidFill>
                <a:schemeClr val="dk1"/>
              </a:solidFill>
              <a:latin typeface="Calibri"/>
              <a:ea typeface="Calibri"/>
              <a:cs typeface="Calibri"/>
              <a:sym typeface="Calibri"/>
            </a:endParaRPr>
          </a:p>
        </p:txBody>
      </p:sp>
      <p:sp>
        <p:nvSpPr>
          <p:cNvPr id="2832" name="Google Shape;2832;p60"/>
          <p:cNvSpPr txBox="1"/>
          <p:nvPr/>
        </p:nvSpPr>
        <p:spPr>
          <a:xfrm>
            <a:off x="6447434" y="4707331"/>
            <a:ext cx="9811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1" i="0" lang="en-US" sz="1200" u="none" cap="none" strike="noStrike">
                <a:solidFill>
                  <a:srgbClr val="1F2937"/>
                </a:solidFill>
                <a:latin typeface="Inter"/>
                <a:ea typeface="Inter"/>
                <a:cs typeface="Inter"/>
                <a:sym typeface="Inter"/>
              </a:rPr>
              <a:t>Key Finding</a:t>
            </a:r>
            <a:endParaRPr b="0" i="0" sz="1200" u="none" cap="none" strike="noStrike">
              <a:solidFill>
                <a:schemeClr val="dk1"/>
              </a:solidFill>
              <a:latin typeface="Calibri"/>
              <a:ea typeface="Calibri"/>
              <a:cs typeface="Calibri"/>
              <a:sym typeface="Calibri"/>
            </a:endParaRPr>
          </a:p>
        </p:txBody>
      </p:sp>
      <p:sp>
        <p:nvSpPr>
          <p:cNvPr id="2833" name="Google Shape;2833;p60"/>
          <p:cNvSpPr/>
          <p:nvPr/>
        </p:nvSpPr>
        <p:spPr>
          <a:xfrm>
            <a:off x="609905" y="5722315"/>
            <a:ext cx="15617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60"/>
          <p:cNvSpPr/>
          <p:nvPr/>
        </p:nvSpPr>
        <p:spPr>
          <a:xfrm>
            <a:off x="2166214" y="5722315"/>
            <a:ext cx="4172407"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60"/>
          <p:cNvSpPr/>
          <p:nvPr/>
        </p:nvSpPr>
        <p:spPr>
          <a:xfrm>
            <a:off x="6333134" y="5722315"/>
            <a:ext cx="5257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60"/>
          <p:cNvSpPr/>
          <p:nvPr/>
        </p:nvSpPr>
        <p:spPr>
          <a:xfrm>
            <a:off x="609905" y="6414516"/>
            <a:ext cx="15617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60"/>
          <p:cNvSpPr/>
          <p:nvPr/>
        </p:nvSpPr>
        <p:spPr>
          <a:xfrm>
            <a:off x="2166214" y="6414516"/>
            <a:ext cx="4172407"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60"/>
          <p:cNvSpPr/>
          <p:nvPr/>
        </p:nvSpPr>
        <p:spPr>
          <a:xfrm>
            <a:off x="6333134" y="6414516"/>
            <a:ext cx="5257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60"/>
          <p:cNvSpPr/>
          <p:nvPr/>
        </p:nvSpPr>
        <p:spPr>
          <a:xfrm>
            <a:off x="609905" y="7102145"/>
            <a:ext cx="1561795"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60"/>
          <p:cNvSpPr/>
          <p:nvPr/>
        </p:nvSpPr>
        <p:spPr>
          <a:xfrm>
            <a:off x="2166214" y="7102145"/>
            <a:ext cx="4172407"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60"/>
          <p:cNvSpPr/>
          <p:nvPr/>
        </p:nvSpPr>
        <p:spPr>
          <a:xfrm>
            <a:off x="6333134" y="7102145"/>
            <a:ext cx="5257800"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60"/>
          <p:cNvSpPr txBox="1"/>
          <p:nvPr/>
        </p:nvSpPr>
        <p:spPr>
          <a:xfrm>
            <a:off x="724205" y="5159959"/>
            <a:ext cx="94366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Removal vs Installation</a:t>
            </a:r>
            <a:endParaRPr b="0" i="0" sz="1200" u="none" cap="none" strike="noStrike">
              <a:solidFill>
                <a:schemeClr val="dk1"/>
              </a:solidFill>
              <a:latin typeface="Calibri"/>
              <a:ea typeface="Calibri"/>
              <a:cs typeface="Calibri"/>
              <a:sym typeface="Calibri"/>
            </a:endParaRPr>
          </a:p>
        </p:txBody>
      </p:sp>
      <p:sp>
        <p:nvSpPr>
          <p:cNvPr id="2843" name="Google Shape;2843;p60"/>
          <p:cNvSpPr txBox="1"/>
          <p:nvPr/>
        </p:nvSpPr>
        <p:spPr>
          <a:xfrm>
            <a:off x="2280514" y="5159959"/>
            <a:ext cx="3610051"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Aggregated diverse language patterns related to product removal experiences</a:t>
            </a:r>
            <a:endParaRPr b="0" i="0" sz="1200" u="none" cap="none" strike="noStrike">
              <a:solidFill>
                <a:schemeClr val="dk1"/>
              </a:solidFill>
              <a:latin typeface="Calibri"/>
              <a:ea typeface="Calibri"/>
              <a:cs typeface="Calibri"/>
              <a:sym typeface="Calibri"/>
            </a:endParaRPr>
          </a:p>
        </p:txBody>
      </p:sp>
      <p:sp>
        <p:nvSpPr>
          <p:cNvPr id="2844" name="Google Shape;2844;p60"/>
          <p:cNvSpPr txBox="1"/>
          <p:nvPr/>
        </p:nvSpPr>
        <p:spPr>
          <a:xfrm>
            <a:off x="6447434" y="5159959"/>
            <a:ext cx="4905756"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Removal issues (13.2%) occur at higher frequency than installation problems (3.8%) in Command posts</a:t>
            </a:r>
            <a:endParaRPr b="0" i="0" sz="1200" u="none" cap="none" strike="noStrike">
              <a:solidFill>
                <a:schemeClr val="dk1"/>
              </a:solidFill>
              <a:latin typeface="Calibri"/>
              <a:ea typeface="Calibri"/>
              <a:cs typeface="Calibri"/>
              <a:sym typeface="Calibri"/>
            </a:endParaRPr>
          </a:p>
        </p:txBody>
      </p:sp>
      <p:sp>
        <p:nvSpPr>
          <p:cNvPr id="2845" name="Google Shape;2845;p60"/>
          <p:cNvSpPr txBox="1"/>
          <p:nvPr/>
        </p:nvSpPr>
        <p:spPr>
          <a:xfrm>
            <a:off x="724205" y="5847588"/>
            <a:ext cx="1267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Paint Attribution</a:t>
            </a:r>
            <a:endParaRPr b="0" i="0" sz="1200" u="none" cap="none" strike="noStrike">
              <a:solidFill>
                <a:schemeClr val="dk1"/>
              </a:solidFill>
              <a:latin typeface="Calibri"/>
              <a:ea typeface="Calibri"/>
              <a:cs typeface="Calibri"/>
              <a:sym typeface="Calibri"/>
            </a:endParaRPr>
          </a:p>
        </p:txBody>
      </p:sp>
      <p:sp>
        <p:nvSpPr>
          <p:cNvPr id="2846" name="Google Shape;2846;p60"/>
          <p:cNvSpPr txBox="1"/>
          <p:nvPr/>
        </p:nvSpPr>
        <p:spPr>
          <a:xfrm>
            <a:off x="2280514" y="5847588"/>
            <a:ext cx="39913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Manual classification of failure descriptions in context</a:t>
            </a:r>
            <a:endParaRPr b="0" i="0" sz="1200" u="none" cap="none" strike="noStrike">
              <a:solidFill>
                <a:schemeClr val="dk1"/>
              </a:solidFill>
              <a:latin typeface="Calibri"/>
              <a:ea typeface="Calibri"/>
              <a:cs typeface="Calibri"/>
              <a:sym typeface="Calibri"/>
            </a:endParaRPr>
          </a:p>
        </p:txBody>
      </p:sp>
      <p:sp>
        <p:nvSpPr>
          <p:cNvPr id="2847" name="Google Shape;2847;p60"/>
          <p:cNvSpPr txBox="1"/>
          <p:nvPr/>
        </p:nvSpPr>
        <p:spPr>
          <a:xfrm>
            <a:off x="6447434" y="5847588"/>
            <a:ext cx="4953305"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Paint-adhesive interface is the frequent failure point, not Command adhesive itself</a:t>
            </a:r>
            <a:endParaRPr b="0" i="0" sz="1200" u="none" cap="none" strike="noStrike">
              <a:solidFill>
                <a:schemeClr val="dk1"/>
              </a:solidFill>
              <a:latin typeface="Calibri"/>
              <a:ea typeface="Calibri"/>
              <a:cs typeface="Calibri"/>
              <a:sym typeface="Calibri"/>
            </a:endParaRPr>
          </a:p>
        </p:txBody>
      </p:sp>
      <p:sp>
        <p:nvSpPr>
          <p:cNvPr id="2848" name="Google Shape;2848;p60"/>
          <p:cNvSpPr txBox="1"/>
          <p:nvPr/>
        </p:nvSpPr>
        <p:spPr>
          <a:xfrm>
            <a:off x="724205" y="6535217"/>
            <a:ext cx="13533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Landlord Policies</a:t>
            </a:r>
            <a:endParaRPr b="0" i="0" sz="1200" u="none" cap="none" strike="noStrike">
              <a:solidFill>
                <a:schemeClr val="dk1"/>
              </a:solidFill>
              <a:latin typeface="Calibri"/>
              <a:ea typeface="Calibri"/>
              <a:cs typeface="Calibri"/>
              <a:sym typeface="Calibri"/>
            </a:endParaRPr>
          </a:p>
        </p:txBody>
      </p:sp>
      <p:sp>
        <p:nvSpPr>
          <p:cNvPr id="2849" name="Google Shape;2849;p60"/>
          <p:cNvSpPr txBox="1"/>
          <p:nvPr/>
        </p:nvSpPr>
        <p:spPr>
          <a:xfrm>
            <a:off x="2280514" y="6535217"/>
            <a:ext cx="40105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Cross-thread qualitative analysis of rental discussions</a:t>
            </a:r>
            <a:endParaRPr b="0" i="0" sz="1200" u="none" cap="none" strike="noStrike">
              <a:solidFill>
                <a:schemeClr val="dk1"/>
              </a:solidFill>
              <a:latin typeface="Calibri"/>
              <a:ea typeface="Calibri"/>
              <a:cs typeface="Calibri"/>
              <a:sym typeface="Calibri"/>
            </a:endParaRPr>
          </a:p>
        </p:txBody>
      </p:sp>
      <p:sp>
        <p:nvSpPr>
          <p:cNvPr id="2850" name="Google Shape;2850;p60"/>
          <p:cNvSpPr txBox="1"/>
          <p:nvPr/>
        </p:nvSpPr>
        <p:spPr>
          <a:xfrm>
            <a:off x="6447434" y="6535217"/>
            <a:ext cx="4724705"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Economic factor: small nail holes ($2-5) vs. paint damage repair ($50-200)</a:t>
            </a:r>
            <a:endParaRPr b="0" i="0" sz="1200" u="none" cap="none" strike="noStrike">
              <a:solidFill>
                <a:schemeClr val="dk1"/>
              </a:solidFill>
              <a:latin typeface="Calibri"/>
              <a:ea typeface="Calibri"/>
              <a:cs typeface="Calibri"/>
              <a:sym typeface="Calibri"/>
            </a:endParaRPr>
          </a:p>
        </p:txBody>
      </p:sp>
      <p:sp>
        <p:nvSpPr>
          <p:cNvPr id="2851" name="Google Shape;2851;p60"/>
          <p:cNvSpPr/>
          <p:nvPr/>
        </p:nvSpPr>
        <p:spPr>
          <a:xfrm>
            <a:off x="609905" y="783275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60"/>
          <p:cNvSpPr/>
          <p:nvPr/>
        </p:nvSpPr>
        <p:spPr>
          <a:xfrm>
            <a:off x="609905" y="815279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60"/>
          <p:cNvSpPr/>
          <p:nvPr/>
        </p:nvSpPr>
        <p:spPr>
          <a:xfrm>
            <a:off x="609905" y="847283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60"/>
          <p:cNvSpPr/>
          <p:nvPr/>
        </p:nvSpPr>
        <p:spPr>
          <a:xfrm>
            <a:off x="609905" y="879287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60"/>
          <p:cNvSpPr/>
          <p:nvPr/>
        </p:nvSpPr>
        <p:spPr>
          <a:xfrm>
            <a:off x="609905" y="911291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60"/>
          <p:cNvSpPr/>
          <p:nvPr/>
        </p:nvSpPr>
        <p:spPr>
          <a:xfrm>
            <a:off x="609905" y="9432950"/>
            <a:ext cx="228600" cy="228600"/>
          </a:xfrm>
          <a:prstGeom prst="ellipse">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60"/>
          <p:cNvSpPr txBox="1"/>
          <p:nvPr/>
        </p:nvSpPr>
        <p:spPr>
          <a:xfrm>
            <a:off x="693115" y="7825435"/>
            <a:ext cx="181051"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0" i="0" lang="en-US" sz="1200" u="none" cap="none" strike="noStrike">
                <a:solidFill>
                  <a:srgbClr val="FFFFFF"/>
                </a:solidFill>
                <a:latin typeface="Inter"/>
                <a:ea typeface="Inter"/>
                <a:cs typeface="Inter"/>
                <a:sym typeface="Inter"/>
              </a:rPr>
              <a:t>1</a:t>
            </a:r>
            <a:endParaRPr b="0" i="0" sz="1200" u="none" cap="none" strike="noStrike">
              <a:solidFill>
                <a:schemeClr val="dk1"/>
              </a:solidFill>
              <a:latin typeface="Calibri"/>
              <a:ea typeface="Calibri"/>
              <a:cs typeface="Calibri"/>
              <a:sym typeface="Calibri"/>
            </a:endParaRPr>
          </a:p>
        </p:txBody>
      </p:sp>
      <p:sp>
        <p:nvSpPr>
          <p:cNvPr id="2858" name="Google Shape;2858;p60"/>
          <p:cNvSpPr txBox="1"/>
          <p:nvPr/>
        </p:nvSpPr>
        <p:spPr>
          <a:xfrm>
            <a:off x="677570" y="8145475"/>
            <a:ext cx="210312"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0" i="0" lang="en-US" sz="1200" u="none" cap="none" strike="noStrike">
                <a:solidFill>
                  <a:srgbClr val="FFFFFF"/>
                </a:solidFill>
                <a:latin typeface="Inter"/>
                <a:ea typeface="Inter"/>
                <a:cs typeface="Inter"/>
                <a:sym typeface="Inter"/>
              </a:rPr>
              <a:t>2</a:t>
            </a:r>
            <a:endParaRPr b="0" i="0" sz="1200" u="none" cap="none" strike="noStrike">
              <a:solidFill>
                <a:schemeClr val="dk1"/>
              </a:solidFill>
              <a:latin typeface="Calibri"/>
              <a:ea typeface="Calibri"/>
              <a:cs typeface="Calibri"/>
              <a:sym typeface="Calibri"/>
            </a:endParaRPr>
          </a:p>
        </p:txBody>
      </p:sp>
      <p:sp>
        <p:nvSpPr>
          <p:cNvPr id="2859" name="Google Shape;2859;p60"/>
          <p:cNvSpPr txBox="1"/>
          <p:nvPr/>
        </p:nvSpPr>
        <p:spPr>
          <a:xfrm>
            <a:off x="676656" y="8464601"/>
            <a:ext cx="210312"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0" i="0" lang="en-US" sz="1200" u="none" cap="none" strike="noStrike">
                <a:solidFill>
                  <a:srgbClr val="FFFFFF"/>
                </a:solidFill>
                <a:latin typeface="Inter"/>
                <a:ea typeface="Inter"/>
                <a:cs typeface="Inter"/>
                <a:sym typeface="Inter"/>
              </a:rPr>
              <a:t>3</a:t>
            </a:r>
            <a:endParaRPr b="0" i="0" sz="1200" u="none" cap="none" strike="noStrike">
              <a:solidFill>
                <a:schemeClr val="dk1"/>
              </a:solidFill>
              <a:latin typeface="Calibri"/>
              <a:ea typeface="Calibri"/>
              <a:cs typeface="Calibri"/>
              <a:sym typeface="Calibri"/>
            </a:endParaRPr>
          </a:p>
        </p:txBody>
      </p:sp>
      <p:sp>
        <p:nvSpPr>
          <p:cNvPr id="2860" name="Google Shape;2860;p60"/>
          <p:cNvSpPr txBox="1"/>
          <p:nvPr/>
        </p:nvSpPr>
        <p:spPr>
          <a:xfrm>
            <a:off x="674827" y="8784641"/>
            <a:ext cx="219456"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0" i="0" lang="en-US" sz="1200" u="none" cap="none" strike="noStrike">
                <a:solidFill>
                  <a:srgbClr val="FFFFFF"/>
                </a:solidFill>
                <a:latin typeface="Inter"/>
                <a:ea typeface="Inter"/>
                <a:cs typeface="Inter"/>
                <a:sym typeface="Inter"/>
              </a:rPr>
              <a:t>4</a:t>
            </a:r>
            <a:endParaRPr b="0" i="0" sz="1200" u="none" cap="none" strike="noStrike">
              <a:solidFill>
                <a:schemeClr val="dk1"/>
              </a:solidFill>
              <a:latin typeface="Calibri"/>
              <a:ea typeface="Calibri"/>
              <a:cs typeface="Calibri"/>
              <a:sym typeface="Calibri"/>
            </a:endParaRPr>
          </a:p>
        </p:txBody>
      </p:sp>
      <p:sp>
        <p:nvSpPr>
          <p:cNvPr id="2861" name="Google Shape;2861;p60"/>
          <p:cNvSpPr txBox="1"/>
          <p:nvPr/>
        </p:nvSpPr>
        <p:spPr>
          <a:xfrm>
            <a:off x="678485" y="9104681"/>
            <a:ext cx="210312"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0" i="0" lang="en-US" sz="1200" u="none" cap="none" strike="noStrike">
                <a:solidFill>
                  <a:srgbClr val="FFFFFF"/>
                </a:solidFill>
                <a:latin typeface="Inter"/>
                <a:ea typeface="Inter"/>
                <a:cs typeface="Inter"/>
                <a:sym typeface="Inter"/>
              </a:rPr>
              <a:t>5</a:t>
            </a:r>
            <a:endParaRPr b="0" i="0" sz="1200" u="none" cap="none" strike="noStrike">
              <a:solidFill>
                <a:schemeClr val="dk1"/>
              </a:solidFill>
              <a:latin typeface="Calibri"/>
              <a:ea typeface="Calibri"/>
              <a:cs typeface="Calibri"/>
              <a:sym typeface="Calibri"/>
            </a:endParaRPr>
          </a:p>
        </p:txBody>
      </p:sp>
      <p:sp>
        <p:nvSpPr>
          <p:cNvPr id="2862" name="Google Shape;2862;p60"/>
          <p:cNvSpPr txBox="1"/>
          <p:nvPr/>
        </p:nvSpPr>
        <p:spPr>
          <a:xfrm>
            <a:off x="676656" y="9424721"/>
            <a:ext cx="210312" cy="2478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Inter"/>
              <a:buNone/>
            </a:pPr>
            <a:r>
              <a:rPr b="0" i="0" lang="en-US" sz="1200" u="none" cap="none" strike="noStrike">
                <a:solidFill>
                  <a:srgbClr val="FFFFFF"/>
                </a:solidFill>
                <a:latin typeface="Inter"/>
                <a:ea typeface="Inter"/>
                <a:cs typeface="Inter"/>
                <a:sym typeface="Inter"/>
              </a:rPr>
              <a:t>6</a:t>
            </a:r>
            <a:endParaRPr b="0" i="0" sz="1200" u="none" cap="none" strike="noStrike">
              <a:solidFill>
                <a:schemeClr val="dk1"/>
              </a:solidFill>
              <a:latin typeface="Calibri"/>
              <a:ea typeface="Calibri"/>
              <a:cs typeface="Calibri"/>
              <a:sym typeface="Calibri"/>
            </a:endParaRPr>
          </a:p>
        </p:txBody>
      </p:sp>
      <p:sp>
        <p:nvSpPr>
          <p:cNvPr id="2863" name="Google Shape;2863;p60"/>
          <p:cNvSpPr txBox="1"/>
          <p:nvPr/>
        </p:nvSpPr>
        <p:spPr>
          <a:xfrm>
            <a:off x="952805" y="7851953"/>
            <a:ext cx="42199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Slide claim: "13.2% removal damage (Command subset)"</a:t>
            </a:r>
            <a:endParaRPr b="0" i="0" sz="1200" u="none" cap="none" strike="noStrike">
              <a:solidFill>
                <a:schemeClr val="dk1"/>
              </a:solidFill>
              <a:latin typeface="Calibri"/>
              <a:ea typeface="Calibri"/>
              <a:cs typeface="Calibri"/>
              <a:sym typeface="Calibri"/>
            </a:endParaRPr>
          </a:p>
        </p:txBody>
      </p:sp>
      <p:sp>
        <p:nvSpPr>
          <p:cNvPr id="2864" name="Google Shape;2864;p60"/>
          <p:cNvSpPr txBox="1"/>
          <p:nvPr/>
        </p:nvSpPr>
        <p:spPr>
          <a:xfrm>
            <a:off x="952805" y="8171993"/>
            <a:ext cx="38487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Analysis document: Hypothesis Testing Results (H1)</a:t>
            </a:r>
            <a:endParaRPr b="0" i="0" sz="1200" u="none" cap="none" strike="noStrike">
              <a:solidFill>
                <a:schemeClr val="dk1"/>
              </a:solidFill>
              <a:latin typeface="Calibri"/>
              <a:ea typeface="Calibri"/>
              <a:cs typeface="Calibri"/>
              <a:sym typeface="Calibri"/>
            </a:endParaRPr>
          </a:p>
        </p:txBody>
      </p:sp>
      <p:sp>
        <p:nvSpPr>
          <p:cNvPr id="2865" name="Google Shape;2865;p60"/>
          <p:cNvSpPr txBox="1"/>
          <p:nvPr/>
        </p:nvSpPr>
        <p:spPr>
          <a:xfrm>
            <a:off x="952805" y="8492033"/>
            <a:ext cx="45436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Method: Pattern search for removal terms with manual review</a:t>
            </a:r>
            <a:endParaRPr b="0" i="0" sz="1200" u="none" cap="none" strike="noStrike">
              <a:solidFill>
                <a:schemeClr val="dk1"/>
              </a:solidFill>
              <a:latin typeface="Calibri"/>
              <a:ea typeface="Calibri"/>
              <a:cs typeface="Calibri"/>
              <a:sym typeface="Calibri"/>
            </a:endParaRPr>
          </a:p>
        </p:txBody>
      </p:sp>
      <p:sp>
        <p:nvSpPr>
          <p:cNvPr id="2866" name="Google Shape;2866;p60"/>
          <p:cNvSpPr txBox="1"/>
          <p:nvPr/>
        </p:nvSpPr>
        <p:spPr>
          <a:xfrm>
            <a:off x="952805" y="8812073"/>
            <a:ext cx="44485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Data source: social_media_posts_final.json (multiple entries)</a:t>
            </a:r>
            <a:endParaRPr b="0" i="0" sz="1200" u="none" cap="none" strike="noStrike">
              <a:solidFill>
                <a:schemeClr val="dk1"/>
              </a:solidFill>
              <a:latin typeface="Calibri"/>
              <a:ea typeface="Calibri"/>
              <a:cs typeface="Calibri"/>
              <a:sym typeface="Calibri"/>
            </a:endParaRPr>
          </a:p>
        </p:txBody>
      </p:sp>
      <p:sp>
        <p:nvSpPr>
          <p:cNvPr id="2867" name="Google Shape;2867;p60"/>
          <p:cNvSpPr txBox="1"/>
          <p:nvPr/>
        </p:nvSpPr>
        <p:spPr>
          <a:xfrm>
            <a:off x="952805" y="9131198"/>
            <a:ext cx="56199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Source URL: https://www.reddit.com/r/DIY/comments/154p7e8/ (and others)</a:t>
            </a:r>
            <a:endParaRPr b="0" i="0" sz="1200" u="none" cap="none" strike="noStrike">
              <a:solidFill>
                <a:schemeClr val="dk1"/>
              </a:solidFill>
              <a:latin typeface="Calibri"/>
              <a:ea typeface="Calibri"/>
              <a:cs typeface="Calibri"/>
              <a:sym typeface="Calibri"/>
            </a:endParaRPr>
          </a:p>
        </p:txBody>
      </p:sp>
      <p:sp>
        <p:nvSpPr>
          <p:cNvPr id="2868" name="Google Shape;2868;p60"/>
          <p:cNvSpPr txBox="1"/>
          <p:nvPr/>
        </p:nvSpPr>
        <p:spPr>
          <a:xfrm>
            <a:off x="952805" y="9451238"/>
            <a:ext cx="44577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Confirmation: Direct source validation of quotes and context</a:t>
            </a:r>
            <a:endParaRPr b="0" i="0" sz="1200" u="none" cap="none" strike="noStrike">
              <a:solidFill>
                <a:schemeClr val="dk1"/>
              </a:solidFill>
              <a:latin typeface="Calibri"/>
              <a:ea typeface="Calibri"/>
              <a:cs typeface="Calibri"/>
              <a:sym typeface="Calibri"/>
            </a:endParaRPr>
          </a:p>
        </p:txBody>
      </p:sp>
      <p:sp>
        <p:nvSpPr>
          <p:cNvPr id="2869" name="Google Shape;2869;p60"/>
          <p:cNvSpPr/>
          <p:nvPr/>
        </p:nvSpPr>
        <p:spPr>
          <a:xfrm>
            <a:off x="609905" y="9943186"/>
            <a:ext cx="10972800" cy="9144"/>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60"/>
          <p:cNvSpPr txBox="1"/>
          <p:nvPr/>
        </p:nvSpPr>
        <p:spPr>
          <a:xfrm>
            <a:off x="609905" y="10105034"/>
            <a:ext cx="70628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Sources: Supporting documentation available for all analyses. All data points can be traced to original sources.</a:t>
            </a:r>
            <a:endParaRPr b="0" i="0" sz="1000" u="none" cap="none" strike="noStrike">
              <a:solidFill>
                <a:schemeClr val="dk1"/>
              </a:solidFill>
              <a:latin typeface="Calibri"/>
              <a:ea typeface="Calibri"/>
              <a:cs typeface="Calibri"/>
              <a:sym typeface="Calibri"/>
            </a:endParaRPr>
          </a:p>
        </p:txBody>
      </p:sp>
      <p:sp>
        <p:nvSpPr>
          <p:cNvPr id="2871" name="Google Shape;2871;p60"/>
          <p:cNvSpPr txBox="1"/>
          <p:nvPr/>
        </p:nvSpPr>
        <p:spPr>
          <a:xfrm>
            <a:off x="609905" y="10533888"/>
            <a:ext cx="29004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872" name="Google Shape;2872;p60"/>
          <p:cNvSpPr txBox="1"/>
          <p:nvPr/>
        </p:nvSpPr>
        <p:spPr>
          <a:xfrm>
            <a:off x="11428171" y="10533888"/>
            <a:ext cx="262433"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57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7" name="Shape 2877"/>
        <p:cNvGrpSpPr/>
        <p:nvPr/>
      </p:nvGrpSpPr>
      <p:grpSpPr>
        <a:xfrm>
          <a:off x="0" y="0"/>
          <a:ext cx="0" cy="0"/>
          <a:chOff x="0" y="0"/>
          <a:chExt cx="0" cy="0"/>
        </a:xfrm>
      </p:grpSpPr>
      <p:sp>
        <p:nvSpPr>
          <p:cNvPr id="2878" name="Google Shape;2878;p61"/>
          <p:cNvSpPr/>
          <p:nvPr/>
        </p:nvSpPr>
        <p:spPr>
          <a:xfrm>
            <a:off x="0" y="0"/>
            <a:ext cx="12191695" cy="72201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61"/>
          <p:cNvSpPr/>
          <p:nvPr/>
        </p:nvSpPr>
        <p:spPr>
          <a:xfrm>
            <a:off x="0" y="0"/>
            <a:ext cx="12191695" cy="7220102"/>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61"/>
          <p:cNvSpPr/>
          <p:nvPr/>
        </p:nvSpPr>
        <p:spPr>
          <a:xfrm>
            <a:off x="609905" y="457200"/>
            <a:ext cx="571500" cy="3840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61"/>
          <p:cNvSpPr txBox="1"/>
          <p:nvPr/>
        </p:nvSpPr>
        <p:spPr>
          <a:xfrm>
            <a:off x="609905" y="685800"/>
            <a:ext cx="5048402" cy="372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Montserrat"/>
              <a:buNone/>
            </a:pPr>
            <a:r>
              <a:rPr b="1" i="0" lang="en-US" sz="2400" u="none" cap="none" strike="noStrike">
                <a:solidFill>
                  <a:srgbClr val="111827"/>
                </a:solidFill>
                <a:latin typeface="Montserrat"/>
                <a:ea typeface="Montserrat"/>
                <a:cs typeface="Montserrat"/>
                <a:sym typeface="Montserrat"/>
              </a:rPr>
              <a:t>Appendix D: Data Comparison</a:t>
            </a:r>
            <a:endParaRPr b="0" i="0" sz="2400" u="none" cap="none" strike="noStrike">
              <a:solidFill>
                <a:schemeClr val="dk1"/>
              </a:solidFill>
              <a:latin typeface="Calibri"/>
              <a:ea typeface="Calibri"/>
              <a:cs typeface="Calibri"/>
              <a:sym typeface="Calibri"/>
            </a:endParaRPr>
          </a:p>
        </p:txBody>
      </p:sp>
      <p:sp>
        <p:nvSpPr>
          <p:cNvPr id="2882" name="Google Shape;2882;p61"/>
          <p:cNvSpPr txBox="1"/>
          <p:nvPr/>
        </p:nvSpPr>
        <p:spPr>
          <a:xfrm>
            <a:off x="609905" y="1218895"/>
            <a:ext cx="4176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1" lang="en-US" sz="1000" u="none" cap="none" strike="noStrike">
                <a:solidFill>
                  <a:srgbClr val="6B7280"/>
                </a:solidFill>
                <a:latin typeface="Inter"/>
                <a:ea typeface="Inter"/>
                <a:cs typeface="Inter"/>
                <a:sym typeface="Inter"/>
              </a:rPr>
              <a:t>Source: Reddit posts (n=1,129), multi-platform analysis (n=2,974)</a:t>
            </a:r>
            <a:endParaRPr b="0" i="0" sz="1000" u="none" cap="none" strike="noStrike">
              <a:solidFill>
                <a:schemeClr val="dk1"/>
              </a:solidFill>
              <a:latin typeface="Calibri"/>
              <a:ea typeface="Calibri"/>
              <a:cs typeface="Calibri"/>
              <a:sym typeface="Calibri"/>
            </a:endParaRPr>
          </a:p>
        </p:txBody>
      </p:sp>
      <p:sp>
        <p:nvSpPr>
          <p:cNvPr id="2883" name="Google Shape;2883;p61"/>
          <p:cNvSpPr/>
          <p:nvPr/>
        </p:nvSpPr>
        <p:spPr>
          <a:xfrm>
            <a:off x="609905" y="1705356"/>
            <a:ext cx="10972800" cy="3715207"/>
          </a:xfrm>
          <a:prstGeom prst="roundRect">
            <a:avLst>
              <a:gd fmla="val 505" name="adj"/>
            </a:avLst>
          </a:prstGeom>
          <a:noFill/>
          <a:ln cap="flat" cmpd="sng" w="12700">
            <a:solidFill>
              <a:srgbClr val="E5E7EB"/>
            </a:solidFill>
            <a:prstDash val="solid"/>
            <a:round/>
            <a:headEnd len="sm" w="sm" type="none"/>
            <a:tailEnd len="sm" w="sm" type="none"/>
          </a:ln>
          <a:effectLst>
            <a:outerShdw blurRad="15240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61"/>
          <p:cNvSpPr/>
          <p:nvPr/>
        </p:nvSpPr>
        <p:spPr>
          <a:xfrm>
            <a:off x="619049" y="1714500"/>
            <a:ext cx="10953598" cy="76169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rgbClr val="1E3A8A"/>
              </a:solidFill>
            </a:endParaRPr>
          </a:p>
        </p:txBody>
      </p:sp>
      <p:sp>
        <p:nvSpPr>
          <p:cNvPr id="2885" name="Google Shape;2885;p61"/>
          <p:cNvSpPr/>
          <p:nvPr/>
        </p:nvSpPr>
        <p:spPr>
          <a:xfrm>
            <a:off x="619049" y="2467051"/>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61"/>
          <p:cNvSpPr/>
          <p:nvPr/>
        </p:nvSpPr>
        <p:spPr>
          <a:xfrm>
            <a:off x="619049" y="2471623"/>
            <a:ext cx="10953598" cy="4956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61"/>
          <p:cNvSpPr/>
          <p:nvPr/>
        </p:nvSpPr>
        <p:spPr>
          <a:xfrm>
            <a:off x="619049" y="2958084"/>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61"/>
          <p:cNvSpPr/>
          <p:nvPr/>
        </p:nvSpPr>
        <p:spPr>
          <a:xfrm>
            <a:off x="619049" y="2962656"/>
            <a:ext cx="10953598" cy="4956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61"/>
          <p:cNvSpPr/>
          <p:nvPr/>
        </p:nvSpPr>
        <p:spPr>
          <a:xfrm>
            <a:off x="619049" y="3449117"/>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61"/>
          <p:cNvSpPr/>
          <p:nvPr/>
        </p:nvSpPr>
        <p:spPr>
          <a:xfrm>
            <a:off x="619049" y="3452774"/>
            <a:ext cx="10953598" cy="4956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61"/>
          <p:cNvSpPr/>
          <p:nvPr/>
        </p:nvSpPr>
        <p:spPr>
          <a:xfrm>
            <a:off x="619049" y="3939235"/>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61"/>
          <p:cNvSpPr/>
          <p:nvPr/>
        </p:nvSpPr>
        <p:spPr>
          <a:xfrm>
            <a:off x="619049" y="3943807"/>
            <a:ext cx="10953598" cy="495605"/>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61"/>
          <p:cNvSpPr/>
          <p:nvPr/>
        </p:nvSpPr>
        <p:spPr>
          <a:xfrm>
            <a:off x="619049" y="4430268"/>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61"/>
          <p:cNvSpPr/>
          <p:nvPr/>
        </p:nvSpPr>
        <p:spPr>
          <a:xfrm>
            <a:off x="619049" y="4433926"/>
            <a:ext cx="10953598" cy="4956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61"/>
          <p:cNvSpPr/>
          <p:nvPr/>
        </p:nvSpPr>
        <p:spPr>
          <a:xfrm>
            <a:off x="619049" y="4920386"/>
            <a:ext cx="10953598" cy="9144"/>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61"/>
          <p:cNvSpPr/>
          <p:nvPr/>
        </p:nvSpPr>
        <p:spPr>
          <a:xfrm>
            <a:off x="619049" y="4924044"/>
            <a:ext cx="10953598" cy="485546"/>
          </a:xfrm>
          <a:prstGeom prst="rect">
            <a:avLst/>
          </a:prstGeom>
          <a:solidFill>
            <a:srgbClr val="F9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61"/>
          <p:cNvSpPr txBox="1"/>
          <p:nvPr/>
        </p:nvSpPr>
        <p:spPr>
          <a:xfrm>
            <a:off x="923544" y="1990649"/>
            <a:ext cx="5843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Montserrat"/>
              <a:buNone/>
            </a:pPr>
            <a:r>
              <a:rPr b="1" i="0" lang="en-US" sz="1100" u="none" cap="none" strike="noStrike">
                <a:solidFill>
                  <a:srgbClr val="111827"/>
                </a:solidFill>
                <a:latin typeface="Montserrat"/>
                <a:ea typeface="Montserrat"/>
                <a:cs typeface="Montserrat"/>
                <a:sym typeface="Montserrat"/>
              </a:rPr>
              <a:t>Metric</a:t>
            </a:r>
            <a:endParaRPr b="0" i="0" sz="1100" u="none" cap="none" strike="noStrike">
              <a:solidFill>
                <a:schemeClr val="dk1"/>
              </a:solidFill>
              <a:latin typeface="Calibri"/>
              <a:ea typeface="Calibri"/>
              <a:cs typeface="Calibri"/>
              <a:sym typeface="Calibri"/>
            </a:endParaRPr>
          </a:p>
        </p:txBody>
      </p:sp>
      <p:sp>
        <p:nvSpPr>
          <p:cNvPr id="2898" name="Google Shape;2898;p61"/>
          <p:cNvSpPr txBox="1"/>
          <p:nvPr/>
        </p:nvSpPr>
        <p:spPr>
          <a:xfrm>
            <a:off x="771754" y="2614270"/>
            <a:ext cx="15361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Installation Difficulty</a:t>
            </a:r>
            <a:endParaRPr b="0" i="0" sz="1100" u="none" cap="none" strike="noStrike">
              <a:solidFill>
                <a:schemeClr val="dk1"/>
              </a:solidFill>
              <a:latin typeface="Calibri"/>
              <a:ea typeface="Calibri"/>
              <a:cs typeface="Calibri"/>
              <a:sym typeface="Calibri"/>
            </a:endParaRPr>
          </a:p>
        </p:txBody>
      </p:sp>
      <p:sp>
        <p:nvSpPr>
          <p:cNvPr id="2899" name="Google Shape;2899;p61"/>
          <p:cNvSpPr txBox="1"/>
          <p:nvPr/>
        </p:nvSpPr>
        <p:spPr>
          <a:xfrm>
            <a:off x="771754" y="3105302"/>
            <a:ext cx="1736446"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Weight Capacity Issues</a:t>
            </a:r>
            <a:endParaRPr b="0" i="0" sz="1100" u="none" cap="none" strike="noStrike">
              <a:solidFill>
                <a:schemeClr val="dk1"/>
              </a:solidFill>
              <a:latin typeface="Calibri"/>
              <a:ea typeface="Calibri"/>
              <a:cs typeface="Calibri"/>
              <a:sym typeface="Calibri"/>
            </a:endParaRPr>
          </a:p>
        </p:txBody>
      </p:sp>
      <p:sp>
        <p:nvSpPr>
          <p:cNvPr id="2900" name="Google Shape;2900;p61"/>
          <p:cNvSpPr txBox="1"/>
          <p:nvPr/>
        </p:nvSpPr>
        <p:spPr>
          <a:xfrm>
            <a:off x="771754" y="3595421"/>
            <a:ext cx="14026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Rental Restrictions</a:t>
            </a:r>
            <a:endParaRPr b="0" i="0" sz="1100" u="none" cap="none" strike="noStrike">
              <a:solidFill>
                <a:schemeClr val="dk1"/>
              </a:solidFill>
              <a:latin typeface="Calibri"/>
              <a:ea typeface="Calibri"/>
              <a:cs typeface="Calibri"/>
              <a:sym typeface="Calibri"/>
            </a:endParaRPr>
          </a:p>
        </p:txBody>
      </p:sp>
      <p:sp>
        <p:nvSpPr>
          <p:cNvPr id="2901" name="Google Shape;2901;p61"/>
          <p:cNvSpPr txBox="1"/>
          <p:nvPr/>
        </p:nvSpPr>
        <p:spPr>
          <a:xfrm>
            <a:off x="771754" y="4086454"/>
            <a:ext cx="14886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Durability Concerns</a:t>
            </a:r>
            <a:endParaRPr b="0" i="0" sz="1100" u="none" cap="none" strike="noStrike">
              <a:solidFill>
                <a:schemeClr val="dk1"/>
              </a:solidFill>
              <a:latin typeface="Calibri"/>
              <a:ea typeface="Calibri"/>
              <a:cs typeface="Calibri"/>
              <a:sym typeface="Calibri"/>
            </a:endParaRPr>
          </a:p>
        </p:txBody>
      </p:sp>
      <p:sp>
        <p:nvSpPr>
          <p:cNvPr id="2902" name="Google Shape;2902;p61"/>
          <p:cNvSpPr txBox="1"/>
          <p:nvPr/>
        </p:nvSpPr>
        <p:spPr>
          <a:xfrm>
            <a:off x="771754" y="4576572"/>
            <a:ext cx="15645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Follow-on Purchases</a:t>
            </a:r>
            <a:endParaRPr b="0" i="0" sz="1100" u="none" cap="none" strike="noStrike">
              <a:solidFill>
                <a:schemeClr val="dk1"/>
              </a:solidFill>
              <a:latin typeface="Calibri"/>
              <a:ea typeface="Calibri"/>
              <a:cs typeface="Calibri"/>
              <a:sym typeface="Calibri"/>
            </a:endParaRPr>
          </a:p>
        </p:txBody>
      </p:sp>
      <p:sp>
        <p:nvSpPr>
          <p:cNvPr id="2903" name="Google Shape;2903;p61"/>
          <p:cNvSpPr txBox="1"/>
          <p:nvPr/>
        </p:nvSpPr>
        <p:spPr>
          <a:xfrm>
            <a:off x="771754" y="5067605"/>
            <a:ext cx="125089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Installation Time</a:t>
            </a:r>
            <a:endParaRPr b="0" i="0" sz="1100" u="none" cap="none" strike="noStrike">
              <a:solidFill>
                <a:schemeClr val="dk1"/>
              </a:solidFill>
              <a:latin typeface="Calibri"/>
              <a:ea typeface="Calibri"/>
              <a:cs typeface="Calibri"/>
              <a:sym typeface="Calibri"/>
            </a:endParaRPr>
          </a:p>
        </p:txBody>
      </p:sp>
      <p:sp>
        <p:nvSpPr>
          <p:cNvPr id="2904" name="Google Shape;2904;p61"/>
          <p:cNvSpPr txBox="1"/>
          <p:nvPr/>
        </p:nvSpPr>
        <p:spPr>
          <a:xfrm>
            <a:off x="3586277" y="1990649"/>
            <a:ext cx="14218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ontserrat"/>
              <a:buNone/>
            </a:pPr>
            <a:r>
              <a:rPr b="1" i="0" lang="en-US" sz="1100" u="none" cap="none" strike="noStrike">
                <a:solidFill>
                  <a:srgbClr val="1E3A8A"/>
                </a:solidFill>
                <a:latin typeface="Montserrat"/>
                <a:ea typeface="Montserrat"/>
                <a:cs typeface="Montserrat"/>
                <a:sym typeface="Montserrat"/>
              </a:rPr>
              <a:t>Previous Estimate</a:t>
            </a:r>
            <a:endParaRPr b="1" i="0" sz="1100" u="none" cap="none" strike="noStrike">
              <a:solidFill>
                <a:srgbClr val="1E3A8A"/>
              </a:solidFill>
              <a:latin typeface="Calibri"/>
              <a:ea typeface="Calibri"/>
              <a:cs typeface="Calibri"/>
              <a:sym typeface="Calibri"/>
            </a:endParaRPr>
          </a:p>
        </p:txBody>
      </p:sp>
      <p:sp>
        <p:nvSpPr>
          <p:cNvPr id="2905" name="Google Shape;2905;p61"/>
          <p:cNvSpPr txBox="1"/>
          <p:nvPr/>
        </p:nvSpPr>
        <p:spPr>
          <a:xfrm>
            <a:off x="3510382" y="2614270"/>
            <a:ext cx="440741"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64%</a:t>
            </a:r>
            <a:endParaRPr b="0" i="0" sz="1100" u="none" cap="none" strike="noStrike">
              <a:solidFill>
                <a:schemeClr val="dk1"/>
              </a:solidFill>
              <a:latin typeface="Calibri"/>
              <a:ea typeface="Calibri"/>
              <a:cs typeface="Calibri"/>
              <a:sym typeface="Calibri"/>
            </a:endParaRPr>
          </a:p>
        </p:txBody>
      </p:sp>
      <p:sp>
        <p:nvSpPr>
          <p:cNvPr id="2906" name="Google Shape;2906;p61"/>
          <p:cNvSpPr txBox="1"/>
          <p:nvPr/>
        </p:nvSpPr>
        <p:spPr>
          <a:xfrm>
            <a:off x="3510382" y="3105302"/>
            <a:ext cx="4315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58%</a:t>
            </a:r>
            <a:endParaRPr b="0" i="0" sz="1100" u="none" cap="none" strike="noStrike">
              <a:solidFill>
                <a:schemeClr val="dk1"/>
              </a:solidFill>
              <a:latin typeface="Calibri"/>
              <a:ea typeface="Calibri"/>
              <a:cs typeface="Calibri"/>
              <a:sym typeface="Calibri"/>
            </a:endParaRPr>
          </a:p>
        </p:txBody>
      </p:sp>
      <p:sp>
        <p:nvSpPr>
          <p:cNvPr id="2907" name="Google Shape;2907;p61"/>
          <p:cNvSpPr txBox="1"/>
          <p:nvPr/>
        </p:nvSpPr>
        <p:spPr>
          <a:xfrm>
            <a:off x="3510382" y="3595421"/>
            <a:ext cx="40325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31%</a:t>
            </a:r>
            <a:endParaRPr b="0" i="0" sz="1100" u="none" cap="none" strike="noStrike">
              <a:solidFill>
                <a:schemeClr val="dk1"/>
              </a:solidFill>
              <a:latin typeface="Calibri"/>
              <a:ea typeface="Calibri"/>
              <a:cs typeface="Calibri"/>
              <a:sym typeface="Calibri"/>
            </a:endParaRPr>
          </a:p>
        </p:txBody>
      </p:sp>
      <p:sp>
        <p:nvSpPr>
          <p:cNvPr id="2908" name="Google Shape;2908;p61"/>
          <p:cNvSpPr txBox="1"/>
          <p:nvPr/>
        </p:nvSpPr>
        <p:spPr>
          <a:xfrm>
            <a:off x="3510382" y="4086454"/>
            <a:ext cx="4315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39%</a:t>
            </a:r>
            <a:endParaRPr b="0" i="0" sz="1100" u="none" cap="none" strike="noStrike">
              <a:solidFill>
                <a:schemeClr val="dk1"/>
              </a:solidFill>
              <a:latin typeface="Calibri"/>
              <a:ea typeface="Calibri"/>
              <a:cs typeface="Calibri"/>
              <a:sym typeface="Calibri"/>
            </a:endParaRPr>
          </a:p>
        </p:txBody>
      </p:sp>
      <p:sp>
        <p:nvSpPr>
          <p:cNvPr id="2909" name="Google Shape;2909;p61"/>
          <p:cNvSpPr txBox="1"/>
          <p:nvPr/>
        </p:nvSpPr>
        <p:spPr>
          <a:xfrm>
            <a:off x="3510382" y="4576572"/>
            <a:ext cx="42153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73%</a:t>
            </a:r>
            <a:endParaRPr b="0" i="0" sz="1100" u="none" cap="none" strike="noStrike">
              <a:solidFill>
                <a:schemeClr val="dk1"/>
              </a:solidFill>
              <a:latin typeface="Calibri"/>
              <a:ea typeface="Calibri"/>
              <a:cs typeface="Calibri"/>
              <a:sym typeface="Calibri"/>
            </a:endParaRPr>
          </a:p>
        </p:txBody>
      </p:sp>
      <p:sp>
        <p:nvSpPr>
          <p:cNvPr id="2910" name="Google Shape;2910;p61"/>
          <p:cNvSpPr txBox="1"/>
          <p:nvPr/>
        </p:nvSpPr>
        <p:spPr>
          <a:xfrm>
            <a:off x="3510382" y="5067605"/>
            <a:ext cx="774497"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 hours"</a:t>
            </a:r>
            <a:endParaRPr b="0" i="0" sz="1100" u="none" cap="none" strike="noStrike">
              <a:solidFill>
                <a:schemeClr val="dk1"/>
              </a:solidFill>
              <a:latin typeface="Calibri"/>
              <a:ea typeface="Calibri"/>
              <a:cs typeface="Calibri"/>
              <a:sym typeface="Calibri"/>
            </a:endParaRPr>
          </a:p>
        </p:txBody>
      </p:sp>
      <p:sp>
        <p:nvSpPr>
          <p:cNvPr id="2911" name="Google Shape;2911;p61"/>
          <p:cNvSpPr txBox="1"/>
          <p:nvPr/>
        </p:nvSpPr>
        <p:spPr>
          <a:xfrm>
            <a:off x="6248095" y="1990649"/>
            <a:ext cx="1298448"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ontserrat"/>
              <a:buNone/>
            </a:pPr>
            <a:r>
              <a:rPr b="1" i="0" lang="en-US" sz="1100" u="none" cap="none" strike="noStrike">
                <a:solidFill>
                  <a:srgbClr val="1E3A8A"/>
                </a:solidFill>
                <a:latin typeface="Montserrat"/>
                <a:ea typeface="Montserrat"/>
                <a:cs typeface="Montserrat"/>
                <a:sym typeface="Montserrat"/>
              </a:rPr>
              <a:t>Current Analysis</a:t>
            </a:r>
            <a:endParaRPr b="1" i="0" sz="1100" u="none" cap="none" strike="noStrike">
              <a:solidFill>
                <a:srgbClr val="1E3A8A"/>
              </a:solidFill>
              <a:latin typeface="Calibri"/>
              <a:ea typeface="Calibri"/>
              <a:cs typeface="Calibri"/>
              <a:sym typeface="Calibri"/>
            </a:endParaRPr>
          </a:p>
        </p:txBody>
      </p:sp>
      <p:sp>
        <p:nvSpPr>
          <p:cNvPr id="2912" name="Google Shape;2912;p61"/>
          <p:cNvSpPr txBox="1"/>
          <p:nvPr/>
        </p:nvSpPr>
        <p:spPr>
          <a:xfrm>
            <a:off x="6248095" y="2614270"/>
            <a:ext cx="50749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4–5%</a:t>
            </a:r>
            <a:endParaRPr b="0" i="0" sz="1100" u="none" cap="none" strike="noStrike">
              <a:solidFill>
                <a:schemeClr val="dk1"/>
              </a:solidFill>
              <a:latin typeface="Calibri"/>
              <a:ea typeface="Calibri"/>
              <a:cs typeface="Calibri"/>
              <a:sym typeface="Calibri"/>
            </a:endParaRPr>
          </a:p>
        </p:txBody>
      </p:sp>
      <p:sp>
        <p:nvSpPr>
          <p:cNvPr id="2913" name="Google Shape;2913;p61"/>
          <p:cNvSpPr txBox="1"/>
          <p:nvPr/>
        </p:nvSpPr>
        <p:spPr>
          <a:xfrm>
            <a:off x="6248095" y="3105302"/>
            <a:ext cx="470002"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5.4%</a:t>
            </a:r>
            <a:endParaRPr b="0" i="0" sz="1100" u="none" cap="none" strike="noStrike">
              <a:solidFill>
                <a:schemeClr val="dk1"/>
              </a:solidFill>
              <a:latin typeface="Calibri"/>
              <a:ea typeface="Calibri"/>
              <a:cs typeface="Calibri"/>
              <a:sym typeface="Calibri"/>
            </a:endParaRPr>
          </a:p>
        </p:txBody>
      </p:sp>
      <p:sp>
        <p:nvSpPr>
          <p:cNvPr id="2914" name="Google Shape;2914;p61"/>
          <p:cNvSpPr txBox="1"/>
          <p:nvPr/>
        </p:nvSpPr>
        <p:spPr>
          <a:xfrm>
            <a:off x="6248095" y="3595421"/>
            <a:ext cx="755294"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2.2–2.7%</a:t>
            </a:r>
            <a:endParaRPr b="0" i="0" sz="1100" u="none" cap="none" strike="noStrike">
              <a:solidFill>
                <a:schemeClr val="dk1"/>
              </a:solidFill>
              <a:latin typeface="Calibri"/>
              <a:ea typeface="Calibri"/>
              <a:cs typeface="Calibri"/>
              <a:sym typeface="Calibri"/>
            </a:endParaRPr>
          </a:p>
        </p:txBody>
      </p:sp>
      <p:sp>
        <p:nvSpPr>
          <p:cNvPr id="2915" name="Google Shape;2915;p61"/>
          <p:cNvSpPr txBox="1"/>
          <p:nvPr/>
        </p:nvSpPr>
        <p:spPr>
          <a:xfrm>
            <a:off x="6248095" y="4086454"/>
            <a:ext cx="565099"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&lt;0.5%</a:t>
            </a:r>
            <a:endParaRPr b="0" i="0" sz="1100" u="none" cap="none" strike="noStrike">
              <a:solidFill>
                <a:schemeClr val="dk1"/>
              </a:solidFill>
              <a:latin typeface="Calibri"/>
              <a:ea typeface="Calibri"/>
              <a:cs typeface="Calibri"/>
              <a:sym typeface="Calibri"/>
            </a:endParaRPr>
          </a:p>
        </p:txBody>
      </p:sp>
      <p:sp>
        <p:nvSpPr>
          <p:cNvPr id="2916" name="Google Shape;2916;p61"/>
          <p:cNvSpPr txBox="1"/>
          <p:nvPr/>
        </p:nvSpPr>
        <p:spPr>
          <a:xfrm>
            <a:off x="6248095" y="4576572"/>
            <a:ext cx="373990"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N/A</a:t>
            </a:r>
            <a:endParaRPr b="0" i="0" sz="1100" u="none" cap="none" strike="noStrike">
              <a:solidFill>
                <a:schemeClr val="dk1"/>
              </a:solidFill>
              <a:latin typeface="Calibri"/>
              <a:ea typeface="Calibri"/>
              <a:cs typeface="Calibri"/>
              <a:sym typeface="Calibri"/>
            </a:endParaRPr>
          </a:p>
        </p:txBody>
      </p:sp>
      <p:sp>
        <p:nvSpPr>
          <p:cNvPr id="2917" name="Google Shape;2917;p61"/>
          <p:cNvSpPr txBox="1"/>
          <p:nvPr/>
        </p:nvSpPr>
        <p:spPr>
          <a:xfrm>
            <a:off x="6248095" y="5067605"/>
            <a:ext cx="345643" cy="1810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100"/>
              <a:buFont typeface="Inter"/>
              <a:buNone/>
            </a:pPr>
            <a:r>
              <a:rPr b="0" i="0" lang="en-US" sz="1100" u="none" cap="none" strike="noStrike">
                <a:solidFill>
                  <a:srgbClr val="111827"/>
                </a:solidFill>
                <a:latin typeface="Inter"/>
                <a:ea typeface="Inter"/>
                <a:cs typeface="Inter"/>
                <a:sym typeface="Inter"/>
              </a:rPr>
              <a:t>0%</a:t>
            </a:r>
            <a:endParaRPr b="0" i="0" sz="1100" u="none" cap="none" strike="noStrike">
              <a:solidFill>
                <a:schemeClr val="dk1"/>
              </a:solidFill>
              <a:latin typeface="Calibri"/>
              <a:ea typeface="Calibri"/>
              <a:cs typeface="Calibri"/>
              <a:sym typeface="Calibri"/>
            </a:endParaRPr>
          </a:p>
        </p:txBody>
      </p:sp>
      <p:sp>
        <p:nvSpPr>
          <p:cNvPr id="2918" name="Google Shape;2918;p61"/>
          <p:cNvSpPr txBox="1"/>
          <p:nvPr/>
        </p:nvSpPr>
        <p:spPr>
          <a:xfrm>
            <a:off x="8910828" y="1990649"/>
            <a:ext cx="1119226" cy="1719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Montserrat"/>
              <a:buNone/>
            </a:pPr>
            <a:r>
              <a:rPr b="1" i="0" lang="en-US" sz="1000" u="none" cap="none" strike="noStrike">
                <a:solidFill>
                  <a:srgbClr val="1E3A8A"/>
                </a:solidFill>
                <a:latin typeface="Montserrat"/>
                <a:ea typeface="Montserrat"/>
                <a:cs typeface="Montserrat"/>
                <a:sym typeface="Montserrat"/>
              </a:rPr>
              <a:t>Evidence Base</a:t>
            </a:r>
            <a:endParaRPr b="1" i="0" sz="1000" u="none" cap="none" strike="noStrike">
              <a:solidFill>
                <a:srgbClr val="1E3A8A"/>
              </a:solidFill>
              <a:latin typeface="Calibri"/>
              <a:ea typeface="Calibri"/>
              <a:cs typeface="Calibri"/>
              <a:sym typeface="Calibri"/>
            </a:endParaRPr>
          </a:p>
        </p:txBody>
      </p:sp>
      <p:sp>
        <p:nvSpPr>
          <p:cNvPr id="2919" name="Google Shape;2919;p61"/>
          <p:cNvSpPr txBox="1"/>
          <p:nvPr/>
        </p:nvSpPr>
        <p:spPr>
          <a:xfrm>
            <a:off x="8986723" y="2624328"/>
            <a:ext cx="2376526"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54/2,974 mentions across platforms</a:t>
            </a:r>
            <a:endParaRPr b="0" i="0" sz="1000" u="none" cap="none" strike="noStrike">
              <a:solidFill>
                <a:schemeClr val="dk1"/>
              </a:solidFill>
              <a:latin typeface="Calibri"/>
              <a:ea typeface="Calibri"/>
              <a:cs typeface="Calibri"/>
              <a:sym typeface="Calibri"/>
            </a:endParaRPr>
          </a:p>
        </p:txBody>
      </p:sp>
      <p:sp>
        <p:nvSpPr>
          <p:cNvPr id="2920" name="Google Shape;2920;p61"/>
          <p:cNvSpPr txBox="1"/>
          <p:nvPr/>
        </p:nvSpPr>
        <p:spPr>
          <a:xfrm>
            <a:off x="8986723" y="3114446"/>
            <a:ext cx="15005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162/2,974 discussions</a:t>
            </a:r>
            <a:endParaRPr b="0" i="0" sz="1000" u="none" cap="none" strike="noStrike">
              <a:solidFill>
                <a:schemeClr val="dk1"/>
              </a:solidFill>
              <a:latin typeface="Calibri"/>
              <a:ea typeface="Calibri"/>
              <a:cs typeface="Calibri"/>
              <a:sym typeface="Calibri"/>
            </a:endParaRPr>
          </a:p>
        </p:txBody>
      </p:sp>
      <p:sp>
        <p:nvSpPr>
          <p:cNvPr id="2921" name="Google Shape;2921;p61"/>
          <p:cNvSpPr txBox="1"/>
          <p:nvPr/>
        </p:nvSpPr>
        <p:spPr>
          <a:xfrm>
            <a:off x="8986723" y="3605479"/>
            <a:ext cx="18909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25-30/1,129 Reddit mentions</a:t>
            </a:r>
            <a:endParaRPr b="0" i="0" sz="1000" u="none" cap="none" strike="noStrike">
              <a:solidFill>
                <a:schemeClr val="dk1"/>
              </a:solidFill>
              <a:latin typeface="Calibri"/>
              <a:ea typeface="Calibri"/>
              <a:cs typeface="Calibri"/>
              <a:sym typeface="Calibri"/>
            </a:endParaRPr>
          </a:p>
        </p:txBody>
      </p:sp>
      <p:sp>
        <p:nvSpPr>
          <p:cNvPr id="2922" name="Google Shape;2922;p61"/>
          <p:cNvSpPr txBox="1"/>
          <p:nvPr/>
        </p:nvSpPr>
        <p:spPr>
          <a:xfrm>
            <a:off x="8986723" y="4095598"/>
            <a:ext cx="222473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Not identified in analyzed content</a:t>
            </a:r>
            <a:endParaRPr b="0" i="0" sz="1000" u="none" cap="none" strike="noStrike">
              <a:solidFill>
                <a:schemeClr val="dk1"/>
              </a:solidFill>
              <a:latin typeface="Calibri"/>
              <a:ea typeface="Calibri"/>
              <a:cs typeface="Calibri"/>
              <a:sym typeface="Calibri"/>
            </a:endParaRPr>
          </a:p>
        </p:txBody>
      </p:sp>
      <p:sp>
        <p:nvSpPr>
          <p:cNvPr id="2923" name="Google Shape;2923;p61"/>
          <p:cNvSpPr txBox="1"/>
          <p:nvPr/>
        </p:nvSpPr>
        <p:spPr>
          <a:xfrm>
            <a:off x="8986723" y="4586630"/>
            <a:ext cx="239572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 purchase data present in dataset</a:t>
            </a:r>
            <a:endParaRPr b="0" i="0" sz="1000" u="none" cap="none" strike="noStrike">
              <a:solidFill>
                <a:schemeClr val="dk1"/>
              </a:solidFill>
              <a:latin typeface="Calibri"/>
              <a:ea typeface="Calibri"/>
              <a:cs typeface="Calibri"/>
              <a:sym typeface="Calibri"/>
            </a:endParaRPr>
          </a:p>
        </p:txBody>
      </p:sp>
      <p:sp>
        <p:nvSpPr>
          <p:cNvPr id="2924" name="Google Shape;2924;p61"/>
          <p:cNvSpPr txBox="1"/>
          <p:nvPr/>
        </p:nvSpPr>
        <p:spPr>
          <a:xfrm>
            <a:off x="8986723" y="5076749"/>
            <a:ext cx="230063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000"/>
              <a:buFont typeface="Inter"/>
              <a:buNone/>
            </a:pPr>
            <a:r>
              <a:rPr b="0" i="0" lang="en-US" sz="1000" u="none" cap="none" strike="noStrike">
                <a:solidFill>
                  <a:srgbClr val="111827"/>
                </a:solidFill>
                <a:latin typeface="Inter"/>
                <a:ea typeface="Inter"/>
                <a:cs typeface="Inter"/>
                <a:sym typeface="Inter"/>
              </a:rPr>
              <a:t>Not mentioned in analyzed content</a:t>
            </a:r>
            <a:endParaRPr b="0" i="0" sz="1000" u="none" cap="none" strike="noStrike">
              <a:solidFill>
                <a:schemeClr val="dk1"/>
              </a:solidFill>
              <a:latin typeface="Calibri"/>
              <a:ea typeface="Calibri"/>
              <a:cs typeface="Calibri"/>
              <a:sym typeface="Calibri"/>
            </a:endParaRPr>
          </a:p>
        </p:txBody>
      </p:sp>
      <p:sp>
        <p:nvSpPr>
          <p:cNvPr id="2925" name="Google Shape;2925;p61"/>
          <p:cNvSpPr/>
          <p:nvPr/>
        </p:nvSpPr>
        <p:spPr>
          <a:xfrm>
            <a:off x="609905" y="5643677"/>
            <a:ext cx="10972800" cy="761695"/>
          </a:xfrm>
          <a:prstGeom prst="rect">
            <a:avLst/>
          </a:prstGeom>
          <a:solidFill>
            <a:srgbClr val="F9FAFB"/>
          </a:solidFill>
          <a:ln>
            <a:noFill/>
          </a:ln>
          <a:effectLst>
            <a:outerShdw blurRad="76200" rotWithShape="0" algn="bl" dir="5400000" dist="25400">
              <a:srgbClr val="000000">
                <a:alpha val="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61"/>
          <p:cNvSpPr/>
          <p:nvPr/>
        </p:nvSpPr>
        <p:spPr>
          <a:xfrm>
            <a:off x="609905" y="5643677"/>
            <a:ext cx="38405" cy="761695"/>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61"/>
          <p:cNvSpPr txBox="1"/>
          <p:nvPr/>
        </p:nvSpPr>
        <p:spPr>
          <a:xfrm>
            <a:off x="838505" y="5814670"/>
            <a:ext cx="10537546" cy="40965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Inter"/>
              <a:buNone/>
            </a:pPr>
            <a:r>
              <a:rPr b="0" i="0" lang="en-US" sz="1100" u="none" cap="none" strike="noStrike">
                <a:solidFill>
                  <a:srgbClr val="374151"/>
                </a:solidFill>
                <a:latin typeface="Inter"/>
                <a:ea typeface="Inter"/>
                <a:cs typeface="Inter"/>
                <a:sym typeface="Inter"/>
              </a:rPr>
              <a:t>Methodology Note: Current analysis figures use appropriate base calculations per metric. Pain point prevalence rates for Reddit-only discussions (n=1,129) are presented on Slide 9.</a:t>
            </a:r>
            <a:endParaRPr b="0" i="0" sz="1100" u="none" cap="none" strike="noStrike">
              <a:solidFill>
                <a:schemeClr val="dk1"/>
              </a:solidFill>
              <a:latin typeface="Calibri"/>
              <a:ea typeface="Calibri"/>
              <a:cs typeface="Calibri"/>
              <a:sym typeface="Calibri"/>
            </a:endParaRPr>
          </a:p>
        </p:txBody>
      </p:sp>
      <p:sp>
        <p:nvSpPr>
          <p:cNvPr id="2928" name="Google Shape;2928;p61"/>
          <p:cNvSpPr txBox="1"/>
          <p:nvPr/>
        </p:nvSpPr>
        <p:spPr>
          <a:xfrm>
            <a:off x="609905" y="6729070"/>
            <a:ext cx="29297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3M Internal - Strategic Category Intelligence</a:t>
            </a:r>
            <a:endParaRPr b="0" i="0" sz="1000" u="none" cap="none" strike="noStrike">
              <a:solidFill>
                <a:schemeClr val="dk1"/>
              </a:solidFill>
              <a:latin typeface="Calibri"/>
              <a:ea typeface="Calibri"/>
              <a:cs typeface="Calibri"/>
              <a:sym typeface="Calibri"/>
            </a:endParaRPr>
          </a:p>
        </p:txBody>
      </p:sp>
      <p:sp>
        <p:nvSpPr>
          <p:cNvPr id="2929" name="Google Shape;2929;p61"/>
          <p:cNvSpPr txBox="1"/>
          <p:nvPr/>
        </p:nvSpPr>
        <p:spPr>
          <a:xfrm>
            <a:off x="11418113" y="6729070"/>
            <a:ext cx="2715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Inter"/>
              <a:buNone/>
            </a:pPr>
            <a:r>
              <a:rPr b="0" i="0" lang="en-US" sz="1000" u="none" cap="none" strike="noStrike">
                <a:solidFill>
                  <a:srgbClr val="6B7280"/>
                </a:solidFill>
                <a:latin typeface="Inter"/>
                <a:ea typeface="Inter"/>
                <a:cs typeface="Inter"/>
                <a:sym typeface="Inter"/>
              </a:rPr>
              <a:t>58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4" name="Shape 2934"/>
        <p:cNvGrpSpPr/>
        <p:nvPr/>
      </p:nvGrpSpPr>
      <p:grpSpPr>
        <a:xfrm>
          <a:off x="0" y="0"/>
          <a:ext cx="0" cy="0"/>
          <a:chOff x="0" y="0"/>
          <a:chExt cx="0" cy="0"/>
        </a:xfrm>
      </p:grpSpPr>
      <p:sp>
        <p:nvSpPr>
          <p:cNvPr id="2935" name="Google Shape;2935;p62"/>
          <p:cNvSpPr/>
          <p:nvPr/>
        </p:nvSpPr>
        <p:spPr>
          <a:xfrm>
            <a:off x="0" y="0"/>
            <a:ext cx="12191695" cy="72868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62"/>
          <p:cNvSpPr/>
          <p:nvPr/>
        </p:nvSpPr>
        <p:spPr>
          <a:xfrm>
            <a:off x="0" y="0"/>
            <a:ext cx="12191695" cy="728685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62"/>
          <p:cNvSpPr/>
          <p:nvPr/>
        </p:nvSpPr>
        <p:spPr>
          <a:xfrm>
            <a:off x="533095" y="457200"/>
            <a:ext cx="761695" cy="47549"/>
          </a:xfrm>
          <a:prstGeom prst="rect">
            <a:avLst/>
          </a:prstGeom>
          <a:solidFill>
            <a:srgbClr val="1E3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62"/>
          <p:cNvSpPr txBox="1"/>
          <p:nvPr/>
        </p:nvSpPr>
        <p:spPr>
          <a:xfrm>
            <a:off x="533095" y="780898"/>
            <a:ext cx="6896405" cy="4197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700"/>
              <a:buFont typeface="Inter"/>
              <a:buNone/>
            </a:pPr>
            <a:r>
              <a:rPr b="1" i="0" lang="en-US" sz="2700" u="none" cap="none" strike="noStrike">
                <a:solidFill>
                  <a:srgbClr val="111827"/>
                </a:solidFill>
                <a:latin typeface="Inter"/>
                <a:ea typeface="Inter"/>
                <a:cs typeface="Inter"/>
                <a:sym typeface="Inter"/>
              </a:rPr>
              <a:t>Appendix E: Documentation &amp; Next Steps</a:t>
            </a:r>
            <a:endParaRPr b="0" i="0" sz="2700" u="none" cap="none" strike="noStrike">
              <a:solidFill>
                <a:schemeClr val="dk1"/>
              </a:solidFill>
              <a:latin typeface="Calibri"/>
              <a:ea typeface="Calibri"/>
              <a:cs typeface="Calibri"/>
              <a:sym typeface="Calibri"/>
            </a:endParaRPr>
          </a:p>
        </p:txBody>
      </p:sp>
      <p:sp>
        <p:nvSpPr>
          <p:cNvPr id="2939" name="Google Shape;2939;p62"/>
          <p:cNvSpPr txBox="1"/>
          <p:nvPr/>
        </p:nvSpPr>
        <p:spPr>
          <a:xfrm>
            <a:off x="533095" y="1638605"/>
            <a:ext cx="2029054"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SUPPORTING DOCUMENTATION</a:t>
            </a:r>
            <a:endParaRPr b="0" i="0" sz="900" u="none" cap="none" strike="noStrike">
              <a:solidFill>
                <a:schemeClr val="dk1"/>
              </a:solidFill>
              <a:latin typeface="Calibri"/>
              <a:ea typeface="Calibri"/>
              <a:cs typeface="Calibri"/>
              <a:sym typeface="Calibri"/>
            </a:endParaRPr>
          </a:p>
        </p:txBody>
      </p:sp>
      <p:sp>
        <p:nvSpPr>
          <p:cNvPr id="2940" name="Google Shape;2940;p62"/>
          <p:cNvSpPr txBox="1"/>
          <p:nvPr/>
        </p:nvSpPr>
        <p:spPr>
          <a:xfrm>
            <a:off x="533095" y="1952244"/>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41" name="Google Shape;2941;p62"/>
          <p:cNvSpPr txBox="1"/>
          <p:nvPr/>
        </p:nvSpPr>
        <p:spPr>
          <a:xfrm>
            <a:off x="741578" y="1895551"/>
            <a:ext cx="23820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README.md - Project overview</a:t>
            </a:r>
            <a:endParaRPr b="0" i="0" sz="1200" u="none" cap="none" strike="noStrike">
              <a:solidFill>
                <a:schemeClr val="dk1"/>
              </a:solidFill>
              <a:latin typeface="Calibri"/>
              <a:ea typeface="Calibri"/>
              <a:cs typeface="Calibri"/>
              <a:sym typeface="Calibri"/>
            </a:endParaRPr>
          </a:p>
        </p:txBody>
      </p:sp>
      <p:sp>
        <p:nvSpPr>
          <p:cNvPr id="2942" name="Google Shape;2942;p62"/>
          <p:cNvSpPr txBox="1"/>
          <p:nvPr/>
        </p:nvSpPr>
        <p:spPr>
          <a:xfrm>
            <a:off x="533095" y="2381098"/>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43" name="Google Shape;2943;p62"/>
          <p:cNvSpPr txBox="1"/>
          <p:nvPr/>
        </p:nvSpPr>
        <p:spPr>
          <a:xfrm>
            <a:off x="741578" y="2324405"/>
            <a:ext cx="3514954"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EXECUTIVE_SUMMARY.md - Category insights</a:t>
            </a:r>
            <a:endParaRPr b="0" i="0" sz="1200" u="none" cap="none" strike="noStrike">
              <a:solidFill>
                <a:schemeClr val="dk1"/>
              </a:solidFill>
              <a:latin typeface="Calibri"/>
              <a:ea typeface="Calibri"/>
              <a:cs typeface="Calibri"/>
              <a:sym typeface="Calibri"/>
            </a:endParaRPr>
          </a:p>
        </p:txBody>
      </p:sp>
      <p:sp>
        <p:nvSpPr>
          <p:cNvPr id="2944" name="Google Shape;2944;p62"/>
          <p:cNvSpPr txBox="1"/>
          <p:nvPr/>
        </p:nvSpPr>
        <p:spPr>
          <a:xfrm>
            <a:off x="533095" y="2809951"/>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45" name="Google Shape;2945;p62"/>
          <p:cNvSpPr txBox="1"/>
          <p:nvPr/>
        </p:nvSpPr>
        <p:spPr>
          <a:xfrm>
            <a:off x="741578" y="2752344"/>
            <a:ext cx="28959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DATA_AUDIT_TRAIL.md - Data sources</a:t>
            </a:r>
            <a:endParaRPr b="0" i="0" sz="1200" u="none" cap="none" strike="noStrike">
              <a:solidFill>
                <a:schemeClr val="dk1"/>
              </a:solidFill>
              <a:latin typeface="Calibri"/>
              <a:ea typeface="Calibri"/>
              <a:cs typeface="Calibri"/>
              <a:sym typeface="Calibri"/>
            </a:endParaRPr>
          </a:p>
        </p:txBody>
      </p:sp>
      <p:sp>
        <p:nvSpPr>
          <p:cNvPr id="2946" name="Google Shape;2946;p62"/>
          <p:cNvSpPr txBox="1"/>
          <p:nvPr/>
        </p:nvSpPr>
        <p:spPr>
          <a:xfrm>
            <a:off x="533095" y="3238805"/>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47" name="Google Shape;2947;p62"/>
          <p:cNvSpPr txBox="1"/>
          <p:nvPr/>
        </p:nvSpPr>
        <p:spPr>
          <a:xfrm>
            <a:off x="741578" y="3181198"/>
            <a:ext cx="3495751"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HYPOTHESIS_TESTING_RESULTS.md - Results</a:t>
            </a:r>
            <a:endParaRPr b="0" i="0" sz="1200" u="none" cap="none" strike="noStrike">
              <a:solidFill>
                <a:schemeClr val="dk1"/>
              </a:solidFill>
              <a:latin typeface="Calibri"/>
              <a:ea typeface="Calibri"/>
              <a:cs typeface="Calibri"/>
              <a:sym typeface="Calibri"/>
            </a:endParaRPr>
          </a:p>
        </p:txBody>
      </p:sp>
      <p:sp>
        <p:nvSpPr>
          <p:cNvPr id="2948" name="Google Shape;2948;p62"/>
          <p:cNvSpPr txBox="1"/>
          <p:nvPr/>
        </p:nvSpPr>
        <p:spPr>
          <a:xfrm>
            <a:off x="533095" y="3666744"/>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49" name="Google Shape;2949;p62"/>
          <p:cNvSpPr txBox="1"/>
          <p:nvPr/>
        </p:nvSpPr>
        <p:spPr>
          <a:xfrm>
            <a:off x="741578" y="3610051"/>
            <a:ext cx="43818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HYPOTHESIS_TESTING_PROGRESS_UPDATE.md - Updates</a:t>
            </a:r>
            <a:endParaRPr b="0" i="0" sz="1200" u="none" cap="none" strike="noStrike">
              <a:solidFill>
                <a:schemeClr val="dk1"/>
              </a:solidFill>
              <a:latin typeface="Calibri"/>
              <a:ea typeface="Calibri"/>
              <a:cs typeface="Calibri"/>
              <a:sym typeface="Calibri"/>
            </a:endParaRPr>
          </a:p>
        </p:txBody>
      </p:sp>
      <p:sp>
        <p:nvSpPr>
          <p:cNvPr id="2950" name="Google Shape;2950;p62"/>
          <p:cNvSpPr txBox="1"/>
          <p:nvPr/>
        </p:nvSpPr>
        <p:spPr>
          <a:xfrm>
            <a:off x="533095" y="4095598"/>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51" name="Google Shape;2951;p62"/>
          <p:cNvSpPr txBox="1"/>
          <p:nvPr/>
        </p:nvSpPr>
        <p:spPr>
          <a:xfrm>
            <a:off x="741578" y="4038905"/>
            <a:ext cx="49149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PROPER_AGENTIC_REASONING_IN_PROGRESS.md - Methodology</a:t>
            </a:r>
            <a:endParaRPr b="0" i="0" sz="1200" u="none" cap="none" strike="noStrike">
              <a:solidFill>
                <a:schemeClr val="dk1"/>
              </a:solidFill>
              <a:latin typeface="Calibri"/>
              <a:ea typeface="Calibri"/>
              <a:cs typeface="Calibri"/>
              <a:sym typeface="Calibri"/>
            </a:endParaRPr>
          </a:p>
        </p:txBody>
      </p:sp>
      <p:sp>
        <p:nvSpPr>
          <p:cNvPr id="2952" name="Google Shape;2952;p62"/>
          <p:cNvSpPr txBox="1"/>
          <p:nvPr/>
        </p:nvSpPr>
        <p:spPr>
          <a:xfrm>
            <a:off x="533095" y="4524451"/>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53" name="Google Shape;2953;p62"/>
          <p:cNvSpPr txBox="1"/>
          <p:nvPr/>
        </p:nvSpPr>
        <p:spPr>
          <a:xfrm>
            <a:off x="741578" y="4466844"/>
            <a:ext cx="37719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ANALYSIS_COMPLETE_STATUS.md - Status report</a:t>
            </a:r>
            <a:endParaRPr b="0" i="0" sz="1200" u="none" cap="none" strike="noStrike">
              <a:solidFill>
                <a:schemeClr val="dk1"/>
              </a:solidFill>
              <a:latin typeface="Calibri"/>
              <a:ea typeface="Calibri"/>
              <a:cs typeface="Calibri"/>
              <a:sym typeface="Calibri"/>
            </a:endParaRPr>
          </a:p>
        </p:txBody>
      </p:sp>
      <p:sp>
        <p:nvSpPr>
          <p:cNvPr id="2954" name="Google Shape;2954;p62"/>
          <p:cNvSpPr txBox="1"/>
          <p:nvPr/>
        </p:nvSpPr>
        <p:spPr>
          <a:xfrm>
            <a:off x="533095" y="4943246"/>
            <a:ext cx="1724558"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DATA SOURCES OVERVIEW</a:t>
            </a:r>
            <a:endParaRPr b="0" i="0" sz="900" u="none" cap="none" strike="noStrike">
              <a:solidFill>
                <a:schemeClr val="dk1"/>
              </a:solidFill>
              <a:latin typeface="Calibri"/>
              <a:ea typeface="Calibri"/>
              <a:cs typeface="Calibri"/>
              <a:sym typeface="Calibri"/>
            </a:endParaRPr>
          </a:p>
        </p:txBody>
      </p:sp>
      <p:sp>
        <p:nvSpPr>
          <p:cNvPr id="2955" name="Google Shape;2955;p62"/>
          <p:cNvSpPr txBox="1"/>
          <p:nvPr/>
        </p:nvSpPr>
        <p:spPr>
          <a:xfrm>
            <a:off x="533095" y="5257800"/>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56" name="Google Shape;2956;p62"/>
          <p:cNvSpPr txBox="1"/>
          <p:nvPr/>
        </p:nvSpPr>
        <p:spPr>
          <a:xfrm>
            <a:off x="741578" y="5201107"/>
            <a:ext cx="1705356"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Reddit posts (n=1,129)</a:t>
            </a:r>
            <a:endParaRPr b="0" i="0" sz="1200" u="none" cap="none" strike="noStrike">
              <a:solidFill>
                <a:schemeClr val="dk1"/>
              </a:solidFill>
              <a:latin typeface="Calibri"/>
              <a:ea typeface="Calibri"/>
              <a:cs typeface="Calibri"/>
              <a:sym typeface="Calibri"/>
            </a:endParaRPr>
          </a:p>
        </p:txBody>
      </p:sp>
      <p:sp>
        <p:nvSpPr>
          <p:cNvPr id="2957" name="Google Shape;2957;p62"/>
          <p:cNvSpPr txBox="1"/>
          <p:nvPr/>
        </p:nvSpPr>
        <p:spPr>
          <a:xfrm>
            <a:off x="533095" y="5686654"/>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58" name="Google Shape;2958;p62"/>
          <p:cNvSpPr txBox="1"/>
          <p:nvPr/>
        </p:nvSpPr>
        <p:spPr>
          <a:xfrm>
            <a:off x="741578" y="5629046"/>
            <a:ext cx="282001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YouTube videos &amp; comments (n=955)</a:t>
            </a:r>
            <a:endParaRPr b="0" i="0" sz="1200" u="none" cap="none" strike="noStrike">
              <a:solidFill>
                <a:schemeClr val="dk1"/>
              </a:solidFill>
              <a:latin typeface="Calibri"/>
              <a:ea typeface="Calibri"/>
              <a:cs typeface="Calibri"/>
              <a:sym typeface="Calibri"/>
            </a:endParaRPr>
          </a:p>
        </p:txBody>
      </p:sp>
      <p:sp>
        <p:nvSpPr>
          <p:cNvPr id="2959" name="Google Shape;2959;p62"/>
          <p:cNvSpPr txBox="1"/>
          <p:nvPr/>
        </p:nvSpPr>
        <p:spPr>
          <a:xfrm>
            <a:off x="6476695" y="1638605"/>
            <a:ext cx="2048256"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PLATFORM CONTENT ANALYSIS</a:t>
            </a:r>
            <a:endParaRPr b="0" i="0" sz="900" u="none" cap="none" strike="noStrike">
              <a:solidFill>
                <a:schemeClr val="dk1"/>
              </a:solidFill>
              <a:latin typeface="Calibri"/>
              <a:ea typeface="Calibri"/>
              <a:cs typeface="Calibri"/>
              <a:sym typeface="Calibri"/>
            </a:endParaRPr>
          </a:p>
        </p:txBody>
      </p:sp>
      <p:sp>
        <p:nvSpPr>
          <p:cNvPr id="2960" name="Google Shape;2960;p62"/>
          <p:cNvSpPr txBox="1"/>
          <p:nvPr/>
        </p:nvSpPr>
        <p:spPr>
          <a:xfrm>
            <a:off x="6476695" y="1952244"/>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61" name="Google Shape;2961;p62"/>
          <p:cNvSpPr txBox="1"/>
          <p:nvPr/>
        </p:nvSpPr>
        <p:spPr>
          <a:xfrm>
            <a:off x="6685178" y="1895551"/>
            <a:ext cx="341071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Reddit: Post-purchase consumer experiences</a:t>
            </a:r>
            <a:endParaRPr b="0" i="0" sz="1200" u="none" cap="none" strike="noStrike">
              <a:solidFill>
                <a:schemeClr val="dk1"/>
              </a:solidFill>
              <a:latin typeface="Calibri"/>
              <a:ea typeface="Calibri"/>
              <a:cs typeface="Calibri"/>
              <a:sym typeface="Calibri"/>
            </a:endParaRPr>
          </a:p>
        </p:txBody>
      </p:sp>
      <p:sp>
        <p:nvSpPr>
          <p:cNvPr id="2962" name="Google Shape;2962;p62"/>
          <p:cNvSpPr txBox="1"/>
          <p:nvPr/>
        </p:nvSpPr>
        <p:spPr>
          <a:xfrm>
            <a:off x="6476695" y="2381098"/>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63" name="Google Shape;2963;p62"/>
          <p:cNvSpPr txBox="1"/>
          <p:nvPr/>
        </p:nvSpPr>
        <p:spPr>
          <a:xfrm>
            <a:off x="6685178" y="2324405"/>
            <a:ext cx="40197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TikTok &amp; Instagram: Pre-purchase aspirational content</a:t>
            </a:r>
            <a:endParaRPr b="0" i="0" sz="1200" u="none" cap="none" strike="noStrike">
              <a:solidFill>
                <a:schemeClr val="dk1"/>
              </a:solidFill>
              <a:latin typeface="Calibri"/>
              <a:ea typeface="Calibri"/>
              <a:cs typeface="Calibri"/>
              <a:sym typeface="Calibri"/>
            </a:endParaRPr>
          </a:p>
        </p:txBody>
      </p:sp>
      <p:sp>
        <p:nvSpPr>
          <p:cNvPr id="2964" name="Google Shape;2964;p62"/>
          <p:cNvSpPr txBox="1"/>
          <p:nvPr/>
        </p:nvSpPr>
        <p:spPr>
          <a:xfrm>
            <a:off x="6476695" y="2809951"/>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65" name="Google Shape;2965;p62"/>
          <p:cNvSpPr txBox="1"/>
          <p:nvPr/>
        </p:nvSpPr>
        <p:spPr>
          <a:xfrm>
            <a:off x="6685178" y="2752344"/>
            <a:ext cx="3829507"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YouTube: Installation guidance and product reviews</a:t>
            </a:r>
            <a:endParaRPr b="0" i="0" sz="1200" u="none" cap="none" strike="noStrike">
              <a:solidFill>
                <a:schemeClr val="dk1"/>
              </a:solidFill>
              <a:latin typeface="Calibri"/>
              <a:ea typeface="Calibri"/>
              <a:cs typeface="Calibri"/>
              <a:sym typeface="Calibri"/>
            </a:endParaRPr>
          </a:p>
        </p:txBody>
      </p:sp>
      <p:sp>
        <p:nvSpPr>
          <p:cNvPr id="2966" name="Google Shape;2966;p62"/>
          <p:cNvSpPr txBox="1"/>
          <p:nvPr/>
        </p:nvSpPr>
        <p:spPr>
          <a:xfrm>
            <a:off x="6476695" y="3238805"/>
            <a:ext cx="176479"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a:t>
            </a:r>
            <a:endParaRPr b="0" i="0" sz="1000" u="none" cap="none" strike="noStrike">
              <a:solidFill>
                <a:schemeClr val="dk1"/>
              </a:solidFill>
              <a:latin typeface="Calibri"/>
              <a:ea typeface="Calibri"/>
              <a:cs typeface="Calibri"/>
              <a:sym typeface="Calibri"/>
            </a:endParaRPr>
          </a:p>
        </p:txBody>
      </p:sp>
      <p:sp>
        <p:nvSpPr>
          <p:cNvPr id="2967" name="Google Shape;2967;p62"/>
          <p:cNvSpPr txBox="1"/>
          <p:nvPr/>
        </p:nvSpPr>
        <p:spPr>
          <a:xfrm>
            <a:off x="6685178" y="3181198"/>
            <a:ext cx="3553358"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Platform-specific consumer behavioral patterns</a:t>
            </a:r>
            <a:endParaRPr b="0" i="0" sz="1200" u="none" cap="none" strike="noStrike">
              <a:solidFill>
                <a:schemeClr val="dk1"/>
              </a:solidFill>
              <a:latin typeface="Calibri"/>
              <a:ea typeface="Calibri"/>
              <a:cs typeface="Calibri"/>
              <a:sym typeface="Calibri"/>
            </a:endParaRPr>
          </a:p>
        </p:txBody>
      </p:sp>
      <p:sp>
        <p:nvSpPr>
          <p:cNvPr id="2968" name="Google Shape;2968;p62"/>
          <p:cNvSpPr txBox="1"/>
          <p:nvPr/>
        </p:nvSpPr>
        <p:spPr>
          <a:xfrm>
            <a:off x="6476695" y="3657600"/>
            <a:ext cx="1867205" cy="1435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1" i="0" lang="en-US" sz="900" u="none" cap="none" strike="noStrike">
                <a:solidFill>
                  <a:srgbClr val="6B7280"/>
                </a:solidFill>
                <a:latin typeface="Inter"/>
                <a:ea typeface="Inter"/>
                <a:cs typeface="Inter"/>
                <a:sym typeface="Inter"/>
              </a:rPr>
              <a:t>RECOMMENDED NEXT STEPS</a:t>
            </a:r>
            <a:endParaRPr b="0" i="0" sz="900" u="none" cap="none" strike="noStrike">
              <a:solidFill>
                <a:schemeClr val="dk1"/>
              </a:solidFill>
              <a:latin typeface="Calibri"/>
              <a:ea typeface="Calibri"/>
              <a:cs typeface="Calibri"/>
              <a:sym typeface="Calibri"/>
            </a:endParaRPr>
          </a:p>
        </p:txBody>
      </p:sp>
      <p:sp>
        <p:nvSpPr>
          <p:cNvPr id="2969" name="Google Shape;2969;p62"/>
          <p:cNvSpPr txBox="1"/>
          <p:nvPr/>
        </p:nvSpPr>
        <p:spPr>
          <a:xfrm>
            <a:off x="6476695" y="3972154"/>
            <a:ext cx="15727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1</a:t>
            </a:r>
            <a:endParaRPr b="0" i="0" sz="1000" u="none" cap="none" strike="noStrike">
              <a:solidFill>
                <a:schemeClr val="dk1"/>
              </a:solidFill>
              <a:latin typeface="Calibri"/>
              <a:ea typeface="Calibri"/>
              <a:cs typeface="Calibri"/>
              <a:sym typeface="Calibri"/>
            </a:endParaRPr>
          </a:p>
        </p:txBody>
      </p:sp>
      <p:sp>
        <p:nvSpPr>
          <p:cNvPr id="2970" name="Google Shape;2970;p62"/>
          <p:cNvSpPr txBox="1"/>
          <p:nvPr/>
        </p:nvSpPr>
        <p:spPr>
          <a:xfrm>
            <a:off x="6665062" y="3914546"/>
            <a:ext cx="22860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Review Reddit source material</a:t>
            </a:r>
            <a:endParaRPr b="0" i="0" sz="1200" u="none" cap="none" strike="noStrike">
              <a:solidFill>
                <a:schemeClr val="dk1"/>
              </a:solidFill>
              <a:latin typeface="Calibri"/>
              <a:ea typeface="Calibri"/>
              <a:cs typeface="Calibri"/>
              <a:sym typeface="Calibri"/>
            </a:endParaRPr>
          </a:p>
        </p:txBody>
      </p:sp>
      <p:sp>
        <p:nvSpPr>
          <p:cNvPr id="2971" name="Google Shape;2971;p62"/>
          <p:cNvSpPr txBox="1"/>
          <p:nvPr/>
        </p:nvSpPr>
        <p:spPr>
          <a:xfrm>
            <a:off x="6476695" y="4401007"/>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2</a:t>
            </a:r>
            <a:endParaRPr b="0" i="0" sz="1000" u="none" cap="none" strike="noStrike">
              <a:solidFill>
                <a:schemeClr val="dk1"/>
              </a:solidFill>
              <a:latin typeface="Calibri"/>
              <a:ea typeface="Calibri"/>
              <a:cs typeface="Calibri"/>
              <a:sym typeface="Calibri"/>
            </a:endParaRPr>
          </a:p>
        </p:txBody>
      </p:sp>
      <p:sp>
        <p:nvSpPr>
          <p:cNvPr id="2972" name="Google Shape;2972;p62"/>
          <p:cNvSpPr txBox="1"/>
          <p:nvPr/>
        </p:nvSpPr>
        <p:spPr>
          <a:xfrm>
            <a:off x="6691579" y="4343400"/>
            <a:ext cx="3467405"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Compare raw data files with summary findings</a:t>
            </a:r>
            <a:endParaRPr b="0" i="0" sz="1200" u="none" cap="none" strike="noStrike">
              <a:solidFill>
                <a:schemeClr val="dk1"/>
              </a:solidFill>
              <a:latin typeface="Calibri"/>
              <a:ea typeface="Calibri"/>
              <a:cs typeface="Calibri"/>
              <a:sym typeface="Calibri"/>
            </a:endParaRPr>
          </a:p>
        </p:txBody>
      </p:sp>
      <p:sp>
        <p:nvSpPr>
          <p:cNvPr id="2973" name="Google Shape;2973;p62"/>
          <p:cNvSpPr txBox="1"/>
          <p:nvPr/>
        </p:nvSpPr>
        <p:spPr>
          <a:xfrm>
            <a:off x="6476695" y="4828946"/>
            <a:ext cx="186538"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3</a:t>
            </a:r>
            <a:endParaRPr b="0" i="0" sz="1000" u="none" cap="none" strike="noStrike">
              <a:solidFill>
                <a:schemeClr val="dk1"/>
              </a:solidFill>
              <a:latin typeface="Calibri"/>
              <a:ea typeface="Calibri"/>
              <a:cs typeface="Calibri"/>
              <a:sym typeface="Calibri"/>
            </a:endParaRPr>
          </a:p>
        </p:txBody>
      </p:sp>
      <p:sp>
        <p:nvSpPr>
          <p:cNvPr id="2974" name="Google Shape;2974;p62"/>
          <p:cNvSpPr txBox="1"/>
          <p:nvPr/>
        </p:nvSpPr>
        <p:spPr>
          <a:xfrm>
            <a:off x="6692494" y="4772254"/>
            <a:ext cx="2971800"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Examine supplementary documentation</a:t>
            </a:r>
            <a:endParaRPr b="0" i="0" sz="1200" u="none" cap="none" strike="noStrike">
              <a:solidFill>
                <a:schemeClr val="dk1"/>
              </a:solidFill>
              <a:latin typeface="Calibri"/>
              <a:ea typeface="Calibri"/>
              <a:cs typeface="Calibri"/>
              <a:sym typeface="Calibri"/>
            </a:endParaRPr>
          </a:p>
        </p:txBody>
      </p:sp>
      <p:sp>
        <p:nvSpPr>
          <p:cNvPr id="2975" name="Google Shape;2975;p62"/>
          <p:cNvSpPr txBox="1"/>
          <p:nvPr/>
        </p:nvSpPr>
        <p:spPr>
          <a:xfrm>
            <a:off x="6476695" y="5257800"/>
            <a:ext cx="195682"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Inter"/>
              <a:buNone/>
            </a:pPr>
            <a:r>
              <a:rPr b="0" i="0" lang="en-US" sz="1000" u="none" cap="none" strike="noStrike">
                <a:solidFill>
                  <a:srgbClr val="0891B2"/>
                </a:solidFill>
                <a:latin typeface="Inter"/>
                <a:ea typeface="Inter"/>
                <a:cs typeface="Inter"/>
                <a:sym typeface="Inter"/>
              </a:rPr>
              <a:t>4</a:t>
            </a:r>
            <a:endParaRPr b="0" i="0" sz="1000" u="none" cap="none" strike="noStrike">
              <a:solidFill>
                <a:schemeClr val="dk1"/>
              </a:solidFill>
              <a:latin typeface="Calibri"/>
              <a:ea typeface="Calibri"/>
              <a:cs typeface="Calibri"/>
              <a:sym typeface="Calibri"/>
            </a:endParaRPr>
          </a:p>
        </p:txBody>
      </p:sp>
      <p:sp>
        <p:nvSpPr>
          <p:cNvPr id="2976" name="Google Shape;2976;p62"/>
          <p:cNvSpPr txBox="1"/>
          <p:nvPr/>
        </p:nvSpPr>
        <p:spPr>
          <a:xfrm>
            <a:off x="6696151" y="5201107"/>
            <a:ext cx="4248302" cy="1911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Inter"/>
              <a:buNone/>
            </a:pPr>
            <a:r>
              <a:rPr b="0" i="0" lang="en-US" sz="1200" u="none" cap="none" strike="noStrike">
                <a:solidFill>
                  <a:srgbClr val="1F2937"/>
                </a:solidFill>
                <a:latin typeface="Inter"/>
                <a:ea typeface="Inter"/>
                <a:cs typeface="Inter"/>
                <a:sym typeface="Inter"/>
              </a:rPr>
              <a:t>Consider additional pre vs post-purchase weight analysis</a:t>
            </a:r>
            <a:endParaRPr b="0" i="0" sz="1200" u="none" cap="none" strike="noStrike">
              <a:solidFill>
                <a:schemeClr val="dk1"/>
              </a:solidFill>
              <a:latin typeface="Calibri"/>
              <a:ea typeface="Calibri"/>
              <a:cs typeface="Calibri"/>
              <a:sym typeface="Calibri"/>
            </a:endParaRPr>
          </a:p>
        </p:txBody>
      </p:sp>
      <p:sp>
        <p:nvSpPr>
          <p:cNvPr id="2977" name="Google Shape;2977;p62"/>
          <p:cNvSpPr txBox="1"/>
          <p:nvPr/>
        </p:nvSpPr>
        <p:spPr>
          <a:xfrm>
            <a:off x="533095" y="6467551"/>
            <a:ext cx="4427525"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Inter"/>
              <a:buNone/>
            </a:pPr>
            <a:r>
              <a:rPr b="0" i="1" lang="en-US" sz="900" u="none" cap="none" strike="noStrike">
                <a:solidFill>
                  <a:srgbClr val="6B7280"/>
                </a:solidFill>
                <a:latin typeface="Inter"/>
                <a:ea typeface="Inter"/>
                <a:cs typeface="Inter"/>
                <a:sym typeface="Inter"/>
              </a:rPr>
              <a:t>Source: README.md; EXECUTIVE_SUMMARY.md; DATA_AUDIT_TRAIL.md</a:t>
            </a:r>
            <a:endParaRPr b="0" i="0" sz="900" u="none" cap="none" strike="noStrike">
              <a:solidFill>
                <a:schemeClr val="dk1"/>
              </a:solidFill>
              <a:latin typeface="Calibri"/>
              <a:ea typeface="Calibri"/>
              <a:cs typeface="Calibri"/>
              <a:sym typeface="Calibri"/>
            </a:endParaRPr>
          </a:p>
        </p:txBody>
      </p:sp>
      <p:sp>
        <p:nvSpPr>
          <p:cNvPr id="2978" name="Google Shape;2978;p62"/>
          <p:cNvSpPr txBox="1"/>
          <p:nvPr/>
        </p:nvSpPr>
        <p:spPr>
          <a:xfrm>
            <a:off x="533095" y="6881774"/>
            <a:ext cx="2693822"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3M Internal - Strategic Category Intelligence</a:t>
            </a:r>
            <a:endParaRPr b="0" i="0" sz="900" u="none" cap="none" strike="noStrike">
              <a:solidFill>
                <a:schemeClr val="dk1"/>
              </a:solidFill>
              <a:latin typeface="Calibri"/>
              <a:ea typeface="Calibri"/>
              <a:cs typeface="Calibri"/>
              <a:sym typeface="Calibri"/>
            </a:endParaRPr>
          </a:p>
        </p:txBody>
      </p:sp>
      <p:sp>
        <p:nvSpPr>
          <p:cNvPr id="2979" name="Google Shape;2979;p62"/>
          <p:cNvSpPr txBox="1"/>
          <p:nvPr/>
        </p:nvSpPr>
        <p:spPr>
          <a:xfrm>
            <a:off x="11508638" y="6881774"/>
            <a:ext cx="2459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900"/>
              <a:buFont typeface="Inter"/>
              <a:buNone/>
            </a:pPr>
            <a:r>
              <a:rPr b="0" i="0" lang="en-US" sz="900" u="none" cap="none" strike="noStrike">
                <a:solidFill>
                  <a:srgbClr val="9CA3AF"/>
                </a:solidFill>
                <a:latin typeface="Inter"/>
                <a:ea typeface="Inter"/>
                <a:cs typeface="Inter"/>
                <a:sym typeface="Inter"/>
              </a:rPr>
              <a:t>59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