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758952"/>
            <a:ext cx="8385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1">
                <a:solidFill>
                  <a:srgbClr val="1A202C"/>
                </a:solidFill>
                <a:latin typeface="Inter"/>
              </a:defRPr>
            </a:pPr>
            <a:r>
              <a:t>3M Garage Organization Market Intelligence: 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490472"/>
            <a:ext cx="1828800" cy="8229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627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600" b="1">
                <a:solidFill>
                  <a:srgbClr val="14B8A6"/>
                </a:solidFill>
                <a:latin typeface="Inter"/>
              </a:defRPr>
            </a:pPr>
            <a:r>
              <a:t>9,555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993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4A5568"/>
                </a:solidFill>
                <a:latin typeface="Inter"/>
              </a:defRPr>
            </a:pPr>
            <a:r>
              <a:t>Products Analyzed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24912" y="1490472"/>
            <a:ext cx="1828800" cy="8229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16352" y="1627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600" b="1">
                <a:solidFill>
                  <a:srgbClr val="14B8A6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6352" y="1993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4A5568"/>
                </a:solidFill>
                <a:latin typeface="Inter"/>
              </a:defRPr>
            </a:pPr>
            <a:r>
              <a:t>Major Retailers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0872" y="1490472"/>
            <a:ext cx="1828800" cy="8229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627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600" b="1">
                <a:solidFill>
                  <a:srgbClr val="14B8A6"/>
                </a:solidFill>
                <a:latin typeface="Inter"/>
              </a:defRPr>
            </a:pPr>
            <a:r>
              <a:t>571+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993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4A5568"/>
                </a:solidFill>
                <a:latin typeface="Inter"/>
              </a:defRPr>
            </a:pPr>
            <a:r>
              <a:t>Consumer Videos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1490472"/>
            <a:ext cx="1828800" cy="8229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627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600" b="1">
                <a:solidFill>
                  <a:srgbClr val="14B8A6"/>
                </a:solidFill>
                <a:latin typeface="Inter"/>
              </a:defRPr>
            </a:pPr>
            <a:r>
              <a:t>$518K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993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4A5568"/>
                </a:solidFill>
                <a:latin typeface="Inter"/>
              </a:defRPr>
            </a:pPr>
            <a:r>
              <a:t>Monthly Revenue</a:t>
            </a:r>
            <a:br/>
            <a:r>
              <a:t>(Top 20 SKUs)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5877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KEY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86207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D3748"/>
                </a:solidFill>
                <a:latin typeface="Inter"/>
              </a:defRPr>
            </a:pPr>
            <a:r>
              <a:t>1. Quality Crisis: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02666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90% of best-selling products generate negative quality sentiment despite $518K monthly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31927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D3748"/>
                </a:solidFill>
                <a:latin typeface="Inter"/>
              </a:defRPr>
            </a:pPr>
            <a:r>
              <a:t>2. Premium Gap: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48386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Less than 3% of market in $40-80 premium segment presents untapped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77647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D3748"/>
                </a:solidFill>
                <a:latin typeface="Inter"/>
              </a:defRPr>
            </a:pPr>
            <a:r>
              <a:t>3. Technology Advantage: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94106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VHB™ adhesive addresses #1 consumer pain point: damage-free mounting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23367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D3748"/>
                </a:solidFill>
                <a:latin typeface="Inter"/>
              </a:defRPr>
            </a:pPr>
            <a:r>
              <a:t>4. Purchase Evolution: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39826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Customers shift from price-focus (34%) to quality-focus (41%) after initial purchase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754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Source: 3M Category Intelligence Analysis |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758952"/>
            <a:ext cx="8385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1">
                <a:solidFill>
                  <a:srgbClr val="1A202C"/>
                </a:solidFill>
                <a:latin typeface="Inter"/>
              </a:defRPr>
            </a:pPr>
            <a:r>
              <a:t>Massive Quality Gap Despite Strong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490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THE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764792"/>
            <a:ext cx="38130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8000"/>
              </a:lnSpc>
              <a:defRPr sz="1200" b="0">
                <a:solidFill>
                  <a:srgbClr val="1A202C"/>
                </a:solidFill>
                <a:latin typeface="Inter"/>
              </a:defRPr>
            </a:pPr>
            <a:r>
              <a:t>Market demonstrates concentrated demand with top 20 SKUs generating 28,770 units/month, yet 90% of best-sellers produce negative quality sentiment.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4048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THE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679192"/>
            <a:ext cx="38130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8000"/>
              </a:lnSpc>
              <a:defRPr sz="1200" b="0">
                <a:solidFill>
                  <a:srgbClr val="1A202C"/>
                </a:solidFill>
                <a:latin typeface="Inter"/>
              </a:defRPr>
            </a:pPr>
            <a:r>
              <a:t>Consumers accept poor quality due to lack of premium alternatives, creating opportunity for differentiated positioning.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3502152"/>
            <a:ext cx="3813048" cy="1097280"/>
          </a:xfrm>
          <a:prstGeom prst="roundRect">
            <a:avLst/>
          </a:prstGeom>
          <a:solidFill>
            <a:srgbClr val="111827"/>
          </a:solidFill>
          <a:ln w="635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96112" y="3666744"/>
            <a:ext cx="173736" cy="173736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3639312"/>
            <a:ext cx="3355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4B8A6"/>
                </a:solidFill>
                <a:latin typeface="Inter"/>
              </a:defRPr>
            </a:pPr>
            <a:r>
              <a:t>HARD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849624"/>
            <a:ext cx="3355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FFFFFF"/>
                </a:solidFill>
                <a:latin typeface="Inter"/>
              </a:defRPr>
            </a:pPr>
            <a:r>
              <a:t>Current market accepts systemic failure as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4187952"/>
            <a:ext cx="3355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000" b="0">
                <a:solidFill>
                  <a:srgbClr val="FFFFFF"/>
                </a:solidFill>
                <a:latin typeface="Inter"/>
              </a:defRPr>
            </a:pPr>
            <a:r>
              <a:t>Products routinely fail at 30% of rated capacity. Catastrophic mounting failures cause property damage. Premium segment is virtually non-existent.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5464" y="1490472"/>
            <a:ext cx="2058497" cy="9144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6904" y="1627632"/>
            <a:ext cx="187561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600" b="1">
                <a:solidFill>
                  <a:srgbClr val="14B8A6"/>
                </a:solidFill>
                <a:latin typeface="Inter"/>
              </a:defRPr>
            </a:pPr>
            <a:r>
              <a:t>28,770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2084832"/>
            <a:ext cx="187561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4A5568"/>
                </a:solidFill>
                <a:latin typeface="Inter"/>
              </a:defRPr>
            </a:pPr>
            <a:r>
              <a:t>Units/Month</a:t>
            </a:r>
            <a:br/>
            <a:r>
              <a:t>(Top 20 SKUs)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5502" y="1490472"/>
            <a:ext cx="2058497" cy="9144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6942" y="1627632"/>
            <a:ext cx="187561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600" b="1">
                <a:solidFill>
                  <a:srgbClr val="14B8A6"/>
                </a:solidFill>
                <a:latin typeface="Inter"/>
              </a:defRPr>
            </a:pPr>
            <a:r>
              <a:t>$518K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6942" y="2084832"/>
            <a:ext cx="187561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4A5568"/>
                </a:solidFill>
                <a:latin typeface="Inter"/>
              </a:defRPr>
            </a:pPr>
            <a:r>
              <a:t>Monthly Revenue</a:t>
            </a:r>
            <a:br/>
            <a:r>
              <a:t>(Top 20 SKUs)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679192"/>
            <a:ext cx="4288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D3748"/>
                </a:solidFill>
                <a:latin typeface="Inter"/>
              </a:defRPr>
            </a:pPr>
            <a:r>
              <a:t>Quality Sentiment Distribution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5464" y="2953512"/>
            <a:ext cx="385968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46904" y="3026664"/>
            <a:ext cx="3859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FFFFF"/>
                </a:solidFill>
                <a:latin typeface="Inter"/>
              </a:defRPr>
            </a:pPr>
            <a:r>
              <a:t>90% Negative Sentiment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15146" y="2953512"/>
            <a:ext cx="428853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3502152"/>
            <a:ext cx="4288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D3748"/>
                </a:solidFill>
                <a:latin typeface="Inter"/>
              </a:defRPr>
            </a:pPr>
            <a:r>
              <a:t>Primary Failure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776472"/>
            <a:ext cx="30019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Weight Capacity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1866" y="3776472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1200" b="1">
                <a:solidFill>
                  <a:srgbClr val="EF4444"/>
                </a:solidFill>
                <a:latin typeface="Inter"/>
              </a:defRPr>
            </a:pPr>
            <a:r>
              <a:t>67%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4032504"/>
            <a:ext cx="30019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Mounting System Failures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1866" y="4032504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1200" b="1">
                <a:solidFill>
                  <a:srgbClr val="EF4444"/>
                </a:solidFill>
                <a:latin typeface="Inter"/>
              </a:defRPr>
            </a:pPr>
            <a:r>
              <a:t>41%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5464" y="4288536"/>
            <a:ext cx="30019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Durability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1866" y="4288536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1200" b="1">
                <a:solidFill>
                  <a:srgbClr val="EF4444"/>
                </a:solidFill>
                <a:latin typeface="Inter"/>
              </a:defRPr>
            </a:pPr>
            <a:r>
              <a:t>38%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754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Source: Analysis of 2,847 negative reviews across 5 retail channels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758952"/>
            <a:ext cx="8385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1">
                <a:solidFill>
                  <a:srgbClr val="1A202C"/>
                </a:solidFill>
                <a:latin typeface="Inter"/>
              </a:defRPr>
            </a:pPr>
            <a:r>
              <a:t>Strategic Premium Gap in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490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MARKET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764792"/>
            <a:ext cx="38130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8000"/>
              </a:lnSpc>
              <a:defRPr sz="1200" b="0">
                <a:solidFill>
                  <a:srgbClr val="1A202C"/>
                </a:solidFill>
                <a:latin typeface="Inter"/>
              </a:defRPr>
            </a:pPr>
            <a:r>
              <a:t>85% of market concentrated in commodity segment ($5-20), with premium tier ($40-80) representing less than 3% of products but demonstrating higher satisfaction rates.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587752"/>
            <a:ext cx="3813048" cy="1097280"/>
          </a:xfrm>
          <a:prstGeom prst="roundRect">
            <a:avLst/>
          </a:prstGeom>
          <a:solidFill>
            <a:srgbClr val="111827"/>
          </a:solidFill>
          <a:ln w="635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896112" y="2752344"/>
            <a:ext cx="173736" cy="173736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724912"/>
            <a:ext cx="3355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4B8A6"/>
                </a:solidFill>
                <a:latin typeface="Inter"/>
              </a:defRPr>
            </a:pPr>
            <a:r>
              <a:t>HARD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935224"/>
            <a:ext cx="3355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FFFFFF"/>
                </a:solidFill>
                <a:latin typeface="Inter"/>
              </a:defRPr>
            </a:pPr>
            <a:r>
              <a:t>$40-80 premium gap is virtually uncontested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273552"/>
            <a:ext cx="3355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000" b="0">
                <a:solidFill>
                  <a:srgbClr val="FFFFFF"/>
                </a:solidFill>
                <a:latin typeface="Inter"/>
              </a:defRPr>
            </a:pPr>
            <a:r>
              <a:t>Current market structure creates race-to-bottom in commodity tier while professional tier ($80+) remains fragmented. White space opportunity for premium performance positioning.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464" y="1490472"/>
            <a:ext cx="4288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MARKET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181051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D3748"/>
                </a:solidFill>
                <a:latin typeface="Inter"/>
              </a:defRPr>
            </a:pPr>
            <a:r>
              <a:t>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4184" y="18105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D3748"/>
                </a:solidFill>
                <a:latin typeface="Inter"/>
              </a:defRPr>
            </a:pPr>
            <a:r>
              <a:t>Price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584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D3748"/>
                </a:solidFill>
                <a:latin typeface="Inter"/>
              </a:defRPr>
            </a:pPr>
            <a:r>
              <a:t>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18105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D3748"/>
                </a:solidFill>
                <a:latin typeface="Inter"/>
              </a:defRPr>
            </a:pPr>
            <a:r>
              <a:t>Key Players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20848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Commodity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20848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$5-20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20848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2084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Rubbermaid, Everbilt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3591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2359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$20-40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23591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23591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Gladiator, Husky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9744" y="2587752"/>
            <a:ext cx="4297680" cy="25603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5464" y="263347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D3748"/>
                </a:solidFill>
                <a:latin typeface="Inter"/>
              </a:defRPr>
            </a:pPr>
            <a:r>
              <a:t>Premium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4184" y="26334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D3748"/>
                </a:solidFill>
                <a:latin typeface="Inter"/>
              </a:defRPr>
            </a:pPr>
            <a:r>
              <a:t>$40-80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4" y="263347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D3748"/>
                </a:solidFill>
                <a:latin typeface="Inter"/>
              </a:defRPr>
            </a:pPr>
            <a:r>
              <a:t>&lt;3%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6334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2D3748"/>
                </a:solidFill>
                <a:latin typeface="Inter"/>
              </a:defRPr>
            </a:pPr>
            <a:r>
              <a:t>3M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5464" y="290779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Professional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29077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$80+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8584" y="290779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&lt;1%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0104" y="290779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1A202C"/>
                </a:solidFill>
                <a:latin typeface="Inter"/>
              </a:defRPr>
            </a:pPr>
            <a:r>
              <a:t>StoreWall, Monkey Bar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4754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Source: Market share analysis from 9,555 products across 5 retailers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758952"/>
            <a:ext cx="8385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1">
                <a:solidFill>
                  <a:srgbClr val="1A202C"/>
                </a:solidFill>
                <a:latin typeface="Inter"/>
              </a:defRPr>
            </a:pPr>
            <a:r>
              <a:t>3M Technology Directly Addresses Top Consumer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490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VHB™ ADHESIVE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764792"/>
            <a:ext cx="38130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8000"/>
              </a:lnSpc>
              <a:defRPr sz="1200" b="0">
                <a:solidFill>
                  <a:srgbClr val="1A202C"/>
                </a:solidFill>
                <a:latin typeface="Inter"/>
              </a:defRPr>
            </a:pPr>
            <a:r>
              <a:t>Addresses #1 consumer pain point: mounting without wall damage. 10x stronger than mechanical fasteners, temperature stable -40°F to 200°F, proven in architectural applications supporting 1000+ lbs.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4963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ADVANCED MATERIALS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70632"/>
            <a:ext cx="38130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8000"/>
              </a:lnSpc>
              <a:defRPr sz="1200" b="0">
                <a:solidFill>
                  <a:srgbClr val="1A202C"/>
                </a:solidFill>
                <a:latin typeface="Inter"/>
              </a:defRPr>
            </a:pPr>
            <a:r>
              <a:t>Powder coating expertise eliminates rust issues (38% of current complaints). Composite materials for weight optimization. Surface treatments for enhanced durability.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3593592"/>
            <a:ext cx="3813048" cy="1097280"/>
          </a:xfrm>
          <a:prstGeom prst="roundRect">
            <a:avLst/>
          </a:prstGeom>
          <a:solidFill>
            <a:srgbClr val="111827"/>
          </a:solidFill>
          <a:ln w="635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96112" y="3758184"/>
            <a:ext cx="173736" cy="173736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3730752"/>
            <a:ext cx="3355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4B8A6"/>
                </a:solidFill>
                <a:latin typeface="Inter"/>
              </a:defRPr>
            </a:pPr>
            <a:r>
              <a:t>HARD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941064"/>
            <a:ext cx="3355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FFFFFF"/>
                </a:solidFill>
                <a:latin typeface="Inter"/>
              </a:defRPr>
            </a:pPr>
            <a:r>
              <a:t>Technology advantage creates sustainable 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4279392"/>
            <a:ext cx="3355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000" b="0">
                <a:solidFill>
                  <a:srgbClr val="FFFFFF"/>
                </a:solidFill>
                <a:latin typeface="Inter"/>
              </a:defRPr>
            </a:pPr>
            <a:r>
              <a:t>Competitors lack adhesive expertise and materials science capabilities. 3M's existing retail relationships accelerate distribution. Scale manufacturing maintains quality at volume.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1490472"/>
            <a:ext cx="4288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COMPETITIVE ADVANTAGE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2"/>
            <a:ext cx="4288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A202C"/>
                </a:solidFill>
                <a:latin typeface="Inter"/>
              </a:defRPr>
            </a:pPr>
            <a:r>
              <a:t>VHB™ Adhesion Strength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5464" y="2084832"/>
            <a:ext cx="4288536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55464" y="2084832"/>
            <a:ext cx="4074109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6904" y="2112264"/>
            <a:ext cx="407410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  <a:latin typeface="Inter"/>
              </a:defRPr>
            </a:pPr>
            <a:r>
              <a:t>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331720"/>
            <a:ext cx="42885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4A5568"/>
                </a:solidFill>
                <a:latin typeface="Inter"/>
              </a:defRPr>
            </a:pPr>
            <a:r>
              <a:t>10x vs. mechanical fasteners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496312"/>
            <a:ext cx="4288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A202C"/>
                </a:solidFill>
                <a:latin typeface="Inter"/>
              </a:defRPr>
            </a:pPr>
            <a:r>
              <a:t>Temperature Stability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5464" y="2724912"/>
            <a:ext cx="4288536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55464" y="2724912"/>
            <a:ext cx="3945453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2752344"/>
            <a:ext cx="39454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  <a:latin typeface="Inter"/>
              </a:defRPr>
            </a:pPr>
            <a:r>
              <a:t>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5464" y="2971800"/>
            <a:ext cx="42885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4A5568"/>
                </a:solidFill>
                <a:latin typeface="Inter"/>
              </a:defRPr>
            </a:pPr>
            <a:r>
              <a:t>-40°F to 200°F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136392"/>
            <a:ext cx="4288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A202C"/>
                </a:solidFill>
                <a:latin typeface="Inter"/>
              </a:defRPr>
            </a:pPr>
            <a:r>
              <a:t>Durability/Anti-Rust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5464" y="3364992"/>
            <a:ext cx="4288536" cy="228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55464" y="3364992"/>
            <a:ext cx="3773911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3392424"/>
            <a:ext cx="37739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FFFF"/>
                </a:solidFill>
                <a:latin typeface="Inter"/>
              </a:defRPr>
            </a:pPr>
            <a:r>
              <a:t>88%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5464" y="3611880"/>
            <a:ext cx="42885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4A5568"/>
                </a:solidFill>
                <a:latin typeface="Inter"/>
              </a:defRPr>
            </a:pPr>
            <a:r>
              <a:t>Powder coating expertise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754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Source: Technology assessment based on 3M materials science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758952"/>
            <a:ext cx="8385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1">
                <a:solidFill>
                  <a:srgbClr val="1A202C"/>
                </a:solidFill>
                <a:latin typeface="Inter"/>
              </a:defRPr>
            </a:pPr>
            <a:r>
              <a:t>Three-Phase Product Development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490472"/>
            <a:ext cx="8229600" cy="118872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6276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4B8A6"/>
                </a:solidFill>
                <a:latin typeface="Inter"/>
              </a:defRPr>
            </a:pPr>
            <a:r>
              <a:t>PHASE 1: HERO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1837944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Months 0-6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0391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A202C"/>
                </a:solidFill>
                <a:latin typeface="Inter"/>
              </a:defRPr>
            </a:pPr>
            <a:r>
              <a:t>VHB™ Heavy-Duty Hook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3752" y="1837944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3 SKUs (25/50/100 lb capacity)</a:t>
            </a:r>
            <a:br/>
            <a:r>
              <a:t>Retail: $49-89 | Margin: 65%</a:t>
            </a:r>
            <a:br/>
            <a:r>
              <a:t>Home Depot exclusive launch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816352"/>
            <a:ext cx="8229600" cy="118872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9535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PHASE 2: CATEGORY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163824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Months 7-12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649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A202C"/>
                </a:solidFill>
                <a:latin typeface="Inter"/>
              </a:defRPr>
            </a:pPr>
            <a:r>
              <a:t>Modular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3163824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Rail System ($129-249)</a:t>
            </a:r>
            <a:br/>
            <a:r>
              <a:t>Overhead Storage ($199-299)</a:t>
            </a:r>
            <a:br/>
            <a:r>
              <a:t>Specialty Solutions (Bike, Sports, Tools)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4142232"/>
            <a:ext cx="8229600" cy="1188720"/>
          </a:xfrm>
          <a:prstGeom prst="roundRect">
            <a:avLst/>
          </a:prstGeom>
          <a:solidFill>
            <a:srgbClr val="F9FAF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2793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59E0B"/>
                </a:solidFill>
                <a:latin typeface="Inter"/>
              </a:defRPr>
            </a:pPr>
            <a:r>
              <a:t>PHASE 3: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489704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Year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6908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A202C"/>
                </a:solidFill>
                <a:latin typeface="Inter"/>
              </a:defRPr>
            </a:pPr>
            <a:r>
              <a:t>Smart Features +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4489704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Smart weight sensors with app</a:t>
            </a:r>
            <a:br/>
            <a:r>
              <a:t>Subscription consumables</a:t>
            </a:r>
            <a:br/>
            <a:r>
              <a:t>Professional installation</a:t>
            </a:r>
            <a:br/>
            <a:r>
              <a:t>B2B commercial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754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Source: Product development timeline from 03_PRODUCT_DEVELOPMENT_ROADMAP.md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758952"/>
            <a:ext cx="8385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1">
                <a:solidFill>
                  <a:srgbClr val="1A202C"/>
                </a:solidFill>
                <a:latin typeface="Inter"/>
              </a:defRPr>
            </a:pPr>
            <a:r>
              <a:t>Financial Projections Show Strong ROI by Year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490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REVENUE MODEL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764792"/>
            <a:ext cx="38130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8000"/>
              </a:lnSpc>
              <a:defRPr sz="1200" b="0">
                <a:solidFill>
                  <a:srgbClr val="1A202C"/>
                </a:solidFill>
                <a:latin typeface="Inter"/>
              </a:defRPr>
            </a:pPr>
            <a:r>
              <a:t>Conservative scenario based on 15% capture of quality-seeking segment. Hero product pricing $49-89 with 65% gross margin target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404872"/>
            <a:ext cx="22878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Break-Even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6780" y="2404872"/>
            <a:ext cx="15252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14B8A6"/>
                </a:solidFill>
                <a:latin typeface="Inter"/>
              </a:defRPr>
            </a:pPr>
            <a:r>
              <a:t>Month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70632"/>
            <a:ext cx="22878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Year 3 Cumulative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6780" y="2770632"/>
            <a:ext cx="15252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14B8A6"/>
                </a:solidFill>
                <a:latin typeface="Inter"/>
              </a:defRPr>
            </a:pPr>
            <a:r>
              <a:t>$2.94M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22878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Year 3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6780" y="3136392"/>
            <a:ext cx="15252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14B8A6"/>
                </a:solidFill>
                <a:latin typeface="Inter"/>
              </a:defRPr>
            </a:pPr>
            <a:r>
              <a:t>$3.15M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502152"/>
            <a:ext cx="22878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Year 3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6780" y="3502152"/>
            <a:ext cx="15252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14B8A6"/>
                </a:solidFill>
                <a:latin typeface="Inter"/>
              </a:defRPr>
            </a:pPr>
            <a:r>
              <a:t>1265%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490472"/>
            <a:ext cx="4288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2D3748"/>
                </a:solidFill>
                <a:latin typeface="Inter"/>
              </a:defRPr>
            </a:pPr>
            <a:r>
              <a:t>3-YEAR FINANCIAL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1810512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2D3748"/>
                </a:solidFill>
                <a:latin typeface="Inter"/>
              </a:defRPr>
            </a:pPr>
            <a:r>
              <a:t>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7598" y="1810512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2D3748"/>
                </a:solidFill>
                <a:latin typeface="Inter"/>
              </a:defRPr>
            </a:pPr>
            <a:r>
              <a:t>Year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9732" y="1810512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2D3748"/>
                </a:solidFill>
                <a:latin typeface="Inter"/>
              </a:defRPr>
            </a:pPr>
            <a:r>
              <a:t>Year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1866" y="1810512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2D3748"/>
                </a:solidFill>
                <a:latin typeface="Inter"/>
              </a:defRPr>
            </a:pPr>
            <a:r>
              <a:t>Year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130552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7598" y="2130552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9732" y="2130552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28,000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1866" y="2130552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45,000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5464" y="2386584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7598" y="2386584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$640K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9732" y="2386584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$1.96M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1866" y="2386584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$3.15M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5464" y="2642616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Gross Profit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7598" y="2642616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$416K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9732" y="2642616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$1.27M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1866" y="2642616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$2.05M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898648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Investment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7598" y="2898648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$900K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9732" y="2898648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$200K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1866" y="2898648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$150K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5464" y="3154680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4B8A6"/>
                </a:solidFill>
                <a:latin typeface="Inter"/>
              </a:defRPr>
            </a:pPr>
            <a:r>
              <a:t>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7598" y="3154680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14B8A6"/>
                </a:solidFill>
                <a:latin typeface="Inter"/>
              </a:defRPr>
            </a:pPr>
            <a:r>
              <a:t>-46%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9732" y="3154680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14B8A6"/>
                </a:solidFill>
                <a:latin typeface="Inter"/>
              </a:defRPr>
            </a:pPr>
            <a:r>
              <a:t>537%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1866" y="3154680"/>
            <a:ext cx="10721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14B8A6"/>
                </a:solidFill>
                <a:latin typeface="Inter"/>
              </a:defRPr>
            </a:pPr>
            <a:r>
              <a:t>1265%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4754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Source: Financial model from 01_EXECUTIVE_BRIEFING.md conservative scenario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758952"/>
            <a:ext cx="8385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1">
                <a:solidFill>
                  <a:srgbClr val="1A202C"/>
                </a:solidFill>
                <a:latin typeface="Inter"/>
              </a:defRPr>
            </a:pPr>
            <a:r>
              <a:t>Immediate Action Items: 12-Week Launch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490472"/>
            <a:ext cx="91440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71907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Inter"/>
              </a:defRPr>
            </a:pPr>
            <a:r>
              <a:t>WEEK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6232" y="1536192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2D3748"/>
                </a:solidFill>
                <a:latin typeface="Inter"/>
              </a:defRPr>
            </a:pPr>
            <a:r>
              <a:t>Technical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17830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• Validate VHB adhesion on top 10 garage surface types</a:t>
            </a:r>
            <a:br/>
            <a:r>
              <a:t>• Test painted drywall, concrete, wood, metal surfaces</a:t>
            </a:r>
            <a:br/>
            <a:r>
              <a:t>• ASTM D3330 compliance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313432"/>
            <a:ext cx="91440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5420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Inter"/>
              </a:defRPr>
            </a:pPr>
            <a:r>
              <a:t>WEEK 3-4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2" y="2359152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2D3748"/>
                </a:solidFill>
                <a:latin typeface="Inter"/>
              </a:defRPr>
            </a:pPr>
            <a:r>
              <a:t>Consumer Concept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26060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• 3D printed prototype development (50 units)</a:t>
            </a:r>
            <a:br/>
            <a:r>
              <a:t>• 30 in-home installations documented</a:t>
            </a:r>
            <a:br/>
            <a:r>
              <a:t>• Installation time and ease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3136392"/>
            <a:ext cx="91440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36499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Inter"/>
              </a:defRPr>
            </a:pPr>
            <a:r>
              <a:t>WEEK 5-8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3182112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2D3748"/>
                </a:solidFill>
                <a:latin typeface="Inter"/>
              </a:defRPr>
            </a:pPr>
            <a:r>
              <a:t>Retailer Partnership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34290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• Home Depot exclusive launch discussions</a:t>
            </a:r>
            <a:br/>
            <a:r>
              <a:t>• 50 store test market planning</a:t>
            </a:r>
            <a:br/>
            <a:r>
              <a:t>• End-cap display program 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3959352"/>
            <a:ext cx="91440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187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Inter"/>
              </a:defRPr>
            </a:pPr>
            <a:r>
              <a:t>WEEK 9-12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4005072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2D3748"/>
                </a:solidFill>
                <a:latin typeface="Inter"/>
              </a:defRPr>
            </a:pPr>
            <a:r>
              <a:t>Pilot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6232" y="42519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1A202C"/>
                </a:solidFill>
                <a:latin typeface="Inter"/>
              </a:defRPr>
            </a:pPr>
            <a:r>
              <a:t>• 500 unit pilot production run</a:t>
            </a:r>
            <a:br/>
            <a:r>
              <a:t>• Field testing in actual use conditions</a:t>
            </a:r>
            <a:br/>
            <a:r>
              <a:t>• Package design finalization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754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4A5568"/>
                </a:solidFill>
                <a:latin typeface="Inter"/>
              </a:defRPr>
            </a:pPr>
            <a:r>
              <a:t>Source: Action plan from 01_EXECUTIVE_BRIEFING.md | Timeline assumes immediate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